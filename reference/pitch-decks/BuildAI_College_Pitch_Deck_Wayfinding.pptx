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FFC700"/>
          </a:solidFill>
          <a:ln w="12700">
            <a:solidFill>
              <a:srgbClr val="FFC700"/>
            </a:solidFill>
            <a:prstDash val="solid"/>
          </a:ln>
        </p:spPr>
      </p:sp>
      <p:sp>
        <p:nvSpPr>
          <p:cNvPr id="3" name="Text 1"/>
          <p:cNvSpPr/>
          <p:nvPr/>
        </p:nvSpPr>
        <p:spPr>
          <a:xfrm>
            <a:off x="548640" y="502920"/>
            <a:ext cx="4572000" cy="365760"/>
          </a:xfrm>
          <a:prstGeom prst="rect">
            <a:avLst/>
          </a:prstGeom>
          <a:noFill/>
          <a:ln/>
        </p:spPr>
        <p:txBody>
          <a:bodyPr wrap="square" lIns="0" tIns="0" rIns="0" bIns="0" rtlCol="0" anchor="ctr"/>
          <a:lstStyle/>
          <a:p>
            <a:pPr indent="0" marL="0">
              <a:buNone/>
            </a:pPr>
            <a:r>
              <a:rPr lang="en-US" sz="1600" b="1" spc="800" kern="0" dirty="0">
                <a:solidFill>
                  <a:srgbClr val="FFFFFF"/>
                </a:solidFill>
                <a:latin typeface="Inter" pitchFamily="34" charset="0"/>
                <a:ea typeface="Inter" pitchFamily="34" charset="-122"/>
                <a:cs typeface="Inter" pitchFamily="34" charset="-120"/>
              </a:rPr>
              <a:t>BUILDAI</a:t>
            </a:r>
            <a:endParaRPr lang="en-US" sz="1600" dirty="0"/>
          </a:p>
        </p:txBody>
      </p:sp>
      <p:sp>
        <p:nvSpPr>
          <p:cNvPr id="4" name="Text 2"/>
          <p:cNvSpPr/>
          <p:nvPr/>
        </p:nvSpPr>
        <p:spPr>
          <a:xfrm>
            <a:off x="548640" y="868680"/>
            <a:ext cx="5486400" cy="274320"/>
          </a:xfrm>
          <a:prstGeom prst="rect">
            <a:avLst/>
          </a:prstGeom>
          <a:noFill/>
          <a:ln/>
        </p:spPr>
        <p:txBody>
          <a:bodyPr wrap="square" lIns="0" tIns="0" rIns="0" bIns="0" rtlCol="0" anchor="ctr"/>
          <a:lstStyle/>
          <a:p>
            <a:pPr indent="0" marL="0">
              <a:buNone/>
            </a:pPr>
            <a:r>
              <a:rPr lang="en-US" sz="1000" b="1" spc="600" kern="0" dirty="0">
                <a:solidFill>
                  <a:srgbClr val="FFC700"/>
                </a:solidFill>
                <a:latin typeface="Inter" pitchFamily="34" charset="0"/>
                <a:ea typeface="Inter" pitchFamily="34" charset="-122"/>
                <a:cs typeface="Inter" pitchFamily="34" charset="-120"/>
              </a:rPr>
              <a:t>LINE 01 → COHORT 01</a:t>
            </a:r>
            <a:endParaRPr lang="en-US" sz="1000" dirty="0"/>
          </a:p>
        </p:txBody>
      </p:sp>
      <p:sp>
        <p:nvSpPr>
          <p:cNvPr id="5" name="Text 3"/>
          <p:cNvSpPr/>
          <p:nvPr/>
        </p:nvSpPr>
        <p:spPr>
          <a:xfrm>
            <a:off x="548640" y="1828800"/>
            <a:ext cx="11430000" cy="914400"/>
          </a:xfrm>
          <a:prstGeom prst="rect">
            <a:avLst/>
          </a:prstGeom>
          <a:noFill/>
          <a:ln/>
        </p:spPr>
        <p:txBody>
          <a:bodyPr wrap="square" lIns="0" tIns="0" rIns="0" bIns="0" rtlCol="0" anchor="ctr"/>
          <a:lstStyle/>
          <a:p>
            <a:pPr indent="0" marL="0">
              <a:buNone/>
            </a:pPr>
            <a:r>
              <a:rPr lang="en-US" sz="5000" b="1" spc="-150" kern="0" dirty="0">
                <a:solidFill>
                  <a:srgbClr val="FFFFFF"/>
                </a:solidFill>
                <a:latin typeface="Inter" pitchFamily="34" charset="0"/>
                <a:ea typeface="Inter" pitchFamily="34" charset="-122"/>
                <a:cs typeface="Inter" pitchFamily="34" charset="-120"/>
              </a:rPr>
              <a:t>We don't teach AI.</a:t>
            </a:r>
            <a:endParaRPr lang="en-US" sz="5000" dirty="0"/>
          </a:p>
        </p:txBody>
      </p:sp>
      <p:sp>
        <p:nvSpPr>
          <p:cNvPr id="6" name="Text 4"/>
          <p:cNvSpPr/>
          <p:nvPr/>
        </p:nvSpPr>
        <p:spPr>
          <a:xfrm>
            <a:off x="548640" y="2743200"/>
            <a:ext cx="11430000" cy="1097280"/>
          </a:xfrm>
          <a:prstGeom prst="rect">
            <a:avLst/>
          </a:prstGeom>
          <a:noFill/>
          <a:ln/>
        </p:spPr>
        <p:txBody>
          <a:bodyPr wrap="square" lIns="0" tIns="0" rIns="0" bIns="0" rtlCol="0" anchor="ctr"/>
          <a:lstStyle/>
          <a:p>
            <a:pPr indent="0" marL="0">
              <a:buNone/>
            </a:pPr>
            <a:r>
              <a:rPr lang="en-US" sz="5000" b="1" spc="-150" kern="0" dirty="0">
                <a:solidFill>
                  <a:srgbClr val="FFC700"/>
                </a:solidFill>
                <a:latin typeface="Inter" pitchFamily="34" charset="0"/>
                <a:ea typeface="Inter" pitchFamily="34" charset="-122"/>
                <a:cs typeface="Inter" pitchFamily="34" charset="-120"/>
              </a:rPr>
              <a:t>We make engineers who ship.</a:t>
            </a:r>
            <a:endParaRPr lang="en-US" sz="5000" dirty="0"/>
          </a:p>
        </p:txBody>
      </p:sp>
      <p:sp>
        <p:nvSpPr>
          <p:cNvPr id="7" name="Text 5"/>
          <p:cNvSpPr/>
          <p:nvPr/>
        </p:nvSpPr>
        <p:spPr>
          <a:xfrm>
            <a:off x="548640" y="4206240"/>
            <a:ext cx="10058400" cy="457200"/>
          </a:xfrm>
          <a:prstGeom prst="rect">
            <a:avLst/>
          </a:prstGeom>
          <a:noFill/>
          <a:ln/>
        </p:spPr>
        <p:txBody>
          <a:bodyPr wrap="square" lIns="0" tIns="0" rIns="0" bIns="0" rtlCol="0" anchor="ctr"/>
          <a:lstStyle/>
          <a:p>
            <a:pPr indent="0" marL="0">
              <a:buNone/>
            </a:pPr>
            <a:r>
              <a:rPr lang="en-US" sz="1800" dirty="0">
                <a:solidFill>
                  <a:srgbClr val="B6CDE5"/>
                </a:solidFill>
                <a:latin typeface="Inter" pitchFamily="34" charset="0"/>
                <a:ea typeface="Inter" pitchFamily="34" charset="-122"/>
                <a:cs typeface="Inter" pitchFamily="34" charset="-120"/>
              </a:rPr>
              <a:t>An AI-native product engineering apprenticeship for India.</a:t>
            </a:r>
            <a:endParaRPr lang="en-US" sz="1800" dirty="0"/>
          </a:p>
        </p:txBody>
      </p:sp>
      <p:sp>
        <p:nvSpPr>
          <p:cNvPr id="8" name="Shape 6"/>
          <p:cNvSpPr/>
          <p:nvPr/>
        </p:nvSpPr>
        <p:spPr>
          <a:xfrm>
            <a:off x="868680" y="5212080"/>
            <a:ext cx="10362895" cy="0"/>
          </a:xfrm>
          <a:prstGeom prst="line">
            <a:avLst/>
          </a:prstGeom>
          <a:noFill/>
          <a:ln w="63500">
            <a:solidFill>
              <a:srgbClr val="FFC700"/>
            </a:solidFill>
            <a:prstDash val="solid"/>
          </a:ln>
        </p:spPr>
      </p:sp>
      <p:sp>
        <p:nvSpPr>
          <p:cNvPr id="9" name="Shape 7"/>
          <p:cNvSpPr/>
          <p:nvPr/>
        </p:nvSpPr>
        <p:spPr>
          <a:xfrm>
            <a:off x="704088" y="5047488"/>
            <a:ext cx="329184" cy="329184"/>
          </a:xfrm>
          <a:prstGeom prst="ellipse">
            <a:avLst/>
          </a:prstGeom>
          <a:solidFill>
            <a:srgbClr val="FFC700"/>
          </a:solidFill>
          <a:ln w="38100">
            <a:solidFill>
              <a:srgbClr val="FFFFFF"/>
            </a:solidFill>
            <a:prstDash val="solid"/>
          </a:ln>
        </p:spPr>
      </p:sp>
      <p:sp>
        <p:nvSpPr>
          <p:cNvPr id="10" name="Text 8"/>
          <p:cNvSpPr/>
          <p:nvPr/>
        </p:nvSpPr>
        <p:spPr>
          <a:xfrm>
            <a:off x="91440" y="5486400"/>
            <a:ext cx="1554480" cy="27432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Inter" pitchFamily="34" charset="0"/>
                <a:ea typeface="Inter" pitchFamily="34" charset="-122"/>
                <a:cs typeface="Inter" pitchFamily="34" charset="-120"/>
              </a:rPr>
              <a:t>Wk 01</a:t>
            </a:r>
            <a:endParaRPr lang="en-US" sz="1100" dirty="0"/>
          </a:p>
        </p:txBody>
      </p:sp>
      <p:sp>
        <p:nvSpPr>
          <p:cNvPr id="11" name="Text 9"/>
          <p:cNvSpPr/>
          <p:nvPr/>
        </p:nvSpPr>
        <p:spPr>
          <a:xfrm>
            <a:off x="91440" y="5760720"/>
            <a:ext cx="1554480" cy="274320"/>
          </a:xfrm>
          <a:prstGeom prst="rect">
            <a:avLst/>
          </a:prstGeom>
          <a:noFill/>
          <a:ln/>
        </p:spPr>
        <p:txBody>
          <a:bodyPr wrap="square" lIns="0" tIns="0" rIns="0" bIns="0" rtlCol="0" anchor="ctr"/>
          <a:lstStyle/>
          <a:p>
            <a:pPr algn="ctr" indent="0" marL="0">
              <a:buNone/>
            </a:pPr>
            <a:r>
              <a:rPr lang="en-US" sz="900" dirty="0">
                <a:solidFill>
                  <a:srgbClr val="B6CDE5"/>
                </a:solidFill>
                <a:latin typeface="Inter" pitchFamily="34" charset="0"/>
                <a:ea typeface="Inter" pitchFamily="34" charset="-122"/>
                <a:cs typeface="Inter" pitchFamily="34" charset="-120"/>
              </a:rPr>
              <a:t>AI-Native OS</a:t>
            </a:r>
            <a:endParaRPr lang="en-US" sz="900" dirty="0"/>
          </a:p>
        </p:txBody>
      </p:sp>
      <p:sp>
        <p:nvSpPr>
          <p:cNvPr id="12" name="Shape 10"/>
          <p:cNvSpPr/>
          <p:nvPr/>
        </p:nvSpPr>
        <p:spPr>
          <a:xfrm>
            <a:off x="3035808" y="5047488"/>
            <a:ext cx="329184" cy="329184"/>
          </a:xfrm>
          <a:prstGeom prst="ellipse">
            <a:avLst/>
          </a:prstGeom>
          <a:solidFill>
            <a:srgbClr val="FFC700"/>
          </a:solidFill>
          <a:ln w="38100">
            <a:solidFill>
              <a:srgbClr val="FFFFFF"/>
            </a:solidFill>
            <a:prstDash val="solid"/>
          </a:ln>
        </p:spPr>
      </p:sp>
      <p:sp>
        <p:nvSpPr>
          <p:cNvPr id="13" name="Text 11"/>
          <p:cNvSpPr/>
          <p:nvPr/>
        </p:nvSpPr>
        <p:spPr>
          <a:xfrm>
            <a:off x="2423160" y="5486400"/>
            <a:ext cx="1554480" cy="27432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Inter" pitchFamily="34" charset="0"/>
                <a:ea typeface="Inter" pitchFamily="34" charset="-122"/>
                <a:cs typeface="Inter" pitchFamily="34" charset="-120"/>
              </a:rPr>
              <a:t>Wk 04</a:t>
            </a:r>
            <a:endParaRPr lang="en-US" sz="1100" dirty="0"/>
          </a:p>
        </p:txBody>
      </p:sp>
      <p:sp>
        <p:nvSpPr>
          <p:cNvPr id="14" name="Text 12"/>
          <p:cNvSpPr/>
          <p:nvPr/>
        </p:nvSpPr>
        <p:spPr>
          <a:xfrm>
            <a:off x="2423160" y="5760720"/>
            <a:ext cx="1554480" cy="274320"/>
          </a:xfrm>
          <a:prstGeom prst="rect">
            <a:avLst/>
          </a:prstGeom>
          <a:noFill/>
          <a:ln/>
        </p:spPr>
        <p:txBody>
          <a:bodyPr wrap="square" lIns="0" tIns="0" rIns="0" bIns="0" rtlCol="0" anchor="ctr"/>
          <a:lstStyle/>
          <a:p>
            <a:pPr algn="ctr" indent="0" marL="0">
              <a:buNone/>
            </a:pPr>
            <a:r>
              <a:rPr lang="en-US" sz="900" dirty="0">
                <a:solidFill>
                  <a:srgbClr val="B6CDE5"/>
                </a:solidFill>
                <a:latin typeface="Inter" pitchFamily="34" charset="0"/>
                <a:ea typeface="Inter" pitchFamily="34" charset="-122"/>
                <a:cs typeface="Inter" pitchFamily="34" charset="-120"/>
              </a:rPr>
              <a:t>Apps</a:t>
            </a:r>
            <a:endParaRPr lang="en-US" sz="900" dirty="0"/>
          </a:p>
        </p:txBody>
      </p:sp>
      <p:sp>
        <p:nvSpPr>
          <p:cNvPr id="15" name="Shape 13"/>
          <p:cNvSpPr/>
          <p:nvPr/>
        </p:nvSpPr>
        <p:spPr>
          <a:xfrm>
            <a:off x="5321808" y="5047488"/>
            <a:ext cx="329184" cy="329184"/>
          </a:xfrm>
          <a:prstGeom prst="ellipse">
            <a:avLst/>
          </a:prstGeom>
          <a:solidFill>
            <a:srgbClr val="FFC700"/>
          </a:solidFill>
          <a:ln w="38100">
            <a:solidFill>
              <a:srgbClr val="FFFFFF"/>
            </a:solidFill>
            <a:prstDash val="solid"/>
          </a:ln>
        </p:spPr>
      </p:sp>
      <p:sp>
        <p:nvSpPr>
          <p:cNvPr id="16" name="Text 14"/>
          <p:cNvSpPr/>
          <p:nvPr/>
        </p:nvSpPr>
        <p:spPr>
          <a:xfrm>
            <a:off x="4709160" y="5486400"/>
            <a:ext cx="1554480" cy="27432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Inter" pitchFamily="34" charset="0"/>
                <a:ea typeface="Inter" pitchFamily="34" charset="-122"/>
                <a:cs typeface="Inter" pitchFamily="34" charset="-120"/>
              </a:rPr>
              <a:t>Wk 07</a:t>
            </a:r>
            <a:endParaRPr lang="en-US" sz="1100" dirty="0"/>
          </a:p>
        </p:txBody>
      </p:sp>
      <p:sp>
        <p:nvSpPr>
          <p:cNvPr id="17" name="Text 15"/>
          <p:cNvSpPr/>
          <p:nvPr/>
        </p:nvSpPr>
        <p:spPr>
          <a:xfrm>
            <a:off x="4709160" y="5760720"/>
            <a:ext cx="1554480" cy="274320"/>
          </a:xfrm>
          <a:prstGeom prst="rect">
            <a:avLst/>
          </a:prstGeom>
          <a:noFill/>
          <a:ln/>
        </p:spPr>
        <p:txBody>
          <a:bodyPr wrap="square" lIns="0" tIns="0" rIns="0" bIns="0" rtlCol="0" anchor="ctr"/>
          <a:lstStyle/>
          <a:p>
            <a:pPr algn="ctr" indent="0" marL="0">
              <a:buNone/>
            </a:pPr>
            <a:r>
              <a:rPr lang="en-US" sz="900" dirty="0">
                <a:solidFill>
                  <a:srgbClr val="B6CDE5"/>
                </a:solidFill>
                <a:latin typeface="Inter" pitchFamily="34" charset="0"/>
                <a:ea typeface="Inter" pitchFamily="34" charset="-122"/>
                <a:cs typeface="Inter" pitchFamily="34" charset="-120"/>
              </a:rPr>
              <a:t>AI Product</a:t>
            </a:r>
            <a:endParaRPr lang="en-US" sz="900" dirty="0"/>
          </a:p>
        </p:txBody>
      </p:sp>
      <p:sp>
        <p:nvSpPr>
          <p:cNvPr id="18" name="Shape 16"/>
          <p:cNvSpPr/>
          <p:nvPr/>
        </p:nvSpPr>
        <p:spPr>
          <a:xfrm>
            <a:off x="7607808" y="5047488"/>
            <a:ext cx="329184" cy="329184"/>
          </a:xfrm>
          <a:prstGeom prst="ellipse">
            <a:avLst/>
          </a:prstGeom>
          <a:solidFill>
            <a:srgbClr val="FFC700"/>
          </a:solidFill>
          <a:ln w="38100">
            <a:solidFill>
              <a:srgbClr val="FFFFFF"/>
            </a:solidFill>
            <a:prstDash val="solid"/>
          </a:ln>
        </p:spPr>
      </p:sp>
      <p:sp>
        <p:nvSpPr>
          <p:cNvPr id="19" name="Text 17"/>
          <p:cNvSpPr/>
          <p:nvPr/>
        </p:nvSpPr>
        <p:spPr>
          <a:xfrm>
            <a:off x="6995160" y="5486400"/>
            <a:ext cx="1554480" cy="27432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Inter" pitchFamily="34" charset="0"/>
                <a:ea typeface="Inter" pitchFamily="34" charset="-122"/>
                <a:cs typeface="Inter" pitchFamily="34" charset="-120"/>
              </a:rPr>
              <a:t>Wk 10</a:t>
            </a:r>
            <a:endParaRPr lang="en-US" sz="1100" dirty="0"/>
          </a:p>
        </p:txBody>
      </p:sp>
      <p:sp>
        <p:nvSpPr>
          <p:cNvPr id="20" name="Text 18"/>
          <p:cNvSpPr/>
          <p:nvPr/>
        </p:nvSpPr>
        <p:spPr>
          <a:xfrm>
            <a:off x="6995160" y="5760720"/>
            <a:ext cx="1554480" cy="274320"/>
          </a:xfrm>
          <a:prstGeom prst="rect">
            <a:avLst/>
          </a:prstGeom>
          <a:noFill/>
          <a:ln/>
        </p:spPr>
        <p:txBody>
          <a:bodyPr wrap="square" lIns="0" tIns="0" rIns="0" bIns="0" rtlCol="0" anchor="ctr"/>
          <a:lstStyle/>
          <a:p>
            <a:pPr algn="ctr" indent="0" marL="0">
              <a:buNone/>
            </a:pPr>
            <a:r>
              <a:rPr lang="en-US" sz="900" dirty="0">
                <a:solidFill>
                  <a:srgbClr val="B6CDE5"/>
                </a:solidFill>
                <a:latin typeface="Inter" pitchFamily="34" charset="0"/>
                <a:ea typeface="Inter" pitchFamily="34" charset="-122"/>
                <a:cs typeface="Inter" pitchFamily="34" charset="-120"/>
              </a:rPr>
              <a:t>Sprint</a:t>
            </a:r>
            <a:endParaRPr lang="en-US" sz="900" dirty="0"/>
          </a:p>
        </p:txBody>
      </p:sp>
      <p:sp>
        <p:nvSpPr>
          <p:cNvPr id="21" name="Shape 19"/>
          <p:cNvSpPr/>
          <p:nvPr/>
        </p:nvSpPr>
        <p:spPr>
          <a:xfrm>
            <a:off x="11066983" y="5047488"/>
            <a:ext cx="329184" cy="329184"/>
          </a:xfrm>
          <a:prstGeom prst="ellipse">
            <a:avLst/>
          </a:prstGeom>
          <a:solidFill>
            <a:srgbClr val="FFC700"/>
          </a:solidFill>
          <a:ln w="38100">
            <a:solidFill>
              <a:srgbClr val="FFFFFF"/>
            </a:solidFill>
            <a:prstDash val="solid"/>
          </a:ln>
        </p:spPr>
      </p:sp>
      <p:sp>
        <p:nvSpPr>
          <p:cNvPr id="22" name="Text 20"/>
          <p:cNvSpPr/>
          <p:nvPr/>
        </p:nvSpPr>
        <p:spPr>
          <a:xfrm>
            <a:off x="10454335" y="5486400"/>
            <a:ext cx="1554480" cy="27432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Inter" pitchFamily="34" charset="0"/>
                <a:ea typeface="Inter" pitchFamily="34" charset="-122"/>
                <a:cs typeface="Inter" pitchFamily="34" charset="-120"/>
              </a:rPr>
              <a:t>Wk 13</a:t>
            </a:r>
            <a:endParaRPr lang="en-US" sz="1100" dirty="0"/>
          </a:p>
        </p:txBody>
      </p:sp>
      <p:sp>
        <p:nvSpPr>
          <p:cNvPr id="23" name="Text 21"/>
          <p:cNvSpPr/>
          <p:nvPr/>
        </p:nvSpPr>
        <p:spPr>
          <a:xfrm>
            <a:off x="10454335" y="5760720"/>
            <a:ext cx="1554480" cy="274320"/>
          </a:xfrm>
          <a:prstGeom prst="rect">
            <a:avLst/>
          </a:prstGeom>
          <a:noFill/>
          <a:ln/>
        </p:spPr>
        <p:txBody>
          <a:bodyPr wrap="square" lIns="0" tIns="0" rIns="0" bIns="0" rtlCol="0" anchor="ctr"/>
          <a:lstStyle/>
          <a:p>
            <a:pPr algn="ctr" indent="0" marL="0">
              <a:buNone/>
            </a:pPr>
            <a:r>
              <a:rPr lang="en-US" sz="900" dirty="0">
                <a:solidFill>
                  <a:srgbClr val="B6CDE5"/>
                </a:solidFill>
                <a:latin typeface="Inter" pitchFamily="34" charset="0"/>
                <a:ea typeface="Inter" pitchFamily="34" charset="-122"/>
                <a:cs typeface="Inter" pitchFamily="34" charset="-120"/>
              </a:rPr>
              <a:t>Launch</a:t>
            </a:r>
            <a:endParaRPr lang="en-US" sz="900" dirty="0"/>
          </a:p>
        </p:txBody>
      </p:sp>
      <p:sp>
        <p:nvSpPr>
          <p:cNvPr id="24" name="Shape 22"/>
          <p:cNvSpPr/>
          <p:nvPr/>
        </p:nvSpPr>
        <p:spPr>
          <a:xfrm>
            <a:off x="548640" y="6355080"/>
            <a:ext cx="11094415" cy="0"/>
          </a:xfrm>
          <a:prstGeom prst="line">
            <a:avLst/>
          </a:prstGeom>
          <a:noFill/>
          <a:ln w="12700">
            <a:solidFill>
              <a:srgbClr val="FFFFFF"/>
            </a:solidFill>
            <a:prstDash val="solid"/>
          </a:ln>
        </p:spPr>
      </p:sp>
      <p:sp>
        <p:nvSpPr>
          <p:cNvPr id="25" name="Text 23"/>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SHARAD AGRAWAL · FOUNDER · IIT BOMBAY '18 · CORNELL MBA '24</a:t>
            </a:r>
            <a:endParaRPr lang="en-US" sz="900" dirty="0"/>
          </a:p>
        </p:txBody>
      </p:sp>
      <p:sp>
        <p:nvSpPr>
          <p:cNvPr id="26" name="Text 24"/>
          <p:cNvSpPr/>
          <p:nvPr/>
        </p:nvSpPr>
        <p:spPr>
          <a:xfrm>
            <a:off x="10362895" y="6473952"/>
            <a:ext cx="1280160" cy="274320"/>
          </a:xfrm>
          <a:prstGeom prst="rect">
            <a:avLst/>
          </a:prstGeom>
          <a:noFill/>
          <a:ln/>
        </p:spPr>
        <p:txBody>
          <a:bodyPr wrap="square" lIns="0" tIns="0" rIns="0" bIns="0" rtlCol="0" anchor="ctr"/>
          <a:lstStyle/>
          <a:p>
            <a:pPr algn="r" indent="0" marL="0">
              <a:buNone/>
            </a:pPr>
            <a:r>
              <a:rPr lang="en-US" sz="900" b="1" spc="400" kern="0" dirty="0">
                <a:solidFill>
                  <a:srgbClr val="B6CDE5"/>
                </a:solidFill>
                <a:latin typeface="Inter" pitchFamily="34" charset="0"/>
                <a:ea typeface="Inter" pitchFamily="34" charset="-122"/>
                <a:cs typeface="Inter" pitchFamily="34" charset="-120"/>
              </a:rPr>
              <a:t>01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THE GAP · STATION 02</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02 / 17</a:t>
            </a:r>
            <a:endParaRPr lang="en-US" sz="1100" dirty="0"/>
          </a:p>
        </p:txBody>
      </p:sp>
      <p:sp>
        <p:nvSpPr>
          <p:cNvPr id="7" name="Text 5"/>
          <p:cNvSpPr/>
          <p:nvPr/>
        </p:nvSpPr>
        <p:spPr>
          <a:xfrm>
            <a:off x="548640" y="1280160"/>
            <a:ext cx="10972800" cy="1371600"/>
          </a:xfrm>
          <a:prstGeom prst="rect">
            <a:avLst/>
          </a:prstGeom>
          <a:noFill/>
          <a:ln/>
        </p:spPr>
        <p:txBody>
          <a:bodyPr wrap="square" lIns="0" tIns="0" rIns="0" bIns="0" rtlCol="0" anchor="ctr"/>
          <a:lstStyle/>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Traditional curriculum alone cannot keep pace</a:t>
            </a:r>
            <a:endParaRPr lang="en-US" sz="3000" dirty="0"/>
          </a:p>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with AI-native engineering workflows.</a:t>
            </a:r>
            <a:endParaRPr lang="en-US" sz="3000" dirty="0"/>
          </a:p>
        </p:txBody>
      </p:sp>
      <p:sp>
        <p:nvSpPr>
          <p:cNvPr id="8" name="Shape 6"/>
          <p:cNvSpPr/>
          <p:nvPr/>
        </p:nvSpPr>
        <p:spPr>
          <a:xfrm>
            <a:off x="548640" y="3108960"/>
            <a:ext cx="5440680" cy="3200400"/>
          </a:xfrm>
          <a:prstGeom prst="rect">
            <a:avLst/>
          </a:prstGeom>
          <a:solidFill>
            <a:srgbClr val="002651"/>
          </a:solidFill>
          <a:ln w="12700">
            <a:solidFill>
              <a:srgbClr val="002651"/>
            </a:solidFill>
            <a:prstDash val="solid"/>
          </a:ln>
        </p:spPr>
      </p:sp>
      <p:sp>
        <p:nvSpPr>
          <p:cNvPr id="9" name="Shape 7"/>
          <p:cNvSpPr/>
          <p:nvPr/>
        </p:nvSpPr>
        <p:spPr>
          <a:xfrm>
            <a:off x="548640" y="3108960"/>
            <a:ext cx="109728" cy="3200400"/>
          </a:xfrm>
          <a:prstGeom prst="rect">
            <a:avLst/>
          </a:prstGeom>
          <a:solidFill>
            <a:srgbClr val="FFC700"/>
          </a:solidFill>
          <a:ln w="12700">
            <a:solidFill>
              <a:srgbClr val="FFC700"/>
            </a:solidFill>
            <a:prstDash val="solid"/>
          </a:ln>
        </p:spPr>
      </p:sp>
      <p:sp>
        <p:nvSpPr>
          <p:cNvPr id="10" name="Text 8"/>
          <p:cNvSpPr/>
          <p:nvPr/>
        </p:nvSpPr>
        <p:spPr>
          <a:xfrm>
            <a:off x="822960" y="3291840"/>
            <a:ext cx="5029200" cy="32004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 WHERE CURRICULUM ENDS</a:t>
            </a:r>
            <a:endParaRPr lang="en-US" sz="1100" dirty="0"/>
          </a:p>
        </p:txBody>
      </p:sp>
      <p:sp>
        <p:nvSpPr>
          <p:cNvPr id="11" name="Text 9"/>
          <p:cNvSpPr/>
          <p:nvPr/>
        </p:nvSpPr>
        <p:spPr>
          <a:xfrm>
            <a:off x="868680" y="3703320"/>
            <a:ext cx="4937760" cy="25603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Inter" pitchFamily="34" charset="0"/>
                <a:ea typeface="Inter" pitchFamily="34" charset="-122"/>
                <a:cs typeface="Inter" pitchFamily="34" charset="-120"/>
              </a:rPr>
              <a:t>Theoretical foundations are strong</a:t>
            </a:r>
            <a:endParaRPr lang="en-US" sz="1300" dirty="0"/>
          </a:p>
          <a:p>
            <a:pPr marL="342900" indent="-342900">
              <a:spcAft>
                <a:spcPts val="600"/>
              </a:spcAft>
              <a:buSzPct val="100000"/>
              <a:buChar char="—"/>
            </a:pPr>
            <a:r>
              <a:rPr lang="en-US" sz="1300" dirty="0">
                <a:solidFill>
                  <a:srgbClr val="FFFFFF"/>
                </a:solidFill>
                <a:latin typeface="Inter" pitchFamily="34" charset="0"/>
                <a:ea typeface="Inter" pitchFamily="34" charset="-122"/>
                <a:cs typeface="Inter" pitchFamily="34" charset="-120"/>
              </a:rPr>
              <a:t>Limited time for shipping practice</a:t>
            </a:r>
            <a:endParaRPr lang="en-US" sz="1300" dirty="0"/>
          </a:p>
          <a:p>
            <a:pPr marL="342900" indent="-342900">
              <a:spcAft>
                <a:spcPts val="600"/>
              </a:spcAft>
              <a:buSzPct val="100000"/>
              <a:buChar char="—"/>
            </a:pPr>
            <a:r>
              <a:rPr lang="en-US" sz="1300" dirty="0">
                <a:solidFill>
                  <a:srgbClr val="FFFFFF"/>
                </a:solidFill>
                <a:latin typeface="Inter" pitchFamily="34" charset="0"/>
                <a:ea typeface="Inter" pitchFamily="34" charset="-122"/>
                <a:cs typeface="Inter" pitchFamily="34" charset="-120"/>
              </a:rPr>
              <a:t>Production deployment rarely taught</a:t>
            </a:r>
            <a:endParaRPr lang="en-US" sz="1300" dirty="0"/>
          </a:p>
          <a:p>
            <a:pPr marL="342900" indent="-342900">
              <a:spcAft>
                <a:spcPts val="600"/>
              </a:spcAft>
              <a:buSzPct val="100000"/>
              <a:buChar char="—"/>
            </a:pPr>
            <a:r>
              <a:rPr lang="en-US" sz="1300" dirty="0">
                <a:solidFill>
                  <a:srgbClr val="FFFFFF"/>
                </a:solidFill>
                <a:latin typeface="Inter" pitchFamily="34" charset="0"/>
                <a:ea typeface="Inter" pitchFamily="34" charset="-122"/>
                <a:cs typeface="Inter" pitchFamily="34" charset="-120"/>
              </a:rPr>
              <a:t>AI-assisted tools change every quarter</a:t>
            </a:r>
            <a:endParaRPr lang="en-US" sz="1300" dirty="0"/>
          </a:p>
          <a:p>
            <a:pPr marL="342900" indent="-342900">
              <a:spcAft>
                <a:spcPts val="600"/>
              </a:spcAft>
              <a:buSzPct val="100000"/>
              <a:buChar char="—"/>
            </a:pPr>
            <a:r>
              <a:rPr lang="en-US" sz="1300" dirty="0">
                <a:solidFill>
                  <a:srgbClr val="FFFFFF"/>
                </a:solidFill>
                <a:latin typeface="Inter" pitchFamily="34" charset="0"/>
                <a:ea typeface="Inter" pitchFamily="34" charset="-122"/>
                <a:cs typeface="Inter" pitchFamily="34" charset="-120"/>
              </a:rPr>
              <a:t>AI debugging is a different discipline</a:t>
            </a:r>
            <a:endParaRPr lang="en-US" sz="1300" dirty="0"/>
          </a:p>
          <a:p>
            <a:pPr marL="342900" indent="-342900">
              <a:spcAft>
                <a:spcPts val="600"/>
              </a:spcAft>
              <a:buSzPct val="100000"/>
              <a:buChar char="—"/>
            </a:pPr>
            <a:r>
              <a:rPr lang="en-US" sz="1300" dirty="0">
                <a:solidFill>
                  <a:srgbClr val="FFFFFF"/>
                </a:solidFill>
                <a:latin typeface="Inter" pitchFamily="34" charset="0"/>
                <a:ea typeface="Inter" pitchFamily="34" charset="-122"/>
                <a:cs typeface="Inter" pitchFamily="34" charset="-120"/>
              </a:rPr>
              <a:t>Startup workflows are hard to simulate in-class</a:t>
            </a:r>
            <a:endParaRPr lang="en-US" sz="1300" dirty="0"/>
          </a:p>
        </p:txBody>
      </p:sp>
      <p:sp>
        <p:nvSpPr>
          <p:cNvPr id="12" name="Shape 10"/>
          <p:cNvSpPr/>
          <p:nvPr/>
        </p:nvSpPr>
        <p:spPr>
          <a:xfrm>
            <a:off x="6263640" y="3108960"/>
            <a:ext cx="5440680" cy="3200400"/>
          </a:xfrm>
          <a:prstGeom prst="rect">
            <a:avLst/>
          </a:prstGeom>
          <a:solidFill>
            <a:srgbClr val="FFC700"/>
          </a:solidFill>
          <a:ln w="12700">
            <a:solidFill>
              <a:srgbClr val="FFC700"/>
            </a:solidFill>
            <a:prstDash val="solid"/>
          </a:ln>
        </p:spPr>
      </p:sp>
      <p:sp>
        <p:nvSpPr>
          <p:cNvPr id="13" name="Shape 11"/>
          <p:cNvSpPr/>
          <p:nvPr/>
        </p:nvSpPr>
        <p:spPr>
          <a:xfrm>
            <a:off x="6263640" y="3108960"/>
            <a:ext cx="109728" cy="3200400"/>
          </a:xfrm>
          <a:prstGeom prst="rect">
            <a:avLst/>
          </a:prstGeom>
          <a:solidFill>
            <a:srgbClr val="003D7A"/>
          </a:solidFill>
          <a:ln w="12700">
            <a:solidFill>
              <a:srgbClr val="003D7A"/>
            </a:solidFill>
            <a:prstDash val="solid"/>
          </a:ln>
        </p:spPr>
      </p:sp>
      <p:sp>
        <p:nvSpPr>
          <p:cNvPr id="14" name="Text 12"/>
          <p:cNvSpPr/>
          <p:nvPr/>
        </p:nvSpPr>
        <p:spPr>
          <a:xfrm>
            <a:off x="6537960" y="3291840"/>
            <a:ext cx="5029200" cy="320040"/>
          </a:xfrm>
          <a:prstGeom prst="rect">
            <a:avLst/>
          </a:prstGeom>
          <a:noFill/>
          <a:ln/>
        </p:spPr>
        <p:txBody>
          <a:bodyPr wrap="square" lIns="0" tIns="0" rIns="0" bIns="0" rtlCol="0" anchor="ctr"/>
          <a:lstStyle/>
          <a:p>
            <a:pPr indent="0" marL="0">
              <a:buNone/>
            </a:pPr>
            <a:r>
              <a:rPr lang="en-US" sz="1100" b="1" spc="500" kern="0" dirty="0">
                <a:solidFill>
                  <a:srgbClr val="003D7A"/>
                </a:solidFill>
                <a:latin typeface="Inter" pitchFamily="34" charset="0"/>
                <a:ea typeface="Inter" pitchFamily="34" charset="-122"/>
                <a:cs typeface="Inter" pitchFamily="34" charset="-120"/>
              </a:rPr>
              <a:t>→ WHAT STARTUPS NEED</a:t>
            </a:r>
            <a:endParaRPr lang="en-US" sz="1100" dirty="0"/>
          </a:p>
        </p:txBody>
      </p:sp>
      <p:sp>
        <p:nvSpPr>
          <p:cNvPr id="15" name="Text 13"/>
          <p:cNvSpPr/>
          <p:nvPr/>
        </p:nvSpPr>
        <p:spPr>
          <a:xfrm>
            <a:off x="6583680" y="3703320"/>
            <a:ext cx="4937760" cy="25603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003D7A"/>
                </a:solidFill>
                <a:latin typeface="Inter" pitchFamily="34" charset="0"/>
                <a:ea typeface="Inter" pitchFamily="34" charset="-122"/>
                <a:cs typeface="Inter" pitchFamily="34" charset="-120"/>
              </a:rPr>
              <a:t>AI-assisted development fluency</a:t>
            </a:r>
            <a:endParaRPr lang="en-US" sz="1300" dirty="0"/>
          </a:p>
          <a:p>
            <a:pPr marL="342900" indent="-342900">
              <a:spcAft>
                <a:spcPts val="600"/>
              </a:spcAft>
              <a:buSzPct val="100000"/>
              <a:buChar char="—"/>
            </a:pPr>
            <a:r>
              <a:rPr lang="en-US" sz="1300" dirty="0">
                <a:solidFill>
                  <a:srgbClr val="003D7A"/>
                </a:solidFill>
                <a:latin typeface="Inter" pitchFamily="34" charset="0"/>
                <a:ea typeface="Inter" pitchFamily="34" charset="-122"/>
                <a:cs typeface="Inter" pitchFamily="34" charset="-120"/>
              </a:rPr>
              <a:t>Shipping velocity over algorithm depth</a:t>
            </a:r>
            <a:endParaRPr lang="en-US" sz="1300" dirty="0"/>
          </a:p>
          <a:p>
            <a:pPr marL="342900" indent="-342900">
              <a:spcAft>
                <a:spcPts val="600"/>
              </a:spcAft>
              <a:buSzPct val="100000"/>
              <a:buChar char="—"/>
            </a:pPr>
            <a:r>
              <a:rPr lang="en-US" sz="1300" dirty="0">
                <a:solidFill>
                  <a:srgbClr val="003D7A"/>
                </a:solidFill>
                <a:latin typeface="Inter" pitchFamily="34" charset="0"/>
                <a:ea typeface="Inter" pitchFamily="34" charset="-122"/>
                <a:cs typeface="Inter" pitchFamily="34" charset="-120"/>
              </a:rPr>
              <a:t>Product and architecture judgment</a:t>
            </a:r>
            <a:endParaRPr lang="en-US" sz="1300" dirty="0"/>
          </a:p>
          <a:p>
            <a:pPr marL="342900" indent="-342900">
              <a:spcAft>
                <a:spcPts val="600"/>
              </a:spcAft>
              <a:buSzPct val="100000"/>
              <a:buChar char="—"/>
            </a:pPr>
            <a:r>
              <a:rPr lang="en-US" sz="1300" dirty="0">
                <a:solidFill>
                  <a:srgbClr val="003D7A"/>
                </a:solidFill>
                <a:latin typeface="Inter" pitchFamily="34" charset="0"/>
                <a:ea typeface="Inter" pitchFamily="34" charset="-122"/>
                <a:cs typeface="Inter" pitchFamily="34" charset="-120"/>
              </a:rPr>
              <a:t>Evaluation discipline for AI features</a:t>
            </a:r>
            <a:endParaRPr lang="en-US" sz="1300" dirty="0"/>
          </a:p>
          <a:p>
            <a:pPr marL="342900" indent="-342900">
              <a:spcAft>
                <a:spcPts val="600"/>
              </a:spcAft>
              <a:buSzPct val="100000"/>
              <a:buChar char="—"/>
            </a:pPr>
            <a:r>
              <a:rPr lang="en-US" sz="1300" dirty="0">
                <a:solidFill>
                  <a:srgbClr val="003D7A"/>
                </a:solidFill>
                <a:latin typeface="Inter" pitchFamily="34" charset="0"/>
                <a:ea typeface="Inter" pitchFamily="34" charset="-122"/>
                <a:cs typeface="Inter" pitchFamily="34" charset="-120"/>
              </a:rPr>
              <a:t>Async collaboration habits</a:t>
            </a:r>
            <a:endParaRPr lang="en-US" sz="1300" dirty="0"/>
          </a:p>
          <a:p>
            <a:pPr marL="342900" indent="-342900">
              <a:spcAft>
                <a:spcPts val="600"/>
              </a:spcAft>
              <a:buSzPct val="100000"/>
              <a:buChar char="—"/>
            </a:pPr>
            <a:r>
              <a:rPr lang="en-US" sz="1300" dirty="0">
                <a:solidFill>
                  <a:srgbClr val="003D7A"/>
                </a:solidFill>
                <a:latin typeface="Inter" pitchFamily="34" charset="0"/>
                <a:ea typeface="Inter" pitchFamily="34" charset="-122"/>
                <a:cs typeface="Inter" pitchFamily="34" charset="-120"/>
              </a:rPr>
              <a:t>Debug AI hallucination, not just human bugs</a:t>
            </a:r>
            <a:endParaRPr lang="en-US" sz="1300" dirty="0"/>
          </a:p>
        </p:txBody>
      </p:sp>
      <p:sp>
        <p:nvSpPr>
          <p:cNvPr id="16" name="Shape 14"/>
          <p:cNvSpPr/>
          <p:nvPr/>
        </p:nvSpPr>
        <p:spPr>
          <a:xfrm>
            <a:off x="548640" y="6355080"/>
            <a:ext cx="11094415" cy="0"/>
          </a:xfrm>
          <a:prstGeom prst="line">
            <a:avLst/>
          </a:prstGeom>
          <a:noFill/>
          <a:ln w="12700">
            <a:solidFill>
              <a:srgbClr val="FFFFFF"/>
            </a:solidFill>
            <a:prstDash val="solid"/>
          </a:ln>
        </p:spPr>
      </p:sp>
      <p:sp>
        <p:nvSpPr>
          <p:cNvPr id="17" name="Text 15"/>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THE GAP</a:t>
            </a:r>
            <a:endParaRPr lang="en-US" sz="900" dirty="0"/>
          </a:p>
        </p:txBody>
      </p:sp>
      <p:sp>
        <p:nvSpPr>
          <p:cNvPr id="18" name="Shape 16"/>
          <p:cNvSpPr/>
          <p:nvPr/>
        </p:nvSpPr>
        <p:spPr>
          <a:xfrm>
            <a:off x="10545775" y="6473952"/>
            <a:ext cx="1097280" cy="228600"/>
          </a:xfrm>
          <a:prstGeom prst="rect">
            <a:avLst/>
          </a:prstGeom>
          <a:solidFill>
            <a:srgbClr val="FFC700"/>
          </a:solidFill>
          <a:ln w="12700">
            <a:solidFill>
              <a:srgbClr val="FFC700"/>
            </a:solidFill>
            <a:prstDash val="solid"/>
          </a:ln>
        </p:spPr>
      </p:sp>
      <p:sp>
        <p:nvSpPr>
          <p:cNvPr id="19" name="Text 17"/>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WHY FOR COLLEGES · STATION 03</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03 / 17</a:t>
            </a:r>
            <a:endParaRPr lang="en-US" sz="1100" dirty="0"/>
          </a:p>
        </p:txBody>
      </p:sp>
      <p:sp>
        <p:nvSpPr>
          <p:cNvPr id="7" name="Text 5"/>
          <p:cNvSpPr/>
          <p:nvPr/>
        </p:nvSpPr>
        <p:spPr>
          <a:xfrm>
            <a:off x="548640" y="1280160"/>
            <a:ext cx="10972800" cy="731520"/>
          </a:xfrm>
          <a:prstGeom prst="rect">
            <a:avLst/>
          </a:prstGeom>
          <a:noFill/>
          <a:ln/>
        </p:spPr>
        <p:txBody>
          <a:bodyPr wrap="square" lIns="0" tIns="0" rIns="0" bIns="0" rtlCol="0" anchor="ctr"/>
          <a:lstStyle/>
          <a:p>
            <a:pPr indent="0" marL="0">
              <a:buNone/>
            </a:pPr>
            <a:r>
              <a:rPr lang="en-US" sz="2800" b="1" spc="-50" kern="0" dirty="0">
                <a:solidFill>
                  <a:srgbClr val="FFFFFF"/>
                </a:solidFill>
                <a:latin typeface="Inter" pitchFamily="34" charset="0"/>
                <a:ea typeface="Inter" pitchFamily="34" charset="-122"/>
                <a:cs typeface="Inter" pitchFamily="34" charset="-120"/>
              </a:rPr>
              <a:t>Five priorities that AI-native programmes help address.</a:t>
            </a:r>
            <a:endParaRPr lang="en-US" sz="2800" dirty="0"/>
          </a:p>
        </p:txBody>
      </p:sp>
      <p:sp>
        <p:nvSpPr>
          <p:cNvPr id="8" name="Shape 6"/>
          <p:cNvSpPr/>
          <p:nvPr/>
        </p:nvSpPr>
        <p:spPr>
          <a:xfrm>
            <a:off x="594360" y="2697480"/>
            <a:ext cx="320040" cy="320040"/>
          </a:xfrm>
          <a:prstGeom prst="ellipse">
            <a:avLst/>
          </a:prstGeom>
          <a:solidFill>
            <a:srgbClr val="FFC700"/>
          </a:solidFill>
          <a:ln w="12700">
            <a:solidFill>
              <a:srgbClr val="003D7A"/>
            </a:solidFill>
            <a:prstDash val="solid"/>
          </a:ln>
        </p:spPr>
      </p:sp>
      <p:sp>
        <p:nvSpPr>
          <p:cNvPr id="9" name="Text 7"/>
          <p:cNvSpPr/>
          <p:nvPr/>
        </p:nvSpPr>
        <p:spPr>
          <a:xfrm>
            <a:off x="594360" y="2697480"/>
            <a:ext cx="320040" cy="320040"/>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01</a:t>
            </a:r>
            <a:endParaRPr lang="en-US" sz="1100" dirty="0"/>
          </a:p>
        </p:txBody>
      </p:sp>
      <p:sp>
        <p:nvSpPr>
          <p:cNvPr id="10" name="Text 8"/>
          <p:cNvSpPr/>
          <p:nvPr/>
        </p:nvSpPr>
        <p:spPr>
          <a:xfrm>
            <a:off x="1188720" y="2697480"/>
            <a:ext cx="4114800" cy="32004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Placement statistics</a:t>
            </a:r>
            <a:endParaRPr lang="en-US" sz="1700" dirty="0"/>
          </a:p>
        </p:txBody>
      </p:sp>
      <p:sp>
        <p:nvSpPr>
          <p:cNvPr id="11" name="Text 9"/>
          <p:cNvSpPr/>
          <p:nvPr/>
        </p:nvSpPr>
        <p:spPr>
          <a:xfrm>
            <a:off x="5486400" y="2724912"/>
            <a:ext cx="6217920" cy="411480"/>
          </a:xfrm>
          <a:prstGeom prst="rect">
            <a:avLst/>
          </a:prstGeom>
          <a:noFill/>
          <a:ln/>
        </p:spPr>
        <p:txBody>
          <a:bodyPr wrap="square" lIns="0" tIns="0" rIns="0" bIns="0" rtlCol="0" anchor="ctr"/>
          <a:lstStyle/>
          <a:p>
            <a:pPr indent="0" marL="0">
              <a:buNone/>
            </a:pPr>
            <a:r>
              <a:rPr lang="en-US" sz="1200" dirty="0">
                <a:solidFill>
                  <a:srgbClr val="B6CDE5"/>
                </a:solidFill>
                <a:latin typeface="Inter" pitchFamily="34" charset="0"/>
                <a:ea typeface="Inter" pitchFamily="34" charset="-122"/>
                <a:cs typeface="Inter" pitchFamily="34" charset="-120"/>
              </a:rPr>
              <a:t>Stagnant or declining numbers, with student exits to tier-1 alternatives.</a:t>
            </a:r>
            <a:endParaRPr lang="en-US" sz="1200" dirty="0"/>
          </a:p>
        </p:txBody>
      </p:sp>
      <p:sp>
        <p:nvSpPr>
          <p:cNvPr id="12" name="Shape 10"/>
          <p:cNvSpPr/>
          <p:nvPr/>
        </p:nvSpPr>
        <p:spPr>
          <a:xfrm>
            <a:off x="548640" y="3172968"/>
            <a:ext cx="11094415" cy="0"/>
          </a:xfrm>
          <a:prstGeom prst="line">
            <a:avLst/>
          </a:prstGeom>
          <a:noFill/>
          <a:ln w="6350">
            <a:solidFill>
              <a:srgbClr val="7592B6"/>
            </a:solidFill>
            <a:prstDash val="solid"/>
          </a:ln>
        </p:spPr>
      </p:sp>
      <p:sp>
        <p:nvSpPr>
          <p:cNvPr id="13" name="Shape 11"/>
          <p:cNvSpPr/>
          <p:nvPr/>
        </p:nvSpPr>
        <p:spPr>
          <a:xfrm>
            <a:off x="594360" y="3410712"/>
            <a:ext cx="320040" cy="320040"/>
          </a:xfrm>
          <a:prstGeom prst="ellipse">
            <a:avLst/>
          </a:prstGeom>
          <a:solidFill>
            <a:srgbClr val="FFC700"/>
          </a:solidFill>
          <a:ln w="12700">
            <a:solidFill>
              <a:srgbClr val="003D7A"/>
            </a:solidFill>
            <a:prstDash val="solid"/>
          </a:ln>
        </p:spPr>
      </p:sp>
      <p:sp>
        <p:nvSpPr>
          <p:cNvPr id="14" name="Text 12"/>
          <p:cNvSpPr/>
          <p:nvPr/>
        </p:nvSpPr>
        <p:spPr>
          <a:xfrm>
            <a:off x="594360" y="3410712"/>
            <a:ext cx="320040" cy="320040"/>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02</a:t>
            </a:r>
            <a:endParaRPr lang="en-US" sz="1100" dirty="0"/>
          </a:p>
        </p:txBody>
      </p:sp>
      <p:sp>
        <p:nvSpPr>
          <p:cNvPr id="15" name="Text 13"/>
          <p:cNvSpPr/>
          <p:nvPr/>
        </p:nvSpPr>
        <p:spPr>
          <a:xfrm>
            <a:off x="1188720" y="3410712"/>
            <a:ext cx="4114800" cy="32004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Industry partnerships</a:t>
            </a:r>
            <a:endParaRPr lang="en-US" sz="1700" dirty="0"/>
          </a:p>
        </p:txBody>
      </p:sp>
      <p:sp>
        <p:nvSpPr>
          <p:cNvPr id="16" name="Text 14"/>
          <p:cNvSpPr/>
          <p:nvPr/>
        </p:nvSpPr>
        <p:spPr>
          <a:xfrm>
            <a:off x="5486400" y="3438144"/>
            <a:ext cx="6217920" cy="411480"/>
          </a:xfrm>
          <a:prstGeom prst="rect">
            <a:avLst/>
          </a:prstGeom>
          <a:noFill/>
          <a:ln/>
        </p:spPr>
        <p:txBody>
          <a:bodyPr wrap="square" lIns="0" tIns="0" rIns="0" bIns="0" rtlCol="0" anchor="ctr"/>
          <a:lstStyle/>
          <a:p>
            <a:pPr indent="0" marL="0">
              <a:buNone/>
            </a:pPr>
            <a:r>
              <a:rPr lang="en-US" sz="1200" dirty="0">
                <a:solidFill>
                  <a:srgbClr val="B6CDE5"/>
                </a:solidFill>
                <a:latin typeface="Inter" pitchFamily="34" charset="0"/>
                <a:ea typeface="Inter" pitchFamily="34" charset="-122"/>
                <a:cs typeface="Inter" pitchFamily="34" charset="-120"/>
              </a:rPr>
              <a:t>AICTE and NAAC rankings increasingly weight industry tie-ups.</a:t>
            </a:r>
            <a:endParaRPr lang="en-US" sz="1200" dirty="0"/>
          </a:p>
        </p:txBody>
      </p:sp>
      <p:sp>
        <p:nvSpPr>
          <p:cNvPr id="17" name="Shape 15"/>
          <p:cNvSpPr/>
          <p:nvPr/>
        </p:nvSpPr>
        <p:spPr>
          <a:xfrm>
            <a:off x="548640" y="3886200"/>
            <a:ext cx="11094415" cy="0"/>
          </a:xfrm>
          <a:prstGeom prst="line">
            <a:avLst/>
          </a:prstGeom>
          <a:noFill/>
          <a:ln w="6350">
            <a:solidFill>
              <a:srgbClr val="7592B6"/>
            </a:solidFill>
            <a:prstDash val="solid"/>
          </a:ln>
        </p:spPr>
      </p:sp>
      <p:sp>
        <p:nvSpPr>
          <p:cNvPr id="18" name="Shape 16"/>
          <p:cNvSpPr/>
          <p:nvPr/>
        </p:nvSpPr>
        <p:spPr>
          <a:xfrm>
            <a:off x="594360" y="4123944"/>
            <a:ext cx="320040" cy="320040"/>
          </a:xfrm>
          <a:prstGeom prst="ellipse">
            <a:avLst/>
          </a:prstGeom>
          <a:solidFill>
            <a:srgbClr val="FFC700"/>
          </a:solidFill>
          <a:ln w="12700">
            <a:solidFill>
              <a:srgbClr val="003D7A"/>
            </a:solidFill>
            <a:prstDash val="solid"/>
          </a:ln>
        </p:spPr>
      </p:sp>
      <p:sp>
        <p:nvSpPr>
          <p:cNvPr id="19" name="Text 17"/>
          <p:cNvSpPr/>
          <p:nvPr/>
        </p:nvSpPr>
        <p:spPr>
          <a:xfrm>
            <a:off x="594360" y="4123944"/>
            <a:ext cx="320040" cy="320040"/>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03</a:t>
            </a:r>
            <a:endParaRPr lang="en-US" sz="1100" dirty="0"/>
          </a:p>
        </p:txBody>
      </p:sp>
      <p:sp>
        <p:nvSpPr>
          <p:cNvPr id="20" name="Text 18"/>
          <p:cNvSpPr/>
          <p:nvPr/>
        </p:nvSpPr>
        <p:spPr>
          <a:xfrm>
            <a:off x="1188720" y="4123944"/>
            <a:ext cx="4114800" cy="32004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AI branding gap</a:t>
            </a:r>
            <a:endParaRPr lang="en-US" sz="1700" dirty="0"/>
          </a:p>
        </p:txBody>
      </p:sp>
      <p:sp>
        <p:nvSpPr>
          <p:cNvPr id="21" name="Text 19"/>
          <p:cNvSpPr/>
          <p:nvPr/>
        </p:nvSpPr>
        <p:spPr>
          <a:xfrm>
            <a:off x="5486400" y="4151376"/>
            <a:ext cx="6217920" cy="411480"/>
          </a:xfrm>
          <a:prstGeom prst="rect">
            <a:avLst/>
          </a:prstGeom>
          <a:noFill/>
          <a:ln/>
        </p:spPr>
        <p:txBody>
          <a:bodyPr wrap="square" lIns="0" tIns="0" rIns="0" bIns="0" rtlCol="0" anchor="ctr"/>
          <a:lstStyle/>
          <a:p>
            <a:pPr indent="0" marL="0">
              <a:buNone/>
            </a:pPr>
            <a:r>
              <a:rPr lang="en-US" sz="1200" dirty="0">
                <a:solidFill>
                  <a:srgbClr val="B6CDE5"/>
                </a:solidFill>
                <a:latin typeface="Inter" pitchFamily="34" charset="0"/>
                <a:ea typeface="Inter" pitchFamily="34" charset="-122"/>
                <a:cs typeface="Inter" pitchFamily="34" charset="-120"/>
              </a:rPr>
              <a:t>"AI" is now table stakes, but no credible AI programme to point to.</a:t>
            </a:r>
            <a:endParaRPr lang="en-US" sz="1200" dirty="0"/>
          </a:p>
        </p:txBody>
      </p:sp>
      <p:sp>
        <p:nvSpPr>
          <p:cNvPr id="22" name="Shape 20"/>
          <p:cNvSpPr/>
          <p:nvPr/>
        </p:nvSpPr>
        <p:spPr>
          <a:xfrm>
            <a:off x="548640" y="4599432"/>
            <a:ext cx="11094415" cy="0"/>
          </a:xfrm>
          <a:prstGeom prst="line">
            <a:avLst/>
          </a:prstGeom>
          <a:noFill/>
          <a:ln w="6350">
            <a:solidFill>
              <a:srgbClr val="7592B6"/>
            </a:solidFill>
            <a:prstDash val="solid"/>
          </a:ln>
        </p:spPr>
      </p:sp>
      <p:sp>
        <p:nvSpPr>
          <p:cNvPr id="23" name="Shape 21"/>
          <p:cNvSpPr/>
          <p:nvPr/>
        </p:nvSpPr>
        <p:spPr>
          <a:xfrm>
            <a:off x="594360" y="4837176"/>
            <a:ext cx="320040" cy="320040"/>
          </a:xfrm>
          <a:prstGeom prst="ellipse">
            <a:avLst/>
          </a:prstGeom>
          <a:solidFill>
            <a:srgbClr val="FFC700"/>
          </a:solidFill>
          <a:ln w="12700">
            <a:solidFill>
              <a:srgbClr val="003D7A"/>
            </a:solidFill>
            <a:prstDash val="solid"/>
          </a:ln>
        </p:spPr>
      </p:sp>
      <p:sp>
        <p:nvSpPr>
          <p:cNvPr id="24" name="Text 22"/>
          <p:cNvSpPr/>
          <p:nvPr/>
        </p:nvSpPr>
        <p:spPr>
          <a:xfrm>
            <a:off x="594360" y="4837176"/>
            <a:ext cx="320040" cy="320040"/>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04</a:t>
            </a:r>
            <a:endParaRPr lang="en-US" sz="1100" dirty="0"/>
          </a:p>
        </p:txBody>
      </p:sp>
      <p:sp>
        <p:nvSpPr>
          <p:cNvPr id="25" name="Text 23"/>
          <p:cNvSpPr/>
          <p:nvPr/>
        </p:nvSpPr>
        <p:spPr>
          <a:xfrm>
            <a:off x="1188720" y="4837176"/>
            <a:ext cx="4114800" cy="32004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Faculty bandwidth</a:t>
            </a:r>
            <a:endParaRPr lang="en-US" sz="1700" dirty="0"/>
          </a:p>
        </p:txBody>
      </p:sp>
      <p:sp>
        <p:nvSpPr>
          <p:cNvPr id="26" name="Text 24"/>
          <p:cNvSpPr/>
          <p:nvPr/>
        </p:nvSpPr>
        <p:spPr>
          <a:xfrm>
            <a:off x="5486400" y="4864608"/>
            <a:ext cx="6217920" cy="411480"/>
          </a:xfrm>
          <a:prstGeom prst="rect">
            <a:avLst/>
          </a:prstGeom>
          <a:noFill/>
          <a:ln/>
        </p:spPr>
        <p:txBody>
          <a:bodyPr wrap="square" lIns="0" tIns="0" rIns="0" bIns="0" rtlCol="0" anchor="ctr"/>
          <a:lstStyle/>
          <a:p>
            <a:pPr indent="0" marL="0">
              <a:buNone/>
            </a:pPr>
            <a:r>
              <a:rPr lang="en-US" sz="1200" dirty="0">
                <a:solidFill>
                  <a:srgbClr val="B6CDE5"/>
                </a:solidFill>
                <a:latin typeface="Inter" pitchFamily="34" charset="0"/>
                <a:ea typeface="Inter" pitchFamily="34" charset="-122"/>
                <a:cs typeface="Inter" pitchFamily="34" charset="-120"/>
              </a:rPr>
              <a:t>No internal capacity to build or run an AI-native curriculum.</a:t>
            </a:r>
            <a:endParaRPr lang="en-US" sz="1200" dirty="0"/>
          </a:p>
        </p:txBody>
      </p:sp>
      <p:sp>
        <p:nvSpPr>
          <p:cNvPr id="27" name="Shape 25"/>
          <p:cNvSpPr/>
          <p:nvPr/>
        </p:nvSpPr>
        <p:spPr>
          <a:xfrm>
            <a:off x="548640" y="5312664"/>
            <a:ext cx="11094415" cy="0"/>
          </a:xfrm>
          <a:prstGeom prst="line">
            <a:avLst/>
          </a:prstGeom>
          <a:noFill/>
          <a:ln w="6350">
            <a:solidFill>
              <a:srgbClr val="7592B6"/>
            </a:solidFill>
            <a:prstDash val="solid"/>
          </a:ln>
        </p:spPr>
      </p:sp>
      <p:sp>
        <p:nvSpPr>
          <p:cNvPr id="28" name="Shape 26"/>
          <p:cNvSpPr/>
          <p:nvPr/>
        </p:nvSpPr>
        <p:spPr>
          <a:xfrm>
            <a:off x="594360" y="5550408"/>
            <a:ext cx="320040" cy="320040"/>
          </a:xfrm>
          <a:prstGeom prst="ellipse">
            <a:avLst/>
          </a:prstGeom>
          <a:solidFill>
            <a:srgbClr val="FFC700"/>
          </a:solidFill>
          <a:ln w="12700">
            <a:solidFill>
              <a:srgbClr val="003D7A"/>
            </a:solidFill>
            <a:prstDash val="solid"/>
          </a:ln>
        </p:spPr>
      </p:sp>
      <p:sp>
        <p:nvSpPr>
          <p:cNvPr id="29" name="Text 27"/>
          <p:cNvSpPr/>
          <p:nvPr/>
        </p:nvSpPr>
        <p:spPr>
          <a:xfrm>
            <a:off x="594360" y="5550408"/>
            <a:ext cx="320040" cy="320040"/>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05</a:t>
            </a:r>
            <a:endParaRPr lang="en-US" sz="1100" dirty="0"/>
          </a:p>
        </p:txBody>
      </p:sp>
      <p:sp>
        <p:nvSpPr>
          <p:cNvPr id="30" name="Text 28"/>
          <p:cNvSpPr/>
          <p:nvPr/>
        </p:nvSpPr>
        <p:spPr>
          <a:xfrm>
            <a:off x="1188720" y="5550408"/>
            <a:ext cx="4114800" cy="32004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Admissions differentiation</a:t>
            </a:r>
            <a:endParaRPr lang="en-US" sz="1700" dirty="0"/>
          </a:p>
        </p:txBody>
      </p:sp>
      <p:sp>
        <p:nvSpPr>
          <p:cNvPr id="31" name="Text 29"/>
          <p:cNvSpPr/>
          <p:nvPr/>
        </p:nvSpPr>
        <p:spPr>
          <a:xfrm>
            <a:off x="5486400" y="5577840"/>
            <a:ext cx="6217920" cy="411480"/>
          </a:xfrm>
          <a:prstGeom prst="rect">
            <a:avLst/>
          </a:prstGeom>
          <a:noFill/>
          <a:ln/>
        </p:spPr>
        <p:txBody>
          <a:bodyPr wrap="square" lIns="0" tIns="0" rIns="0" bIns="0" rtlCol="0" anchor="ctr"/>
          <a:lstStyle/>
          <a:p>
            <a:pPr indent="0" marL="0">
              <a:buNone/>
            </a:pPr>
            <a:r>
              <a:rPr lang="en-US" sz="1200" dirty="0">
                <a:solidFill>
                  <a:srgbClr val="B6CDE5"/>
                </a:solidFill>
                <a:latin typeface="Inter" pitchFamily="34" charset="0"/>
                <a:ea typeface="Inter" pitchFamily="34" charset="-122"/>
                <a:cs typeface="Inter" pitchFamily="34" charset="-120"/>
              </a:rPr>
              <a:t>Private colleges compete on marketing in every admission cycle.</a:t>
            </a:r>
            <a:endParaRPr lang="en-US" sz="1200" dirty="0"/>
          </a:p>
        </p:txBody>
      </p:sp>
      <p:sp>
        <p:nvSpPr>
          <p:cNvPr id="32" name="Shape 30"/>
          <p:cNvSpPr/>
          <p:nvPr/>
        </p:nvSpPr>
        <p:spPr>
          <a:xfrm>
            <a:off x="548640" y="6025896"/>
            <a:ext cx="11094415" cy="0"/>
          </a:xfrm>
          <a:prstGeom prst="line">
            <a:avLst/>
          </a:prstGeom>
          <a:noFill/>
          <a:ln w="6350">
            <a:solidFill>
              <a:srgbClr val="7592B6"/>
            </a:solidFill>
            <a:prstDash val="solid"/>
          </a:ln>
        </p:spPr>
      </p:sp>
      <p:sp>
        <p:nvSpPr>
          <p:cNvPr id="33" name="Shape 31"/>
          <p:cNvSpPr/>
          <p:nvPr/>
        </p:nvSpPr>
        <p:spPr>
          <a:xfrm>
            <a:off x="548640" y="6355080"/>
            <a:ext cx="11094415" cy="0"/>
          </a:xfrm>
          <a:prstGeom prst="line">
            <a:avLst/>
          </a:prstGeom>
          <a:noFill/>
          <a:ln w="12700">
            <a:solidFill>
              <a:srgbClr val="FFFFFF"/>
            </a:solidFill>
            <a:prstDash val="solid"/>
          </a:ln>
        </p:spPr>
      </p:sp>
      <p:sp>
        <p:nvSpPr>
          <p:cNvPr id="34" name="Text 32"/>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WHY FOR COLLEGES</a:t>
            </a:r>
            <a:endParaRPr lang="en-US" sz="900" dirty="0"/>
          </a:p>
        </p:txBody>
      </p:sp>
      <p:sp>
        <p:nvSpPr>
          <p:cNvPr id="35" name="Shape 33"/>
          <p:cNvSpPr/>
          <p:nvPr/>
        </p:nvSpPr>
        <p:spPr>
          <a:xfrm>
            <a:off x="10545775" y="6473952"/>
            <a:ext cx="1097280" cy="228600"/>
          </a:xfrm>
          <a:prstGeom prst="rect">
            <a:avLst/>
          </a:prstGeom>
          <a:solidFill>
            <a:srgbClr val="FFC700"/>
          </a:solidFill>
          <a:ln w="12700">
            <a:solidFill>
              <a:srgbClr val="FFC700"/>
            </a:solidFill>
            <a:prstDash val="solid"/>
          </a:ln>
        </p:spPr>
      </p:sp>
      <p:sp>
        <p:nvSpPr>
          <p:cNvPr id="36" name="Text 34"/>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PROGRAMME · STATION 04</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04 / 17</a:t>
            </a:r>
            <a:endParaRPr lang="en-US" sz="1100" dirty="0"/>
          </a:p>
        </p:txBody>
      </p:sp>
      <p:sp>
        <p:nvSpPr>
          <p:cNvPr id="7" name="Text 5"/>
          <p:cNvSpPr/>
          <p:nvPr/>
        </p:nvSpPr>
        <p:spPr>
          <a:xfrm>
            <a:off x="548640" y="1280160"/>
            <a:ext cx="11430000" cy="1554480"/>
          </a:xfrm>
          <a:prstGeom prst="rect">
            <a:avLst/>
          </a:prstGeom>
          <a:noFill/>
          <a:ln/>
        </p:spPr>
        <p:txBody>
          <a:bodyPr wrap="square" lIns="0" tIns="0" rIns="0" bIns="0" rtlCol="0" anchor="ctr"/>
          <a:lstStyle/>
          <a:p>
            <a:pPr indent="0" marL="0">
              <a:lnSpc>
                <a:spcPts val="4200"/>
              </a:lnSpc>
              <a:buNone/>
            </a:pPr>
            <a:r>
              <a:rPr lang="en-US" sz="3400" b="1" spc="-100" kern="0" dirty="0">
                <a:solidFill>
                  <a:srgbClr val="FFFFFF"/>
                </a:solidFill>
                <a:latin typeface="Inter" pitchFamily="34" charset="0"/>
                <a:ea typeface="Inter" pitchFamily="34" charset="-122"/>
                <a:cs typeface="Inter" pitchFamily="34" charset="-120"/>
              </a:rPr>
              <a:t>A 13-week </a:t>
            </a:r>
            <a:pPr indent="0" marL="0">
              <a:lnSpc>
                <a:spcPts val="4200"/>
              </a:lnSpc>
              <a:buNone/>
            </a:pPr>
            <a:r>
              <a:rPr lang="en-US" sz="3400" b="1" spc="-100" kern="0" dirty="0">
                <a:solidFill>
                  <a:srgbClr val="FFC700"/>
                </a:solidFill>
                <a:latin typeface="Inter" pitchFamily="34" charset="0"/>
                <a:ea typeface="Inter" pitchFamily="34" charset="-122"/>
                <a:cs typeface="Inter" pitchFamily="34" charset="-120"/>
              </a:rPr>
              <a:t>apprenticeship. </a:t>
            </a:r>
            <a:pPr indent="0" marL="0">
              <a:lnSpc>
                <a:spcPts val="4200"/>
              </a:lnSpc>
              <a:buNone/>
            </a:pPr>
            <a:r>
              <a:rPr lang="en-US" sz="3400" b="1" spc="-100" kern="0" dirty="0">
                <a:solidFill>
                  <a:srgbClr val="FFFFFF"/>
                </a:solidFill>
                <a:latin typeface="Inter" pitchFamily="34" charset="0"/>
                <a:ea typeface="Inter" pitchFamily="34" charset="-122"/>
                <a:cs typeface="Inter" pitchFamily="34" charset="-120"/>
              </a:rPr>
              <a:t>Not a course.</a:t>
            </a:r>
            <a:endParaRPr lang="en-US" sz="3400" dirty="0"/>
          </a:p>
        </p:txBody>
      </p:sp>
      <p:sp>
        <p:nvSpPr>
          <p:cNvPr id="8" name="Text 6"/>
          <p:cNvSpPr/>
          <p:nvPr/>
        </p:nvSpPr>
        <p:spPr>
          <a:xfrm>
            <a:off x="548640" y="2788920"/>
            <a:ext cx="11430000" cy="457200"/>
          </a:xfrm>
          <a:prstGeom prst="rect">
            <a:avLst/>
          </a:prstGeom>
          <a:noFill/>
          <a:ln/>
        </p:spPr>
        <p:txBody>
          <a:bodyPr wrap="square" lIns="0" tIns="0" rIns="0" bIns="0" rtlCol="0" anchor="ctr"/>
          <a:lstStyle/>
          <a:p>
            <a:pPr indent="0" marL="0">
              <a:buNone/>
            </a:pPr>
            <a:r>
              <a:rPr lang="en-US" sz="1400" i="1" dirty="0">
                <a:solidFill>
                  <a:srgbClr val="B6CDE5"/>
                </a:solidFill>
                <a:latin typeface="Inter" pitchFamily="34" charset="0"/>
                <a:ea typeface="Inter" pitchFamily="34" charset="-122"/>
                <a:cs typeface="Inter" pitchFamily="34" charset="-120"/>
              </a:rPr>
              <a:t>Built for engineering students. Integrated with tier-2 engineering colleges. Earned, not granted.</a:t>
            </a:r>
            <a:endParaRPr lang="en-US" sz="1400" dirty="0"/>
          </a:p>
        </p:txBody>
      </p:sp>
      <p:sp>
        <p:nvSpPr>
          <p:cNvPr id="9" name="Shape 7"/>
          <p:cNvSpPr/>
          <p:nvPr/>
        </p:nvSpPr>
        <p:spPr>
          <a:xfrm>
            <a:off x="1371600" y="3931920"/>
            <a:ext cx="9448495" cy="0"/>
          </a:xfrm>
          <a:prstGeom prst="line">
            <a:avLst/>
          </a:prstGeom>
          <a:noFill/>
          <a:ln w="76200">
            <a:solidFill>
              <a:srgbClr val="FFC700"/>
            </a:solidFill>
            <a:prstDash val="solid"/>
          </a:ln>
        </p:spPr>
      </p:sp>
      <p:sp>
        <p:nvSpPr>
          <p:cNvPr id="10" name="Shape 8"/>
          <p:cNvSpPr/>
          <p:nvPr/>
        </p:nvSpPr>
        <p:spPr>
          <a:xfrm>
            <a:off x="1124712" y="3685032"/>
            <a:ext cx="493776" cy="493776"/>
          </a:xfrm>
          <a:prstGeom prst="ellipse">
            <a:avLst/>
          </a:prstGeom>
          <a:solidFill>
            <a:srgbClr val="FFC700"/>
          </a:solidFill>
          <a:ln w="38100">
            <a:solidFill>
              <a:srgbClr val="FFFFFF"/>
            </a:solidFill>
            <a:prstDash val="solid"/>
          </a:ln>
        </p:spPr>
      </p:sp>
      <p:sp>
        <p:nvSpPr>
          <p:cNvPr id="11" name="Text 9"/>
          <p:cNvSpPr/>
          <p:nvPr/>
        </p:nvSpPr>
        <p:spPr>
          <a:xfrm>
            <a:off x="457200" y="4297680"/>
            <a:ext cx="1828800" cy="292608"/>
          </a:xfrm>
          <a:prstGeom prst="rect">
            <a:avLst/>
          </a:prstGeom>
          <a:noFill/>
          <a:ln/>
        </p:spPr>
        <p:txBody>
          <a:bodyPr wrap="square" lIns="0" tIns="0" rIns="0" bIns="0" rtlCol="0" anchor="ctr"/>
          <a:lstStyle/>
          <a:p>
            <a:pPr algn="ctr" indent="0" marL="0">
              <a:buNone/>
            </a:pPr>
            <a:r>
              <a:rPr lang="en-US" sz="1300" b="1" spc="400" kern="0" dirty="0">
                <a:solidFill>
                  <a:srgbClr val="FFFFFF"/>
                </a:solidFill>
                <a:latin typeface="Inter" pitchFamily="34" charset="0"/>
                <a:ea typeface="Inter" pitchFamily="34" charset="-122"/>
                <a:cs typeface="Inter" pitchFamily="34" charset="-120"/>
              </a:rPr>
              <a:t>WK 01</a:t>
            </a:r>
            <a:endParaRPr lang="en-US" sz="1300" dirty="0"/>
          </a:p>
        </p:txBody>
      </p:sp>
      <p:sp>
        <p:nvSpPr>
          <p:cNvPr id="12" name="Text 10"/>
          <p:cNvSpPr/>
          <p:nvPr/>
        </p:nvSpPr>
        <p:spPr>
          <a:xfrm>
            <a:off x="457200" y="4590288"/>
            <a:ext cx="1828800" cy="292608"/>
          </a:xfrm>
          <a:prstGeom prst="rect">
            <a:avLst/>
          </a:prstGeom>
          <a:noFill/>
          <a:ln/>
        </p:spPr>
        <p:txBody>
          <a:bodyPr wrap="square" lIns="0" tIns="0" rIns="0" bIns="0" rtlCol="0" anchor="ctr"/>
          <a:lstStyle/>
          <a:p>
            <a:pPr algn="ctr" indent="0" marL="0">
              <a:buNone/>
            </a:pPr>
            <a:r>
              <a:rPr lang="en-US" sz="1100" dirty="0">
                <a:solidFill>
                  <a:srgbClr val="B6CDE5"/>
                </a:solidFill>
                <a:latin typeface="Inter" pitchFamily="34" charset="0"/>
                <a:ea typeface="Inter" pitchFamily="34" charset="-122"/>
                <a:cs typeface="Inter" pitchFamily="34" charset="-120"/>
              </a:rPr>
              <a:t>AI-Native OS</a:t>
            </a:r>
            <a:endParaRPr lang="en-US" sz="1100" dirty="0"/>
          </a:p>
        </p:txBody>
      </p:sp>
      <p:sp>
        <p:nvSpPr>
          <p:cNvPr id="13" name="Shape 11"/>
          <p:cNvSpPr/>
          <p:nvPr/>
        </p:nvSpPr>
        <p:spPr>
          <a:xfrm>
            <a:off x="3502152" y="3685032"/>
            <a:ext cx="493776" cy="493776"/>
          </a:xfrm>
          <a:prstGeom prst="ellipse">
            <a:avLst/>
          </a:prstGeom>
          <a:solidFill>
            <a:srgbClr val="FFC700"/>
          </a:solidFill>
          <a:ln w="38100">
            <a:solidFill>
              <a:srgbClr val="FFFFFF"/>
            </a:solidFill>
            <a:prstDash val="solid"/>
          </a:ln>
        </p:spPr>
      </p:sp>
      <p:sp>
        <p:nvSpPr>
          <p:cNvPr id="14" name="Text 12"/>
          <p:cNvSpPr/>
          <p:nvPr/>
        </p:nvSpPr>
        <p:spPr>
          <a:xfrm>
            <a:off x="2834640" y="4297680"/>
            <a:ext cx="1828800" cy="292608"/>
          </a:xfrm>
          <a:prstGeom prst="rect">
            <a:avLst/>
          </a:prstGeom>
          <a:noFill/>
          <a:ln/>
        </p:spPr>
        <p:txBody>
          <a:bodyPr wrap="square" lIns="0" tIns="0" rIns="0" bIns="0" rtlCol="0" anchor="ctr"/>
          <a:lstStyle/>
          <a:p>
            <a:pPr algn="ctr" indent="0" marL="0">
              <a:buNone/>
            </a:pPr>
            <a:r>
              <a:rPr lang="en-US" sz="1300" b="1" spc="400" kern="0" dirty="0">
                <a:solidFill>
                  <a:srgbClr val="FFFFFF"/>
                </a:solidFill>
                <a:latin typeface="Inter" pitchFamily="34" charset="0"/>
                <a:ea typeface="Inter" pitchFamily="34" charset="-122"/>
                <a:cs typeface="Inter" pitchFamily="34" charset="-120"/>
              </a:rPr>
              <a:t>WK 04</a:t>
            </a:r>
            <a:endParaRPr lang="en-US" sz="1300" dirty="0"/>
          </a:p>
        </p:txBody>
      </p:sp>
      <p:sp>
        <p:nvSpPr>
          <p:cNvPr id="15" name="Text 13"/>
          <p:cNvSpPr/>
          <p:nvPr/>
        </p:nvSpPr>
        <p:spPr>
          <a:xfrm>
            <a:off x="2834640" y="4590288"/>
            <a:ext cx="1828800" cy="292608"/>
          </a:xfrm>
          <a:prstGeom prst="rect">
            <a:avLst/>
          </a:prstGeom>
          <a:noFill/>
          <a:ln/>
        </p:spPr>
        <p:txBody>
          <a:bodyPr wrap="square" lIns="0" tIns="0" rIns="0" bIns="0" rtlCol="0" anchor="ctr"/>
          <a:lstStyle/>
          <a:p>
            <a:pPr algn="ctr" indent="0" marL="0">
              <a:buNone/>
            </a:pPr>
            <a:r>
              <a:rPr lang="en-US" sz="1100" dirty="0">
                <a:solidFill>
                  <a:srgbClr val="B6CDE5"/>
                </a:solidFill>
                <a:latin typeface="Inter" pitchFamily="34" charset="0"/>
                <a:ea typeface="Inter" pitchFamily="34" charset="-122"/>
                <a:cs typeface="Inter" pitchFamily="34" charset="-120"/>
              </a:rPr>
              <a:t>Apps Shipped</a:t>
            </a:r>
            <a:endParaRPr lang="en-US" sz="1100" dirty="0"/>
          </a:p>
        </p:txBody>
      </p:sp>
      <p:sp>
        <p:nvSpPr>
          <p:cNvPr id="16" name="Shape 14"/>
          <p:cNvSpPr/>
          <p:nvPr/>
        </p:nvSpPr>
        <p:spPr>
          <a:xfrm>
            <a:off x="5879592" y="3685032"/>
            <a:ext cx="493776" cy="493776"/>
          </a:xfrm>
          <a:prstGeom prst="ellipse">
            <a:avLst/>
          </a:prstGeom>
          <a:solidFill>
            <a:srgbClr val="FFC700"/>
          </a:solidFill>
          <a:ln w="38100">
            <a:solidFill>
              <a:srgbClr val="FFFFFF"/>
            </a:solidFill>
            <a:prstDash val="solid"/>
          </a:ln>
        </p:spPr>
      </p:sp>
      <p:sp>
        <p:nvSpPr>
          <p:cNvPr id="17" name="Text 15"/>
          <p:cNvSpPr/>
          <p:nvPr/>
        </p:nvSpPr>
        <p:spPr>
          <a:xfrm>
            <a:off x="5212080" y="4297680"/>
            <a:ext cx="1828800" cy="292608"/>
          </a:xfrm>
          <a:prstGeom prst="rect">
            <a:avLst/>
          </a:prstGeom>
          <a:noFill/>
          <a:ln/>
        </p:spPr>
        <p:txBody>
          <a:bodyPr wrap="square" lIns="0" tIns="0" rIns="0" bIns="0" rtlCol="0" anchor="ctr"/>
          <a:lstStyle/>
          <a:p>
            <a:pPr algn="ctr" indent="0" marL="0">
              <a:buNone/>
            </a:pPr>
            <a:r>
              <a:rPr lang="en-US" sz="1300" b="1" spc="400" kern="0" dirty="0">
                <a:solidFill>
                  <a:srgbClr val="FFFFFF"/>
                </a:solidFill>
                <a:latin typeface="Inter" pitchFamily="34" charset="0"/>
                <a:ea typeface="Inter" pitchFamily="34" charset="-122"/>
                <a:cs typeface="Inter" pitchFamily="34" charset="-120"/>
              </a:rPr>
              <a:t>WK 07</a:t>
            </a:r>
            <a:endParaRPr lang="en-US" sz="1300" dirty="0"/>
          </a:p>
        </p:txBody>
      </p:sp>
      <p:sp>
        <p:nvSpPr>
          <p:cNvPr id="18" name="Text 16"/>
          <p:cNvSpPr/>
          <p:nvPr/>
        </p:nvSpPr>
        <p:spPr>
          <a:xfrm>
            <a:off x="5212080" y="4590288"/>
            <a:ext cx="1828800" cy="292608"/>
          </a:xfrm>
          <a:prstGeom prst="rect">
            <a:avLst/>
          </a:prstGeom>
          <a:noFill/>
          <a:ln/>
        </p:spPr>
        <p:txBody>
          <a:bodyPr wrap="square" lIns="0" tIns="0" rIns="0" bIns="0" rtlCol="0" anchor="ctr"/>
          <a:lstStyle/>
          <a:p>
            <a:pPr algn="ctr" indent="0" marL="0">
              <a:buNone/>
            </a:pPr>
            <a:r>
              <a:rPr lang="en-US" sz="1100" dirty="0">
                <a:solidFill>
                  <a:srgbClr val="B6CDE5"/>
                </a:solidFill>
                <a:latin typeface="Inter" pitchFamily="34" charset="0"/>
                <a:ea typeface="Inter" pitchFamily="34" charset="-122"/>
                <a:cs typeface="Inter" pitchFamily="34" charset="-120"/>
              </a:rPr>
              <a:t>AI Product</a:t>
            </a:r>
            <a:endParaRPr lang="en-US" sz="1100" dirty="0"/>
          </a:p>
        </p:txBody>
      </p:sp>
      <p:sp>
        <p:nvSpPr>
          <p:cNvPr id="19" name="Shape 17"/>
          <p:cNvSpPr/>
          <p:nvPr/>
        </p:nvSpPr>
        <p:spPr>
          <a:xfrm>
            <a:off x="8165592" y="3685032"/>
            <a:ext cx="493776" cy="493776"/>
          </a:xfrm>
          <a:prstGeom prst="ellipse">
            <a:avLst/>
          </a:prstGeom>
          <a:solidFill>
            <a:srgbClr val="FFC700"/>
          </a:solidFill>
          <a:ln w="38100">
            <a:solidFill>
              <a:srgbClr val="FFFFFF"/>
            </a:solidFill>
            <a:prstDash val="solid"/>
          </a:ln>
        </p:spPr>
      </p:sp>
      <p:sp>
        <p:nvSpPr>
          <p:cNvPr id="20" name="Text 18"/>
          <p:cNvSpPr/>
          <p:nvPr/>
        </p:nvSpPr>
        <p:spPr>
          <a:xfrm>
            <a:off x="7498080" y="4297680"/>
            <a:ext cx="1828800" cy="292608"/>
          </a:xfrm>
          <a:prstGeom prst="rect">
            <a:avLst/>
          </a:prstGeom>
          <a:noFill/>
          <a:ln/>
        </p:spPr>
        <p:txBody>
          <a:bodyPr wrap="square" lIns="0" tIns="0" rIns="0" bIns="0" rtlCol="0" anchor="ctr"/>
          <a:lstStyle/>
          <a:p>
            <a:pPr algn="ctr" indent="0" marL="0">
              <a:buNone/>
            </a:pPr>
            <a:r>
              <a:rPr lang="en-US" sz="1300" b="1" spc="400" kern="0" dirty="0">
                <a:solidFill>
                  <a:srgbClr val="FFFFFF"/>
                </a:solidFill>
                <a:latin typeface="Inter" pitchFamily="34" charset="0"/>
                <a:ea typeface="Inter" pitchFamily="34" charset="-122"/>
                <a:cs typeface="Inter" pitchFamily="34" charset="-120"/>
              </a:rPr>
              <a:t>WK 10</a:t>
            </a:r>
            <a:endParaRPr lang="en-US" sz="1300" dirty="0"/>
          </a:p>
        </p:txBody>
      </p:sp>
      <p:sp>
        <p:nvSpPr>
          <p:cNvPr id="21" name="Text 19"/>
          <p:cNvSpPr/>
          <p:nvPr/>
        </p:nvSpPr>
        <p:spPr>
          <a:xfrm>
            <a:off x="7498080" y="4590288"/>
            <a:ext cx="1828800" cy="292608"/>
          </a:xfrm>
          <a:prstGeom prst="rect">
            <a:avLst/>
          </a:prstGeom>
          <a:noFill/>
          <a:ln/>
        </p:spPr>
        <p:txBody>
          <a:bodyPr wrap="square" lIns="0" tIns="0" rIns="0" bIns="0" rtlCol="0" anchor="ctr"/>
          <a:lstStyle/>
          <a:p>
            <a:pPr algn="ctr" indent="0" marL="0">
              <a:buNone/>
            </a:pPr>
            <a:r>
              <a:rPr lang="en-US" sz="1100" dirty="0">
                <a:solidFill>
                  <a:srgbClr val="B6CDE5"/>
                </a:solidFill>
                <a:latin typeface="Inter" pitchFamily="34" charset="0"/>
                <a:ea typeface="Inter" pitchFamily="34" charset="-122"/>
                <a:cs typeface="Inter" pitchFamily="34" charset="-120"/>
              </a:rPr>
              <a:t>Team Sprint</a:t>
            </a:r>
            <a:endParaRPr lang="en-US" sz="1100" dirty="0"/>
          </a:p>
        </p:txBody>
      </p:sp>
      <p:sp>
        <p:nvSpPr>
          <p:cNvPr id="22" name="Shape 20"/>
          <p:cNvSpPr/>
          <p:nvPr/>
        </p:nvSpPr>
        <p:spPr>
          <a:xfrm>
            <a:off x="10573207" y="3685032"/>
            <a:ext cx="493776" cy="493776"/>
          </a:xfrm>
          <a:prstGeom prst="ellipse">
            <a:avLst/>
          </a:prstGeom>
          <a:solidFill>
            <a:srgbClr val="FFC700"/>
          </a:solidFill>
          <a:ln w="38100">
            <a:solidFill>
              <a:srgbClr val="FFFFFF"/>
            </a:solidFill>
            <a:prstDash val="solid"/>
          </a:ln>
        </p:spPr>
      </p:sp>
      <p:sp>
        <p:nvSpPr>
          <p:cNvPr id="23" name="Text 21"/>
          <p:cNvSpPr/>
          <p:nvPr/>
        </p:nvSpPr>
        <p:spPr>
          <a:xfrm>
            <a:off x="9905695" y="4297680"/>
            <a:ext cx="1828800" cy="292608"/>
          </a:xfrm>
          <a:prstGeom prst="rect">
            <a:avLst/>
          </a:prstGeom>
          <a:noFill/>
          <a:ln/>
        </p:spPr>
        <p:txBody>
          <a:bodyPr wrap="square" lIns="0" tIns="0" rIns="0" bIns="0" rtlCol="0" anchor="ctr"/>
          <a:lstStyle/>
          <a:p>
            <a:pPr algn="ctr" indent="0" marL="0">
              <a:buNone/>
            </a:pPr>
            <a:r>
              <a:rPr lang="en-US" sz="1300" b="1" spc="400" kern="0" dirty="0">
                <a:solidFill>
                  <a:srgbClr val="FFFFFF"/>
                </a:solidFill>
                <a:latin typeface="Inter" pitchFamily="34" charset="0"/>
                <a:ea typeface="Inter" pitchFamily="34" charset="-122"/>
                <a:cs typeface="Inter" pitchFamily="34" charset="-120"/>
              </a:rPr>
              <a:t>WK 13</a:t>
            </a:r>
            <a:endParaRPr lang="en-US" sz="1300" dirty="0"/>
          </a:p>
        </p:txBody>
      </p:sp>
      <p:sp>
        <p:nvSpPr>
          <p:cNvPr id="24" name="Text 22"/>
          <p:cNvSpPr/>
          <p:nvPr/>
        </p:nvSpPr>
        <p:spPr>
          <a:xfrm>
            <a:off x="9905695" y="4590288"/>
            <a:ext cx="1828800" cy="292608"/>
          </a:xfrm>
          <a:prstGeom prst="rect">
            <a:avLst/>
          </a:prstGeom>
          <a:noFill/>
          <a:ln/>
        </p:spPr>
        <p:txBody>
          <a:bodyPr wrap="square" lIns="0" tIns="0" rIns="0" bIns="0" rtlCol="0" anchor="ctr"/>
          <a:lstStyle/>
          <a:p>
            <a:pPr algn="ctr" indent="0" marL="0">
              <a:buNone/>
            </a:pPr>
            <a:r>
              <a:rPr lang="en-US" sz="1100" dirty="0">
                <a:solidFill>
                  <a:srgbClr val="B6CDE5"/>
                </a:solidFill>
                <a:latin typeface="Inter" pitchFamily="34" charset="0"/>
                <a:ea typeface="Inter" pitchFamily="34" charset="-122"/>
                <a:cs typeface="Inter" pitchFamily="34" charset="-120"/>
              </a:rPr>
              <a:t>Public Launch</a:t>
            </a:r>
            <a:endParaRPr lang="en-US" sz="1100" dirty="0"/>
          </a:p>
        </p:txBody>
      </p:sp>
      <p:sp>
        <p:nvSpPr>
          <p:cNvPr id="25" name="Shape 23"/>
          <p:cNvSpPr/>
          <p:nvPr/>
        </p:nvSpPr>
        <p:spPr>
          <a:xfrm>
            <a:off x="548640" y="5212080"/>
            <a:ext cx="11094415" cy="0"/>
          </a:xfrm>
          <a:prstGeom prst="line">
            <a:avLst/>
          </a:prstGeom>
          <a:noFill/>
          <a:ln w="12700">
            <a:solidFill>
              <a:srgbClr val="FFFFFF"/>
            </a:solidFill>
            <a:prstDash val="solid"/>
          </a:ln>
        </p:spPr>
      </p:sp>
      <p:sp>
        <p:nvSpPr>
          <p:cNvPr id="26" name="Shape 24"/>
          <p:cNvSpPr/>
          <p:nvPr/>
        </p:nvSpPr>
        <p:spPr>
          <a:xfrm>
            <a:off x="548640" y="5376672"/>
            <a:ext cx="109728" cy="1097280"/>
          </a:xfrm>
          <a:prstGeom prst="rect">
            <a:avLst/>
          </a:prstGeom>
          <a:solidFill>
            <a:srgbClr val="FFC700"/>
          </a:solidFill>
          <a:ln w="12700">
            <a:solidFill>
              <a:srgbClr val="FFC700"/>
            </a:solidFill>
            <a:prstDash val="solid"/>
          </a:ln>
        </p:spPr>
      </p:sp>
      <p:sp>
        <p:nvSpPr>
          <p:cNvPr id="27" name="Text 25"/>
          <p:cNvSpPr/>
          <p:nvPr/>
        </p:nvSpPr>
        <p:spPr>
          <a:xfrm>
            <a:off x="822960" y="5349240"/>
            <a:ext cx="3332378" cy="777240"/>
          </a:xfrm>
          <a:prstGeom prst="rect">
            <a:avLst/>
          </a:prstGeom>
          <a:noFill/>
          <a:ln/>
        </p:spPr>
        <p:txBody>
          <a:bodyPr wrap="square" lIns="0" tIns="0" rIns="0" bIns="0" rtlCol="0" anchor="ctr"/>
          <a:lstStyle/>
          <a:p>
            <a:pPr indent="0" marL="0">
              <a:buNone/>
            </a:pPr>
            <a:r>
              <a:rPr lang="en-US" sz="5600" b="1" spc="-300" kern="0" dirty="0">
                <a:solidFill>
                  <a:srgbClr val="FFFFFF"/>
                </a:solidFill>
                <a:latin typeface="Inter" pitchFamily="34" charset="0"/>
                <a:ea typeface="Inter" pitchFamily="34" charset="-122"/>
                <a:cs typeface="Inter" pitchFamily="34" charset="-120"/>
              </a:rPr>
              <a:t>13</a:t>
            </a:r>
            <a:endParaRPr lang="en-US" sz="5600" dirty="0"/>
          </a:p>
        </p:txBody>
      </p:sp>
      <p:sp>
        <p:nvSpPr>
          <p:cNvPr id="28" name="Text 26"/>
          <p:cNvSpPr/>
          <p:nvPr/>
        </p:nvSpPr>
        <p:spPr>
          <a:xfrm>
            <a:off x="822960" y="6080760"/>
            <a:ext cx="3332378" cy="274320"/>
          </a:xfrm>
          <a:prstGeom prst="rect">
            <a:avLst/>
          </a:prstGeom>
          <a:noFill/>
          <a:ln/>
        </p:spPr>
        <p:txBody>
          <a:bodyPr wrap="square" lIns="0" tIns="0" rIns="0" bIns="0" rtlCol="0" anchor="ctr"/>
          <a:lstStyle/>
          <a:p>
            <a:pPr indent="0" marL="0">
              <a:buNone/>
            </a:pPr>
            <a:r>
              <a:rPr lang="en-US" sz="1000" b="1" spc="400" kern="0" dirty="0">
                <a:solidFill>
                  <a:srgbClr val="FFC700"/>
                </a:solidFill>
                <a:latin typeface="Inter" pitchFamily="34" charset="0"/>
                <a:ea typeface="Inter" pitchFamily="34" charset="-122"/>
                <a:cs typeface="Inter" pitchFamily="34" charset="-120"/>
              </a:rPr>
              <a:t>WEEKS</a:t>
            </a:r>
            <a:endParaRPr lang="en-US" sz="1000" dirty="0"/>
          </a:p>
        </p:txBody>
      </p:sp>
      <p:sp>
        <p:nvSpPr>
          <p:cNvPr id="29" name="Text 27"/>
          <p:cNvSpPr/>
          <p:nvPr/>
        </p:nvSpPr>
        <p:spPr>
          <a:xfrm>
            <a:off x="822960" y="6355080"/>
            <a:ext cx="3332378" cy="274320"/>
          </a:xfrm>
          <a:prstGeom prst="rect">
            <a:avLst/>
          </a:prstGeom>
          <a:noFill/>
          <a:ln/>
        </p:spPr>
        <p:txBody>
          <a:bodyPr wrap="square" lIns="0" tIns="0" rIns="0" bIns="0" rtlCol="0" anchor="ctr"/>
          <a:lstStyle/>
          <a:p>
            <a:pPr indent="0" marL="0">
              <a:buNone/>
            </a:pPr>
            <a:r>
              <a:rPr lang="en-US" sz="1100" dirty="0">
                <a:solidFill>
                  <a:srgbClr val="B6CDE5"/>
                </a:solidFill>
                <a:latin typeface="Inter" pitchFamily="34" charset="0"/>
                <a:ea typeface="Inter" pitchFamily="34" charset="-122"/>
                <a:cs typeface="Inter" pitchFamily="34" charset="-120"/>
              </a:rPr>
              <a:t>Total programme length</a:t>
            </a:r>
            <a:endParaRPr lang="en-US" sz="1100" dirty="0"/>
          </a:p>
        </p:txBody>
      </p:sp>
      <p:sp>
        <p:nvSpPr>
          <p:cNvPr id="30" name="Shape 28"/>
          <p:cNvSpPr/>
          <p:nvPr/>
        </p:nvSpPr>
        <p:spPr>
          <a:xfrm>
            <a:off x="4246778" y="5376672"/>
            <a:ext cx="109728" cy="1097280"/>
          </a:xfrm>
          <a:prstGeom prst="rect">
            <a:avLst/>
          </a:prstGeom>
          <a:solidFill>
            <a:srgbClr val="FFC700"/>
          </a:solidFill>
          <a:ln w="12700">
            <a:solidFill>
              <a:srgbClr val="FFC700"/>
            </a:solidFill>
            <a:prstDash val="solid"/>
          </a:ln>
        </p:spPr>
      </p:sp>
      <p:sp>
        <p:nvSpPr>
          <p:cNvPr id="31" name="Text 29"/>
          <p:cNvSpPr/>
          <p:nvPr/>
        </p:nvSpPr>
        <p:spPr>
          <a:xfrm>
            <a:off x="4521098" y="5349240"/>
            <a:ext cx="3332378" cy="777240"/>
          </a:xfrm>
          <a:prstGeom prst="rect">
            <a:avLst/>
          </a:prstGeom>
          <a:noFill/>
          <a:ln/>
        </p:spPr>
        <p:txBody>
          <a:bodyPr wrap="square" lIns="0" tIns="0" rIns="0" bIns="0" rtlCol="0" anchor="ctr"/>
          <a:lstStyle/>
          <a:p>
            <a:pPr indent="0" marL="0">
              <a:buNone/>
            </a:pPr>
            <a:r>
              <a:rPr lang="en-US" sz="5600" b="1" spc="-300" kern="0" dirty="0">
                <a:solidFill>
                  <a:srgbClr val="FFFFFF"/>
                </a:solidFill>
                <a:latin typeface="Inter" pitchFamily="34" charset="0"/>
                <a:ea typeface="Inter" pitchFamily="34" charset="-122"/>
                <a:cs typeface="Inter" pitchFamily="34" charset="-120"/>
              </a:rPr>
              <a:t>100</a:t>
            </a:r>
            <a:endParaRPr lang="en-US" sz="5600" dirty="0"/>
          </a:p>
        </p:txBody>
      </p:sp>
      <p:sp>
        <p:nvSpPr>
          <p:cNvPr id="32" name="Text 30"/>
          <p:cNvSpPr/>
          <p:nvPr/>
        </p:nvSpPr>
        <p:spPr>
          <a:xfrm>
            <a:off x="4521098" y="6080760"/>
            <a:ext cx="3332378" cy="274320"/>
          </a:xfrm>
          <a:prstGeom prst="rect">
            <a:avLst/>
          </a:prstGeom>
          <a:noFill/>
          <a:ln/>
        </p:spPr>
        <p:txBody>
          <a:bodyPr wrap="square" lIns="0" tIns="0" rIns="0" bIns="0" rtlCol="0" anchor="ctr"/>
          <a:lstStyle/>
          <a:p>
            <a:pPr indent="0" marL="0">
              <a:buNone/>
            </a:pPr>
            <a:r>
              <a:rPr lang="en-US" sz="1000" b="1" spc="400" kern="0" dirty="0">
                <a:solidFill>
                  <a:srgbClr val="FFC700"/>
                </a:solidFill>
                <a:latin typeface="Inter" pitchFamily="34" charset="0"/>
                <a:ea typeface="Inter" pitchFamily="34" charset="-122"/>
                <a:cs typeface="Inter" pitchFamily="34" charset="-120"/>
              </a:rPr>
              <a:t>STUDENTS / COHORT</a:t>
            </a:r>
            <a:endParaRPr lang="en-US" sz="1000" dirty="0"/>
          </a:p>
        </p:txBody>
      </p:sp>
      <p:sp>
        <p:nvSpPr>
          <p:cNvPr id="33" name="Text 31"/>
          <p:cNvSpPr/>
          <p:nvPr/>
        </p:nvSpPr>
        <p:spPr>
          <a:xfrm>
            <a:off x="4521098" y="6355080"/>
            <a:ext cx="3332378" cy="274320"/>
          </a:xfrm>
          <a:prstGeom prst="rect">
            <a:avLst/>
          </a:prstGeom>
          <a:noFill/>
          <a:ln/>
        </p:spPr>
        <p:txBody>
          <a:bodyPr wrap="square" lIns="0" tIns="0" rIns="0" bIns="0" rtlCol="0" anchor="ctr"/>
          <a:lstStyle/>
          <a:p>
            <a:pPr indent="0" marL="0">
              <a:buNone/>
            </a:pPr>
            <a:r>
              <a:rPr lang="en-US" sz="1100" dirty="0">
                <a:solidFill>
                  <a:srgbClr val="B6CDE5"/>
                </a:solidFill>
                <a:latin typeface="Inter" pitchFamily="34" charset="0"/>
                <a:ea typeface="Inter" pitchFamily="34" charset="-122"/>
                <a:cs typeface="Inter" pitchFamily="34" charset="-120"/>
              </a:rPr>
              <a:t>In pods of 8–12, one mentor each</a:t>
            </a:r>
            <a:endParaRPr lang="en-US" sz="1100" dirty="0"/>
          </a:p>
        </p:txBody>
      </p:sp>
      <p:sp>
        <p:nvSpPr>
          <p:cNvPr id="34" name="Shape 32"/>
          <p:cNvSpPr/>
          <p:nvPr/>
        </p:nvSpPr>
        <p:spPr>
          <a:xfrm>
            <a:off x="7944917" y="5376672"/>
            <a:ext cx="109728" cy="1097280"/>
          </a:xfrm>
          <a:prstGeom prst="rect">
            <a:avLst/>
          </a:prstGeom>
          <a:solidFill>
            <a:srgbClr val="FFC700"/>
          </a:solidFill>
          <a:ln w="12700">
            <a:solidFill>
              <a:srgbClr val="FFC700"/>
            </a:solidFill>
            <a:prstDash val="solid"/>
          </a:ln>
        </p:spPr>
      </p:sp>
      <p:sp>
        <p:nvSpPr>
          <p:cNvPr id="35" name="Text 33"/>
          <p:cNvSpPr/>
          <p:nvPr/>
        </p:nvSpPr>
        <p:spPr>
          <a:xfrm>
            <a:off x="8219237" y="5349240"/>
            <a:ext cx="3332378" cy="777240"/>
          </a:xfrm>
          <a:prstGeom prst="rect">
            <a:avLst/>
          </a:prstGeom>
          <a:noFill/>
          <a:ln/>
        </p:spPr>
        <p:txBody>
          <a:bodyPr wrap="square" lIns="0" tIns="0" rIns="0" bIns="0" rtlCol="0" anchor="ctr"/>
          <a:lstStyle/>
          <a:p>
            <a:pPr indent="0" marL="0">
              <a:buNone/>
            </a:pPr>
            <a:r>
              <a:rPr lang="en-US" sz="5600" b="1" spc="-300" kern="0" dirty="0">
                <a:solidFill>
                  <a:srgbClr val="FFFFFF"/>
                </a:solidFill>
                <a:latin typeface="Inter" pitchFamily="34" charset="0"/>
                <a:ea typeface="Inter" pitchFamily="34" charset="-122"/>
                <a:cs typeface="Inter" pitchFamily="34" charset="-120"/>
              </a:rPr>
              <a:t>0</a:t>
            </a:r>
            <a:endParaRPr lang="en-US" sz="5600" dirty="0"/>
          </a:p>
        </p:txBody>
      </p:sp>
      <p:sp>
        <p:nvSpPr>
          <p:cNvPr id="36" name="Text 34"/>
          <p:cNvSpPr/>
          <p:nvPr/>
        </p:nvSpPr>
        <p:spPr>
          <a:xfrm>
            <a:off x="8219237" y="6080760"/>
            <a:ext cx="3332378" cy="274320"/>
          </a:xfrm>
          <a:prstGeom prst="rect">
            <a:avLst/>
          </a:prstGeom>
          <a:noFill/>
          <a:ln/>
        </p:spPr>
        <p:txBody>
          <a:bodyPr wrap="square" lIns="0" tIns="0" rIns="0" bIns="0" rtlCol="0" anchor="ctr"/>
          <a:lstStyle/>
          <a:p>
            <a:pPr indent="0" marL="0">
              <a:buNone/>
            </a:pPr>
            <a:r>
              <a:rPr lang="en-US" sz="1000" b="1" spc="400" kern="0" dirty="0">
                <a:solidFill>
                  <a:srgbClr val="FFC700"/>
                </a:solidFill>
                <a:latin typeface="Inter" pitchFamily="34" charset="0"/>
                <a:ea typeface="Inter" pitchFamily="34" charset="-122"/>
                <a:cs typeface="Inter" pitchFamily="34" charset="-120"/>
              </a:rPr>
              <a:t>LECTURES</a:t>
            </a:r>
            <a:endParaRPr lang="en-US" sz="1000" dirty="0"/>
          </a:p>
        </p:txBody>
      </p:sp>
      <p:sp>
        <p:nvSpPr>
          <p:cNvPr id="37" name="Text 35"/>
          <p:cNvSpPr/>
          <p:nvPr/>
        </p:nvSpPr>
        <p:spPr>
          <a:xfrm>
            <a:off x="8219237" y="6355080"/>
            <a:ext cx="3332378" cy="274320"/>
          </a:xfrm>
          <a:prstGeom prst="rect">
            <a:avLst/>
          </a:prstGeom>
          <a:noFill/>
          <a:ln/>
        </p:spPr>
        <p:txBody>
          <a:bodyPr wrap="square" lIns="0" tIns="0" rIns="0" bIns="0" rtlCol="0" anchor="ctr"/>
          <a:lstStyle/>
          <a:p>
            <a:pPr indent="0" marL="0">
              <a:buNone/>
            </a:pPr>
            <a:r>
              <a:rPr lang="en-US" sz="1100" dirty="0">
                <a:solidFill>
                  <a:srgbClr val="B6CDE5"/>
                </a:solidFill>
                <a:latin typeface="Inter" pitchFamily="34" charset="0"/>
                <a:ea typeface="Inter" pitchFamily="34" charset="-122"/>
                <a:cs typeface="Inter" pitchFamily="34" charset="-120"/>
              </a:rPr>
              <a:t>They ship from week one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HOW IT WORKS · STATION 05</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05 / 17</a:t>
            </a:r>
            <a:endParaRPr lang="en-US" sz="1100" dirty="0"/>
          </a:p>
        </p:txBody>
      </p:sp>
      <p:sp>
        <p:nvSpPr>
          <p:cNvPr id="7" name="Text 5"/>
          <p:cNvSpPr/>
          <p:nvPr/>
        </p:nvSpPr>
        <p:spPr>
          <a:xfrm>
            <a:off x="548640" y="1280160"/>
            <a:ext cx="10972800" cy="1371600"/>
          </a:xfrm>
          <a:prstGeom prst="rect">
            <a:avLst/>
          </a:prstGeom>
          <a:noFill/>
          <a:ln/>
        </p:spPr>
        <p:txBody>
          <a:bodyPr wrap="square" lIns="0" tIns="0" rIns="0" bIns="0" rtlCol="0" anchor="ctr"/>
          <a:lstStyle/>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A week inside BuildAI looks</a:t>
            </a:r>
            <a:endParaRPr lang="en-US" sz="3000" dirty="0"/>
          </a:p>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like a week inside an AI startup.</a:t>
            </a:r>
            <a:endParaRPr lang="en-US" sz="3000" dirty="0"/>
          </a:p>
        </p:txBody>
      </p:sp>
      <p:sp>
        <p:nvSpPr>
          <p:cNvPr id="8" name="Shape 6"/>
          <p:cNvSpPr/>
          <p:nvPr/>
        </p:nvSpPr>
        <p:spPr>
          <a:xfrm>
            <a:off x="1554480" y="3657600"/>
            <a:ext cx="9082735" cy="0"/>
          </a:xfrm>
          <a:prstGeom prst="line">
            <a:avLst/>
          </a:prstGeom>
          <a:noFill/>
          <a:ln w="76200">
            <a:solidFill>
              <a:srgbClr val="FFC700"/>
            </a:solidFill>
            <a:prstDash val="solid"/>
          </a:ln>
        </p:spPr>
      </p:sp>
      <p:sp>
        <p:nvSpPr>
          <p:cNvPr id="9" name="Shape 7"/>
          <p:cNvSpPr/>
          <p:nvPr/>
        </p:nvSpPr>
        <p:spPr>
          <a:xfrm>
            <a:off x="1307592" y="3410712"/>
            <a:ext cx="493776" cy="493776"/>
          </a:xfrm>
          <a:prstGeom prst="ellipse">
            <a:avLst/>
          </a:prstGeom>
          <a:solidFill>
            <a:srgbClr val="FFC700"/>
          </a:solidFill>
          <a:ln w="38100">
            <a:solidFill>
              <a:srgbClr val="FFFFFF"/>
            </a:solidFill>
            <a:prstDash val="solid"/>
          </a:ln>
        </p:spPr>
      </p:sp>
      <p:sp>
        <p:nvSpPr>
          <p:cNvPr id="10" name="Text 8"/>
          <p:cNvSpPr/>
          <p:nvPr/>
        </p:nvSpPr>
        <p:spPr>
          <a:xfrm>
            <a:off x="548640" y="2788920"/>
            <a:ext cx="2011680" cy="320040"/>
          </a:xfrm>
          <a:prstGeom prst="rect">
            <a:avLst/>
          </a:prstGeom>
          <a:noFill/>
          <a:ln/>
        </p:spPr>
        <p:txBody>
          <a:bodyPr wrap="square" lIns="0" tIns="0" rIns="0" bIns="0" rtlCol="0" anchor="ctr"/>
          <a:lstStyle/>
          <a:p>
            <a:pPr algn="ctr" indent="0" marL="0">
              <a:buNone/>
            </a:pPr>
            <a:r>
              <a:rPr lang="en-US" sz="1300" b="1" spc="400" kern="0" dirty="0">
                <a:solidFill>
                  <a:srgbClr val="FFC700"/>
                </a:solidFill>
                <a:latin typeface="Inter" pitchFamily="34" charset="0"/>
                <a:ea typeface="Inter" pitchFamily="34" charset="-122"/>
                <a:cs typeface="Inter" pitchFamily="34" charset="-120"/>
              </a:rPr>
              <a:t>MON</a:t>
            </a:r>
            <a:endParaRPr lang="en-US" sz="1300" dirty="0"/>
          </a:p>
        </p:txBody>
      </p:sp>
      <p:sp>
        <p:nvSpPr>
          <p:cNvPr id="11" name="Text 9"/>
          <p:cNvSpPr/>
          <p:nvPr/>
        </p:nvSpPr>
        <p:spPr>
          <a:xfrm>
            <a:off x="548640" y="4069080"/>
            <a:ext cx="2011680" cy="365760"/>
          </a:xfrm>
          <a:prstGeom prst="rect">
            <a:avLst/>
          </a:prstGeom>
          <a:noFill/>
          <a:ln/>
        </p:spPr>
        <p:txBody>
          <a:bodyPr wrap="square" lIns="0" tIns="0" rIns="0" bIns="0" rtlCol="0" anchor="ctr"/>
          <a:lstStyle/>
          <a:p>
            <a:pPr algn="ctr" indent="0" marL="0">
              <a:lnSpc>
                <a:spcPts val="1600"/>
              </a:lnSpc>
              <a:buNone/>
            </a:pPr>
            <a:r>
              <a:rPr lang="en-US" sz="1400" b="1" dirty="0">
                <a:solidFill>
                  <a:srgbClr val="FFFFFF"/>
                </a:solidFill>
                <a:latin typeface="Inter" pitchFamily="34" charset="0"/>
                <a:ea typeface="Inter" pitchFamily="34" charset="-122"/>
                <a:cs typeface="Inter" pitchFamily="34" charset="-120"/>
              </a:rPr>
              <a:t>Sprint Kickoff</a:t>
            </a:r>
            <a:endParaRPr lang="en-US" sz="1400" dirty="0"/>
          </a:p>
        </p:txBody>
      </p:sp>
      <p:sp>
        <p:nvSpPr>
          <p:cNvPr id="12" name="Text 10"/>
          <p:cNvSpPr/>
          <p:nvPr/>
        </p:nvSpPr>
        <p:spPr>
          <a:xfrm>
            <a:off x="548640" y="4480560"/>
            <a:ext cx="201168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Week plan posted async. Students commit work in Linear.</a:t>
            </a:r>
            <a:endParaRPr lang="en-US" sz="1100" dirty="0"/>
          </a:p>
        </p:txBody>
      </p:sp>
      <p:sp>
        <p:nvSpPr>
          <p:cNvPr id="13" name="Shape 11"/>
          <p:cNvSpPr/>
          <p:nvPr/>
        </p:nvSpPr>
        <p:spPr>
          <a:xfrm>
            <a:off x="3593592" y="3410712"/>
            <a:ext cx="493776" cy="493776"/>
          </a:xfrm>
          <a:prstGeom prst="ellipse">
            <a:avLst/>
          </a:prstGeom>
          <a:solidFill>
            <a:srgbClr val="FFC700"/>
          </a:solidFill>
          <a:ln w="38100">
            <a:solidFill>
              <a:srgbClr val="FFFFFF"/>
            </a:solidFill>
            <a:prstDash val="solid"/>
          </a:ln>
        </p:spPr>
      </p:sp>
      <p:sp>
        <p:nvSpPr>
          <p:cNvPr id="14" name="Text 12"/>
          <p:cNvSpPr/>
          <p:nvPr/>
        </p:nvSpPr>
        <p:spPr>
          <a:xfrm>
            <a:off x="2834640" y="2788920"/>
            <a:ext cx="2011680" cy="320040"/>
          </a:xfrm>
          <a:prstGeom prst="rect">
            <a:avLst/>
          </a:prstGeom>
          <a:noFill/>
          <a:ln/>
        </p:spPr>
        <p:txBody>
          <a:bodyPr wrap="square" lIns="0" tIns="0" rIns="0" bIns="0" rtlCol="0" anchor="ctr"/>
          <a:lstStyle/>
          <a:p>
            <a:pPr algn="ctr" indent="0" marL="0">
              <a:buNone/>
            </a:pPr>
            <a:r>
              <a:rPr lang="en-US" sz="1300" b="1" spc="400" kern="0" dirty="0">
                <a:solidFill>
                  <a:srgbClr val="FFC700"/>
                </a:solidFill>
                <a:latin typeface="Inter" pitchFamily="34" charset="0"/>
                <a:ea typeface="Inter" pitchFamily="34" charset="-122"/>
                <a:cs typeface="Inter" pitchFamily="34" charset="-120"/>
              </a:rPr>
              <a:t>TUE–THU</a:t>
            </a:r>
            <a:endParaRPr lang="en-US" sz="1300" dirty="0"/>
          </a:p>
        </p:txBody>
      </p:sp>
      <p:sp>
        <p:nvSpPr>
          <p:cNvPr id="15" name="Text 13"/>
          <p:cNvSpPr/>
          <p:nvPr/>
        </p:nvSpPr>
        <p:spPr>
          <a:xfrm>
            <a:off x="2834640" y="4069080"/>
            <a:ext cx="2011680" cy="365760"/>
          </a:xfrm>
          <a:prstGeom prst="rect">
            <a:avLst/>
          </a:prstGeom>
          <a:noFill/>
          <a:ln/>
        </p:spPr>
        <p:txBody>
          <a:bodyPr wrap="square" lIns="0" tIns="0" rIns="0" bIns="0" rtlCol="0" anchor="ctr"/>
          <a:lstStyle/>
          <a:p>
            <a:pPr algn="ctr" indent="0" marL="0">
              <a:lnSpc>
                <a:spcPts val="1600"/>
              </a:lnSpc>
              <a:buNone/>
            </a:pPr>
            <a:r>
              <a:rPr lang="en-US" sz="1400" b="1" dirty="0">
                <a:solidFill>
                  <a:srgbClr val="FFFFFF"/>
                </a:solidFill>
                <a:latin typeface="Inter" pitchFamily="34" charset="0"/>
                <a:ea typeface="Inter" pitchFamily="34" charset="-122"/>
                <a:cs typeface="Inter" pitchFamily="34" charset="-120"/>
              </a:rPr>
              <a:t>Build Days</a:t>
            </a:r>
            <a:endParaRPr lang="en-US" sz="1400" dirty="0"/>
          </a:p>
        </p:txBody>
      </p:sp>
      <p:sp>
        <p:nvSpPr>
          <p:cNvPr id="16" name="Text 14"/>
          <p:cNvSpPr/>
          <p:nvPr/>
        </p:nvSpPr>
        <p:spPr>
          <a:xfrm>
            <a:off x="2834640" y="4480560"/>
            <a:ext cx="201168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AI-assisted build. PRs opened. Peer code reviews.</a:t>
            </a:r>
            <a:endParaRPr lang="en-US" sz="1100" dirty="0"/>
          </a:p>
        </p:txBody>
      </p:sp>
      <p:sp>
        <p:nvSpPr>
          <p:cNvPr id="17" name="Shape 15"/>
          <p:cNvSpPr/>
          <p:nvPr/>
        </p:nvSpPr>
        <p:spPr>
          <a:xfrm>
            <a:off x="5879592" y="3410712"/>
            <a:ext cx="493776" cy="493776"/>
          </a:xfrm>
          <a:prstGeom prst="ellipse">
            <a:avLst/>
          </a:prstGeom>
          <a:solidFill>
            <a:srgbClr val="FFC700"/>
          </a:solidFill>
          <a:ln w="38100">
            <a:solidFill>
              <a:srgbClr val="FFFFFF"/>
            </a:solidFill>
            <a:prstDash val="solid"/>
          </a:ln>
        </p:spPr>
      </p:sp>
      <p:sp>
        <p:nvSpPr>
          <p:cNvPr id="18" name="Text 16"/>
          <p:cNvSpPr/>
          <p:nvPr/>
        </p:nvSpPr>
        <p:spPr>
          <a:xfrm>
            <a:off x="5120640" y="2788920"/>
            <a:ext cx="2011680" cy="320040"/>
          </a:xfrm>
          <a:prstGeom prst="rect">
            <a:avLst/>
          </a:prstGeom>
          <a:noFill/>
          <a:ln/>
        </p:spPr>
        <p:txBody>
          <a:bodyPr wrap="square" lIns="0" tIns="0" rIns="0" bIns="0" rtlCol="0" anchor="ctr"/>
          <a:lstStyle/>
          <a:p>
            <a:pPr algn="ctr" indent="0" marL="0">
              <a:buNone/>
            </a:pPr>
            <a:r>
              <a:rPr lang="en-US" sz="1300" b="1" spc="400" kern="0" dirty="0">
                <a:solidFill>
                  <a:srgbClr val="FFC700"/>
                </a:solidFill>
                <a:latin typeface="Inter" pitchFamily="34" charset="0"/>
                <a:ea typeface="Inter" pitchFamily="34" charset="-122"/>
                <a:cs typeface="Inter" pitchFamily="34" charset="-120"/>
              </a:rPr>
              <a:t>FRI</a:t>
            </a:r>
            <a:endParaRPr lang="en-US" sz="1300" dirty="0"/>
          </a:p>
        </p:txBody>
      </p:sp>
      <p:sp>
        <p:nvSpPr>
          <p:cNvPr id="19" name="Text 17"/>
          <p:cNvSpPr/>
          <p:nvPr/>
        </p:nvSpPr>
        <p:spPr>
          <a:xfrm>
            <a:off x="5120640" y="4069080"/>
            <a:ext cx="2011680" cy="365760"/>
          </a:xfrm>
          <a:prstGeom prst="rect">
            <a:avLst/>
          </a:prstGeom>
          <a:noFill/>
          <a:ln/>
        </p:spPr>
        <p:txBody>
          <a:bodyPr wrap="square" lIns="0" tIns="0" rIns="0" bIns="0" rtlCol="0" anchor="ctr"/>
          <a:lstStyle/>
          <a:p>
            <a:pPr algn="ctr" indent="0" marL="0">
              <a:lnSpc>
                <a:spcPts val="1600"/>
              </a:lnSpc>
              <a:buNone/>
            </a:pPr>
            <a:r>
              <a:rPr lang="en-US" sz="1400" b="1" dirty="0">
                <a:solidFill>
                  <a:srgbClr val="FFFFFF"/>
                </a:solidFill>
                <a:latin typeface="Inter" pitchFamily="34" charset="0"/>
                <a:ea typeface="Inter" pitchFamily="34" charset="-122"/>
                <a:cs typeface="Inter" pitchFamily="34" charset="-120"/>
              </a:rPr>
              <a:t>Demo Day</a:t>
            </a:r>
            <a:endParaRPr lang="en-US" sz="1400" dirty="0"/>
          </a:p>
        </p:txBody>
      </p:sp>
      <p:sp>
        <p:nvSpPr>
          <p:cNvPr id="20" name="Text 18"/>
          <p:cNvSpPr/>
          <p:nvPr/>
        </p:nvSpPr>
        <p:spPr>
          <a:xfrm>
            <a:off x="5120640" y="4480560"/>
            <a:ext cx="201168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Async Loom demo from every student. Public archive.</a:t>
            </a:r>
            <a:endParaRPr lang="en-US" sz="1100" dirty="0"/>
          </a:p>
        </p:txBody>
      </p:sp>
      <p:sp>
        <p:nvSpPr>
          <p:cNvPr id="21" name="Shape 19"/>
          <p:cNvSpPr/>
          <p:nvPr/>
        </p:nvSpPr>
        <p:spPr>
          <a:xfrm>
            <a:off x="8165592" y="3410712"/>
            <a:ext cx="493776" cy="493776"/>
          </a:xfrm>
          <a:prstGeom prst="ellipse">
            <a:avLst/>
          </a:prstGeom>
          <a:solidFill>
            <a:srgbClr val="FFC700"/>
          </a:solidFill>
          <a:ln w="38100">
            <a:solidFill>
              <a:srgbClr val="FFFFFF"/>
            </a:solidFill>
            <a:prstDash val="solid"/>
          </a:ln>
        </p:spPr>
      </p:sp>
      <p:sp>
        <p:nvSpPr>
          <p:cNvPr id="22" name="Text 20"/>
          <p:cNvSpPr/>
          <p:nvPr/>
        </p:nvSpPr>
        <p:spPr>
          <a:xfrm>
            <a:off x="7406640" y="2788920"/>
            <a:ext cx="2011680" cy="320040"/>
          </a:xfrm>
          <a:prstGeom prst="rect">
            <a:avLst/>
          </a:prstGeom>
          <a:noFill/>
          <a:ln/>
        </p:spPr>
        <p:txBody>
          <a:bodyPr wrap="square" lIns="0" tIns="0" rIns="0" bIns="0" rtlCol="0" anchor="ctr"/>
          <a:lstStyle/>
          <a:p>
            <a:pPr algn="ctr" indent="0" marL="0">
              <a:buNone/>
            </a:pPr>
            <a:r>
              <a:rPr lang="en-US" sz="1300" b="1" spc="400" kern="0" dirty="0">
                <a:solidFill>
                  <a:srgbClr val="FFC700"/>
                </a:solidFill>
                <a:latin typeface="Inter" pitchFamily="34" charset="0"/>
                <a:ea typeface="Inter" pitchFamily="34" charset="-122"/>
                <a:cs typeface="Inter" pitchFamily="34" charset="-120"/>
              </a:rPr>
              <a:t>SAT</a:t>
            </a:r>
            <a:endParaRPr lang="en-US" sz="1300" dirty="0"/>
          </a:p>
        </p:txBody>
      </p:sp>
      <p:sp>
        <p:nvSpPr>
          <p:cNvPr id="23" name="Text 21"/>
          <p:cNvSpPr/>
          <p:nvPr/>
        </p:nvSpPr>
        <p:spPr>
          <a:xfrm>
            <a:off x="7406640" y="4069080"/>
            <a:ext cx="2011680" cy="365760"/>
          </a:xfrm>
          <a:prstGeom prst="rect">
            <a:avLst/>
          </a:prstGeom>
          <a:noFill/>
          <a:ln/>
        </p:spPr>
        <p:txBody>
          <a:bodyPr wrap="square" lIns="0" tIns="0" rIns="0" bIns="0" rtlCol="0" anchor="ctr"/>
          <a:lstStyle/>
          <a:p>
            <a:pPr algn="ctr" indent="0" marL="0">
              <a:lnSpc>
                <a:spcPts val="1600"/>
              </a:lnSpc>
              <a:buNone/>
            </a:pPr>
            <a:r>
              <a:rPr lang="en-US" sz="1400" b="1" dirty="0">
                <a:solidFill>
                  <a:srgbClr val="FFFFFF"/>
                </a:solidFill>
                <a:latin typeface="Inter" pitchFamily="34" charset="0"/>
                <a:ea typeface="Inter" pitchFamily="34" charset="-122"/>
                <a:cs typeface="Inter" pitchFamily="34" charset="-120"/>
              </a:rPr>
              <a:t>Live Mentor</a:t>
            </a:r>
            <a:endParaRPr lang="en-US" sz="1400" dirty="0"/>
          </a:p>
        </p:txBody>
      </p:sp>
      <p:sp>
        <p:nvSpPr>
          <p:cNvPr id="24" name="Text 22"/>
          <p:cNvSpPr/>
          <p:nvPr/>
        </p:nvSpPr>
        <p:spPr>
          <a:xfrm>
            <a:off x="7406640" y="4480560"/>
            <a:ext cx="201168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90-min architecture review, debugging, Q&amp;A.</a:t>
            </a:r>
            <a:endParaRPr lang="en-US" sz="1100" dirty="0"/>
          </a:p>
        </p:txBody>
      </p:sp>
      <p:sp>
        <p:nvSpPr>
          <p:cNvPr id="25" name="Shape 23"/>
          <p:cNvSpPr/>
          <p:nvPr/>
        </p:nvSpPr>
        <p:spPr>
          <a:xfrm>
            <a:off x="10390327" y="3410712"/>
            <a:ext cx="493776" cy="493776"/>
          </a:xfrm>
          <a:prstGeom prst="ellipse">
            <a:avLst/>
          </a:prstGeom>
          <a:solidFill>
            <a:srgbClr val="FFC700"/>
          </a:solidFill>
          <a:ln w="38100">
            <a:solidFill>
              <a:srgbClr val="FFFFFF"/>
            </a:solidFill>
            <a:prstDash val="solid"/>
          </a:ln>
        </p:spPr>
      </p:sp>
      <p:sp>
        <p:nvSpPr>
          <p:cNvPr id="26" name="Text 24"/>
          <p:cNvSpPr/>
          <p:nvPr/>
        </p:nvSpPr>
        <p:spPr>
          <a:xfrm>
            <a:off x="9631375" y="2788920"/>
            <a:ext cx="2011680" cy="320040"/>
          </a:xfrm>
          <a:prstGeom prst="rect">
            <a:avLst/>
          </a:prstGeom>
          <a:noFill/>
          <a:ln/>
        </p:spPr>
        <p:txBody>
          <a:bodyPr wrap="square" lIns="0" tIns="0" rIns="0" bIns="0" rtlCol="0" anchor="ctr"/>
          <a:lstStyle/>
          <a:p>
            <a:pPr algn="ctr" indent="0" marL="0">
              <a:buNone/>
            </a:pPr>
            <a:r>
              <a:rPr lang="en-US" sz="1300" b="1" spc="400" kern="0" dirty="0">
                <a:solidFill>
                  <a:srgbClr val="FFC700"/>
                </a:solidFill>
                <a:latin typeface="Inter" pitchFamily="34" charset="0"/>
                <a:ea typeface="Inter" pitchFamily="34" charset="-122"/>
                <a:cs typeface="Inter" pitchFamily="34" charset="-120"/>
              </a:rPr>
              <a:t>SUN</a:t>
            </a:r>
            <a:endParaRPr lang="en-US" sz="1300" dirty="0"/>
          </a:p>
        </p:txBody>
      </p:sp>
      <p:sp>
        <p:nvSpPr>
          <p:cNvPr id="27" name="Text 25"/>
          <p:cNvSpPr/>
          <p:nvPr/>
        </p:nvSpPr>
        <p:spPr>
          <a:xfrm>
            <a:off x="9631375" y="4069080"/>
            <a:ext cx="2011680" cy="365760"/>
          </a:xfrm>
          <a:prstGeom prst="rect">
            <a:avLst/>
          </a:prstGeom>
          <a:noFill/>
          <a:ln/>
        </p:spPr>
        <p:txBody>
          <a:bodyPr wrap="square" lIns="0" tIns="0" rIns="0" bIns="0" rtlCol="0" anchor="ctr"/>
          <a:lstStyle/>
          <a:p>
            <a:pPr algn="ctr" indent="0" marL="0">
              <a:lnSpc>
                <a:spcPts val="1600"/>
              </a:lnSpc>
              <a:buNone/>
            </a:pPr>
            <a:r>
              <a:rPr lang="en-US" sz="1400" b="1" dirty="0">
                <a:solidFill>
                  <a:srgbClr val="FFFFFF"/>
                </a:solidFill>
                <a:latin typeface="Inter" pitchFamily="34" charset="0"/>
                <a:ea typeface="Inter" pitchFamily="34" charset="-122"/>
                <a:cs typeface="Inter" pitchFamily="34" charset="-120"/>
              </a:rPr>
              <a:t>Peer Review</a:t>
            </a:r>
            <a:endParaRPr lang="en-US" sz="1400" dirty="0"/>
          </a:p>
        </p:txBody>
      </p:sp>
      <p:sp>
        <p:nvSpPr>
          <p:cNvPr id="28" name="Text 26"/>
          <p:cNvSpPr/>
          <p:nvPr/>
        </p:nvSpPr>
        <p:spPr>
          <a:xfrm>
            <a:off x="9631375" y="4480560"/>
            <a:ext cx="201168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Cross-pod portfolio reviews. Reading group.</a:t>
            </a:r>
            <a:endParaRPr lang="en-US" sz="1100" dirty="0"/>
          </a:p>
        </p:txBody>
      </p:sp>
      <p:sp>
        <p:nvSpPr>
          <p:cNvPr id="29" name="Shape 27"/>
          <p:cNvSpPr/>
          <p:nvPr/>
        </p:nvSpPr>
        <p:spPr>
          <a:xfrm>
            <a:off x="548640" y="6355080"/>
            <a:ext cx="11094415" cy="0"/>
          </a:xfrm>
          <a:prstGeom prst="line">
            <a:avLst/>
          </a:prstGeom>
          <a:noFill/>
          <a:ln w="12700">
            <a:solidFill>
              <a:srgbClr val="FFFFFF"/>
            </a:solidFill>
            <a:prstDash val="solid"/>
          </a:ln>
        </p:spPr>
      </p:sp>
      <p:sp>
        <p:nvSpPr>
          <p:cNvPr id="30" name="Text 28"/>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HOW IT WORKS</a:t>
            </a:r>
            <a:endParaRPr lang="en-US" sz="900" dirty="0"/>
          </a:p>
        </p:txBody>
      </p:sp>
      <p:sp>
        <p:nvSpPr>
          <p:cNvPr id="31" name="Shape 29"/>
          <p:cNvSpPr/>
          <p:nvPr/>
        </p:nvSpPr>
        <p:spPr>
          <a:xfrm>
            <a:off x="10545775" y="6473952"/>
            <a:ext cx="1097280" cy="228600"/>
          </a:xfrm>
          <a:prstGeom prst="rect">
            <a:avLst/>
          </a:prstGeom>
          <a:solidFill>
            <a:srgbClr val="FFC700"/>
          </a:solidFill>
          <a:ln w="12700">
            <a:solidFill>
              <a:srgbClr val="FFC700"/>
            </a:solidFill>
            <a:prstDash val="solid"/>
          </a:ln>
        </p:spPr>
      </p:sp>
      <p:sp>
        <p:nvSpPr>
          <p:cNvPr id="32" name="Text 30"/>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DAY IN THE LIFE · STATION 06</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06 / 17</a:t>
            </a:r>
            <a:endParaRPr lang="en-US" sz="1100" dirty="0"/>
          </a:p>
        </p:txBody>
      </p:sp>
      <p:sp>
        <p:nvSpPr>
          <p:cNvPr id="7" name="Text 5"/>
          <p:cNvSpPr/>
          <p:nvPr/>
        </p:nvSpPr>
        <p:spPr>
          <a:xfrm>
            <a:off x="548640" y="1280160"/>
            <a:ext cx="10972800" cy="731520"/>
          </a:xfrm>
          <a:prstGeom prst="rect">
            <a:avLst/>
          </a:prstGeom>
          <a:noFill/>
          <a:ln/>
        </p:spPr>
        <p:txBody>
          <a:bodyPr wrap="square" lIns="0" tIns="0" rIns="0" bIns="0" rtlCol="0" anchor="ctr"/>
          <a:lstStyle/>
          <a:p>
            <a:pPr indent="0" marL="0">
              <a:buNone/>
            </a:pPr>
            <a:r>
              <a:rPr lang="en-US" sz="3200" b="1" spc="-50" kern="0" dirty="0">
                <a:solidFill>
                  <a:srgbClr val="FFFFFF"/>
                </a:solidFill>
                <a:latin typeface="Inter" pitchFamily="34" charset="0"/>
                <a:ea typeface="Inter" pitchFamily="34" charset="-122"/>
                <a:cs typeface="Inter" pitchFamily="34" charset="-120"/>
              </a:rPr>
              <a:t>A Wednesday in Week 6.</a:t>
            </a:r>
            <a:endParaRPr lang="en-US" sz="3200" dirty="0"/>
          </a:p>
        </p:txBody>
      </p:sp>
      <p:sp>
        <p:nvSpPr>
          <p:cNvPr id="8" name="Text 6"/>
          <p:cNvSpPr/>
          <p:nvPr/>
        </p:nvSpPr>
        <p:spPr>
          <a:xfrm>
            <a:off x="548640" y="2057400"/>
            <a:ext cx="10972800" cy="457200"/>
          </a:xfrm>
          <a:prstGeom prst="rect">
            <a:avLst/>
          </a:prstGeom>
          <a:noFill/>
          <a:ln/>
        </p:spPr>
        <p:txBody>
          <a:bodyPr wrap="square" lIns="0" tIns="0" rIns="0" bIns="0" rtlCol="0" anchor="ctr"/>
          <a:lstStyle/>
          <a:p>
            <a:pPr indent="0" marL="0">
              <a:buNone/>
            </a:pPr>
            <a:r>
              <a:rPr lang="en-US" sz="1400" i="1" dirty="0">
                <a:solidFill>
                  <a:srgbClr val="B6CDE5"/>
                </a:solidFill>
                <a:latin typeface="Inter" pitchFamily="34" charset="0"/>
                <a:ea typeface="Inter" pitchFamily="34" charset="-122"/>
                <a:cs typeface="Inter" pitchFamily="34" charset="-120"/>
              </a:rPr>
              <a:t>Not a class schedule. The actual rhythm of a working AI startup, lived by a 3rd-year engineering student.</a:t>
            </a:r>
            <a:endParaRPr lang="en-US" sz="1400" dirty="0"/>
          </a:p>
        </p:txBody>
      </p:sp>
      <p:sp>
        <p:nvSpPr>
          <p:cNvPr id="9" name="Shape 7"/>
          <p:cNvSpPr/>
          <p:nvPr/>
        </p:nvSpPr>
        <p:spPr>
          <a:xfrm>
            <a:off x="1280160" y="2788920"/>
            <a:ext cx="0" cy="3291840"/>
          </a:xfrm>
          <a:prstGeom prst="line">
            <a:avLst/>
          </a:prstGeom>
          <a:noFill/>
          <a:ln w="38100">
            <a:solidFill>
              <a:srgbClr val="FFC700"/>
            </a:solidFill>
            <a:prstDash val="solid"/>
          </a:ln>
        </p:spPr>
      </p:sp>
      <p:sp>
        <p:nvSpPr>
          <p:cNvPr id="10" name="Shape 8"/>
          <p:cNvSpPr/>
          <p:nvPr/>
        </p:nvSpPr>
        <p:spPr>
          <a:xfrm>
            <a:off x="1143000" y="2852928"/>
            <a:ext cx="274320" cy="274320"/>
          </a:xfrm>
          <a:prstGeom prst="ellipse">
            <a:avLst/>
          </a:prstGeom>
          <a:solidFill>
            <a:srgbClr val="FFC700"/>
          </a:solidFill>
          <a:ln w="25400">
            <a:solidFill>
              <a:srgbClr val="003D7A"/>
            </a:solidFill>
            <a:prstDash val="solid"/>
          </a:ln>
        </p:spPr>
      </p:sp>
      <p:sp>
        <p:nvSpPr>
          <p:cNvPr id="11" name="Text 9"/>
          <p:cNvSpPr/>
          <p:nvPr/>
        </p:nvSpPr>
        <p:spPr>
          <a:xfrm>
            <a:off x="1645920" y="2807208"/>
            <a:ext cx="868680" cy="365760"/>
          </a:xfrm>
          <a:prstGeom prst="rect">
            <a:avLst/>
          </a:prstGeom>
          <a:noFill/>
          <a:ln/>
        </p:spPr>
        <p:txBody>
          <a:bodyPr wrap="square" lIns="0" tIns="0" rIns="0" bIns="0" rtlCol="0" anchor="ctr"/>
          <a:lstStyle/>
          <a:p>
            <a:pPr indent="0" marL="0">
              <a:buNone/>
            </a:pPr>
            <a:r>
              <a:rPr lang="en-US" sz="1600" b="1" dirty="0">
                <a:solidFill>
                  <a:srgbClr val="FFC700"/>
                </a:solidFill>
                <a:latin typeface="Inter" pitchFamily="34" charset="0"/>
                <a:ea typeface="Inter" pitchFamily="34" charset="-122"/>
                <a:cs typeface="Inter" pitchFamily="34" charset="-120"/>
              </a:rPr>
              <a:t>09:00</a:t>
            </a:r>
            <a:endParaRPr lang="en-US" sz="1600" dirty="0"/>
          </a:p>
        </p:txBody>
      </p:sp>
      <p:sp>
        <p:nvSpPr>
          <p:cNvPr id="12" name="Text 10"/>
          <p:cNvSpPr/>
          <p:nvPr/>
        </p:nvSpPr>
        <p:spPr>
          <a:xfrm>
            <a:off x="2651760" y="2807208"/>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Review PR comments</a:t>
            </a:r>
            <a:endParaRPr lang="en-US" sz="1500" dirty="0"/>
          </a:p>
        </p:txBody>
      </p:sp>
      <p:sp>
        <p:nvSpPr>
          <p:cNvPr id="13" name="Text 11"/>
          <p:cNvSpPr/>
          <p:nvPr/>
        </p:nvSpPr>
        <p:spPr>
          <a:xfrm>
            <a:off x="5669280" y="2825496"/>
            <a:ext cx="621792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Mentor left feedback overnight on yesterday's PR. Student replies, pushes a fix, requests re-review.</a:t>
            </a:r>
            <a:endParaRPr lang="en-US" sz="1100" dirty="0"/>
          </a:p>
        </p:txBody>
      </p:sp>
      <p:sp>
        <p:nvSpPr>
          <p:cNvPr id="14" name="Shape 12"/>
          <p:cNvSpPr/>
          <p:nvPr/>
        </p:nvSpPr>
        <p:spPr>
          <a:xfrm>
            <a:off x="1143000" y="3419856"/>
            <a:ext cx="274320" cy="274320"/>
          </a:xfrm>
          <a:prstGeom prst="ellipse">
            <a:avLst/>
          </a:prstGeom>
          <a:solidFill>
            <a:srgbClr val="FFC700"/>
          </a:solidFill>
          <a:ln w="25400">
            <a:solidFill>
              <a:srgbClr val="003D7A"/>
            </a:solidFill>
            <a:prstDash val="solid"/>
          </a:ln>
        </p:spPr>
      </p:sp>
      <p:sp>
        <p:nvSpPr>
          <p:cNvPr id="15" name="Text 13"/>
          <p:cNvSpPr/>
          <p:nvPr/>
        </p:nvSpPr>
        <p:spPr>
          <a:xfrm>
            <a:off x="1645920" y="3374136"/>
            <a:ext cx="868680" cy="365760"/>
          </a:xfrm>
          <a:prstGeom prst="rect">
            <a:avLst/>
          </a:prstGeom>
          <a:noFill/>
          <a:ln/>
        </p:spPr>
        <p:txBody>
          <a:bodyPr wrap="square" lIns="0" tIns="0" rIns="0" bIns="0" rtlCol="0" anchor="ctr"/>
          <a:lstStyle/>
          <a:p>
            <a:pPr indent="0" marL="0">
              <a:buNone/>
            </a:pPr>
            <a:r>
              <a:rPr lang="en-US" sz="1600" b="1" dirty="0">
                <a:solidFill>
                  <a:srgbClr val="FFC700"/>
                </a:solidFill>
                <a:latin typeface="Inter" pitchFamily="34" charset="0"/>
                <a:ea typeface="Inter" pitchFamily="34" charset="-122"/>
                <a:cs typeface="Inter" pitchFamily="34" charset="-120"/>
              </a:rPr>
              <a:t>10:30</a:t>
            </a:r>
            <a:endParaRPr lang="en-US" sz="1600" dirty="0"/>
          </a:p>
        </p:txBody>
      </p:sp>
      <p:sp>
        <p:nvSpPr>
          <p:cNvPr id="16" name="Text 14"/>
          <p:cNvSpPr/>
          <p:nvPr/>
        </p:nvSpPr>
        <p:spPr>
          <a:xfrm>
            <a:off x="2651760" y="3374136"/>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Open GitHub issue</a:t>
            </a:r>
            <a:endParaRPr lang="en-US" sz="1500" dirty="0"/>
          </a:p>
        </p:txBody>
      </p:sp>
      <p:sp>
        <p:nvSpPr>
          <p:cNvPr id="17" name="Text 15"/>
          <p:cNvSpPr/>
          <p:nvPr/>
        </p:nvSpPr>
        <p:spPr>
          <a:xfrm>
            <a:off x="5669280" y="3392424"/>
            <a:ext cx="621792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Linear ticket for new feature. Student writes a 3-sentence design note before touching code.</a:t>
            </a:r>
            <a:endParaRPr lang="en-US" sz="1100" dirty="0"/>
          </a:p>
        </p:txBody>
      </p:sp>
      <p:sp>
        <p:nvSpPr>
          <p:cNvPr id="18" name="Shape 16"/>
          <p:cNvSpPr/>
          <p:nvPr/>
        </p:nvSpPr>
        <p:spPr>
          <a:xfrm>
            <a:off x="1143000" y="3986784"/>
            <a:ext cx="274320" cy="274320"/>
          </a:xfrm>
          <a:prstGeom prst="ellipse">
            <a:avLst/>
          </a:prstGeom>
          <a:solidFill>
            <a:srgbClr val="FFC700"/>
          </a:solidFill>
          <a:ln w="25400">
            <a:solidFill>
              <a:srgbClr val="003D7A"/>
            </a:solidFill>
            <a:prstDash val="solid"/>
          </a:ln>
        </p:spPr>
      </p:sp>
      <p:sp>
        <p:nvSpPr>
          <p:cNvPr id="19" name="Text 17"/>
          <p:cNvSpPr/>
          <p:nvPr/>
        </p:nvSpPr>
        <p:spPr>
          <a:xfrm>
            <a:off x="1645920" y="3941064"/>
            <a:ext cx="868680" cy="365760"/>
          </a:xfrm>
          <a:prstGeom prst="rect">
            <a:avLst/>
          </a:prstGeom>
          <a:noFill/>
          <a:ln/>
        </p:spPr>
        <p:txBody>
          <a:bodyPr wrap="square" lIns="0" tIns="0" rIns="0" bIns="0" rtlCol="0" anchor="ctr"/>
          <a:lstStyle/>
          <a:p>
            <a:pPr indent="0" marL="0">
              <a:buNone/>
            </a:pPr>
            <a:r>
              <a:rPr lang="en-US" sz="1600" b="1" dirty="0">
                <a:solidFill>
                  <a:srgbClr val="FFC700"/>
                </a:solidFill>
                <a:latin typeface="Inter" pitchFamily="34" charset="0"/>
                <a:ea typeface="Inter" pitchFamily="34" charset="-122"/>
                <a:cs typeface="Inter" pitchFamily="34" charset="-120"/>
              </a:rPr>
              <a:t>12:00</a:t>
            </a:r>
            <a:endParaRPr lang="en-US" sz="1600" dirty="0"/>
          </a:p>
        </p:txBody>
      </p:sp>
      <p:sp>
        <p:nvSpPr>
          <p:cNvPr id="20" name="Text 18"/>
          <p:cNvSpPr/>
          <p:nvPr/>
        </p:nvSpPr>
        <p:spPr>
          <a:xfrm>
            <a:off x="2651760" y="3941064"/>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Build with Cursor</a:t>
            </a:r>
            <a:endParaRPr lang="en-US" sz="1500" dirty="0"/>
          </a:p>
        </p:txBody>
      </p:sp>
      <p:sp>
        <p:nvSpPr>
          <p:cNvPr id="21" name="Text 19"/>
          <p:cNvSpPr/>
          <p:nvPr/>
        </p:nvSpPr>
        <p:spPr>
          <a:xfrm>
            <a:off x="5669280" y="3959352"/>
            <a:ext cx="621792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AI-assisted implementation. Half the code is generated; the student reviews and refactors every line.</a:t>
            </a:r>
            <a:endParaRPr lang="en-US" sz="1100" dirty="0"/>
          </a:p>
        </p:txBody>
      </p:sp>
      <p:sp>
        <p:nvSpPr>
          <p:cNvPr id="22" name="Shape 20"/>
          <p:cNvSpPr/>
          <p:nvPr/>
        </p:nvSpPr>
        <p:spPr>
          <a:xfrm>
            <a:off x="1143000" y="4553712"/>
            <a:ext cx="274320" cy="274320"/>
          </a:xfrm>
          <a:prstGeom prst="ellipse">
            <a:avLst/>
          </a:prstGeom>
          <a:solidFill>
            <a:srgbClr val="FFC700"/>
          </a:solidFill>
          <a:ln w="25400">
            <a:solidFill>
              <a:srgbClr val="003D7A"/>
            </a:solidFill>
            <a:prstDash val="solid"/>
          </a:ln>
        </p:spPr>
      </p:sp>
      <p:sp>
        <p:nvSpPr>
          <p:cNvPr id="23" name="Text 21"/>
          <p:cNvSpPr/>
          <p:nvPr/>
        </p:nvSpPr>
        <p:spPr>
          <a:xfrm>
            <a:off x="1645920" y="4507992"/>
            <a:ext cx="868680" cy="365760"/>
          </a:xfrm>
          <a:prstGeom prst="rect">
            <a:avLst/>
          </a:prstGeom>
          <a:noFill/>
          <a:ln/>
        </p:spPr>
        <p:txBody>
          <a:bodyPr wrap="square" lIns="0" tIns="0" rIns="0" bIns="0" rtlCol="0" anchor="ctr"/>
          <a:lstStyle/>
          <a:p>
            <a:pPr indent="0" marL="0">
              <a:buNone/>
            </a:pPr>
            <a:r>
              <a:rPr lang="en-US" sz="1600" b="1" dirty="0">
                <a:solidFill>
                  <a:srgbClr val="FFC700"/>
                </a:solidFill>
                <a:latin typeface="Inter" pitchFamily="34" charset="0"/>
                <a:ea typeface="Inter" pitchFamily="34" charset="-122"/>
                <a:cs typeface="Inter" pitchFamily="34" charset="-120"/>
              </a:rPr>
              <a:t>15:00</a:t>
            </a:r>
            <a:endParaRPr lang="en-US" sz="1600" dirty="0"/>
          </a:p>
        </p:txBody>
      </p:sp>
      <p:sp>
        <p:nvSpPr>
          <p:cNvPr id="24" name="Text 22"/>
          <p:cNvSpPr/>
          <p:nvPr/>
        </p:nvSpPr>
        <p:spPr>
          <a:xfrm>
            <a:off x="2651760" y="4507992"/>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Debugging session</a:t>
            </a:r>
            <a:endParaRPr lang="en-US" sz="1500" dirty="0"/>
          </a:p>
        </p:txBody>
      </p:sp>
      <p:sp>
        <p:nvSpPr>
          <p:cNvPr id="25" name="Text 23"/>
          <p:cNvSpPr/>
          <p:nvPr/>
        </p:nvSpPr>
        <p:spPr>
          <a:xfrm>
            <a:off x="5669280" y="4526280"/>
            <a:ext cx="621792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Hallucinated API response in production. Student traces logs, writes a regression eval, ships fix in 45 min.</a:t>
            </a:r>
            <a:endParaRPr lang="en-US" sz="1100" dirty="0"/>
          </a:p>
        </p:txBody>
      </p:sp>
      <p:sp>
        <p:nvSpPr>
          <p:cNvPr id="26" name="Shape 24"/>
          <p:cNvSpPr/>
          <p:nvPr/>
        </p:nvSpPr>
        <p:spPr>
          <a:xfrm>
            <a:off x="1143000" y="5120640"/>
            <a:ext cx="274320" cy="274320"/>
          </a:xfrm>
          <a:prstGeom prst="ellipse">
            <a:avLst/>
          </a:prstGeom>
          <a:solidFill>
            <a:srgbClr val="FFC700"/>
          </a:solidFill>
          <a:ln w="25400">
            <a:solidFill>
              <a:srgbClr val="003D7A"/>
            </a:solidFill>
            <a:prstDash val="solid"/>
          </a:ln>
        </p:spPr>
      </p:sp>
      <p:sp>
        <p:nvSpPr>
          <p:cNvPr id="27" name="Text 25"/>
          <p:cNvSpPr/>
          <p:nvPr/>
        </p:nvSpPr>
        <p:spPr>
          <a:xfrm>
            <a:off x="1645920" y="5074920"/>
            <a:ext cx="868680" cy="365760"/>
          </a:xfrm>
          <a:prstGeom prst="rect">
            <a:avLst/>
          </a:prstGeom>
          <a:noFill/>
          <a:ln/>
        </p:spPr>
        <p:txBody>
          <a:bodyPr wrap="square" lIns="0" tIns="0" rIns="0" bIns="0" rtlCol="0" anchor="ctr"/>
          <a:lstStyle/>
          <a:p>
            <a:pPr indent="0" marL="0">
              <a:buNone/>
            </a:pPr>
            <a:r>
              <a:rPr lang="en-US" sz="1600" b="1" dirty="0">
                <a:solidFill>
                  <a:srgbClr val="FFC700"/>
                </a:solidFill>
                <a:latin typeface="Inter" pitchFamily="34" charset="0"/>
                <a:ea typeface="Inter" pitchFamily="34" charset="-122"/>
                <a:cs typeface="Inter" pitchFamily="34" charset="-120"/>
              </a:rPr>
              <a:t>17:00</a:t>
            </a:r>
            <a:endParaRPr lang="en-US" sz="1600" dirty="0"/>
          </a:p>
        </p:txBody>
      </p:sp>
      <p:sp>
        <p:nvSpPr>
          <p:cNvPr id="28" name="Text 26"/>
          <p:cNvSpPr/>
          <p:nvPr/>
        </p:nvSpPr>
        <p:spPr>
          <a:xfrm>
            <a:off x="2651760" y="507492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Review peer's PR</a:t>
            </a:r>
            <a:endParaRPr lang="en-US" sz="1500" dirty="0"/>
          </a:p>
        </p:txBody>
      </p:sp>
      <p:sp>
        <p:nvSpPr>
          <p:cNvPr id="29" name="Text 27"/>
          <p:cNvSpPr/>
          <p:nvPr/>
        </p:nvSpPr>
        <p:spPr>
          <a:xfrm>
            <a:off x="5669280" y="5093208"/>
            <a:ext cx="621792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Cross-pod review. Student leaves 4 substantive comments on another student's submission.</a:t>
            </a:r>
            <a:endParaRPr lang="en-US" sz="1100" dirty="0"/>
          </a:p>
        </p:txBody>
      </p:sp>
      <p:sp>
        <p:nvSpPr>
          <p:cNvPr id="30" name="Shape 28"/>
          <p:cNvSpPr/>
          <p:nvPr/>
        </p:nvSpPr>
        <p:spPr>
          <a:xfrm>
            <a:off x="1143000" y="5687568"/>
            <a:ext cx="274320" cy="274320"/>
          </a:xfrm>
          <a:prstGeom prst="ellipse">
            <a:avLst/>
          </a:prstGeom>
          <a:solidFill>
            <a:srgbClr val="FFC700"/>
          </a:solidFill>
          <a:ln w="25400">
            <a:solidFill>
              <a:srgbClr val="003D7A"/>
            </a:solidFill>
            <a:prstDash val="solid"/>
          </a:ln>
        </p:spPr>
      </p:sp>
      <p:sp>
        <p:nvSpPr>
          <p:cNvPr id="31" name="Text 29"/>
          <p:cNvSpPr/>
          <p:nvPr/>
        </p:nvSpPr>
        <p:spPr>
          <a:xfrm>
            <a:off x="1645920" y="5641848"/>
            <a:ext cx="868680" cy="365760"/>
          </a:xfrm>
          <a:prstGeom prst="rect">
            <a:avLst/>
          </a:prstGeom>
          <a:noFill/>
          <a:ln/>
        </p:spPr>
        <p:txBody>
          <a:bodyPr wrap="square" lIns="0" tIns="0" rIns="0" bIns="0" rtlCol="0" anchor="ctr"/>
          <a:lstStyle/>
          <a:p>
            <a:pPr indent="0" marL="0">
              <a:buNone/>
            </a:pPr>
            <a:r>
              <a:rPr lang="en-US" sz="1600" b="1" dirty="0">
                <a:solidFill>
                  <a:srgbClr val="FFC700"/>
                </a:solidFill>
                <a:latin typeface="Inter" pitchFamily="34" charset="0"/>
                <a:ea typeface="Inter" pitchFamily="34" charset="-122"/>
                <a:cs typeface="Inter" pitchFamily="34" charset="-120"/>
              </a:rPr>
              <a:t>19:00</a:t>
            </a:r>
            <a:endParaRPr lang="en-US" sz="1600" dirty="0"/>
          </a:p>
        </p:txBody>
      </p:sp>
      <p:sp>
        <p:nvSpPr>
          <p:cNvPr id="32" name="Text 30"/>
          <p:cNvSpPr/>
          <p:nvPr/>
        </p:nvSpPr>
        <p:spPr>
          <a:xfrm>
            <a:off x="2651760" y="5641848"/>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Record Loom demo</a:t>
            </a:r>
            <a:endParaRPr lang="en-US" sz="1500" dirty="0"/>
          </a:p>
        </p:txBody>
      </p:sp>
      <p:sp>
        <p:nvSpPr>
          <p:cNvPr id="33" name="Text 31"/>
          <p:cNvSpPr/>
          <p:nvPr/>
        </p:nvSpPr>
        <p:spPr>
          <a:xfrm>
            <a:off x="5669280" y="5660136"/>
            <a:ext cx="621792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3-minute walkthrough of what shipped today. Posted to public Demo Day archive.</a:t>
            </a:r>
            <a:endParaRPr lang="en-US" sz="1100" dirty="0"/>
          </a:p>
        </p:txBody>
      </p:sp>
      <p:sp>
        <p:nvSpPr>
          <p:cNvPr id="34" name="Shape 32"/>
          <p:cNvSpPr/>
          <p:nvPr/>
        </p:nvSpPr>
        <p:spPr>
          <a:xfrm>
            <a:off x="548640" y="6355080"/>
            <a:ext cx="11094415" cy="0"/>
          </a:xfrm>
          <a:prstGeom prst="line">
            <a:avLst/>
          </a:prstGeom>
          <a:noFill/>
          <a:ln w="12700">
            <a:solidFill>
              <a:srgbClr val="FFFFFF"/>
            </a:solidFill>
            <a:prstDash val="solid"/>
          </a:ln>
        </p:spPr>
      </p:sp>
      <p:sp>
        <p:nvSpPr>
          <p:cNvPr id="35" name="Text 33"/>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DAY IN THE LIFE</a:t>
            </a:r>
            <a:endParaRPr lang="en-US" sz="900" dirty="0"/>
          </a:p>
        </p:txBody>
      </p:sp>
      <p:sp>
        <p:nvSpPr>
          <p:cNvPr id="36" name="Shape 34"/>
          <p:cNvSpPr/>
          <p:nvPr/>
        </p:nvSpPr>
        <p:spPr>
          <a:xfrm>
            <a:off x="10545775" y="6473952"/>
            <a:ext cx="1097280" cy="228600"/>
          </a:xfrm>
          <a:prstGeom prst="rect">
            <a:avLst/>
          </a:prstGeom>
          <a:solidFill>
            <a:srgbClr val="FFC700"/>
          </a:solidFill>
          <a:ln w="12700">
            <a:solidFill>
              <a:srgbClr val="FFC700"/>
            </a:solidFill>
            <a:prstDash val="solid"/>
          </a:ln>
        </p:spPr>
      </p:sp>
      <p:sp>
        <p:nvSpPr>
          <p:cNvPr id="37" name="Text 35"/>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CURRICULUM · STATION 07</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07 / 17</a:t>
            </a:r>
            <a:endParaRPr lang="en-US" sz="1100" dirty="0"/>
          </a:p>
        </p:txBody>
      </p:sp>
      <p:sp>
        <p:nvSpPr>
          <p:cNvPr id="7" name="Text 5"/>
          <p:cNvSpPr/>
          <p:nvPr/>
        </p:nvSpPr>
        <p:spPr>
          <a:xfrm>
            <a:off x="548640" y="1280160"/>
            <a:ext cx="10972800" cy="640080"/>
          </a:xfrm>
          <a:prstGeom prst="rect">
            <a:avLst/>
          </a:prstGeom>
          <a:noFill/>
          <a:ln/>
        </p:spPr>
        <p:txBody>
          <a:bodyPr wrap="square" lIns="0" tIns="0" rIns="0" bIns="0" rtlCol="0" anchor="ctr"/>
          <a:lstStyle/>
          <a:p>
            <a:pPr indent="0" marL="0">
              <a:buNone/>
            </a:pPr>
            <a:r>
              <a:rPr lang="en-US" sz="3000" b="1" spc="-50" kern="0" dirty="0">
                <a:solidFill>
                  <a:srgbClr val="FFFFFF"/>
                </a:solidFill>
                <a:latin typeface="Inter" pitchFamily="34" charset="0"/>
                <a:ea typeface="Inter" pitchFamily="34" charset="-122"/>
                <a:cs typeface="Inter" pitchFamily="34" charset="-120"/>
              </a:rPr>
              <a:t>Six modules. One route.</a:t>
            </a:r>
            <a:endParaRPr lang="en-US" sz="3000" dirty="0"/>
          </a:p>
        </p:txBody>
      </p:sp>
      <p:sp>
        <p:nvSpPr>
          <p:cNvPr id="8" name="Text 6"/>
          <p:cNvSpPr/>
          <p:nvPr/>
        </p:nvSpPr>
        <p:spPr>
          <a:xfrm>
            <a:off x="548640" y="1965960"/>
            <a:ext cx="10972800" cy="411480"/>
          </a:xfrm>
          <a:prstGeom prst="rect">
            <a:avLst/>
          </a:prstGeom>
          <a:noFill/>
          <a:ln/>
        </p:spPr>
        <p:txBody>
          <a:bodyPr wrap="square" lIns="0" tIns="0" rIns="0" bIns="0" rtlCol="0" anchor="ctr"/>
          <a:lstStyle/>
          <a:p>
            <a:pPr indent="0" marL="0">
              <a:buNone/>
            </a:pPr>
            <a:r>
              <a:rPr lang="en-US" sz="1400" i="1" dirty="0">
                <a:solidFill>
                  <a:srgbClr val="B6CDE5"/>
                </a:solidFill>
                <a:latin typeface="Inter" pitchFamily="34" charset="0"/>
                <a:ea typeface="Inter" pitchFamily="34" charset="-122"/>
                <a:cs typeface="Inter" pitchFamily="34" charset="-120"/>
              </a:rPr>
              <a:t>Organised around the capabilities AI startups actually hire for.</a:t>
            </a:r>
            <a:endParaRPr lang="en-US" sz="1400" dirty="0"/>
          </a:p>
        </p:txBody>
      </p:sp>
      <p:sp>
        <p:nvSpPr>
          <p:cNvPr id="9" name="Shape 7"/>
          <p:cNvSpPr/>
          <p:nvPr/>
        </p:nvSpPr>
        <p:spPr>
          <a:xfrm>
            <a:off x="548640" y="2743200"/>
            <a:ext cx="3657600" cy="1691640"/>
          </a:xfrm>
          <a:prstGeom prst="rect">
            <a:avLst/>
          </a:prstGeom>
          <a:solidFill>
            <a:srgbClr val="002651"/>
          </a:solidFill>
          <a:ln w="12700">
            <a:solidFill>
              <a:srgbClr val="002651"/>
            </a:solidFill>
            <a:prstDash val="solid"/>
          </a:ln>
        </p:spPr>
      </p:sp>
      <p:sp>
        <p:nvSpPr>
          <p:cNvPr id="10" name="Shape 8"/>
          <p:cNvSpPr/>
          <p:nvPr/>
        </p:nvSpPr>
        <p:spPr>
          <a:xfrm>
            <a:off x="548640" y="2743200"/>
            <a:ext cx="3657600" cy="73152"/>
          </a:xfrm>
          <a:prstGeom prst="rect">
            <a:avLst/>
          </a:prstGeom>
          <a:solidFill>
            <a:srgbClr val="FFC700"/>
          </a:solidFill>
          <a:ln w="12700">
            <a:solidFill>
              <a:srgbClr val="FFC700"/>
            </a:solidFill>
            <a:prstDash val="solid"/>
          </a:ln>
        </p:spPr>
      </p:sp>
      <p:sp>
        <p:nvSpPr>
          <p:cNvPr id="11" name="Text 9"/>
          <p:cNvSpPr/>
          <p:nvPr/>
        </p:nvSpPr>
        <p:spPr>
          <a:xfrm>
            <a:off x="777240" y="2926080"/>
            <a:ext cx="914400" cy="411480"/>
          </a:xfrm>
          <a:prstGeom prst="rect">
            <a:avLst/>
          </a:prstGeom>
          <a:noFill/>
          <a:ln/>
        </p:spPr>
        <p:txBody>
          <a:bodyPr wrap="square" lIns="0" tIns="0" rIns="0" bIns="0" rtlCol="0" anchor="ctr"/>
          <a:lstStyle/>
          <a:p>
            <a:pPr indent="0" marL="0">
              <a:buNone/>
            </a:pPr>
            <a:r>
              <a:rPr lang="en-US" sz="2200" b="1" dirty="0">
                <a:solidFill>
                  <a:srgbClr val="FFC700"/>
                </a:solidFill>
                <a:latin typeface="Inter" pitchFamily="34" charset="0"/>
                <a:ea typeface="Inter" pitchFamily="34" charset="-122"/>
                <a:cs typeface="Inter" pitchFamily="34" charset="-120"/>
              </a:rPr>
              <a:t>M0</a:t>
            </a:r>
            <a:endParaRPr lang="en-US" sz="2200" dirty="0"/>
          </a:p>
        </p:txBody>
      </p:sp>
      <p:sp>
        <p:nvSpPr>
          <p:cNvPr id="12" name="Text 10"/>
          <p:cNvSpPr/>
          <p:nvPr/>
        </p:nvSpPr>
        <p:spPr>
          <a:xfrm>
            <a:off x="2651760" y="2999232"/>
            <a:ext cx="1371600" cy="274320"/>
          </a:xfrm>
          <a:prstGeom prst="rect">
            <a:avLst/>
          </a:prstGeom>
          <a:noFill/>
          <a:ln/>
        </p:spPr>
        <p:txBody>
          <a:bodyPr wrap="square" lIns="0" tIns="0" rIns="0" bIns="0" rtlCol="0" anchor="ctr"/>
          <a:lstStyle/>
          <a:p>
            <a:pPr algn="r" indent="0" marL="0">
              <a:buNone/>
            </a:pPr>
            <a:r>
              <a:rPr lang="en-US" sz="1000" b="1" spc="400" kern="0" dirty="0">
                <a:solidFill>
                  <a:srgbClr val="B6CDE5"/>
                </a:solidFill>
                <a:latin typeface="Inter" pitchFamily="34" charset="0"/>
                <a:ea typeface="Inter" pitchFamily="34" charset="-122"/>
                <a:cs typeface="Inter" pitchFamily="34" charset="-120"/>
              </a:rPr>
              <a:t>WEEK 1</a:t>
            </a:r>
            <a:endParaRPr lang="en-US" sz="1000" dirty="0"/>
          </a:p>
        </p:txBody>
      </p:sp>
      <p:sp>
        <p:nvSpPr>
          <p:cNvPr id="13" name="Text 11"/>
          <p:cNvSpPr/>
          <p:nvPr/>
        </p:nvSpPr>
        <p:spPr>
          <a:xfrm>
            <a:off x="777240" y="3401568"/>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AI-Native OS</a:t>
            </a:r>
            <a:endParaRPr lang="en-US" sz="1700" dirty="0"/>
          </a:p>
        </p:txBody>
      </p:sp>
      <p:sp>
        <p:nvSpPr>
          <p:cNvPr id="14" name="Text 12"/>
          <p:cNvSpPr/>
          <p:nvPr/>
        </p:nvSpPr>
        <p:spPr>
          <a:xfrm>
            <a:off x="777240" y="3840480"/>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Ship one working app by end of week 1.</a:t>
            </a:r>
            <a:endParaRPr lang="en-US" sz="1100" dirty="0"/>
          </a:p>
        </p:txBody>
      </p:sp>
      <p:sp>
        <p:nvSpPr>
          <p:cNvPr id="15" name="Shape 13"/>
          <p:cNvSpPr/>
          <p:nvPr/>
        </p:nvSpPr>
        <p:spPr>
          <a:xfrm>
            <a:off x="4343400" y="2743200"/>
            <a:ext cx="3657600" cy="1691640"/>
          </a:xfrm>
          <a:prstGeom prst="rect">
            <a:avLst/>
          </a:prstGeom>
          <a:solidFill>
            <a:srgbClr val="002651"/>
          </a:solidFill>
          <a:ln w="12700">
            <a:solidFill>
              <a:srgbClr val="002651"/>
            </a:solidFill>
            <a:prstDash val="solid"/>
          </a:ln>
        </p:spPr>
      </p:sp>
      <p:sp>
        <p:nvSpPr>
          <p:cNvPr id="16" name="Shape 14"/>
          <p:cNvSpPr/>
          <p:nvPr/>
        </p:nvSpPr>
        <p:spPr>
          <a:xfrm>
            <a:off x="4343400" y="2743200"/>
            <a:ext cx="3657600" cy="73152"/>
          </a:xfrm>
          <a:prstGeom prst="rect">
            <a:avLst/>
          </a:prstGeom>
          <a:solidFill>
            <a:srgbClr val="FFC700"/>
          </a:solidFill>
          <a:ln w="12700">
            <a:solidFill>
              <a:srgbClr val="FFC700"/>
            </a:solidFill>
            <a:prstDash val="solid"/>
          </a:ln>
        </p:spPr>
      </p:sp>
      <p:sp>
        <p:nvSpPr>
          <p:cNvPr id="17" name="Text 15"/>
          <p:cNvSpPr/>
          <p:nvPr/>
        </p:nvSpPr>
        <p:spPr>
          <a:xfrm>
            <a:off x="4572000" y="2926080"/>
            <a:ext cx="914400" cy="411480"/>
          </a:xfrm>
          <a:prstGeom prst="rect">
            <a:avLst/>
          </a:prstGeom>
          <a:noFill/>
          <a:ln/>
        </p:spPr>
        <p:txBody>
          <a:bodyPr wrap="square" lIns="0" tIns="0" rIns="0" bIns="0" rtlCol="0" anchor="ctr"/>
          <a:lstStyle/>
          <a:p>
            <a:pPr indent="0" marL="0">
              <a:buNone/>
            </a:pPr>
            <a:r>
              <a:rPr lang="en-US" sz="2200" b="1" dirty="0">
                <a:solidFill>
                  <a:srgbClr val="FFC700"/>
                </a:solidFill>
                <a:latin typeface="Inter" pitchFamily="34" charset="0"/>
                <a:ea typeface="Inter" pitchFamily="34" charset="-122"/>
                <a:cs typeface="Inter" pitchFamily="34" charset="-120"/>
              </a:rPr>
              <a:t>M1</a:t>
            </a:r>
            <a:endParaRPr lang="en-US" sz="2200" dirty="0"/>
          </a:p>
        </p:txBody>
      </p:sp>
      <p:sp>
        <p:nvSpPr>
          <p:cNvPr id="18" name="Text 16"/>
          <p:cNvSpPr/>
          <p:nvPr/>
        </p:nvSpPr>
        <p:spPr>
          <a:xfrm>
            <a:off x="6446520" y="2999232"/>
            <a:ext cx="1371600" cy="274320"/>
          </a:xfrm>
          <a:prstGeom prst="rect">
            <a:avLst/>
          </a:prstGeom>
          <a:noFill/>
          <a:ln/>
        </p:spPr>
        <p:txBody>
          <a:bodyPr wrap="square" lIns="0" tIns="0" rIns="0" bIns="0" rtlCol="0" anchor="ctr"/>
          <a:lstStyle/>
          <a:p>
            <a:pPr algn="r" indent="0" marL="0">
              <a:buNone/>
            </a:pPr>
            <a:r>
              <a:rPr lang="en-US" sz="1000" b="1" spc="400" kern="0" dirty="0">
                <a:solidFill>
                  <a:srgbClr val="B6CDE5"/>
                </a:solidFill>
                <a:latin typeface="Inter" pitchFamily="34" charset="0"/>
                <a:ea typeface="Inter" pitchFamily="34" charset="-122"/>
                <a:cs typeface="Inter" pitchFamily="34" charset="-120"/>
              </a:rPr>
              <a:t>WEEKS 2–4</a:t>
            </a:r>
            <a:endParaRPr lang="en-US" sz="1000" dirty="0"/>
          </a:p>
        </p:txBody>
      </p:sp>
      <p:sp>
        <p:nvSpPr>
          <p:cNvPr id="19" name="Text 17"/>
          <p:cNvSpPr/>
          <p:nvPr/>
        </p:nvSpPr>
        <p:spPr>
          <a:xfrm>
            <a:off x="4572000" y="3401568"/>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Product Engineering</a:t>
            </a:r>
            <a:endParaRPr lang="en-US" sz="1700" dirty="0"/>
          </a:p>
        </p:txBody>
      </p:sp>
      <p:sp>
        <p:nvSpPr>
          <p:cNvPr id="20" name="Text 18"/>
          <p:cNvSpPr/>
          <p:nvPr/>
        </p:nvSpPr>
        <p:spPr>
          <a:xfrm>
            <a:off x="4572000" y="3840480"/>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Two deployed apps with auth and database.</a:t>
            </a:r>
            <a:endParaRPr lang="en-US" sz="1100" dirty="0"/>
          </a:p>
        </p:txBody>
      </p:sp>
      <p:sp>
        <p:nvSpPr>
          <p:cNvPr id="21" name="Shape 19"/>
          <p:cNvSpPr/>
          <p:nvPr/>
        </p:nvSpPr>
        <p:spPr>
          <a:xfrm>
            <a:off x="8138160" y="2743200"/>
            <a:ext cx="3657600" cy="1691640"/>
          </a:xfrm>
          <a:prstGeom prst="rect">
            <a:avLst/>
          </a:prstGeom>
          <a:solidFill>
            <a:srgbClr val="002651"/>
          </a:solidFill>
          <a:ln w="12700">
            <a:solidFill>
              <a:srgbClr val="002651"/>
            </a:solidFill>
            <a:prstDash val="solid"/>
          </a:ln>
        </p:spPr>
      </p:sp>
      <p:sp>
        <p:nvSpPr>
          <p:cNvPr id="22" name="Shape 20"/>
          <p:cNvSpPr/>
          <p:nvPr/>
        </p:nvSpPr>
        <p:spPr>
          <a:xfrm>
            <a:off x="8138160" y="2743200"/>
            <a:ext cx="3657600" cy="73152"/>
          </a:xfrm>
          <a:prstGeom prst="rect">
            <a:avLst/>
          </a:prstGeom>
          <a:solidFill>
            <a:srgbClr val="FFC700"/>
          </a:solidFill>
          <a:ln w="12700">
            <a:solidFill>
              <a:srgbClr val="FFC700"/>
            </a:solidFill>
            <a:prstDash val="solid"/>
          </a:ln>
        </p:spPr>
      </p:sp>
      <p:sp>
        <p:nvSpPr>
          <p:cNvPr id="23" name="Text 21"/>
          <p:cNvSpPr/>
          <p:nvPr/>
        </p:nvSpPr>
        <p:spPr>
          <a:xfrm>
            <a:off x="8366760" y="2926080"/>
            <a:ext cx="914400" cy="411480"/>
          </a:xfrm>
          <a:prstGeom prst="rect">
            <a:avLst/>
          </a:prstGeom>
          <a:noFill/>
          <a:ln/>
        </p:spPr>
        <p:txBody>
          <a:bodyPr wrap="square" lIns="0" tIns="0" rIns="0" bIns="0" rtlCol="0" anchor="ctr"/>
          <a:lstStyle/>
          <a:p>
            <a:pPr indent="0" marL="0">
              <a:buNone/>
            </a:pPr>
            <a:r>
              <a:rPr lang="en-US" sz="2200" b="1" dirty="0">
                <a:solidFill>
                  <a:srgbClr val="FFC700"/>
                </a:solidFill>
                <a:latin typeface="Inter" pitchFamily="34" charset="0"/>
                <a:ea typeface="Inter" pitchFamily="34" charset="-122"/>
                <a:cs typeface="Inter" pitchFamily="34" charset="-120"/>
              </a:rPr>
              <a:t>M2</a:t>
            </a:r>
            <a:endParaRPr lang="en-US" sz="2200" dirty="0"/>
          </a:p>
        </p:txBody>
      </p:sp>
      <p:sp>
        <p:nvSpPr>
          <p:cNvPr id="24" name="Text 22"/>
          <p:cNvSpPr/>
          <p:nvPr/>
        </p:nvSpPr>
        <p:spPr>
          <a:xfrm>
            <a:off x="10241280" y="2999232"/>
            <a:ext cx="1371600" cy="274320"/>
          </a:xfrm>
          <a:prstGeom prst="rect">
            <a:avLst/>
          </a:prstGeom>
          <a:noFill/>
          <a:ln/>
        </p:spPr>
        <p:txBody>
          <a:bodyPr wrap="square" lIns="0" tIns="0" rIns="0" bIns="0" rtlCol="0" anchor="ctr"/>
          <a:lstStyle/>
          <a:p>
            <a:pPr algn="r" indent="0" marL="0">
              <a:buNone/>
            </a:pPr>
            <a:r>
              <a:rPr lang="en-US" sz="1000" b="1" spc="400" kern="0" dirty="0">
                <a:solidFill>
                  <a:srgbClr val="B6CDE5"/>
                </a:solidFill>
                <a:latin typeface="Inter" pitchFamily="34" charset="0"/>
                <a:ea typeface="Inter" pitchFamily="34" charset="-122"/>
                <a:cs typeface="Inter" pitchFamily="34" charset="-120"/>
              </a:rPr>
              <a:t>WEEKS 5–7</a:t>
            </a:r>
            <a:endParaRPr lang="en-US" sz="1000" dirty="0"/>
          </a:p>
        </p:txBody>
      </p:sp>
      <p:sp>
        <p:nvSpPr>
          <p:cNvPr id="25" name="Text 23"/>
          <p:cNvSpPr/>
          <p:nvPr/>
        </p:nvSpPr>
        <p:spPr>
          <a:xfrm>
            <a:off x="8366760" y="3401568"/>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AI Product Patterns</a:t>
            </a:r>
            <a:endParaRPr lang="en-US" sz="1700" dirty="0"/>
          </a:p>
        </p:txBody>
      </p:sp>
      <p:sp>
        <p:nvSpPr>
          <p:cNvPr id="26" name="Text 24"/>
          <p:cNvSpPr/>
          <p:nvPr/>
        </p:nvSpPr>
        <p:spPr>
          <a:xfrm>
            <a:off x="8366760" y="3840480"/>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One real AI-powered product.</a:t>
            </a:r>
            <a:endParaRPr lang="en-US" sz="1100" dirty="0"/>
          </a:p>
        </p:txBody>
      </p:sp>
      <p:sp>
        <p:nvSpPr>
          <p:cNvPr id="27" name="Shape 25"/>
          <p:cNvSpPr/>
          <p:nvPr/>
        </p:nvSpPr>
        <p:spPr>
          <a:xfrm>
            <a:off x="548640" y="4599432"/>
            <a:ext cx="3657600" cy="1691640"/>
          </a:xfrm>
          <a:prstGeom prst="rect">
            <a:avLst/>
          </a:prstGeom>
          <a:solidFill>
            <a:srgbClr val="002651"/>
          </a:solidFill>
          <a:ln w="12700">
            <a:solidFill>
              <a:srgbClr val="002651"/>
            </a:solidFill>
            <a:prstDash val="solid"/>
          </a:ln>
        </p:spPr>
      </p:sp>
      <p:sp>
        <p:nvSpPr>
          <p:cNvPr id="28" name="Shape 26"/>
          <p:cNvSpPr/>
          <p:nvPr/>
        </p:nvSpPr>
        <p:spPr>
          <a:xfrm>
            <a:off x="548640" y="4599432"/>
            <a:ext cx="3657600" cy="73152"/>
          </a:xfrm>
          <a:prstGeom prst="rect">
            <a:avLst/>
          </a:prstGeom>
          <a:solidFill>
            <a:srgbClr val="FFC700"/>
          </a:solidFill>
          <a:ln w="12700">
            <a:solidFill>
              <a:srgbClr val="FFC700"/>
            </a:solidFill>
            <a:prstDash val="solid"/>
          </a:ln>
        </p:spPr>
      </p:sp>
      <p:sp>
        <p:nvSpPr>
          <p:cNvPr id="29" name="Text 27"/>
          <p:cNvSpPr/>
          <p:nvPr/>
        </p:nvSpPr>
        <p:spPr>
          <a:xfrm>
            <a:off x="777240" y="4782312"/>
            <a:ext cx="914400" cy="411480"/>
          </a:xfrm>
          <a:prstGeom prst="rect">
            <a:avLst/>
          </a:prstGeom>
          <a:noFill/>
          <a:ln/>
        </p:spPr>
        <p:txBody>
          <a:bodyPr wrap="square" lIns="0" tIns="0" rIns="0" bIns="0" rtlCol="0" anchor="ctr"/>
          <a:lstStyle/>
          <a:p>
            <a:pPr indent="0" marL="0">
              <a:buNone/>
            </a:pPr>
            <a:r>
              <a:rPr lang="en-US" sz="2200" b="1" dirty="0">
                <a:solidFill>
                  <a:srgbClr val="FFC700"/>
                </a:solidFill>
                <a:latin typeface="Inter" pitchFamily="34" charset="0"/>
                <a:ea typeface="Inter" pitchFamily="34" charset="-122"/>
                <a:cs typeface="Inter" pitchFamily="34" charset="-120"/>
              </a:rPr>
              <a:t>M3</a:t>
            </a:r>
            <a:endParaRPr lang="en-US" sz="2200" dirty="0"/>
          </a:p>
        </p:txBody>
      </p:sp>
      <p:sp>
        <p:nvSpPr>
          <p:cNvPr id="30" name="Text 28"/>
          <p:cNvSpPr/>
          <p:nvPr/>
        </p:nvSpPr>
        <p:spPr>
          <a:xfrm>
            <a:off x="2651760" y="4855464"/>
            <a:ext cx="1371600" cy="274320"/>
          </a:xfrm>
          <a:prstGeom prst="rect">
            <a:avLst/>
          </a:prstGeom>
          <a:noFill/>
          <a:ln/>
        </p:spPr>
        <p:txBody>
          <a:bodyPr wrap="square" lIns="0" tIns="0" rIns="0" bIns="0" rtlCol="0" anchor="ctr"/>
          <a:lstStyle/>
          <a:p>
            <a:pPr algn="r" indent="0" marL="0">
              <a:buNone/>
            </a:pPr>
            <a:r>
              <a:rPr lang="en-US" sz="1000" b="1" spc="400" kern="0" dirty="0">
                <a:solidFill>
                  <a:srgbClr val="B6CDE5"/>
                </a:solidFill>
                <a:latin typeface="Inter" pitchFamily="34" charset="0"/>
                <a:ea typeface="Inter" pitchFamily="34" charset="-122"/>
                <a:cs typeface="Inter" pitchFamily="34" charset="-120"/>
              </a:rPr>
              <a:t>WEEK 8</a:t>
            </a:r>
            <a:endParaRPr lang="en-US" sz="1000" dirty="0"/>
          </a:p>
        </p:txBody>
      </p:sp>
      <p:sp>
        <p:nvSpPr>
          <p:cNvPr id="31" name="Text 29"/>
          <p:cNvSpPr/>
          <p:nvPr/>
        </p:nvSpPr>
        <p:spPr>
          <a:xfrm>
            <a:off x="777240" y="5257800"/>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Eval &amp; Reliability</a:t>
            </a:r>
            <a:endParaRPr lang="en-US" sz="1700" dirty="0"/>
          </a:p>
        </p:txBody>
      </p:sp>
      <p:sp>
        <p:nvSpPr>
          <p:cNvPr id="32" name="Text 30"/>
          <p:cNvSpPr/>
          <p:nvPr/>
        </p:nvSpPr>
        <p:spPr>
          <a:xfrm>
            <a:off x="777240" y="5696712"/>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Eval suite that catches regressions.</a:t>
            </a:r>
            <a:endParaRPr lang="en-US" sz="1100" dirty="0"/>
          </a:p>
        </p:txBody>
      </p:sp>
      <p:sp>
        <p:nvSpPr>
          <p:cNvPr id="33" name="Shape 31"/>
          <p:cNvSpPr/>
          <p:nvPr/>
        </p:nvSpPr>
        <p:spPr>
          <a:xfrm>
            <a:off x="4343400" y="4599432"/>
            <a:ext cx="3657600" cy="1691640"/>
          </a:xfrm>
          <a:prstGeom prst="rect">
            <a:avLst/>
          </a:prstGeom>
          <a:solidFill>
            <a:srgbClr val="002651"/>
          </a:solidFill>
          <a:ln w="12700">
            <a:solidFill>
              <a:srgbClr val="002651"/>
            </a:solidFill>
            <a:prstDash val="solid"/>
          </a:ln>
        </p:spPr>
      </p:sp>
      <p:sp>
        <p:nvSpPr>
          <p:cNvPr id="34" name="Shape 32"/>
          <p:cNvSpPr/>
          <p:nvPr/>
        </p:nvSpPr>
        <p:spPr>
          <a:xfrm>
            <a:off x="4343400" y="4599432"/>
            <a:ext cx="3657600" cy="73152"/>
          </a:xfrm>
          <a:prstGeom prst="rect">
            <a:avLst/>
          </a:prstGeom>
          <a:solidFill>
            <a:srgbClr val="FFC700"/>
          </a:solidFill>
          <a:ln w="12700">
            <a:solidFill>
              <a:srgbClr val="FFC700"/>
            </a:solidFill>
            <a:prstDash val="solid"/>
          </a:ln>
        </p:spPr>
      </p:sp>
      <p:sp>
        <p:nvSpPr>
          <p:cNvPr id="35" name="Text 33"/>
          <p:cNvSpPr/>
          <p:nvPr/>
        </p:nvSpPr>
        <p:spPr>
          <a:xfrm>
            <a:off x="4572000" y="4782312"/>
            <a:ext cx="914400" cy="411480"/>
          </a:xfrm>
          <a:prstGeom prst="rect">
            <a:avLst/>
          </a:prstGeom>
          <a:noFill/>
          <a:ln/>
        </p:spPr>
        <p:txBody>
          <a:bodyPr wrap="square" lIns="0" tIns="0" rIns="0" bIns="0" rtlCol="0" anchor="ctr"/>
          <a:lstStyle/>
          <a:p>
            <a:pPr indent="0" marL="0">
              <a:buNone/>
            </a:pPr>
            <a:r>
              <a:rPr lang="en-US" sz="2200" b="1" dirty="0">
                <a:solidFill>
                  <a:srgbClr val="FFC700"/>
                </a:solidFill>
                <a:latin typeface="Inter" pitchFamily="34" charset="0"/>
                <a:ea typeface="Inter" pitchFamily="34" charset="-122"/>
                <a:cs typeface="Inter" pitchFamily="34" charset="-120"/>
              </a:rPr>
              <a:t>M4</a:t>
            </a:r>
            <a:endParaRPr lang="en-US" sz="2200" dirty="0"/>
          </a:p>
        </p:txBody>
      </p:sp>
      <p:sp>
        <p:nvSpPr>
          <p:cNvPr id="36" name="Text 34"/>
          <p:cNvSpPr/>
          <p:nvPr/>
        </p:nvSpPr>
        <p:spPr>
          <a:xfrm>
            <a:off x="6446520" y="4855464"/>
            <a:ext cx="1371600" cy="274320"/>
          </a:xfrm>
          <a:prstGeom prst="rect">
            <a:avLst/>
          </a:prstGeom>
          <a:noFill/>
          <a:ln/>
        </p:spPr>
        <p:txBody>
          <a:bodyPr wrap="square" lIns="0" tIns="0" rIns="0" bIns="0" rtlCol="0" anchor="ctr"/>
          <a:lstStyle/>
          <a:p>
            <a:pPr algn="r" indent="0" marL="0">
              <a:buNone/>
            </a:pPr>
            <a:r>
              <a:rPr lang="en-US" sz="1000" b="1" spc="400" kern="0" dirty="0">
                <a:solidFill>
                  <a:srgbClr val="B6CDE5"/>
                </a:solidFill>
                <a:latin typeface="Inter" pitchFamily="34" charset="0"/>
                <a:ea typeface="Inter" pitchFamily="34" charset="-122"/>
                <a:cs typeface="Inter" pitchFamily="34" charset="-120"/>
              </a:rPr>
              <a:t>WEEKS 9–10</a:t>
            </a:r>
            <a:endParaRPr lang="en-US" sz="1000" dirty="0"/>
          </a:p>
        </p:txBody>
      </p:sp>
      <p:sp>
        <p:nvSpPr>
          <p:cNvPr id="37" name="Text 35"/>
          <p:cNvSpPr/>
          <p:nvPr/>
        </p:nvSpPr>
        <p:spPr>
          <a:xfrm>
            <a:off x="4572000" y="5257800"/>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Shipping in a Startup</a:t>
            </a:r>
            <a:endParaRPr lang="en-US" sz="1700" dirty="0"/>
          </a:p>
        </p:txBody>
      </p:sp>
      <p:sp>
        <p:nvSpPr>
          <p:cNvPr id="38" name="Text 36"/>
          <p:cNvSpPr/>
          <p:nvPr/>
        </p:nvSpPr>
        <p:spPr>
          <a:xfrm>
            <a:off x="4572000" y="5696712"/>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Team sprint with PR-reviewed code.</a:t>
            </a:r>
            <a:endParaRPr lang="en-US" sz="1100" dirty="0"/>
          </a:p>
        </p:txBody>
      </p:sp>
      <p:sp>
        <p:nvSpPr>
          <p:cNvPr id="39" name="Shape 37"/>
          <p:cNvSpPr/>
          <p:nvPr/>
        </p:nvSpPr>
        <p:spPr>
          <a:xfrm>
            <a:off x="8138160" y="4599432"/>
            <a:ext cx="3657600" cy="1691640"/>
          </a:xfrm>
          <a:prstGeom prst="rect">
            <a:avLst/>
          </a:prstGeom>
          <a:solidFill>
            <a:srgbClr val="002651"/>
          </a:solidFill>
          <a:ln w="12700">
            <a:solidFill>
              <a:srgbClr val="002651"/>
            </a:solidFill>
            <a:prstDash val="solid"/>
          </a:ln>
        </p:spPr>
      </p:sp>
      <p:sp>
        <p:nvSpPr>
          <p:cNvPr id="40" name="Shape 38"/>
          <p:cNvSpPr/>
          <p:nvPr/>
        </p:nvSpPr>
        <p:spPr>
          <a:xfrm>
            <a:off x="8138160" y="4599432"/>
            <a:ext cx="3657600" cy="73152"/>
          </a:xfrm>
          <a:prstGeom prst="rect">
            <a:avLst/>
          </a:prstGeom>
          <a:solidFill>
            <a:srgbClr val="FFC700"/>
          </a:solidFill>
          <a:ln w="12700">
            <a:solidFill>
              <a:srgbClr val="FFC700"/>
            </a:solidFill>
            <a:prstDash val="solid"/>
          </a:ln>
        </p:spPr>
      </p:sp>
      <p:sp>
        <p:nvSpPr>
          <p:cNvPr id="41" name="Text 39"/>
          <p:cNvSpPr/>
          <p:nvPr/>
        </p:nvSpPr>
        <p:spPr>
          <a:xfrm>
            <a:off x="8366760" y="4782312"/>
            <a:ext cx="914400" cy="411480"/>
          </a:xfrm>
          <a:prstGeom prst="rect">
            <a:avLst/>
          </a:prstGeom>
          <a:noFill/>
          <a:ln/>
        </p:spPr>
        <p:txBody>
          <a:bodyPr wrap="square" lIns="0" tIns="0" rIns="0" bIns="0" rtlCol="0" anchor="ctr"/>
          <a:lstStyle/>
          <a:p>
            <a:pPr indent="0" marL="0">
              <a:buNone/>
            </a:pPr>
            <a:r>
              <a:rPr lang="en-US" sz="2200" b="1" dirty="0">
                <a:solidFill>
                  <a:srgbClr val="FFC700"/>
                </a:solidFill>
                <a:latin typeface="Inter" pitchFamily="34" charset="0"/>
                <a:ea typeface="Inter" pitchFamily="34" charset="-122"/>
                <a:cs typeface="Inter" pitchFamily="34" charset="-120"/>
              </a:rPr>
              <a:t>M5</a:t>
            </a:r>
            <a:endParaRPr lang="en-US" sz="2200" dirty="0"/>
          </a:p>
        </p:txBody>
      </p:sp>
      <p:sp>
        <p:nvSpPr>
          <p:cNvPr id="42" name="Text 40"/>
          <p:cNvSpPr/>
          <p:nvPr/>
        </p:nvSpPr>
        <p:spPr>
          <a:xfrm>
            <a:off x="10241280" y="4855464"/>
            <a:ext cx="1371600" cy="274320"/>
          </a:xfrm>
          <a:prstGeom prst="rect">
            <a:avLst/>
          </a:prstGeom>
          <a:noFill/>
          <a:ln/>
        </p:spPr>
        <p:txBody>
          <a:bodyPr wrap="square" lIns="0" tIns="0" rIns="0" bIns="0" rtlCol="0" anchor="ctr"/>
          <a:lstStyle/>
          <a:p>
            <a:pPr algn="r" indent="0" marL="0">
              <a:buNone/>
            </a:pPr>
            <a:r>
              <a:rPr lang="en-US" sz="1000" b="1" spc="400" kern="0" dirty="0">
                <a:solidFill>
                  <a:srgbClr val="B6CDE5"/>
                </a:solidFill>
                <a:latin typeface="Inter" pitchFamily="34" charset="0"/>
                <a:ea typeface="Inter" pitchFamily="34" charset="-122"/>
                <a:cs typeface="Inter" pitchFamily="34" charset="-120"/>
              </a:rPr>
              <a:t>WEEKS 11–13</a:t>
            </a:r>
            <a:endParaRPr lang="en-US" sz="1000" dirty="0"/>
          </a:p>
        </p:txBody>
      </p:sp>
      <p:sp>
        <p:nvSpPr>
          <p:cNvPr id="43" name="Text 41"/>
          <p:cNvSpPr/>
          <p:nvPr/>
        </p:nvSpPr>
        <p:spPr>
          <a:xfrm>
            <a:off x="8366760" y="5257800"/>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Capstone</a:t>
            </a:r>
            <a:endParaRPr lang="en-US" sz="1700" dirty="0"/>
          </a:p>
        </p:txBody>
      </p:sp>
      <p:sp>
        <p:nvSpPr>
          <p:cNvPr id="44" name="Text 42"/>
          <p:cNvSpPr/>
          <p:nvPr/>
        </p:nvSpPr>
        <p:spPr>
          <a:xfrm>
            <a:off x="8366760" y="5696712"/>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Real product, real users.</a:t>
            </a:r>
            <a:endParaRPr lang="en-US" sz="1100" dirty="0"/>
          </a:p>
        </p:txBody>
      </p:sp>
      <p:sp>
        <p:nvSpPr>
          <p:cNvPr id="45" name="Shape 43"/>
          <p:cNvSpPr/>
          <p:nvPr/>
        </p:nvSpPr>
        <p:spPr>
          <a:xfrm>
            <a:off x="548640" y="6355080"/>
            <a:ext cx="11094415" cy="0"/>
          </a:xfrm>
          <a:prstGeom prst="line">
            <a:avLst/>
          </a:prstGeom>
          <a:noFill/>
          <a:ln w="12700">
            <a:solidFill>
              <a:srgbClr val="FFFFFF"/>
            </a:solidFill>
            <a:prstDash val="solid"/>
          </a:ln>
        </p:spPr>
      </p:sp>
      <p:sp>
        <p:nvSpPr>
          <p:cNvPr id="46" name="Text 44"/>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CURRICULUM</a:t>
            </a:r>
            <a:endParaRPr lang="en-US" sz="900" dirty="0"/>
          </a:p>
        </p:txBody>
      </p:sp>
      <p:sp>
        <p:nvSpPr>
          <p:cNvPr id="47" name="Shape 45"/>
          <p:cNvSpPr/>
          <p:nvPr/>
        </p:nvSpPr>
        <p:spPr>
          <a:xfrm>
            <a:off x="10545775" y="6473952"/>
            <a:ext cx="1097280" cy="228600"/>
          </a:xfrm>
          <a:prstGeom prst="rect">
            <a:avLst/>
          </a:prstGeom>
          <a:solidFill>
            <a:srgbClr val="FFC700"/>
          </a:solidFill>
          <a:ln w="12700">
            <a:solidFill>
              <a:srgbClr val="FFC700"/>
            </a:solidFill>
            <a:prstDash val="solid"/>
          </a:ln>
        </p:spPr>
      </p:sp>
      <p:sp>
        <p:nvSpPr>
          <p:cNvPr id="48" name="Text 46"/>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EVALUATION · STATION 08</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08 / 17</a:t>
            </a:r>
            <a:endParaRPr lang="en-US" sz="1100" dirty="0"/>
          </a:p>
        </p:txBody>
      </p:sp>
      <p:sp>
        <p:nvSpPr>
          <p:cNvPr id="7" name="Text 5"/>
          <p:cNvSpPr/>
          <p:nvPr/>
        </p:nvSpPr>
        <p:spPr>
          <a:xfrm>
            <a:off x="548640" y="1280160"/>
            <a:ext cx="10972800" cy="1371600"/>
          </a:xfrm>
          <a:prstGeom prst="rect">
            <a:avLst/>
          </a:prstGeom>
          <a:noFill/>
          <a:ln/>
        </p:spPr>
        <p:txBody>
          <a:bodyPr wrap="square" lIns="0" tIns="0" rIns="0" bIns="0" rtlCol="0" anchor="ctr"/>
          <a:lstStyle/>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Seven dimensions. Two reviewers.</a:t>
            </a:r>
            <a:endParaRPr lang="en-US" sz="3000" dirty="0"/>
          </a:p>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External industry validation.</a:t>
            </a:r>
            <a:endParaRPr lang="en-US" sz="3000" dirty="0"/>
          </a:p>
        </p:txBody>
      </p:sp>
      <p:sp>
        <p:nvSpPr>
          <p:cNvPr id="8" name="Shape 6"/>
          <p:cNvSpPr/>
          <p:nvPr/>
        </p:nvSpPr>
        <p:spPr>
          <a:xfrm>
            <a:off x="548640" y="3017520"/>
            <a:ext cx="329184" cy="329184"/>
          </a:xfrm>
          <a:prstGeom prst="rect">
            <a:avLst/>
          </a:prstGeom>
          <a:solidFill>
            <a:srgbClr val="FFC700"/>
          </a:solidFill>
          <a:ln w="12700">
            <a:solidFill>
              <a:srgbClr val="FFC700"/>
            </a:solidFill>
            <a:prstDash val="solid"/>
          </a:ln>
        </p:spPr>
      </p:sp>
      <p:sp>
        <p:nvSpPr>
          <p:cNvPr id="9" name="Text 7"/>
          <p:cNvSpPr/>
          <p:nvPr/>
        </p:nvSpPr>
        <p:spPr>
          <a:xfrm>
            <a:off x="548640" y="3017520"/>
            <a:ext cx="329184" cy="329184"/>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01</a:t>
            </a:r>
            <a:endParaRPr lang="en-US" sz="1100" dirty="0"/>
          </a:p>
        </p:txBody>
      </p:sp>
      <p:sp>
        <p:nvSpPr>
          <p:cNvPr id="10" name="Text 8"/>
          <p:cNvSpPr/>
          <p:nvPr/>
        </p:nvSpPr>
        <p:spPr>
          <a:xfrm>
            <a:off x="1051560" y="3017520"/>
            <a:ext cx="4206240" cy="329184"/>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Shipping velocity</a:t>
            </a:r>
            <a:endParaRPr lang="en-US" sz="1600" dirty="0"/>
          </a:p>
        </p:txBody>
      </p:sp>
      <p:sp>
        <p:nvSpPr>
          <p:cNvPr id="11" name="Text 9"/>
          <p:cNvSpPr/>
          <p:nvPr/>
        </p:nvSpPr>
        <p:spPr>
          <a:xfrm>
            <a:off x="5120640" y="3063240"/>
            <a:ext cx="1371600" cy="274320"/>
          </a:xfrm>
          <a:prstGeom prst="rect">
            <a:avLst/>
          </a:prstGeom>
          <a:noFill/>
          <a:ln/>
        </p:spPr>
        <p:txBody>
          <a:bodyPr wrap="square" lIns="0" tIns="0" rIns="0" bIns="0" rtlCol="0" anchor="ctr"/>
          <a:lstStyle/>
          <a:p>
            <a:pPr indent="0" marL="0">
              <a:buNone/>
            </a:pPr>
            <a:r>
              <a:rPr lang="en-US" sz="900" b="1" spc="400" kern="0" dirty="0">
                <a:solidFill>
                  <a:srgbClr val="FFC700"/>
                </a:solidFill>
                <a:latin typeface="Inter" pitchFamily="34" charset="0"/>
                <a:ea typeface="Inter" pitchFamily="34" charset="-122"/>
                <a:cs typeface="Inter" pitchFamily="34" charset="-120"/>
              </a:rPr>
              <a:t>SCORED 1—5</a:t>
            </a:r>
            <a:endParaRPr lang="en-US" sz="900" dirty="0"/>
          </a:p>
        </p:txBody>
      </p:sp>
      <p:sp>
        <p:nvSpPr>
          <p:cNvPr id="12" name="Shape 10"/>
          <p:cNvSpPr/>
          <p:nvPr/>
        </p:nvSpPr>
        <p:spPr>
          <a:xfrm>
            <a:off x="548640" y="3401568"/>
            <a:ext cx="5943600" cy="0"/>
          </a:xfrm>
          <a:prstGeom prst="line">
            <a:avLst/>
          </a:prstGeom>
          <a:noFill/>
          <a:ln w="6350">
            <a:solidFill>
              <a:srgbClr val="7592B6"/>
            </a:solidFill>
            <a:prstDash val="solid"/>
          </a:ln>
        </p:spPr>
      </p:sp>
      <p:sp>
        <p:nvSpPr>
          <p:cNvPr id="13" name="Shape 11"/>
          <p:cNvSpPr/>
          <p:nvPr/>
        </p:nvSpPr>
        <p:spPr>
          <a:xfrm>
            <a:off x="548640" y="3401568"/>
            <a:ext cx="329184" cy="329184"/>
          </a:xfrm>
          <a:prstGeom prst="rect">
            <a:avLst/>
          </a:prstGeom>
          <a:solidFill>
            <a:srgbClr val="FFC700"/>
          </a:solidFill>
          <a:ln w="12700">
            <a:solidFill>
              <a:srgbClr val="FFC700"/>
            </a:solidFill>
            <a:prstDash val="solid"/>
          </a:ln>
        </p:spPr>
      </p:sp>
      <p:sp>
        <p:nvSpPr>
          <p:cNvPr id="14" name="Text 12"/>
          <p:cNvSpPr/>
          <p:nvPr/>
        </p:nvSpPr>
        <p:spPr>
          <a:xfrm>
            <a:off x="548640" y="3401568"/>
            <a:ext cx="329184" cy="329184"/>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02</a:t>
            </a:r>
            <a:endParaRPr lang="en-US" sz="1100" dirty="0"/>
          </a:p>
        </p:txBody>
      </p:sp>
      <p:sp>
        <p:nvSpPr>
          <p:cNvPr id="15" name="Text 13"/>
          <p:cNvSpPr/>
          <p:nvPr/>
        </p:nvSpPr>
        <p:spPr>
          <a:xfrm>
            <a:off x="1051560" y="3401568"/>
            <a:ext cx="4206240" cy="329184"/>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Engineering judgment</a:t>
            </a:r>
            <a:endParaRPr lang="en-US" sz="1600" dirty="0"/>
          </a:p>
        </p:txBody>
      </p:sp>
      <p:sp>
        <p:nvSpPr>
          <p:cNvPr id="16" name="Text 14"/>
          <p:cNvSpPr/>
          <p:nvPr/>
        </p:nvSpPr>
        <p:spPr>
          <a:xfrm>
            <a:off x="5120640" y="3447288"/>
            <a:ext cx="1371600" cy="274320"/>
          </a:xfrm>
          <a:prstGeom prst="rect">
            <a:avLst/>
          </a:prstGeom>
          <a:noFill/>
          <a:ln/>
        </p:spPr>
        <p:txBody>
          <a:bodyPr wrap="square" lIns="0" tIns="0" rIns="0" bIns="0" rtlCol="0" anchor="ctr"/>
          <a:lstStyle/>
          <a:p>
            <a:pPr indent="0" marL="0">
              <a:buNone/>
            </a:pPr>
            <a:r>
              <a:rPr lang="en-US" sz="900" b="1" spc="400" kern="0" dirty="0">
                <a:solidFill>
                  <a:srgbClr val="FFC700"/>
                </a:solidFill>
                <a:latin typeface="Inter" pitchFamily="34" charset="0"/>
                <a:ea typeface="Inter" pitchFamily="34" charset="-122"/>
                <a:cs typeface="Inter" pitchFamily="34" charset="-120"/>
              </a:rPr>
              <a:t>SCORED 1—5</a:t>
            </a:r>
            <a:endParaRPr lang="en-US" sz="900" dirty="0"/>
          </a:p>
        </p:txBody>
      </p:sp>
      <p:sp>
        <p:nvSpPr>
          <p:cNvPr id="17" name="Shape 15"/>
          <p:cNvSpPr/>
          <p:nvPr/>
        </p:nvSpPr>
        <p:spPr>
          <a:xfrm>
            <a:off x="548640" y="3785616"/>
            <a:ext cx="5943600" cy="0"/>
          </a:xfrm>
          <a:prstGeom prst="line">
            <a:avLst/>
          </a:prstGeom>
          <a:noFill/>
          <a:ln w="6350">
            <a:solidFill>
              <a:srgbClr val="7592B6"/>
            </a:solidFill>
            <a:prstDash val="solid"/>
          </a:ln>
        </p:spPr>
      </p:sp>
      <p:sp>
        <p:nvSpPr>
          <p:cNvPr id="18" name="Shape 16"/>
          <p:cNvSpPr/>
          <p:nvPr/>
        </p:nvSpPr>
        <p:spPr>
          <a:xfrm>
            <a:off x="548640" y="3785616"/>
            <a:ext cx="329184" cy="329184"/>
          </a:xfrm>
          <a:prstGeom prst="rect">
            <a:avLst/>
          </a:prstGeom>
          <a:solidFill>
            <a:srgbClr val="FFC700"/>
          </a:solidFill>
          <a:ln w="12700">
            <a:solidFill>
              <a:srgbClr val="FFC700"/>
            </a:solidFill>
            <a:prstDash val="solid"/>
          </a:ln>
        </p:spPr>
      </p:sp>
      <p:sp>
        <p:nvSpPr>
          <p:cNvPr id="19" name="Text 17"/>
          <p:cNvSpPr/>
          <p:nvPr/>
        </p:nvSpPr>
        <p:spPr>
          <a:xfrm>
            <a:off x="548640" y="3785616"/>
            <a:ext cx="329184" cy="329184"/>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03</a:t>
            </a:r>
            <a:endParaRPr lang="en-US" sz="1100" dirty="0"/>
          </a:p>
        </p:txBody>
      </p:sp>
      <p:sp>
        <p:nvSpPr>
          <p:cNvPr id="20" name="Text 18"/>
          <p:cNvSpPr/>
          <p:nvPr/>
        </p:nvSpPr>
        <p:spPr>
          <a:xfrm>
            <a:off x="1051560" y="3785616"/>
            <a:ext cx="4206240" cy="329184"/>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Product thinking</a:t>
            </a:r>
            <a:endParaRPr lang="en-US" sz="1600" dirty="0"/>
          </a:p>
        </p:txBody>
      </p:sp>
      <p:sp>
        <p:nvSpPr>
          <p:cNvPr id="21" name="Text 19"/>
          <p:cNvSpPr/>
          <p:nvPr/>
        </p:nvSpPr>
        <p:spPr>
          <a:xfrm>
            <a:off x="5120640" y="3831336"/>
            <a:ext cx="1371600" cy="274320"/>
          </a:xfrm>
          <a:prstGeom prst="rect">
            <a:avLst/>
          </a:prstGeom>
          <a:noFill/>
          <a:ln/>
        </p:spPr>
        <p:txBody>
          <a:bodyPr wrap="square" lIns="0" tIns="0" rIns="0" bIns="0" rtlCol="0" anchor="ctr"/>
          <a:lstStyle/>
          <a:p>
            <a:pPr indent="0" marL="0">
              <a:buNone/>
            </a:pPr>
            <a:r>
              <a:rPr lang="en-US" sz="900" b="1" spc="400" kern="0" dirty="0">
                <a:solidFill>
                  <a:srgbClr val="FFC700"/>
                </a:solidFill>
                <a:latin typeface="Inter" pitchFamily="34" charset="0"/>
                <a:ea typeface="Inter" pitchFamily="34" charset="-122"/>
                <a:cs typeface="Inter" pitchFamily="34" charset="-120"/>
              </a:rPr>
              <a:t>SCORED 1—5</a:t>
            </a:r>
            <a:endParaRPr lang="en-US" sz="900" dirty="0"/>
          </a:p>
        </p:txBody>
      </p:sp>
      <p:sp>
        <p:nvSpPr>
          <p:cNvPr id="22" name="Shape 20"/>
          <p:cNvSpPr/>
          <p:nvPr/>
        </p:nvSpPr>
        <p:spPr>
          <a:xfrm>
            <a:off x="548640" y="4169664"/>
            <a:ext cx="5943600" cy="0"/>
          </a:xfrm>
          <a:prstGeom prst="line">
            <a:avLst/>
          </a:prstGeom>
          <a:noFill/>
          <a:ln w="6350">
            <a:solidFill>
              <a:srgbClr val="7592B6"/>
            </a:solidFill>
            <a:prstDash val="solid"/>
          </a:ln>
        </p:spPr>
      </p:sp>
      <p:sp>
        <p:nvSpPr>
          <p:cNvPr id="23" name="Shape 21"/>
          <p:cNvSpPr/>
          <p:nvPr/>
        </p:nvSpPr>
        <p:spPr>
          <a:xfrm>
            <a:off x="548640" y="4169664"/>
            <a:ext cx="329184" cy="329184"/>
          </a:xfrm>
          <a:prstGeom prst="rect">
            <a:avLst/>
          </a:prstGeom>
          <a:solidFill>
            <a:srgbClr val="FFC700"/>
          </a:solidFill>
          <a:ln w="12700">
            <a:solidFill>
              <a:srgbClr val="FFC700"/>
            </a:solidFill>
            <a:prstDash val="solid"/>
          </a:ln>
        </p:spPr>
      </p:sp>
      <p:sp>
        <p:nvSpPr>
          <p:cNvPr id="24" name="Text 22"/>
          <p:cNvSpPr/>
          <p:nvPr/>
        </p:nvSpPr>
        <p:spPr>
          <a:xfrm>
            <a:off x="548640" y="4169664"/>
            <a:ext cx="329184" cy="329184"/>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04</a:t>
            </a:r>
            <a:endParaRPr lang="en-US" sz="1100" dirty="0"/>
          </a:p>
        </p:txBody>
      </p:sp>
      <p:sp>
        <p:nvSpPr>
          <p:cNvPr id="25" name="Text 23"/>
          <p:cNvSpPr/>
          <p:nvPr/>
        </p:nvSpPr>
        <p:spPr>
          <a:xfrm>
            <a:off x="1051560" y="4169664"/>
            <a:ext cx="4206240" cy="329184"/>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AI fluency</a:t>
            </a:r>
            <a:endParaRPr lang="en-US" sz="1600" dirty="0"/>
          </a:p>
        </p:txBody>
      </p:sp>
      <p:sp>
        <p:nvSpPr>
          <p:cNvPr id="26" name="Text 24"/>
          <p:cNvSpPr/>
          <p:nvPr/>
        </p:nvSpPr>
        <p:spPr>
          <a:xfrm>
            <a:off x="5120640" y="4215384"/>
            <a:ext cx="1371600" cy="274320"/>
          </a:xfrm>
          <a:prstGeom prst="rect">
            <a:avLst/>
          </a:prstGeom>
          <a:noFill/>
          <a:ln/>
        </p:spPr>
        <p:txBody>
          <a:bodyPr wrap="square" lIns="0" tIns="0" rIns="0" bIns="0" rtlCol="0" anchor="ctr"/>
          <a:lstStyle/>
          <a:p>
            <a:pPr indent="0" marL="0">
              <a:buNone/>
            </a:pPr>
            <a:r>
              <a:rPr lang="en-US" sz="900" b="1" spc="400" kern="0" dirty="0">
                <a:solidFill>
                  <a:srgbClr val="FFC700"/>
                </a:solidFill>
                <a:latin typeface="Inter" pitchFamily="34" charset="0"/>
                <a:ea typeface="Inter" pitchFamily="34" charset="-122"/>
                <a:cs typeface="Inter" pitchFamily="34" charset="-120"/>
              </a:rPr>
              <a:t>SCORED 1—5</a:t>
            </a:r>
            <a:endParaRPr lang="en-US" sz="900" dirty="0"/>
          </a:p>
        </p:txBody>
      </p:sp>
      <p:sp>
        <p:nvSpPr>
          <p:cNvPr id="27" name="Shape 25"/>
          <p:cNvSpPr/>
          <p:nvPr/>
        </p:nvSpPr>
        <p:spPr>
          <a:xfrm>
            <a:off x="548640" y="4553712"/>
            <a:ext cx="5943600" cy="0"/>
          </a:xfrm>
          <a:prstGeom prst="line">
            <a:avLst/>
          </a:prstGeom>
          <a:noFill/>
          <a:ln w="6350">
            <a:solidFill>
              <a:srgbClr val="7592B6"/>
            </a:solidFill>
            <a:prstDash val="solid"/>
          </a:ln>
        </p:spPr>
      </p:sp>
      <p:sp>
        <p:nvSpPr>
          <p:cNvPr id="28" name="Shape 26"/>
          <p:cNvSpPr/>
          <p:nvPr/>
        </p:nvSpPr>
        <p:spPr>
          <a:xfrm>
            <a:off x="548640" y="4553712"/>
            <a:ext cx="329184" cy="329184"/>
          </a:xfrm>
          <a:prstGeom prst="rect">
            <a:avLst/>
          </a:prstGeom>
          <a:solidFill>
            <a:srgbClr val="FFC700"/>
          </a:solidFill>
          <a:ln w="12700">
            <a:solidFill>
              <a:srgbClr val="FFC700"/>
            </a:solidFill>
            <a:prstDash val="solid"/>
          </a:ln>
        </p:spPr>
      </p:sp>
      <p:sp>
        <p:nvSpPr>
          <p:cNvPr id="29" name="Text 27"/>
          <p:cNvSpPr/>
          <p:nvPr/>
        </p:nvSpPr>
        <p:spPr>
          <a:xfrm>
            <a:off x="548640" y="4553712"/>
            <a:ext cx="329184" cy="329184"/>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05</a:t>
            </a:r>
            <a:endParaRPr lang="en-US" sz="1100" dirty="0"/>
          </a:p>
        </p:txBody>
      </p:sp>
      <p:sp>
        <p:nvSpPr>
          <p:cNvPr id="30" name="Text 28"/>
          <p:cNvSpPr/>
          <p:nvPr/>
        </p:nvSpPr>
        <p:spPr>
          <a:xfrm>
            <a:off x="1051560" y="4553712"/>
            <a:ext cx="4206240" cy="329184"/>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Collaboration</a:t>
            </a:r>
            <a:endParaRPr lang="en-US" sz="1600" dirty="0"/>
          </a:p>
        </p:txBody>
      </p:sp>
      <p:sp>
        <p:nvSpPr>
          <p:cNvPr id="31" name="Text 29"/>
          <p:cNvSpPr/>
          <p:nvPr/>
        </p:nvSpPr>
        <p:spPr>
          <a:xfrm>
            <a:off x="5120640" y="4599432"/>
            <a:ext cx="1371600" cy="274320"/>
          </a:xfrm>
          <a:prstGeom prst="rect">
            <a:avLst/>
          </a:prstGeom>
          <a:noFill/>
          <a:ln/>
        </p:spPr>
        <p:txBody>
          <a:bodyPr wrap="square" lIns="0" tIns="0" rIns="0" bIns="0" rtlCol="0" anchor="ctr"/>
          <a:lstStyle/>
          <a:p>
            <a:pPr indent="0" marL="0">
              <a:buNone/>
            </a:pPr>
            <a:r>
              <a:rPr lang="en-US" sz="900" b="1" spc="400" kern="0" dirty="0">
                <a:solidFill>
                  <a:srgbClr val="FFC700"/>
                </a:solidFill>
                <a:latin typeface="Inter" pitchFamily="34" charset="0"/>
                <a:ea typeface="Inter" pitchFamily="34" charset="-122"/>
                <a:cs typeface="Inter" pitchFamily="34" charset="-120"/>
              </a:rPr>
              <a:t>SCORED 1—5</a:t>
            </a:r>
            <a:endParaRPr lang="en-US" sz="900" dirty="0"/>
          </a:p>
        </p:txBody>
      </p:sp>
      <p:sp>
        <p:nvSpPr>
          <p:cNvPr id="32" name="Shape 30"/>
          <p:cNvSpPr/>
          <p:nvPr/>
        </p:nvSpPr>
        <p:spPr>
          <a:xfrm>
            <a:off x="548640" y="4937760"/>
            <a:ext cx="5943600" cy="0"/>
          </a:xfrm>
          <a:prstGeom prst="line">
            <a:avLst/>
          </a:prstGeom>
          <a:noFill/>
          <a:ln w="6350">
            <a:solidFill>
              <a:srgbClr val="7592B6"/>
            </a:solidFill>
            <a:prstDash val="solid"/>
          </a:ln>
        </p:spPr>
      </p:sp>
      <p:sp>
        <p:nvSpPr>
          <p:cNvPr id="33" name="Shape 31"/>
          <p:cNvSpPr/>
          <p:nvPr/>
        </p:nvSpPr>
        <p:spPr>
          <a:xfrm>
            <a:off x="548640" y="4937760"/>
            <a:ext cx="329184" cy="329184"/>
          </a:xfrm>
          <a:prstGeom prst="rect">
            <a:avLst/>
          </a:prstGeom>
          <a:solidFill>
            <a:srgbClr val="FFC700"/>
          </a:solidFill>
          <a:ln w="12700">
            <a:solidFill>
              <a:srgbClr val="FFC700"/>
            </a:solidFill>
            <a:prstDash val="solid"/>
          </a:ln>
        </p:spPr>
      </p:sp>
      <p:sp>
        <p:nvSpPr>
          <p:cNvPr id="34" name="Text 32"/>
          <p:cNvSpPr/>
          <p:nvPr/>
        </p:nvSpPr>
        <p:spPr>
          <a:xfrm>
            <a:off x="548640" y="4937760"/>
            <a:ext cx="329184" cy="329184"/>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06</a:t>
            </a:r>
            <a:endParaRPr lang="en-US" sz="1100" dirty="0"/>
          </a:p>
        </p:txBody>
      </p:sp>
      <p:sp>
        <p:nvSpPr>
          <p:cNvPr id="35" name="Text 33"/>
          <p:cNvSpPr/>
          <p:nvPr/>
        </p:nvSpPr>
        <p:spPr>
          <a:xfrm>
            <a:off x="1051560" y="4937760"/>
            <a:ext cx="4206240" cy="329184"/>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Debugging</a:t>
            </a:r>
            <a:endParaRPr lang="en-US" sz="1600" dirty="0"/>
          </a:p>
        </p:txBody>
      </p:sp>
      <p:sp>
        <p:nvSpPr>
          <p:cNvPr id="36" name="Text 34"/>
          <p:cNvSpPr/>
          <p:nvPr/>
        </p:nvSpPr>
        <p:spPr>
          <a:xfrm>
            <a:off x="5120640" y="4983480"/>
            <a:ext cx="1371600" cy="274320"/>
          </a:xfrm>
          <a:prstGeom prst="rect">
            <a:avLst/>
          </a:prstGeom>
          <a:noFill/>
          <a:ln/>
        </p:spPr>
        <p:txBody>
          <a:bodyPr wrap="square" lIns="0" tIns="0" rIns="0" bIns="0" rtlCol="0" anchor="ctr"/>
          <a:lstStyle/>
          <a:p>
            <a:pPr indent="0" marL="0">
              <a:buNone/>
            </a:pPr>
            <a:r>
              <a:rPr lang="en-US" sz="900" b="1" spc="400" kern="0" dirty="0">
                <a:solidFill>
                  <a:srgbClr val="FFC700"/>
                </a:solidFill>
                <a:latin typeface="Inter" pitchFamily="34" charset="0"/>
                <a:ea typeface="Inter" pitchFamily="34" charset="-122"/>
                <a:cs typeface="Inter" pitchFamily="34" charset="-120"/>
              </a:rPr>
              <a:t>SCORED 1—5</a:t>
            </a:r>
            <a:endParaRPr lang="en-US" sz="900" dirty="0"/>
          </a:p>
        </p:txBody>
      </p:sp>
      <p:sp>
        <p:nvSpPr>
          <p:cNvPr id="37" name="Shape 35"/>
          <p:cNvSpPr/>
          <p:nvPr/>
        </p:nvSpPr>
        <p:spPr>
          <a:xfrm>
            <a:off x="548640" y="5321808"/>
            <a:ext cx="5943600" cy="0"/>
          </a:xfrm>
          <a:prstGeom prst="line">
            <a:avLst/>
          </a:prstGeom>
          <a:noFill/>
          <a:ln w="6350">
            <a:solidFill>
              <a:srgbClr val="7592B6"/>
            </a:solidFill>
            <a:prstDash val="solid"/>
          </a:ln>
        </p:spPr>
      </p:sp>
      <p:sp>
        <p:nvSpPr>
          <p:cNvPr id="38" name="Shape 36"/>
          <p:cNvSpPr/>
          <p:nvPr/>
        </p:nvSpPr>
        <p:spPr>
          <a:xfrm>
            <a:off x="548640" y="5321808"/>
            <a:ext cx="329184" cy="329184"/>
          </a:xfrm>
          <a:prstGeom prst="rect">
            <a:avLst/>
          </a:prstGeom>
          <a:solidFill>
            <a:srgbClr val="FFC700"/>
          </a:solidFill>
          <a:ln w="12700">
            <a:solidFill>
              <a:srgbClr val="FFC700"/>
            </a:solidFill>
            <a:prstDash val="solid"/>
          </a:ln>
        </p:spPr>
      </p:sp>
      <p:sp>
        <p:nvSpPr>
          <p:cNvPr id="39" name="Text 37"/>
          <p:cNvSpPr/>
          <p:nvPr/>
        </p:nvSpPr>
        <p:spPr>
          <a:xfrm>
            <a:off x="548640" y="5321808"/>
            <a:ext cx="329184" cy="329184"/>
          </a:xfrm>
          <a:prstGeom prst="rect">
            <a:avLst/>
          </a:prstGeom>
          <a:noFill/>
          <a:ln/>
        </p:spPr>
        <p:txBody>
          <a:bodyPr wrap="square" lIns="0" tIns="0" rIns="0" bIns="0" rtlCol="0" anchor="ctr"/>
          <a:lstStyle/>
          <a:p>
            <a:pPr algn="ctr" indent="0" marL="0">
              <a:buNone/>
            </a:pPr>
            <a:r>
              <a:rPr lang="en-US" sz="1100" b="1" dirty="0">
                <a:solidFill>
                  <a:srgbClr val="003D7A"/>
                </a:solidFill>
                <a:latin typeface="Inter" pitchFamily="34" charset="0"/>
                <a:ea typeface="Inter" pitchFamily="34" charset="-122"/>
                <a:cs typeface="Inter" pitchFamily="34" charset="-120"/>
              </a:rPr>
              <a:t>07</a:t>
            </a:r>
            <a:endParaRPr lang="en-US" sz="1100" dirty="0"/>
          </a:p>
        </p:txBody>
      </p:sp>
      <p:sp>
        <p:nvSpPr>
          <p:cNvPr id="40" name="Text 38"/>
          <p:cNvSpPr/>
          <p:nvPr/>
        </p:nvSpPr>
        <p:spPr>
          <a:xfrm>
            <a:off x="1051560" y="5321808"/>
            <a:ext cx="4206240" cy="329184"/>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Communication</a:t>
            </a:r>
            <a:endParaRPr lang="en-US" sz="1600" dirty="0"/>
          </a:p>
        </p:txBody>
      </p:sp>
      <p:sp>
        <p:nvSpPr>
          <p:cNvPr id="41" name="Text 39"/>
          <p:cNvSpPr/>
          <p:nvPr/>
        </p:nvSpPr>
        <p:spPr>
          <a:xfrm>
            <a:off x="5120640" y="5367528"/>
            <a:ext cx="1371600" cy="274320"/>
          </a:xfrm>
          <a:prstGeom prst="rect">
            <a:avLst/>
          </a:prstGeom>
          <a:noFill/>
          <a:ln/>
        </p:spPr>
        <p:txBody>
          <a:bodyPr wrap="square" lIns="0" tIns="0" rIns="0" bIns="0" rtlCol="0" anchor="ctr"/>
          <a:lstStyle/>
          <a:p>
            <a:pPr indent="0" marL="0">
              <a:buNone/>
            </a:pPr>
            <a:r>
              <a:rPr lang="en-US" sz="900" b="1" spc="400" kern="0" dirty="0">
                <a:solidFill>
                  <a:srgbClr val="FFC700"/>
                </a:solidFill>
                <a:latin typeface="Inter" pitchFamily="34" charset="0"/>
                <a:ea typeface="Inter" pitchFamily="34" charset="-122"/>
                <a:cs typeface="Inter" pitchFamily="34" charset="-120"/>
              </a:rPr>
              <a:t>SCORED 1—5</a:t>
            </a:r>
            <a:endParaRPr lang="en-US" sz="900" dirty="0"/>
          </a:p>
        </p:txBody>
      </p:sp>
      <p:sp>
        <p:nvSpPr>
          <p:cNvPr id="42" name="Shape 40"/>
          <p:cNvSpPr/>
          <p:nvPr/>
        </p:nvSpPr>
        <p:spPr>
          <a:xfrm>
            <a:off x="548640" y="5705856"/>
            <a:ext cx="5943600" cy="0"/>
          </a:xfrm>
          <a:prstGeom prst="line">
            <a:avLst/>
          </a:prstGeom>
          <a:noFill/>
          <a:ln w="6350">
            <a:solidFill>
              <a:srgbClr val="7592B6"/>
            </a:solidFill>
            <a:prstDash val="solid"/>
          </a:ln>
        </p:spPr>
      </p:sp>
      <p:sp>
        <p:nvSpPr>
          <p:cNvPr id="43" name="Shape 41"/>
          <p:cNvSpPr/>
          <p:nvPr/>
        </p:nvSpPr>
        <p:spPr>
          <a:xfrm>
            <a:off x="7132320" y="3017520"/>
            <a:ext cx="4572000" cy="3154680"/>
          </a:xfrm>
          <a:prstGeom prst="rect">
            <a:avLst/>
          </a:prstGeom>
          <a:solidFill>
            <a:srgbClr val="FFC700"/>
          </a:solidFill>
          <a:ln w="12700">
            <a:solidFill>
              <a:srgbClr val="FFC700"/>
            </a:solidFill>
            <a:prstDash val="solid"/>
          </a:ln>
        </p:spPr>
      </p:sp>
      <p:sp>
        <p:nvSpPr>
          <p:cNvPr id="44" name="Text 42"/>
          <p:cNvSpPr/>
          <p:nvPr/>
        </p:nvSpPr>
        <p:spPr>
          <a:xfrm>
            <a:off x="7360920" y="3200400"/>
            <a:ext cx="4114800" cy="320040"/>
          </a:xfrm>
          <a:prstGeom prst="rect">
            <a:avLst/>
          </a:prstGeom>
          <a:noFill/>
          <a:ln/>
        </p:spPr>
        <p:txBody>
          <a:bodyPr wrap="square" lIns="0" tIns="0" rIns="0" bIns="0" rtlCol="0" anchor="ctr"/>
          <a:lstStyle/>
          <a:p>
            <a:pPr indent="0" marL="0">
              <a:buNone/>
            </a:pPr>
            <a:r>
              <a:rPr lang="en-US" sz="1100" b="1" spc="500" kern="0" dirty="0">
                <a:solidFill>
                  <a:srgbClr val="003D7A"/>
                </a:solidFill>
                <a:latin typeface="Inter" pitchFamily="34" charset="0"/>
                <a:ea typeface="Inter" pitchFamily="34" charset="-122"/>
                <a:cs typeface="Inter" pitchFamily="34" charset="-120"/>
              </a:rPr>
              <a:t>→ EXTERNAL VALIDATION</a:t>
            </a:r>
            <a:endParaRPr lang="en-US" sz="1100" dirty="0"/>
          </a:p>
        </p:txBody>
      </p:sp>
      <p:sp>
        <p:nvSpPr>
          <p:cNvPr id="45" name="Text 43"/>
          <p:cNvSpPr/>
          <p:nvPr/>
        </p:nvSpPr>
        <p:spPr>
          <a:xfrm>
            <a:off x="7360920" y="3657600"/>
            <a:ext cx="4160520" cy="1280160"/>
          </a:xfrm>
          <a:prstGeom prst="rect">
            <a:avLst/>
          </a:prstGeom>
          <a:noFill/>
          <a:ln/>
        </p:spPr>
        <p:txBody>
          <a:bodyPr wrap="square" lIns="0" tIns="0" rIns="0" bIns="0" rtlCol="0" anchor="ctr"/>
          <a:lstStyle/>
          <a:p>
            <a:pPr indent="0" marL="0">
              <a:lnSpc>
                <a:spcPts val="2200"/>
              </a:lnSpc>
              <a:buNone/>
            </a:pPr>
            <a:r>
              <a:rPr lang="en-US" sz="1600" b="1" dirty="0">
                <a:solidFill>
                  <a:srgbClr val="003D7A"/>
                </a:solidFill>
                <a:latin typeface="Inter" pitchFamily="34" charset="0"/>
                <a:ea typeface="Inter" pitchFamily="34" charset="-122"/>
                <a:cs typeface="Inter" pitchFamily="34" charset="-120"/>
              </a:rPr>
              <a:t>At Week 13, working engineers from real AI-first startups review top portfolios independently.</a:t>
            </a:r>
            <a:endParaRPr lang="en-US" sz="1600" dirty="0"/>
          </a:p>
        </p:txBody>
      </p:sp>
      <p:sp>
        <p:nvSpPr>
          <p:cNvPr id="46" name="Shape 44"/>
          <p:cNvSpPr/>
          <p:nvPr/>
        </p:nvSpPr>
        <p:spPr>
          <a:xfrm>
            <a:off x="7360920" y="5074920"/>
            <a:ext cx="731520" cy="0"/>
          </a:xfrm>
          <a:prstGeom prst="line">
            <a:avLst/>
          </a:prstGeom>
          <a:noFill/>
          <a:ln w="25400">
            <a:solidFill>
              <a:srgbClr val="003D7A"/>
            </a:solidFill>
            <a:prstDash val="solid"/>
          </a:ln>
        </p:spPr>
      </p:sp>
      <p:sp>
        <p:nvSpPr>
          <p:cNvPr id="47" name="Text 45"/>
          <p:cNvSpPr/>
          <p:nvPr/>
        </p:nvSpPr>
        <p:spPr>
          <a:xfrm>
            <a:off x="7360920" y="5212080"/>
            <a:ext cx="4160520" cy="914400"/>
          </a:xfrm>
          <a:prstGeom prst="rect">
            <a:avLst/>
          </a:prstGeom>
          <a:noFill/>
          <a:ln/>
        </p:spPr>
        <p:txBody>
          <a:bodyPr wrap="square" lIns="0" tIns="0" rIns="0" bIns="0" rtlCol="0" anchor="ctr"/>
          <a:lstStyle/>
          <a:p>
            <a:pPr indent="0" marL="0">
              <a:lnSpc>
                <a:spcPts val="1600"/>
              </a:lnSpc>
              <a:buNone/>
            </a:pPr>
            <a:r>
              <a:rPr lang="en-US" sz="1200" i="1" dirty="0">
                <a:solidFill>
                  <a:srgbClr val="003D7A"/>
                </a:solidFill>
                <a:latin typeface="Inter" pitchFamily="34" charset="0"/>
                <a:ea typeface="Inter" pitchFamily="34" charset="-122"/>
                <a:cs typeface="Inter" pitchFamily="34" charset="-120"/>
              </a:rPr>
              <a:t>Their feedback enters the final score — and they become the hiring pipeline.</a:t>
            </a:r>
            <a:endParaRPr lang="en-US" sz="1200" dirty="0"/>
          </a:p>
        </p:txBody>
      </p:sp>
      <p:sp>
        <p:nvSpPr>
          <p:cNvPr id="48" name="Shape 46"/>
          <p:cNvSpPr/>
          <p:nvPr/>
        </p:nvSpPr>
        <p:spPr>
          <a:xfrm>
            <a:off x="548640" y="6355080"/>
            <a:ext cx="11094415" cy="0"/>
          </a:xfrm>
          <a:prstGeom prst="line">
            <a:avLst/>
          </a:prstGeom>
          <a:noFill/>
          <a:ln w="12700">
            <a:solidFill>
              <a:srgbClr val="FFFFFF"/>
            </a:solidFill>
            <a:prstDash val="solid"/>
          </a:ln>
        </p:spPr>
      </p:sp>
      <p:sp>
        <p:nvSpPr>
          <p:cNvPr id="49" name="Text 47"/>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EVALUATION</a:t>
            </a:r>
            <a:endParaRPr lang="en-US" sz="900" dirty="0"/>
          </a:p>
        </p:txBody>
      </p:sp>
      <p:sp>
        <p:nvSpPr>
          <p:cNvPr id="50" name="Shape 48"/>
          <p:cNvSpPr/>
          <p:nvPr/>
        </p:nvSpPr>
        <p:spPr>
          <a:xfrm>
            <a:off x="10545775" y="6473952"/>
            <a:ext cx="1097280" cy="228600"/>
          </a:xfrm>
          <a:prstGeom prst="rect">
            <a:avLst/>
          </a:prstGeom>
          <a:solidFill>
            <a:srgbClr val="FFC700"/>
          </a:solidFill>
          <a:ln w="12700">
            <a:solidFill>
              <a:srgbClr val="FFC700"/>
            </a:solidFill>
            <a:prstDash val="solid"/>
          </a:ln>
        </p:spPr>
      </p:sp>
      <p:sp>
        <p:nvSpPr>
          <p:cNvPr id="51" name="Text 49"/>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CERTIFICATION · STATION 09</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09 / 17</a:t>
            </a:r>
            <a:endParaRPr lang="en-US" sz="1100" dirty="0"/>
          </a:p>
        </p:txBody>
      </p:sp>
      <p:sp>
        <p:nvSpPr>
          <p:cNvPr id="7" name="Text 5"/>
          <p:cNvSpPr/>
          <p:nvPr/>
        </p:nvSpPr>
        <p:spPr>
          <a:xfrm>
            <a:off x="548640" y="1280160"/>
            <a:ext cx="10972800" cy="640080"/>
          </a:xfrm>
          <a:prstGeom prst="rect">
            <a:avLst/>
          </a:prstGeom>
          <a:noFill/>
          <a:ln/>
        </p:spPr>
        <p:txBody>
          <a:bodyPr wrap="square" lIns="0" tIns="0" rIns="0" bIns="0" rtlCol="0" anchor="ctr"/>
          <a:lstStyle/>
          <a:p>
            <a:pPr indent="0" marL="0">
              <a:buNone/>
            </a:pPr>
            <a:r>
              <a:rPr lang="en-US" sz="3200" b="1" spc="-50" kern="0" dirty="0">
                <a:solidFill>
                  <a:srgbClr val="FFFFFF"/>
                </a:solidFill>
                <a:latin typeface="Inter" pitchFamily="34" charset="0"/>
                <a:ea typeface="Inter" pitchFamily="34" charset="-122"/>
                <a:cs typeface="Inter" pitchFamily="34" charset="-120"/>
              </a:rPr>
              <a:t>Three tiers. Earned, not granted.</a:t>
            </a:r>
            <a:endParaRPr lang="en-US" sz="3200" dirty="0"/>
          </a:p>
        </p:txBody>
      </p:sp>
      <p:sp>
        <p:nvSpPr>
          <p:cNvPr id="8" name="Text 6"/>
          <p:cNvSpPr/>
          <p:nvPr/>
        </p:nvSpPr>
        <p:spPr>
          <a:xfrm>
            <a:off x="548640" y="1965960"/>
            <a:ext cx="10972800" cy="457200"/>
          </a:xfrm>
          <a:prstGeom prst="rect">
            <a:avLst/>
          </a:prstGeom>
          <a:noFill/>
          <a:ln/>
        </p:spPr>
        <p:txBody>
          <a:bodyPr wrap="square" lIns="0" tIns="0" rIns="0" bIns="0" rtlCol="0" anchor="ctr"/>
          <a:lstStyle/>
          <a:p>
            <a:pPr indent="0" marL="0">
              <a:buNone/>
            </a:pPr>
            <a:r>
              <a:rPr lang="en-US" sz="1400" i="1" dirty="0">
                <a:solidFill>
                  <a:srgbClr val="B6CDE5"/>
                </a:solidFill>
                <a:latin typeface="Inter" pitchFamily="34" charset="0"/>
                <a:ea typeface="Inter" pitchFamily="34" charset="-122"/>
                <a:cs typeface="Inter" pitchFamily="34" charset="-120"/>
              </a:rPr>
              <a:t>Only ~30% of every cohort earns Apprentice Certified or above. Scarcity is what creates startup trust.</a:t>
            </a:r>
            <a:endParaRPr lang="en-US" sz="1400" dirty="0"/>
          </a:p>
        </p:txBody>
      </p:sp>
      <p:sp>
        <p:nvSpPr>
          <p:cNvPr id="9" name="Shape 7"/>
          <p:cNvSpPr/>
          <p:nvPr/>
        </p:nvSpPr>
        <p:spPr>
          <a:xfrm>
            <a:off x="548640" y="2788920"/>
            <a:ext cx="3657600" cy="3246120"/>
          </a:xfrm>
          <a:prstGeom prst="rect">
            <a:avLst/>
          </a:prstGeom>
          <a:solidFill>
            <a:srgbClr val="002651"/>
          </a:solidFill>
          <a:ln w="12700">
            <a:solidFill>
              <a:srgbClr val="002651"/>
            </a:solidFill>
            <a:prstDash val="solid"/>
          </a:ln>
        </p:spPr>
      </p:sp>
      <p:sp>
        <p:nvSpPr>
          <p:cNvPr id="10" name="Shape 8"/>
          <p:cNvSpPr/>
          <p:nvPr/>
        </p:nvSpPr>
        <p:spPr>
          <a:xfrm>
            <a:off x="548640" y="2788920"/>
            <a:ext cx="3657600" cy="73152"/>
          </a:xfrm>
          <a:prstGeom prst="rect">
            <a:avLst/>
          </a:prstGeom>
          <a:solidFill>
            <a:srgbClr val="B6CDE5"/>
          </a:solidFill>
          <a:ln w="12700">
            <a:solidFill>
              <a:srgbClr val="B6CDE5"/>
            </a:solidFill>
            <a:prstDash val="solid"/>
          </a:ln>
        </p:spPr>
      </p:sp>
      <p:sp>
        <p:nvSpPr>
          <p:cNvPr id="11" name="Text 9"/>
          <p:cNvSpPr/>
          <p:nvPr/>
        </p:nvSpPr>
        <p:spPr>
          <a:xfrm>
            <a:off x="777240" y="3017520"/>
            <a:ext cx="3291840" cy="1280160"/>
          </a:xfrm>
          <a:prstGeom prst="rect">
            <a:avLst/>
          </a:prstGeom>
          <a:noFill/>
          <a:ln/>
        </p:spPr>
        <p:txBody>
          <a:bodyPr wrap="square" lIns="0" tIns="0" rIns="0" bIns="0" rtlCol="0" anchor="t"/>
          <a:lstStyle/>
          <a:p>
            <a:pPr indent="0" marL="0">
              <a:buNone/>
            </a:pPr>
            <a:r>
              <a:rPr lang="en-US" sz="2400" spc="-300" kern="0" dirty="0">
                <a:solidFill>
                  <a:srgbClr val="B6CDE5"/>
                </a:solidFill>
                <a:latin typeface="Inter" pitchFamily="34" charset="0"/>
                <a:ea typeface="Inter" pitchFamily="34" charset="-122"/>
                <a:cs typeface="Inter" pitchFamily="34" charset="-120"/>
              </a:rPr>
              <a:t>~</a:t>
            </a:r>
            <a:pPr indent="0" marL="0">
              <a:buNone/>
            </a:pPr>
            <a:r>
              <a:rPr lang="en-US" sz="9600" b="1" spc="-300" kern="0" dirty="0">
                <a:solidFill>
                  <a:srgbClr val="FFFFFF"/>
                </a:solidFill>
                <a:latin typeface="Inter" pitchFamily="34" charset="0"/>
                <a:ea typeface="Inter" pitchFamily="34" charset="-122"/>
                <a:cs typeface="Inter" pitchFamily="34" charset="-120"/>
              </a:rPr>
              <a:t>70</a:t>
            </a:r>
            <a:pPr indent="0" marL="0">
              <a:buNone/>
            </a:pPr>
            <a:r>
              <a:rPr lang="en-US" sz="4800" spc="-300" kern="0" dirty="0">
                <a:solidFill>
                  <a:srgbClr val="B6CDE5"/>
                </a:solidFill>
                <a:latin typeface="Inter" pitchFamily="34" charset="0"/>
                <a:ea typeface="Inter" pitchFamily="34" charset="-122"/>
                <a:cs typeface="Inter" pitchFamily="34" charset="-120"/>
              </a:rPr>
              <a:t>%</a:t>
            </a:r>
            <a:endParaRPr lang="en-US" sz="2400" dirty="0"/>
          </a:p>
        </p:txBody>
      </p:sp>
      <p:sp>
        <p:nvSpPr>
          <p:cNvPr id="12" name="Text 10"/>
          <p:cNvSpPr/>
          <p:nvPr/>
        </p:nvSpPr>
        <p:spPr>
          <a:xfrm>
            <a:off x="777240" y="4526280"/>
            <a:ext cx="3200400" cy="320040"/>
          </a:xfrm>
          <a:prstGeom prst="rect">
            <a:avLst/>
          </a:prstGeom>
          <a:noFill/>
          <a:ln/>
        </p:spPr>
        <p:txBody>
          <a:bodyPr wrap="square" lIns="0" tIns="0" rIns="0" bIns="0" rtlCol="0" anchor="ctr"/>
          <a:lstStyle/>
          <a:p>
            <a:pPr indent="0" marL="0">
              <a:buNone/>
            </a:pPr>
            <a:r>
              <a:rPr lang="en-US" sz="1100" b="1" spc="500" kern="0" dirty="0">
                <a:solidFill>
                  <a:srgbClr val="B6CDE5"/>
                </a:solidFill>
                <a:latin typeface="Inter" pitchFamily="34" charset="0"/>
                <a:ea typeface="Inter" pitchFamily="34" charset="-122"/>
                <a:cs typeface="Inter" pitchFamily="34" charset="-120"/>
              </a:rPr>
              <a:t>PARTICIPATED</a:t>
            </a:r>
            <a:endParaRPr lang="en-US" sz="1100" dirty="0"/>
          </a:p>
        </p:txBody>
      </p:sp>
      <p:sp>
        <p:nvSpPr>
          <p:cNvPr id="13" name="Shape 11"/>
          <p:cNvSpPr/>
          <p:nvPr/>
        </p:nvSpPr>
        <p:spPr>
          <a:xfrm>
            <a:off x="777240" y="4892040"/>
            <a:ext cx="731520" cy="0"/>
          </a:xfrm>
          <a:prstGeom prst="line">
            <a:avLst/>
          </a:prstGeom>
          <a:noFill/>
          <a:ln w="25400">
            <a:solidFill>
              <a:srgbClr val="B6CDE5"/>
            </a:solidFill>
            <a:prstDash val="solid"/>
          </a:ln>
        </p:spPr>
      </p:sp>
      <p:sp>
        <p:nvSpPr>
          <p:cNvPr id="14" name="Text 12"/>
          <p:cNvSpPr/>
          <p:nvPr/>
        </p:nvSpPr>
        <p:spPr>
          <a:xfrm>
            <a:off x="777240" y="4983480"/>
            <a:ext cx="3200400" cy="9144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Finished the programme, completed all assignments.</a:t>
            </a:r>
            <a:endParaRPr lang="en-US" sz="1200" dirty="0"/>
          </a:p>
        </p:txBody>
      </p:sp>
      <p:sp>
        <p:nvSpPr>
          <p:cNvPr id="15" name="Shape 13"/>
          <p:cNvSpPr/>
          <p:nvPr/>
        </p:nvSpPr>
        <p:spPr>
          <a:xfrm>
            <a:off x="4343400" y="2788920"/>
            <a:ext cx="3657600" cy="3246120"/>
          </a:xfrm>
          <a:prstGeom prst="rect">
            <a:avLst/>
          </a:prstGeom>
          <a:solidFill>
            <a:srgbClr val="002651"/>
          </a:solidFill>
          <a:ln w="12700">
            <a:solidFill>
              <a:srgbClr val="002651"/>
            </a:solidFill>
            <a:prstDash val="solid"/>
          </a:ln>
        </p:spPr>
      </p:sp>
      <p:sp>
        <p:nvSpPr>
          <p:cNvPr id="16" name="Shape 14"/>
          <p:cNvSpPr/>
          <p:nvPr/>
        </p:nvSpPr>
        <p:spPr>
          <a:xfrm>
            <a:off x="4343400" y="2788920"/>
            <a:ext cx="3657600" cy="73152"/>
          </a:xfrm>
          <a:prstGeom prst="rect">
            <a:avLst/>
          </a:prstGeom>
          <a:solidFill>
            <a:srgbClr val="FFC700"/>
          </a:solidFill>
          <a:ln w="12700">
            <a:solidFill>
              <a:srgbClr val="FFC700"/>
            </a:solidFill>
            <a:prstDash val="solid"/>
          </a:ln>
        </p:spPr>
      </p:sp>
      <p:sp>
        <p:nvSpPr>
          <p:cNvPr id="17" name="Text 15"/>
          <p:cNvSpPr/>
          <p:nvPr/>
        </p:nvSpPr>
        <p:spPr>
          <a:xfrm>
            <a:off x="4572000" y="3017520"/>
            <a:ext cx="3291840" cy="1280160"/>
          </a:xfrm>
          <a:prstGeom prst="rect">
            <a:avLst/>
          </a:prstGeom>
          <a:noFill/>
          <a:ln/>
        </p:spPr>
        <p:txBody>
          <a:bodyPr wrap="square" lIns="0" tIns="0" rIns="0" bIns="0" rtlCol="0" anchor="t"/>
          <a:lstStyle/>
          <a:p>
            <a:pPr indent="0" marL="0">
              <a:buNone/>
            </a:pPr>
            <a:r>
              <a:rPr lang="en-US" sz="2400" spc="-300" kern="0" dirty="0">
                <a:solidFill>
                  <a:srgbClr val="FFC700"/>
                </a:solidFill>
                <a:latin typeface="Inter" pitchFamily="34" charset="0"/>
                <a:ea typeface="Inter" pitchFamily="34" charset="-122"/>
                <a:cs typeface="Inter" pitchFamily="34" charset="-120"/>
              </a:rPr>
              <a:t>~</a:t>
            </a:r>
            <a:pPr indent="0" marL="0">
              <a:buNone/>
            </a:pPr>
            <a:r>
              <a:rPr lang="en-US" sz="9600" b="1" spc="-300" kern="0" dirty="0">
                <a:solidFill>
                  <a:srgbClr val="FFFFFF"/>
                </a:solidFill>
                <a:latin typeface="Inter" pitchFamily="34" charset="0"/>
                <a:ea typeface="Inter" pitchFamily="34" charset="-122"/>
                <a:cs typeface="Inter" pitchFamily="34" charset="-120"/>
              </a:rPr>
              <a:t>20</a:t>
            </a:r>
            <a:pPr indent="0" marL="0">
              <a:buNone/>
            </a:pPr>
            <a:r>
              <a:rPr lang="en-US" sz="4800" spc="-300" kern="0" dirty="0">
                <a:solidFill>
                  <a:srgbClr val="FFC700"/>
                </a:solidFill>
                <a:latin typeface="Inter" pitchFamily="34" charset="0"/>
                <a:ea typeface="Inter" pitchFamily="34" charset="-122"/>
                <a:cs typeface="Inter" pitchFamily="34" charset="-120"/>
              </a:rPr>
              <a:t>%</a:t>
            </a:r>
            <a:endParaRPr lang="en-US" sz="2400" dirty="0"/>
          </a:p>
        </p:txBody>
      </p:sp>
      <p:sp>
        <p:nvSpPr>
          <p:cNvPr id="18" name="Text 16"/>
          <p:cNvSpPr/>
          <p:nvPr/>
        </p:nvSpPr>
        <p:spPr>
          <a:xfrm>
            <a:off x="4572000" y="4526280"/>
            <a:ext cx="3200400" cy="32004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APPRENTICE CERTIFIED</a:t>
            </a:r>
            <a:endParaRPr lang="en-US" sz="1100" dirty="0"/>
          </a:p>
        </p:txBody>
      </p:sp>
      <p:sp>
        <p:nvSpPr>
          <p:cNvPr id="19" name="Shape 17"/>
          <p:cNvSpPr/>
          <p:nvPr/>
        </p:nvSpPr>
        <p:spPr>
          <a:xfrm>
            <a:off x="4572000" y="4892040"/>
            <a:ext cx="731520" cy="0"/>
          </a:xfrm>
          <a:prstGeom prst="line">
            <a:avLst/>
          </a:prstGeom>
          <a:noFill/>
          <a:ln w="25400">
            <a:solidFill>
              <a:srgbClr val="FFC700"/>
            </a:solidFill>
            <a:prstDash val="solid"/>
          </a:ln>
        </p:spPr>
      </p:sp>
      <p:sp>
        <p:nvSpPr>
          <p:cNvPr id="20" name="Text 18"/>
          <p:cNvSpPr/>
          <p:nvPr/>
        </p:nvSpPr>
        <p:spPr>
          <a:xfrm>
            <a:off x="4572000" y="4983480"/>
            <a:ext cx="3200400" cy="9144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All 7 rubric dimensions scored 3 or higher.</a:t>
            </a:r>
            <a:endParaRPr lang="en-US" sz="1200" dirty="0"/>
          </a:p>
        </p:txBody>
      </p:sp>
      <p:sp>
        <p:nvSpPr>
          <p:cNvPr id="21" name="Shape 19"/>
          <p:cNvSpPr/>
          <p:nvPr/>
        </p:nvSpPr>
        <p:spPr>
          <a:xfrm>
            <a:off x="8138160" y="2788920"/>
            <a:ext cx="3657600" cy="3246120"/>
          </a:xfrm>
          <a:prstGeom prst="rect">
            <a:avLst/>
          </a:prstGeom>
          <a:solidFill>
            <a:srgbClr val="FFC700"/>
          </a:solidFill>
          <a:ln w="12700">
            <a:solidFill>
              <a:srgbClr val="FFC700"/>
            </a:solidFill>
            <a:prstDash val="solid"/>
          </a:ln>
        </p:spPr>
      </p:sp>
      <p:sp>
        <p:nvSpPr>
          <p:cNvPr id="22" name="Shape 20"/>
          <p:cNvSpPr/>
          <p:nvPr/>
        </p:nvSpPr>
        <p:spPr>
          <a:xfrm>
            <a:off x="8138160" y="2788920"/>
            <a:ext cx="3657600" cy="73152"/>
          </a:xfrm>
          <a:prstGeom prst="rect">
            <a:avLst/>
          </a:prstGeom>
          <a:solidFill>
            <a:srgbClr val="003D7A"/>
          </a:solidFill>
          <a:ln w="12700">
            <a:solidFill>
              <a:srgbClr val="003D7A"/>
            </a:solidFill>
            <a:prstDash val="solid"/>
          </a:ln>
        </p:spPr>
      </p:sp>
      <p:sp>
        <p:nvSpPr>
          <p:cNvPr id="23" name="Text 21"/>
          <p:cNvSpPr/>
          <p:nvPr/>
        </p:nvSpPr>
        <p:spPr>
          <a:xfrm>
            <a:off x="8366760" y="3017520"/>
            <a:ext cx="3291840" cy="1280160"/>
          </a:xfrm>
          <a:prstGeom prst="rect">
            <a:avLst/>
          </a:prstGeom>
          <a:noFill/>
          <a:ln/>
        </p:spPr>
        <p:txBody>
          <a:bodyPr wrap="square" lIns="0" tIns="0" rIns="0" bIns="0" rtlCol="0" anchor="t"/>
          <a:lstStyle/>
          <a:p>
            <a:pPr indent="0" marL="0">
              <a:buNone/>
            </a:pPr>
            <a:r>
              <a:rPr lang="en-US" sz="2400" spc="-300" kern="0" dirty="0">
                <a:solidFill>
                  <a:srgbClr val="003D7A"/>
                </a:solidFill>
                <a:latin typeface="Inter" pitchFamily="34" charset="0"/>
                <a:ea typeface="Inter" pitchFamily="34" charset="-122"/>
                <a:cs typeface="Inter" pitchFamily="34" charset="-120"/>
              </a:rPr>
              <a:t>~</a:t>
            </a:r>
            <a:pPr indent="0" marL="0">
              <a:buNone/>
            </a:pPr>
            <a:r>
              <a:rPr lang="en-US" sz="9600" b="1" spc="-300" kern="0" dirty="0">
                <a:solidFill>
                  <a:srgbClr val="003D7A"/>
                </a:solidFill>
                <a:latin typeface="Inter" pitchFamily="34" charset="0"/>
                <a:ea typeface="Inter" pitchFamily="34" charset="-122"/>
                <a:cs typeface="Inter" pitchFamily="34" charset="-120"/>
              </a:rPr>
              <a:t>10</a:t>
            </a:r>
            <a:pPr indent="0" marL="0">
              <a:buNone/>
            </a:pPr>
            <a:r>
              <a:rPr lang="en-US" sz="4800" spc="-300" kern="0" dirty="0">
                <a:solidFill>
                  <a:srgbClr val="003D7A"/>
                </a:solidFill>
                <a:latin typeface="Inter" pitchFamily="34" charset="0"/>
                <a:ea typeface="Inter" pitchFamily="34" charset="-122"/>
                <a:cs typeface="Inter" pitchFamily="34" charset="-120"/>
              </a:rPr>
              <a:t>%</a:t>
            </a:r>
            <a:endParaRPr lang="en-US" sz="2400" dirty="0"/>
          </a:p>
        </p:txBody>
      </p:sp>
      <p:sp>
        <p:nvSpPr>
          <p:cNvPr id="24" name="Text 22"/>
          <p:cNvSpPr/>
          <p:nvPr/>
        </p:nvSpPr>
        <p:spPr>
          <a:xfrm>
            <a:off x="8366760" y="4526280"/>
            <a:ext cx="3200400" cy="320040"/>
          </a:xfrm>
          <a:prstGeom prst="rect">
            <a:avLst/>
          </a:prstGeom>
          <a:noFill/>
          <a:ln/>
        </p:spPr>
        <p:txBody>
          <a:bodyPr wrap="square" lIns="0" tIns="0" rIns="0" bIns="0" rtlCol="0" anchor="ctr"/>
          <a:lstStyle/>
          <a:p>
            <a:pPr indent="0" marL="0">
              <a:buNone/>
            </a:pPr>
            <a:r>
              <a:rPr lang="en-US" sz="1100" b="1" spc="500" kern="0" dirty="0">
                <a:solidFill>
                  <a:srgbClr val="003D7A"/>
                </a:solidFill>
                <a:latin typeface="Inter" pitchFamily="34" charset="0"/>
                <a:ea typeface="Inter" pitchFamily="34" charset="-122"/>
                <a:cs typeface="Inter" pitchFamily="34" charset="-120"/>
              </a:rPr>
              <a:t>DISTINCTION</a:t>
            </a:r>
            <a:endParaRPr lang="en-US" sz="1100" dirty="0"/>
          </a:p>
        </p:txBody>
      </p:sp>
      <p:sp>
        <p:nvSpPr>
          <p:cNvPr id="25" name="Shape 23"/>
          <p:cNvSpPr/>
          <p:nvPr/>
        </p:nvSpPr>
        <p:spPr>
          <a:xfrm>
            <a:off x="8366760" y="4892040"/>
            <a:ext cx="731520" cy="0"/>
          </a:xfrm>
          <a:prstGeom prst="line">
            <a:avLst/>
          </a:prstGeom>
          <a:noFill/>
          <a:ln w="25400">
            <a:solidFill>
              <a:srgbClr val="003D7A"/>
            </a:solidFill>
            <a:prstDash val="solid"/>
          </a:ln>
        </p:spPr>
      </p:sp>
      <p:sp>
        <p:nvSpPr>
          <p:cNvPr id="26" name="Text 24"/>
          <p:cNvSpPr/>
          <p:nvPr/>
        </p:nvSpPr>
        <p:spPr>
          <a:xfrm>
            <a:off x="8366760" y="4983480"/>
            <a:ext cx="3200400" cy="914400"/>
          </a:xfrm>
          <a:prstGeom prst="rect">
            <a:avLst/>
          </a:prstGeom>
          <a:noFill/>
          <a:ln/>
        </p:spPr>
        <p:txBody>
          <a:bodyPr wrap="square" lIns="0" tIns="0" rIns="0" bIns="0" rtlCol="0" anchor="ctr"/>
          <a:lstStyle/>
          <a:p>
            <a:pPr indent="0" marL="0">
              <a:lnSpc>
                <a:spcPts val="1600"/>
              </a:lnSpc>
              <a:buNone/>
            </a:pPr>
            <a:r>
              <a:rPr lang="en-US" sz="1200" dirty="0">
                <a:solidFill>
                  <a:srgbClr val="003D7A"/>
                </a:solidFill>
                <a:latin typeface="Inter" pitchFamily="34" charset="0"/>
                <a:ea typeface="Inter" pitchFamily="34" charset="-122"/>
                <a:cs typeface="Inter" pitchFamily="34" charset="-120"/>
              </a:rPr>
              <a:t>Top performers, externally validated, featured in BuildAI's startup review network.</a:t>
            </a:r>
            <a:endParaRPr lang="en-US" sz="1200" dirty="0"/>
          </a:p>
        </p:txBody>
      </p:sp>
      <p:sp>
        <p:nvSpPr>
          <p:cNvPr id="27" name="Shape 25"/>
          <p:cNvSpPr/>
          <p:nvPr/>
        </p:nvSpPr>
        <p:spPr>
          <a:xfrm>
            <a:off x="548640" y="6355080"/>
            <a:ext cx="11094415" cy="0"/>
          </a:xfrm>
          <a:prstGeom prst="line">
            <a:avLst/>
          </a:prstGeom>
          <a:noFill/>
          <a:ln w="12700">
            <a:solidFill>
              <a:srgbClr val="FFFFFF"/>
            </a:solidFill>
            <a:prstDash val="solid"/>
          </a:ln>
        </p:spPr>
      </p:sp>
      <p:sp>
        <p:nvSpPr>
          <p:cNvPr id="28" name="Text 26"/>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CERTIFICATION</a:t>
            </a:r>
            <a:endParaRPr lang="en-US" sz="900" dirty="0"/>
          </a:p>
        </p:txBody>
      </p:sp>
      <p:sp>
        <p:nvSpPr>
          <p:cNvPr id="29" name="Shape 27"/>
          <p:cNvSpPr/>
          <p:nvPr/>
        </p:nvSpPr>
        <p:spPr>
          <a:xfrm>
            <a:off x="10545775" y="6473952"/>
            <a:ext cx="1097280" cy="228600"/>
          </a:xfrm>
          <a:prstGeom prst="rect">
            <a:avLst/>
          </a:prstGeom>
          <a:solidFill>
            <a:srgbClr val="FFC700"/>
          </a:solidFill>
          <a:ln w="12700">
            <a:solidFill>
              <a:srgbClr val="FFC700"/>
            </a:solidFill>
            <a:prstDash val="solid"/>
          </a:ln>
        </p:spPr>
      </p:sp>
      <p:sp>
        <p:nvSpPr>
          <p:cNvPr id="30" name="Text 28"/>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OUTCOMES · STATION 10</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10 / 17</a:t>
            </a:r>
            <a:endParaRPr lang="en-US" sz="1100" dirty="0"/>
          </a:p>
        </p:txBody>
      </p:sp>
      <p:sp>
        <p:nvSpPr>
          <p:cNvPr id="7" name="Text 5"/>
          <p:cNvSpPr/>
          <p:nvPr/>
        </p:nvSpPr>
        <p:spPr>
          <a:xfrm>
            <a:off x="548640" y="1280160"/>
            <a:ext cx="10972800" cy="1005840"/>
          </a:xfrm>
          <a:prstGeom prst="rect">
            <a:avLst/>
          </a:prstGeom>
          <a:noFill/>
          <a:ln/>
        </p:spPr>
        <p:txBody>
          <a:bodyPr wrap="square" lIns="0" tIns="0" rIns="0" bIns="0" rtlCol="0" anchor="ctr"/>
          <a:lstStyle/>
          <a:p>
            <a:pPr indent="0" marL="0">
              <a:lnSpc>
                <a:spcPts val="3400"/>
              </a:lnSpc>
              <a:buNone/>
            </a:pPr>
            <a:r>
              <a:rPr lang="en-US" sz="2800" b="1" spc="-50" kern="0" dirty="0">
                <a:solidFill>
                  <a:srgbClr val="FFFFFF"/>
                </a:solidFill>
                <a:latin typeface="Inter" pitchFamily="34" charset="0"/>
                <a:ea typeface="Inter" pitchFamily="34" charset="-122"/>
                <a:cs typeface="Inter" pitchFamily="34" charset="-120"/>
              </a:rPr>
              <a:t>What every Apprentice Certified</a:t>
            </a:r>
            <a:endParaRPr lang="en-US" sz="2800" dirty="0"/>
          </a:p>
          <a:p>
            <a:pPr indent="0" marL="0">
              <a:lnSpc>
                <a:spcPts val="3400"/>
              </a:lnSpc>
              <a:buNone/>
            </a:pPr>
            <a:r>
              <a:rPr lang="en-US" sz="2800" b="1" spc="-50" kern="0" dirty="0">
                <a:solidFill>
                  <a:srgbClr val="FFFFFF"/>
                </a:solidFill>
                <a:latin typeface="Inter" pitchFamily="34" charset="0"/>
                <a:ea typeface="Inter" pitchFamily="34" charset="-122"/>
                <a:cs typeface="Inter" pitchFamily="34" charset="-120"/>
              </a:rPr>
              <a:t>graduate walks away with.</a:t>
            </a:r>
            <a:endParaRPr lang="en-US" sz="2800" dirty="0"/>
          </a:p>
        </p:txBody>
      </p:sp>
      <p:sp>
        <p:nvSpPr>
          <p:cNvPr id="8" name="Shape 6"/>
          <p:cNvSpPr/>
          <p:nvPr/>
        </p:nvSpPr>
        <p:spPr>
          <a:xfrm>
            <a:off x="548640" y="2468880"/>
            <a:ext cx="3657600" cy="1508760"/>
          </a:xfrm>
          <a:prstGeom prst="rect">
            <a:avLst/>
          </a:prstGeom>
          <a:solidFill>
            <a:srgbClr val="002651"/>
          </a:solidFill>
          <a:ln w="12700">
            <a:solidFill>
              <a:srgbClr val="002651"/>
            </a:solidFill>
            <a:prstDash val="solid"/>
          </a:ln>
        </p:spPr>
      </p:sp>
      <p:sp>
        <p:nvSpPr>
          <p:cNvPr id="9" name="Text 7"/>
          <p:cNvSpPr/>
          <p:nvPr/>
        </p:nvSpPr>
        <p:spPr>
          <a:xfrm>
            <a:off x="777240" y="2560320"/>
            <a:ext cx="3200400" cy="822960"/>
          </a:xfrm>
          <a:prstGeom prst="rect">
            <a:avLst/>
          </a:prstGeom>
          <a:noFill/>
          <a:ln/>
        </p:spPr>
        <p:txBody>
          <a:bodyPr wrap="square" lIns="0" tIns="0" rIns="0" bIns="0" rtlCol="0" anchor="ctr"/>
          <a:lstStyle/>
          <a:p>
            <a:pPr indent="0" marL="0">
              <a:buNone/>
            </a:pPr>
            <a:r>
              <a:rPr lang="en-US" sz="4800" b="1" spc="-300" kern="0" dirty="0">
                <a:solidFill>
                  <a:srgbClr val="FFFFFF"/>
                </a:solidFill>
                <a:latin typeface="Inter" pitchFamily="34" charset="0"/>
                <a:ea typeface="Inter" pitchFamily="34" charset="-122"/>
                <a:cs typeface="Inter" pitchFamily="34" charset="-120"/>
              </a:rPr>
              <a:t>5+</a:t>
            </a:r>
            <a:endParaRPr lang="en-US" sz="4800" dirty="0"/>
          </a:p>
        </p:txBody>
      </p:sp>
      <p:sp>
        <p:nvSpPr>
          <p:cNvPr id="10" name="Shape 8"/>
          <p:cNvSpPr/>
          <p:nvPr/>
        </p:nvSpPr>
        <p:spPr>
          <a:xfrm>
            <a:off x="777240" y="3383280"/>
            <a:ext cx="731520" cy="0"/>
          </a:xfrm>
          <a:prstGeom prst="line">
            <a:avLst/>
          </a:prstGeom>
          <a:noFill/>
          <a:ln w="25400">
            <a:solidFill>
              <a:srgbClr val="FFC700"/>
            </a:solidFill>
            <a:prstDash val="solid"/>
          </a:ln>
        </p:spPr>
      </p:sp>
      <p:sp>
        <p:nvSpPr>
          <p:cNvPr id="11" name="Text 9"/>
          <p:cNvSpPr/>
          <p:nvPr/>
        </p:nvSpPr>
        <p:spPr>
          <a:xfrm>
            <a:off x="777240" y="347472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B6CDE5"/>
                </a:solidFill>
                <a:latin typeface="Inter" pitchFamily="34" charset="0"/>
                <a:ea typeface="Inter" pitchFamily="34" charset="-122"/>
                <a:cs typeface="Inter" pitchFamily="34" charset="-120"/>
              </a:rPr>
              <a:t>Deployed products in public portfolio</a:t>
            </a:r>
            <a:endParaRPr lang="en-US" sz="1200" dirty="0"/>
          </a:p>
        </p:txBody>
      </p:sp>
      <p:sp>
        <p:nvSpPr>
          <p:cNvPr id="12" name="Shape 10"/>
          <p:cNvSpPr/>
          <p:nvPr/>
        </p:nvSpPr>
        <p:spPr>
          <a:xfrm>
            <a:off x="4343400" y="2468880"/>
            <a:ext cx="3657600" cy="1508760"/>
          </a:xfrm>
          <a:prstGeom prst="rect">
            <a:avLst/>
          </a:prstGeom>
          <a:solidFill>
            <a:srgbClr val="002651"/>
          </a:solidFill>
          <a:ln w="12700">
            <a:solidFill>
              <a:srgbClr val="002651"/>
            </a:solidFill>
            <a:prstDash val="solid"/>
          </a:ln>
        </p:spPr>
      </p:sp>
      <p:sp>
        <p:nvSpPr>
          <p:cNvPr id="13" name="Text 11"/>
          <p:cNvSpPr/>
          <p:nvPr/>
        </p:nvSpPr>
        <p:spPr>
          <a:xfrm>
            <a:off x="4572000" y="2560320"/>
            <a:ext cx="3200400" cy="822960"/>
          </a:xfrm>
          <a:prstGeom prst="rect">
            <a:avLst/>
          </a:prstGeom>
          <a:noFill/>
          <a:ln/>
        </p:spPr>
        <p:txBody>
          <a:bodyPr wrap="square" lIns="0" tIns="0" rIns="0" bIns="0" rtlCol="0" anchor="ctr"/>
          <a:lstStyle/>
          <a:p>
            <a:pPr indent="0" marL="0">
              <a:buNone/>
            </a:pPr>
            <a:r>
              <a:rPr lang="en-US" sz="4800" b="1" spc="-300" kern="0" dirty="0">
                <a:solidFill>
                  <a:srgbClr val="FFFFFF"/>
                </a:solidFill>
                <a:latin typeface="Inter" pitchFamily="34" charset="0"/>
                <a:ea typeface="Inter" pitchFamily="34" charset="-122"/>
                <a:cs typeface="Inter" pitchFamily="34" charset="-120"/>
              </a:rPr>
              <a:t>3+</a:t>
            </a:r>
            <a:endParaRPr lang="en-US" sz="4800" dirty="0"/>
          </a:p>
        </p:txBody>
      </p:sp>
      <p:sp>
        <p:nvSpPr>
          <p:cNvPr id="14" name="Shape 12"/>
          <p:cNvSpPr/>
          <p:nvPr/>
        </p:nvSpPr>
        <p:spPr>
          <a:xfrm>
            <a:off x="4572000" y="3383280"/>
            <a:ext cx="731520" cy="0"/>
          </a:xfrm>
          <a:prstGeom prst="line">
            <a:avLst/>
          </a:prstGeom>
          <a:noFill/>
          <a:ln w="25400">
            <a:solidFill>
              <a:srgbClr val="FFC700"/>
            </a:solidFill>
            <a:prstDash val="solid"/>
          </a:ln>
        </p:spPr>
      </p:sp>
      <p:sp>
        <p:nvSpPr>
          <p:cNvPr id="15" name="Text 13"/>
          <p:cNvSpPr/>
          <p:nvPr/>
        </p:nvSpPr>
        <p:spPr>
          <a:xfrm>
            <a:off x="4572000" y="347472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B6CDE5"/>
                </a:solidFill>
                <a:latin typeface="Inter" pitchFamily="34" charset="0"/>
                <a:ea typeface="Inter" pitchFamily="34" charset="-122"/>
                <a:cs typeface="Inter" pitchFamily="34" charset="-120"/>
              </a:rPr>
              <a:t>Live URLs with working demos</a:t>
            </a:r>
            <a:endParaRPr lang="en-US" sz="1200" dirty="0"/>
          </a:p>
        </p:txBody>
      </p:sp>
      <p:sp>
        <p:nvSpPr>
          <p:cNvPr id="16" name="Shape 14"/>
          <p:cNvSpPr/>
          <p:nvPr/>
        </p:nvSpPr>
        <p:spPr>
          <a:xfrm>
            <a:off x="8138160" y="2468880"/>
            <a:ext cx="3657600" cy="1508760"/>
          </a:xfrm>
          <a:prstGeom prst="rect">
            <a:avLst/>
          </a:prstGeom>
          <a:solidFill>
            <a:srgbClr val="FFC700"/>
          </a:solidFill>
          <a:ln w="12700">
            <a:solidFill>
              <a:srgbClr val="FFC700"/>
            </a:solidFill>
            <a:prstDash val="solid"/>
          </a:ln>
        </p:spPr>
      </p:sp>
      <p:sp>
        <p:nvSpPr>
          <p:cNvPr id="17" name="Text 15"/>
          <p:cNvSpPr/>
          <p:nvPr/>
        </p:nvSpPr>
        <p:spPr>
          <a:xfrm>
            <a:off x="8366760" y="2560320"/>
            <a:ext cx="3200400" cy="822960"/>
          </a:xfrm>
          <a:prstGeom prst="rect">
            <a:avLst/>
          </a:prstGeom>
          <a:noFill/>
          <a:ln/>
        </p:spPr>
        <p:txBody>
          <a:bodyPr wrap="square" lIns="0" tIns="0" rIns="0" bIns="0" rtlCol="0" anchor="ctr"/>
          <a:lstStyle/>
          <a:p>
            <a:pPr indent="0" marL="0">
              <a:buNone/>
            </a:pPr>
            <a:r>
              <a:rPr lang="en-US" sz="4800" b="1" spc="-300" kern="0" dirty="0">
                <a:solidFill>
                  <a:srgbClr val="003D7A"/>
                </a:solidFill>
                <a:latin typeface="Inter" pitchFamily="34" charset="0"/>
                <a:ea typeface="Inter" pitchFamily="34" charset="-122"/>
                <a:cs typeface="Inter" pitchFamily="34" charset="-120"/>
              </a:rPr>
              <a:t>1</a:t>
            </a:r>
            <a:endParaRPr lang="en-US" sz="4800" dirty="0"/>
          </a:p>
        </p:txBody>
      </p:sp>
      <p:sp>
        <p:nvSpPr>
          <p:cNvPr id="18" name="Shape 16"/>
          <p:cNvSpPr/>
          <p:nvPr/>
        </p:nvSpPr>
        <p:spPr>
          <a:xfrm>
            <a:off x="8366760" y="3383280"/>
            <a:ext cx="731520" cy="0"/>
          </a:xfrm>
          <a:prstGeom prst="line">
            <a:avLst/>
          </a:prstGeom>
          <a:noFill/>
          <a:ln w="25400">
            <a:solidFill>
              <a:srgbClr val="003D7A"/>
            </a:solidFill>
            <a:prstDash val="solid"/>
          </a:ln>
        </p:spPr>
      </p:sp>
      <p:sp>
        <p:nvSpPr>
          <p:cNvPr id="19" name="Text 17"/>
          <p:cNvSpPr/>
          <p:nvPr/>
        </p:nvSpPr>
        <p:spPr>
          <a:xfrm>
            <a:off x="8366760" y="347472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003D7A"/>
                </a:solidFill>
                <a:latin typeface="Inter" pitchFamily="34" charset="0"/>
                <a:ea typeface="Inter" pitchFamily="34" charset="-122"/>
                <a:cs typeface="Inter" pitchFamily="34" charset="-120"/>
              </a:rPr>
              <a:t>Capstone reviewed by AI startup engineer</a:t>
            </a:r>
            <a:endParaRPr lang="en-US" sz="1200" dirty="0"/>
          </a:p>
        </p:txBody>
      </p:sp>
      <p:sp>
        <p:nvSpPr>
          <p:cNvPr id="20" name="Shape 18"/>
          <p:cNvSpPr/>
          <p:nvPr/>
        </p:nvSpPr>
        <p:spPr>
          <a:xfrm>
            <a:off x="548640" y="4114800"/>
            <a:ext cx="3657600" cy="1508760"/>
          </a:xfrm>
          <a:prstGeom prst="rect">
            <a:avLst/>
          </a:prstGeom>
          <a:solidFill>
            <a:srgbClr val="002651"/>
          </a:solidFill>
          <a:ln w="12700">
            <a:solidFill>
              <a:srgbClr val="002651"/>
            </a:solidFill>
            <a:prstDash val="solid"/>
          </a:ln>
        </p:spPr>
      </p:sp>
      <p:sp>
        <p:nvSpPr>
          <p:cNvPr id="21" name="Text 19"/>
          <p:cNvSpPr/>
          <p:nvPr/>
        </p:nvSpPr>
        <p:spPr>
          <a:xfrm>
            <a:off x="777240" y="4206240"/>
            <a:ext cx="3200400" cy="822960"/>
          </a:xfrm>
          <a:prstGeom prst="rect">
            <a:avLst/>
          </a:prstGeom>
          <a:noFill/>
          <a:ln/>
        </p:spPr>
        <p:txBody>
          <a:bodyPr wrap="square" lIns="0" tIns="0" rIns="0" bIns="0" rtlCol="0" anchor="ctr"/>
          <a:lstStyle/>
          <a:p>
            <a:pPr indent="0" marL="0">
              <a:buNone/>
            </a:pPr>
            <a:r>
              <a:rPr lang="en-US" sz="4800" b="1" spc="-300" kern="0" dirty="0">
                <a:solidFill>
                  <a:srgbClr val="FFFFFF"/>
                </a:solidFill>
                <a:latin typeface="Inter" pitchFamily="34" charset="0"/>
                <a:ea typeface="Inter" pitchFamily="34" charset="-122"/>
                <a:cs typeface="Inter" pitchFamily="34" charset="-120"/>
              </a:rPr>
              <a:t>13</a:t>
            </a:r>
            <a:endParaRPr lang="en-US" sz="4800" dirty="0"/>
          </a:p>
        </p:txBody>
      </p:sp>
      <p:sp>
        <p:nvSpPr>
          <p:cNvPr id="22" name="Shape 20"/>
          <p:cNvSpPr/>
          <p:nvPr/>
        </p:nvSpPr>
        <p:spPr>
          <a:xfrm>
            <a:off x="777240" y="5029200"/>
            <a:ext cx="731520" cy="0"/>
          </a:xfrm>
          <a:prstGeom prst="line">
            <a:avLst/>
          </a:prstGeom>
          <a:noFill/>
          <a:ln w="25400">
            <a:solidFill>
              <a:srgbClr val="FFC700"/>
            </a:solidFill>
            <a:prstDash val="solid"/>
          </a:ln>
        </p:spPr>
      </p:sp>
      <p:sp>
        <p:nvSpPr>
          <p:cNvPr id="23" name="Text 21"/>
          <p:cNvSpPr/>
          <p:nvPr/>
        </p:nvSpPr>
        <p:spPr>
          <a:xfrm>
            <a:off x="777240" y="512064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B6CDE5"/>
                </a:solidFill>
                <a:latin typeface="Inter" pitchFamily="34" charset="0"/>
                <a:ea typeface="Inter" pitchFamily="34" charset="-122"/>
                <a:cs typeface="Inter" pitchFamily="34" charset="-120"/>
              </a:rPr>
              <a:t>Weeks of PR-reviewed real code</a:t>
            </a:r>
            <a:endParaRPr lang="en-US" sz="1200" dirty="0"/>
          </a:p>
        </p:txBody>
      </p:sp>
      <p:sp>
        <p:nvSpPr>
          <p:cNvPr id="24" name="Shape 22"/>
          <p:cNvSpPr/>
          <p:nvPr/>
        </p:nvSpPr>
        <p:spPr>
          <a:xfrm>
            <a:off x="4343400" y="4114800"/>
            <a:ext cx="3657600" cy="1508760"/>
          </a:xfrm>
          <a:prstGeom prst="rect">
            <a:avLst/>
          </a:prstGeom>
          <a:solidFill>
            <a:srgbClr val="002651"/>
          </a:solidFill>
          <a:ln w="12700">
            <a:solidFill>
              <a:srgbClr val="002651"/>
            </a:solidFill>
            <a:prstDash val="solid"/>
          </a:ln>
        </p:spPr>
      </p:sp>
      <p:sp>
        <p:nvSpPr>
          <p:cNvPr id="25" name="Text 23"/>
          <p:cNvSpPr/>
          <p:nvPr/>
        </p:nvSpPr>
        <p:spPr>
          <a:xfrm>
            <a:off x="4572000" y="4206240"/>
            <a:ext cx="3200400" cy="822960"/>
          </a:xfrm>
          <a:prstGeom prst="rect">
            <a:avLst/>
          </a:prstGeom>
          <a:noFill/>
          <a:ln/>
        </p:spPr>
        <p:txBody>
          <a:bodyPr wrap="square" lIns="0" tIns="0" rIns="0" bIns="0" rtlCol="0" anchor="ctr"/>
          <a:lstStyle/>
          <a:p>
            <a:pPr indent="0" marL="0">
              <a:buNone/>
            </a:pPr>
            <a:r>
              <a:rPr lang="en-US" sz="4800" b="1" spc="-300" kern="0" dirty="0">
                <a:solidFill>
                  <a:srgbClr val="FFFFFF"/>
                </a:solidFill>
                <a:latin typeface="Inter" pitchFamily="34" charset="0"/>
                <a:ea typeface="Inter" pitchFamily="34" charset="-122"/>
                <a:cs typeface="Inter" pitchFamily="34" charset="-120"/>
              </a:rPr>
              <a:t>8+</a:t>
            </a:r>
            <a:endParaRPr lang="en-US" sz="4800" dirty="0"/>
          </a:p>
        </p:txBody>
      </p:sp>
      <p:sp>
        <p:nvSpPr>
          <p:cNvPr id="26" name="Shape 24"/>
          <p:cNvSpPr/>
          <p:nvPr/>
        </p:nvSpPr>
        <p:spPr>
          <a:xfrm>
            <a:off x="4572000" y="5029200"/>
            <a:ext cx="731520" cy="0"/>
          </a:xfrm>
          <a:prstGeom prst="line">
            <a:avLst/>
          </a:prstGeom>
          <a:noFill/>
          <a:ln w="25400">
            <a:solidFill>
              <a:srgbClr val="FFC700"/>
            </a:solidFill>
            <a:prstDash val="solid"/>
          </a:ln>
        </p:spPr>
      </p:sp>
      <p:sp>
        <p:nvSpPr>
          <p:cNvPr id="27" name="Text 25"/>
          <p:cNvSpPr/>
          <p:nvPr/>
        </p:nvSpPr>
        <p:spPr>
          <a:xfrm>
            <a:off x="4572000" y="512064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B6CDE5"/>
                </a:solidFill>
                <a:latin typeface="Inter" pitchFamily="34" charset="0"/>
                <a:ea typeface="Inter" pitchFamily="34" charset="-122"/>
                <a:cs typeface="Inter" pitchFamily="34" charset="-120"/>
              </a:rPr>
              <a:t>Loom architecture walkthroughs</a:t>
            </a:r>
            <a:endParaRPr lang="en-US" sz="1200" dirty="0"/>
          </a:p>
        </p:txBody>
      </p:sp>
      <p:sp>
        <p:nvSpPr>
          <p:cNvPr id="28" name="Shape 26"/>
          <p:cNvSpPr/>
          <p:nvPr/>
        </p:nvSpPr>
        <p:spPr>
          <a:xfrm>
            <a:off x="8138160" y="4114800"/>
            <a:ext cx="3657600" cy="1508760"/>
          </a:xfrm>
          <a:prstGeom prst="rect">
            <a:avLst/>
          </a:prstGeom>
          <a:solidFill>
            <a:srgbClr val="FFC700"/>
          </a:solidFill>
          <a:ln w="12700">
            <a:solidFill>
              <a:srgbClr val="FFC700"/>
            </a:solidFill>
            <a:prstDash val="solid"/>
          </a:ln>
        </p:spPr>
      </p:sp>
      <p:sp>
        <p:nvSpPr>
          <p:cNvPr id="29" name="Text 27"/>
          <p:cNvSpPr/>
          <p:nvPr/>
        </p:nvSpPr>
        <p:spPr>
          <a:xfrm>
            <a:off x="8366760" y="4206240"/>
            <a:ext cx="3200400" cy="822960"/>
          </a:xfrm>
          <a:prstGeom prst="rect">
            <a:avLst/>
          </a:prstGeom>
          <a:noFill/>
          <a:ln/>
        </p:spPr>
        <p:txBody>
          <a:bodyPr wrap="square" lIns="0" tIns="0" rIns="0" bIns="0" rtlCol="0" anchor="ctr"/>
          <a:lstStyle/>
          <a:p>
            <a:pPr indent="0" marL="0">
              <a:buNone/>
            </a:pPr>
            <a:r>
              <a:rPr lang="en-US" sz="4800" b="1" spc="-300" kern="0" dirty="0">
                <a:solidFill>
                  <a:srgbClr val="003D7A"/>
                </a:solidFill>
                <a:latin typeface="Inter" pitchFamily="34" charset="0"/>
                <a:ea typeface="Inter" pitchFamily="34" charset="-122"/>
                <a:cs typeface="Inter" pitchFamily="34" charset="-120"/>
              </a:rPr>
              <a:t>1</a:t>
            </a:r>
            <a:endParaRPr lang="en-US" sz="4800" dirty="0"/>
          </a:p>
        </p:txBody>
      </p:sp>
      <p:sp>
        <p:nvSpPr>
          <p:cNvPr id="30" name="Shape 28"/>
          <p:cNvSpPr/>
          <p:nvPr/>
        </p:nvSpPr>
        <p:spPr>
          <a:xfrm>
            <a:off x="8366760" y="5029200"/>
            <a:ext cx="731520" cy="0"/>
          </a:xfrm>
          <a:prstGeom prst="line">
            <a:avLst/>
          </a:prstGeom>
          <a:noFill/>
          <a:ln w="25400">
            <a:solidFill>
              <a:srgbClr val="003D7A"/>
            </a:solidFill>
            <a:prstDash val="solid"/>
          </a:ln>
        </p:spPr>
      </p:sp>
      <p:sp>
        <p:nvSpPr>
          <p:cNvPr id="31" name="Text 29"/>
          <p:cNvSpPr/>
          <p:nvPr/>
        </p:nvSpPr>
        <p:spPr>
          <a:xfrm>
            <a:off x="8366760" y="512064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003D7A"/>
                </a:solidFill>
                <a:latin typeface="Inter" pitchFamily="34" charset="0"/>
                <a:ea typeface="Inter" pitchFamily="34" charset="-122"/>
                <a:cs typeface="Inter" pitchFamily="34" charset="-120"/>
              </a:rPr>
              <a:t>Eval suite demonstrating reliability</a:t>
            </a:r>
            <a:endParaRPr lang="en-US" sz="1200" dirty="0"/>
          </a:p>
        </p:txBody>
      </p:sp>
      <p:sp>
        <p:nvSpPr>
          <p:cNvPr id="32" name="Shape 30"/>
          <p:cNvSpPr/>
          <p:nvPr/>
        </p:nvSpPr>
        <p:spPr>
          <a:xfrm>
            <a:off x="548640" y="6355080"/>
            <a:ext cx="11094415" cy="0"/>
          </a:xfrm>
          <a:prstGeom prst="line">
            <a:avLst/>
          </a:prstGeom>
          <a:noFill/>
          <a:ln w="12700">
            <a:solidFill>
              <a:srgbClr val="FFFFFF"/>
            </a:solidFill>
            <a:prstDash val="solid"/>
          </a:ln>
        </p:spPr>
      </p:sp>
      <p:sp>
        <p:nvSpPr>
          <p:cNvPr id="33" name="Text 31"/>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OUTCOMES</a:t>
            </a:r>
            <a:endParaRPr lang="en-US" sz="900" dirty="0"/>
          </a:p>
        </p:txBody>
      </p:sp>
      <p:sp>
        <p:nvSpPr>
          <p:cNvPr id="34" name="Shape 32"/>
          <p:cNvSpPr/>
          <p:nvPr/>
        </p:nvSpPr>
        <p:spPr>
          <a:xfrm>
            <a:off x="10545775" y="6473952"/>
            <a:ext cx="1097280" cy="228600"/>
          </a:xfrm>
          <a:prstGeom prst="rect">
            <a:avLst/>
          </a:prstGeom>
          <a:solidFill>
            <a:srgbClr val="FFC700"/>
          </a:solidFill>
          <a:ln w="12700">
            <a:solidFill>
              <a:srgbClr val="FFC700"/>
            </a:solidFill>
            <a:prstDash val="solid"/>
          </a:ln>
        </p:spPr>
      </p:sp>
      <p:sp>
        <p:nvSpPr>
          <p:cNvPr id="35" name="Text 33"/>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FOR COLLEGES · STATION 11</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11 / 17</a:t>
            </a:r>
            <a:endParaRPr lang="en-US" sz="1100" dirty="0"/>
          </a:p>
        </p:txBody>
      </p:sp>
      <p:sp>
        <p:nvSpPr>
          <p:cNvPr id="7" name="Text 5"/>
          <p:cNvSpPr/>
          <p:nvPr/>
        </p:nvSpPr>
        <p:spPr>
          <a:xfrm>
            <a:off x="548640" y="1280160"/>
            <a:ext cx="10972800" cy="1005840"/>
          </a:xfrm>
          <a:prstGeom prst="rect">
            <a:avLst/>
          </a:prstGeom>
          <a:noFill/>
          <a:ln/>
        </p:spPr>
        <p:txBody>
          <a:bodyPr wrap="square" lIns="0" tIns="0" rIns="0" bIns="0" rtlCol="0" anchor="ctr"/>
          <a:lstStyle/>
          <a:p>
            <a:pPr indent="0" marL="0">
              <a:lnSpc>
                <a:spcPts val="3400"/>
              </a:lnSpc>
              <a:buNone/>
            </a:pPr>
            <a:r>
              <a:rPr lang="en-US" sz="2800" b="1" spc="-50" kern="0" dirty="0">
                <a:solidFill>
                  <a:srgbClr val="FFFFFF"/>
                </a:solidFill>
                <a:latin typeface="Inter" pitchFamily="34" charset="0"/>
                <a:ea typeface="Inter" pitchFamily="34" charset="-122"/>
                <a:cs typeface="Inter" pitchFamily="34" charset="-120"/>
              </a:rPr>
              <a:t>What your institution gets</a:t>
            </a:r>
            <a:endParaRPr lang="en-US" sz="2800" dirty="0"/>
          </a:p>
          <a:p>
            <a:pPr indent="0" marL="0">
              <a:lnSpc>
                <a:spcPts val="3400"/>
              </a:lnSpc>
              <a:buNone/>
            </a:pPr>
            <a:r>
              <a:rPr lang="en-US" sz="2800" b="1" spc="-50" kern="0" dirty="0">
                <a:solidFill>
                  <a:srgbClr val="FFFFFF"/>
                </a:solidFill>
                <a:latin typeface="Inter" pitchFamily="34" charset="0"/>
                <a:ea typeface="Inter" pitchFamily="34" charset="-122"/>
                <a:cs typeface="Inter" pitchFamily="34" charset="-120"/>
              </a:rPr>
              <a:t>when you partner with BuildAI.</a:t>
            </a:r>
            <a:endParaRPr lang="en-US" sz="2800" dirty="0"/>
          </a:p>
        </p:txBody>
      </p:sp>
      <p:sp>
        <p:nvSpPr>
          <p:cNvPr id="8" name="Shape 6"/>
          <p:cNvSpPr/>
          <p:nvPr/>
        </p:nvSpPr>
        <p:spPr>
          <a:xfrm>
            <a:off x="548640" y="2468880"/>
            <a:ext cx="3657600" cy="1508760"/>
          </a:xfrm>
          <a:prstGeom prst="rect">
            <a:avLst/>
          </a:prstGeom>
          <a:solidFill>
            <a:srgbClr val="002651"/>
          </a:solidFill>
          <a:ln w="12700">
            <a:solidFill>
              <a:srgbClr val="002651"/>
            </a:solidFill>
            <a:prstDash val="solid"/>
          </a:ln>
        </p:spPr>
      </p:sp>
      <p:sp>
        <p:nvSpPr>
          <p:cNvPr id="9" name="Shape 7"/>
          <p:cNvSpPr/>
          <p:nvPr/>
        </p:nvSpPr>
        <p:spPr>
          <a:xfrm>
            <a:off x="548640" y="2468880"/>
            <a:ext cx="109728" cy="1508760"/>
          </a:xfrm>
          <a:prstGeom prst="rect">
            <a:avLst/>
          </a:prstGeom>
          <a:solidFill>
            <a:srgbClr val="FFC700"/>
          </a:solidFill>
          <a:ln w="12700">
            <a:solidFill>
              <a:srgbClr val="FFC700"/>
            </a:solidFill>
            <a:prstDash val="solid"/>
          </a:ln>
        </p:spPr>
      </p:sp>
      <p:sp>
        <p:nvSpPr>
          <p:cNvPr id="10" name="Text 8"/>
          <p:cNvSpPr/>
          <p:nvPr/>
        </p:nvSpPr>
        <p:spPr>
          <a:xfrm>
            <a:off x="822960" y="2606040"/>
            <a:ext cx="548640" cy="274320"/>
          </a:xfrm>
          <a:prstGeom prst="rect">
            <a:avLst/>
          </a:prstGeom>
          <a:noFill/>
          <a:ln/>
        </p:spPr>
        <p:txBody>
          <a:bodyPr wrap="square" lIns="0" tIns="0" rIns="0" bIns="0" rtlCol="0" anchor="ctr"/>
          <a:lstStyle/>
          <a:p>
            <a:pPr indent="0" marL="0">
              <a:buNone/>
            </a:pPr>
            <a:r>
              <a:rPr lang="en-US" sz="1100" b="1" spc="400" kern="0" dirty="0">
                <a:solidFill>
                  <a:srgbClr val="FFC700"/>
                </a:solidFill>
                <a:latin typeface="Inter" pitchFamily="34" charset="0"/>
                <a:ea typeface="Inter" pitchFamily="34" charset="-122"/>
                <a:cs typeface="Inter" pitchFamily="34" charset="-120"/>
              </a:rPr>
              <a:t>01</a:t>
            </a:r>
            <a:endParaRPr lang="en-US" sz="1100" dirty="0"/>
          </a:p>
        </p:txBody>
      </p:sp>
      <p:sp>
        <p:nvSpPr>
          <p:cNvPr id="11" name="Text 9"/>
          <p:cNvSpPr/>
          <p:nvPr/>
        </p:nvSpPr>
        <p:spPr>
          <a:xfrm>
            <a:off x="822960" y="2880360"/>
            <a:ext cx="320040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Credible AI programme</a:t>
            </a:r>
            <a:endParaRPr lang="en-US" sz="1600" dirty="0"/>
          </a:p>
        </p:txBody>
      </p:sp>
      <p:sp>
        <p:nvSpPr>
          <p:cNvPr id="12" name="Text 10"/>
          <p:cNvSpPr/>
          <p:nvPr/>
        </p:nvSpPr>
        <p:spPr>
          <a:xfrm>
            <a:off x="822960" y="3291840"/>
            <a:ext cx="3200400" cy="64008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An AI-native offering your admissions team can point to immediately.</a:t>
            </a:r>
            <a:endParaRPr lang="en-US" sz="1100" dirty="0"/>
          </a:p>
        </p:txBody>
      </p:sp>
      <p:sp>
        <p:nvSpPr>
          <p:cNvPr id="13" name="Shape 11"/>
          <p:cNvSpPr/>
          <p:nvPr/>
        </p:nvSpPr>
        <p:spPr>
          <a:xfrm>
            <a:off x="4343400" y="2468880"/>
            <a:ext cx="3657600" cy="1508760"/>
          </a:xfrm>
          <a:prstGeom prst="rect">
            <a:avLst/>
          </a:prstGeom>
          <a:solidFill>
            <a:srgbClr val="002651"/>
          </a:solidFill>
          <a:ln w="12700">
            <a:solidFill>
              <a:srgbClr val="002651"/>
            </a:solidFill>
            <a:prstDash val="solid"/>
          </a:ln>
        </p:spPr>
      </p:sp>
      <p:sp>
        <p:nvSpPr>
          <p:cNvPr id="14" name="Shape 12"/>
          <p:cNvSpPr/>
          <p:nvPr/>
        </p:nvSpPr>
        <p:spPr>
          <a:xfrm>
            <a:off x="4343400" y="2468880"/>
            <a:ext cx="109728" cy="1508760"/>
          </a:xfrm>
          <a:prstGeom prst="rect">
            <a:avLst/>
          </a:prstGeom>
          <a:solidFill>
            <a:srgbClr val="FFC700"/>
          </a:solidFill>
          <a:ln w="12700">
            <a:solidFill>
              <a:srgbClr val="FFC700"/>
            </a:solidFill>
            <a:prstDash val="solid"/>
          </a:ln>
        </p:spPr>
      </p:sp>
      <p:sp>
        <p:nvSpPr>
          <p:cNvPr id="15" name="Text 13"/>
          <p:cNvSpPr/>
          <p:nvPr/>
        </p:nvSpPr>
        <p:spPr>
          <a:xfrm>
            <a:off x="4617720" y="2606040"/>
            <a:ext cx="548640" cy="274320"/>
          </a:xfrm>
          <a:prstGeom prst="rect">
            <a:avLst/>
          </a:prstGeom>
          <a:noFill/>
          <a:ln/>
        </p:spPr>
        <p:txBody>
          <a:bodyPr wrap="square" lIns="0" tIns="0" rIns="0" bIns="0" rtlCol="0" anchor="ctr"/>
          <a:lstStyle/>
          <a:p>
            <a:pPr indent="0" marL="0">
              <a:buNone/>
            </a:pPr>
            <a:r>
              <a:rPr lang="en-US" sz="1100" b="1" spc="400" kern="0" dirty="0">
                <a:solidFill>
                  <a:srgbClr val="FFC700"/>
                </a:solidFill>
                <a:latin typeface="Inter" pitchFamily="34" charset="0"/>
                <a:ea typeface="Inter" pitchFamily="34" charset="-122"/>
                <a:cs typeface="Inter" pitchFamily="34" charset="-120"/>
              </a:rPr>
              <a:t>02</a:t>
            </a:r>
            <a:endParaRPr lang="en-US" sz="1100" dirty="0"/>
          </a:p>
        </p:txBody>
      </p:sp>
      <p:sp>
        <p:nvSpPr>
          <p:cNvPr id="16" name="Text 14"/>
          <p:cNvSpPr/>
          <p:nvPr/>
        </p:nvSpPr>
        <p:spPr>
          <a:xfrm>
            <a:off x="4617720" y="2880360"/>
            <a:ext cx="320040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Industry partnership</a:t>
            </a:r>
            <a:endParaRPr lang="en-US" sz="1600" dirty="0"/>
          </a:p>
        </p:txBody>
      </p:sp>
      <p:sp>
        <p:nvSpPr>
          <p:cNvPr id="17" name="Text 15"/>
          <p:cNvSpPr/>
          <p:nvPr/>
        </p:nvSpPr>
        <p:spPr>
          <a:xfrm>
            <a:off x="4617720" y="3291840"/>
            <a:ext cx="3200400" cy="64008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Documented industry tie-up for NAAC, AICTE, and placement reports.</a:t>
            </a:r>
            <a:endParaRPr lang="en-US" sz="1100" dirty="0"/>
          </a:p>
        </p:txBody>
      </p:sp>
      <p:sp>
        <p:nvSpPr>
          <p:cNvPr id="18" name="Shape 16"/>
          <p:cNvSpPr/>
          <p:nvPr/>
        </p:nvSpPr>
        <p:spPr>
          <a:xfrm>
            <a:off x="8138160" y="2468880"/>
            <a:ext cx="3657600" cy="1508760"/>
          </a:xfrm>
          <a:prstGeom prst="rect">
            <a:avLst/>
          </a:prstGeom>
          <a:solidFill>
            <a:srgbClr val="002651"/>
          </a:solidFill>
          <a:ln w="12700">
            <a:solidFill>
              <a:srgbClr val="002651"/>
            </a:solidFill>
            <a:prstDash val="solid"/>
          </a:ln>
        </p:spPr>
      </p:sp>
      <p:sp>
        <p:nvSpPr>
          <p:cNvPr id="19" name="Shape 17"/>
          <p:cNvSpPr/>
          <p:nvPr/>
        </p:nvSpPr>
        <p:spPr>
          <a:xfrm>
            <a:off x="8138160" y="2468880"/>
            <a:ext cx="109728" cy="1508760"/>
          </a:xfrm>
          <a:prstGeom prst="rect">
            <a:avLst/>
          </a:prstGeom>
          <a:solidFill>
            <a:srgbClr val="FFC700"/>
          </a:solidFill>
          <a:ln w="12700">
            <a:solidFill>
              <a:srgbClr val="FFC700"/>
            </a:solidFill>
            <a:prstDash val="solid"/>
          </a:ln>
        </p:spPr>
      </p:sp>
      <p:sp>
        <p:nvSpPr>
          <p:cNvPr id="20" name="Text 18"/>
          <p:cNvSpPr/>
          <p:nvPr/>
        </p:nvSpPr>
        <p:spPr>
          <a:xfrm>
            <a:off x="8412480" y="2606040"/>
            <a:ext cx="548640" cy="274320"/>
          </a:xfrm>
          <a:prstGeom prst="rect">
            <a:avLst/>
          </a:prstGeom>
          <a:noFill/>
          <a:ln/>
        </p:spPr>
        <p:txBody>
          <a:bodyPr wrap="square" lIns="0" tIns="0" rIns="0" bIns="0" rtlCol="0" anchor="ctr"/>
          <a:lstStyle/>
          <a:p>
            <a:pPr indent="0" marL="0">
              <a:buNone/>
            </a:pPr>
            <a:r>
              <a:rPr lang="en-US" sz="1100" b="1" spc="400" kern="0" dirty="0">
                <a:solidFill>
                  <a:srgbClr val="FFC700"/>
                </a:solidFill>
                <a:latin typeface="Inter" pitchFamily="34" charset="0"/>
                <a:ea typeface="Inter" pitchFamily="34" charset="-122"/>
                <a:cs typeface="Inter" pitchFamily="34" charset="-120"/>
              </a:rPr>
              <a:t>03</a:t>
            </a:r>
            <a:endParaRPr lang="en-US" sz="1100" dirty="0"/>
          </a:p>
        </p:txBody>
      </p:sp>
      <p:sp>
        <p:nvSpPr>
          <p:cNvPr id="21" name="Text 19"/>
          <p:cNvSpPr/>
          <p:nvPr/>
        </p:nvSpPr>
        <p:spPr>
          <a:xfrm>
            <a:off x="8412480" y="2880360"/>
            <a:ext cx="320040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Student outcomes</a:t>
            </a:r>
            <a:endParaRPr lang="en-US" sz="1600" dirty="0"/>
          </a:p>
        </p:txBody>
      </p:sp>
      <p:sp>
        <p:nvSpPr>
          <p:cNvPr id="22" name="Text 20"/>
          <p:cNvSpPr/>
          <p:nvPr/>
        </p:nvSpPr>
        <p:spPr>
          <a:xfrm>
            <a:off x="8412480" y="3291840"/>
            <a:ext cx="3200400" cy="64008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Measurable GitHub portfolios. Real deployed products. Marketing assets you own.</a:t>
            </a:r>
            <a:endParaRPr lang="en-US" sz="1100" dirty="0"/>
          </a:p>
        </p:txBody>
      </p:sp>
      <p:sp>
        <p:nvSpPr>
          <p:cNvPr id="23" name="Shape 21"/>
          <p:cNvSpPr/>
          <p:nvPr/>
        </p:nvSpPr>
        <p:spPr>
          <a:xfrm>
            <a:off x="548640" y="4114800"/>
            <a:ext cx="3657600" cy="1508760"/>
          </a:xfrm>
          <a:prstGeom prst="rect">
            <a:avLst/>
          </a:prstGeom>
          <a:solidFill>
            <a:srgbClr val="002651"/>
          </a:solidFill>
          <a:ln w="12700">
            <a:solidFill>
              <a:srgbClr val="002651"/>
            </a:solidFill>
            <a:prstDash val="solid"/>
          </a:ln>
        </p:spPr>
      </p:sp>
      <p:sp>
        <p:nvSpPr>
          <p:cNvPr id="24" name="Shape 22"/>
          <p:cNvSpPr/>
          <p:nvPr/>
        </p:nvSpPr>
        <p:spPr>
          <a:xfrm>
            <a:off x="548640" y="4114800"/>
            <a:ext cx="109728" cy="1508760"/>
          </a:xfrm>
          <a:prstGeom prst="rect">
            <a:avLst/>
          </a:prstGeom>
          <a:solidFill>
            <a:srgbClr val="FFC700"/>
          </a:solidFill>
          <a:ln w="12700">
            <a:solidFill>
              <a:srgbClr val="FFC700"/>
            </a:solidFill>
            <a:prstDash val="solid"/>
          </a:ln>
        </p:spPr>
      </p:sp>
      <p:sp>
        <p:nvSpPr>
          <p:cNvPr id="25" name="Text 23"/>
          <p:cNvSpPr/>
          <p:nvPr/>
        </p:nvSpPr>
        <p:spPr>
          <a:xfrm>
            <a:off x="822960" y="4251960"/>
            <a:ext cx="548640" cy="274320"/>
          </a:xfrm>
          <a:prstGeom prst="rect">
            <a:avLst/>
          </a:prstGeom>
          <a:noFill/>
          <a:ln/>
        </p:spPr>
        <p:txBody>
          <a:bodyPr wrap="square" lIns="0" tIns="0" rIns="0" bIns="0" rtlCol="0" anchor="ctr"/>
          <a:lstStyle/>
          <a:p>
            <a:pPr indent="0" marL="0">
              <a:buNone/>
            </a:pPr>
            <a:r>
              <a:rPr lang="en-US" sz="1100" b="1" spc="400" kern="0" dirty="0">
                <a:solidFill>
                  <a:srgbClr val="FFC700"/>
                </a:solidFill>
                <a:latin typeface="Inter" pitchFamily="34" charset="0"/>
                <a:ea typeface="Inter" pitchFamily="34" charset="-122"/>
                <a:cs typeface="Inter" pitchFamily="34" charset="-120"/>
              </a:rPr>
              <a:t>04</a:t>
            </a:r>
            <a:endParaRPr lang="en-US" sz="1100" dirty="0"/>
          </a:p>
        </p:txBody>
      </p:sp>
      <p:sp>
        <p:nvSpPr>
          <p:cNvPr id="26" name="Text 24"/>
          <p:cNvSpPr/>
          <p:nvPr/>
        </p:nvSpPr>
        <p:spPr>
          <a:xfrm>
            <a:off x="822960" y="4526280"/>
            <a:ext cx="320040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Administrative margin</a:t>
            </a:r>
            <a:endParaRPr lang="en-US" sz="1600" dirty="0"/>
          </a:p>
        </p:txBody>
      </p:sp>
      <p:sp>
        <p:nvSpPr>
          <p:cNvPr id="27" name="Text 25"/>
          <p:cNvSpPr/>
          <p:nvPr/>
        </p:nvSpPr>
        <p:spPr>
          <a:xfrm>
            <a:off x="822960" y="4937760"/>
            <a:ext cx="3200400" cy="64008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₹5,000–₹7,000 per enrolled student. Yours to keep.</a:t>
            </a:r>
            <a:endParaRPr lang="en-US" sz="1100" dirty="0"/>
          </a:p>
        </p:txBody>
      </p:sp>
      <p:sp>
        <p:nvSpPr>
          <p:cNvPr id="28" name="Shape 26"/>
          <p:cNvSpPr/>
          <p:nvPr/>
        </p:nvSpPr>
        <p:spPr>
          <a:xfrm>
            <a:off x="4343400" y="4114800"/>
            <a:ext cx="3657600" cy="1508760"/>
          </a:xfrm>
          <a:prstGeom prst="rect">
            <a:avLst/>
          </a:prstGeom>
          <a:solidFill>
            <a:srgbClr val="002651"/>
          </a:solidFill>
          <a:ln w="12700">
            <a:solidFill>
              <a:srgbClr val="002651"/>
            </a:solidFill>
            <a:prstDash val="solid"/>
          </a:ln>
        </p:spPr>
      </p:sp>
      <p:sp>
        <p:nvSpPr>
          <p:cNvPr id="29" name="Shape 27"/>
          <p:cNvSpPr/>
          <p:nvPr/>
        </p:nvSpPr>
        <p:spPr>
          <a:xfrm>
            <a:off x="4343400" y="4114800"/>
            <a:ext cx="109728" cy="1508760"/>
          </a:xfrm>
          <a:prstGeom prst="rect">
            <a:avLst/>
          </a:prstGeom>
          <a:solidFill>
            <a:srgbClr val="FFC700"/>
          </a:solidFill>
          <a:ln w="12700">
            <a:solidFill>
              <a:srgbClr val="FFC700"/>
            </a:solidFill>
            <a:prstDash val="solid"/>
          </a:ln>
        </p:spPr>
      </p:sp>
      <p:sp>
        <p:nvSpPr>
          <p:cNvPr id="30" name="Text 28"/>
          <p:cNvSpPr/>
          <p:nvPr/>
        </p:nvSpPr>
        <p:spPr>
          <a:xfrm>
            <a:off x="4617720" y="4251960"/>
            <a:ext cx="548640" cy="274320"/>
          </a:xfrm>
          <a:prstGeom prst="rect">
            <a:avLst/>
          </a:prstGeom>
          <a:noFill/>
          <a:ln/>
        </p:spPr>
        <p:txBody>
          <a:bodyPr wrap="square" lIns="0" tIns="0" rIns="0" bIns="0" rtlCol="0" anchor="ctr"/>
          <a:lstStyle/>
          <a:p>
            <a:pPr indent="0" marL="0">
              <a:buNone/>
            </a:pPr>
            <a:r>
              <a:rPr lang="en-US" sz="1100" b="1" spc="400" kern="0" dirty="0">
                <a:solidFill>
                  <a:srgbClr val="FFC700"/>
                </a:solidFill>
                <a:latin typeface="Inter" pitchFamily="34" charset="0"/>
                <a:ea typeface="Inter" pitchFamily="34" charset="-122"/>
                <a:cs typeface="Inter" pitchFamily="34" charset="-120"/>
              </a:rPr>
              <a:t>05</a:t>
            </a:r>
            <a:endParaRPr lang="en-US" sz="1100" dirty="0"/>
          </a:p>
        </p:txBody>
      </p:sp>
      <p:sp>
        <p:nvSpPr>
          <p:cNvPr id="31" name="Text 29"/>
          <p:cNvSpPr/>
          <p:nvPr/>
        </p:nvSpPr>
        <p:spPr>
          <a:xfrm>
            <a:off x="4617720" y="4526280"/>
            <a:ext cx="320040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Zero faculty burden</a:t>
            </a:r>
            <a:endParaRPr lang="en-US" sz="1600" dirty="0"/>
          </a:p>
        </p:txBody>
      </p:sp>
      <p:sp>
        <p:nvSpPr>
          <p:cNvPr id="32" name="Text 30"/>
          <p:cNvSpPr/>
          <p:nvPr/>
        </p:nvSpPr>
        <p:spPr>
          <a:xfrm>
            <a:off x="4617720" y="4937760"/>
            <a:ext cx="3200400" cy="64008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BuildAI runs the entire programme. Your faculty focuses on core curriculum.</a:t>
            </a:r>
            <a:endParaRPr lang="en-US" sz="1100" dirty="0"/>
          </a:p>
        </p:txBody>
      </p:sp>
      <p:sp>
        <p:nvSpPr>
          <p:cNvPr id="33" name="Shape 31"/>
          <p:cNvSpPr/>
          <p:nvPr/>
        </p:nvSpPr>
        <p:spPr>
          <a:xfrm>
            <a:off x="8138160" y="4114800"/>
            <a:ext cx="3657600" cy="1508760"/>
          </a:xfrm>
          <a:prstGeom prst="rect">
            <a:avLst/>
          </a:prstGeom>
          <a:solidFill>
            <a:srgbClr val="002651"/>
          </a:solidFill>
          <a:ln w="12700">
            <a:solidFill>
              <a:srgbClr val="002651"/>
            </a:solidFill>
            <a:prstDash val="solid"/>
          </a:ln>
        </p:spPr>
      </p:sp>
      <p:sp>
        <p:nvSpPr>
          <p:cNvPr id="34" name="Shape 32"/>
          <p:cNvSpPr/>
          <p:nvPr/>
        </p:nvSpPr>
        <p:spPr>
          <a:xfrm>
            <a:off x="8138160" y="4114800"/>
            <a:ext cx="109728" cy="1508760"/>
          </a:xfrm>
          <a:prstGeom prst="rect">
            <a:avLst/>
          </a:prstGeom>
          <a:solidFill>
            <a:srgbClr val="FFC700"/>
          </a:solidFill>
          <a:ln w="12700">
            <a:solidFill>
              <a:srgbClr val="FFC700"/>
            </a:solidFill>
            <a:prstDash val="solid"/>
          </a:ln>
        </p:spPr>
      </p:sp>
      <p:sp>
        <p:nvSpPr>
          <p:cNvPr id="35" name="Text 33"/>
          <p:cNvSpPr/>
          <p:nvPr/>
        </p:nvSpPr>
        <p:spPr>
          <a:xfrm>
            <a:off x="8412480" y="4251960"/>
            <a:ext cx="548640" cy="274320"/>
          </a:xfrm>
          <a:prstGeom prst="rect">
            <a:avLst/>
          </a:prstGeom>
          <a:noFill/>
          <a:ln/>
        </p:spPr>
        <p:txBody>
          <a:bodyPr wrap="square" lIns="0" tIns="0" rIns="0" bIns="0" rtlCol="0" anchor="ctr"/>
          <a:lstStyle/>
          <a:p>
            <a:pPr indent="0" marL="0">
              <a:buNone/>
            </a:pPr>
            <a:r>
              <a:rPr lang="en-US" sz="1100" b="1" spc="400" kern="0" dirty="0">
                <a:solidFill>
                  <a:srgbClr val="FFC700"/>
                </a:solidFill>
                <a:latin typeface="Inter" pitchFamily="34" charset="0"/>
                <a:ea typeface="Inter" pitchFamily="34" charset="-122"/>
                <a:cs typeface="Inter" pitchFamily="34" charset="-120"/>
              </a:rPr>
              <a:t>06</a:t>
            </a:r>
            <a:endParaRPr lang="en-US" sz="1100" dirty="0"/>
          </a:p>
        </p:txBody>
      </p:sp>
      <p:sp>
        <p:nvSpPr>
          <p:cNvPr id="36" name="Text 34"/>
          <p:cNvSpPr/>
          <p:nvPr/>
        </p:nvSpPr>
        <p:spPr>
          <a:xfrm>
            <a:off x="8412480" y="4526280"/>
            <a:ext cx="320040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Hiring network access</a:t>
            </a:r>
            <a:endParaRPr lang="en-US" sz="1600" dirty="0"/>
          </a:p>
        </p:txBody>
      </p:sp>
      <p:sp>
        <p:nvSpPr>
          <p:cNvPr id="37" name="Text 35"/>
          <p:cNvSpPr/>
          <p:nvPr/>
        </p:nvSpPr>
        <p:spPr>
          <a:xfrm>
            <a:off x="8412480" y="4937760"/>
            <a:ext cx="3200400" cy="640080"/>
          </a:xfrm>
          <a:prstGeom prst="rect">
            <a:avLst/>
          </a:prstGeom>
          <a:noFill/>
          <a:ln/>
        </p:spPr>
        <p:txBody>
          <a:bodyPr wrap="square" lIns="0" tIns="0" rIns="0" bIns="0" rtlCol="0" anchor="ctr"/>
          <a:lstStyle/>
          <a:p>
            <a:pPr indent="0" marL="0">
              <a:lnSpc>
                <a:spcPts val="1400"/>
              </a:lnSpc>
              <a:buNone/>
            </a:pPr>
            <a:r>
              <a:rPr lang="en-US" sz="1100" dirty="0">
                <a:solidFill>
                  <a:srgbClr val="B6CDE5"/>
                </a:solidFill>
                <a:latin typeface="Inter" pitchFamily="34" charset="0"/>
                <a:ea typeface="Inter" pitchFamily="34" charset="-122"/>
                <a:cs typeface="Inter" pitchFamily="34" charset="-120"/>
              </a:rPr>
              <a:t>Top graduates introduced to BuildAI's startup review network.</a:t>
            </a:r>
            <a:endParaRPr lang="en-US" sz="1100" dirty="0"/>
          </a:p>
        </p:txBody>
      </p:sp>
      <p:sp>
        <p:nvSpPr>
          <p:cNvPr id="38" name="Shape 36"/>
          <p:cNvSpPr/>
          <p:nvPr/>
        </p:nvSpPr>
        <p:spPr>
          <a:xfrm>
            <a:off x="548640" y="6355080"/>
            <a:ext cx="11094415" cy="0"/>
          </a:xfrm>
          <a:prstGeom prst="line">
            <a:avLst/>
          </a:prstGeom>
          <a:noFill/>
          <a:ln w="12700">
            <a:solidFill>
              <a:srgbClr val="FFFFFF"/>
            </a:solidFill>
            <a:prstDash val="solid"/>
          </a:ln>
        </p:spPr>
      </p:sp>
      <p:sp>
        <p:nvSpPr>
          <p:cNvPr id="39" name="Text 37"/>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FOR COLLEGES</a:t>
            </a:r>
            <a:endParaRPr lang="en-US" sz="900" dirty="0"/>
          </a:p>
        </p:txBody>
      </p:sp>
      <p:sp>
        <p:nvSpPr>
          <p:cNvPr id="40" name="Shape 38"/>
          <p:cNvSpPr/>
          <p:nvPr/>
        </p:nvSpPr>
        <p:spPr>
          <a:xfrm>
            <a:off x="10545775" y="6473952"/>
            <a:ext cx="1097280" cy="228600"/>
          </a:xfrm>
          <a:prstGeom prst="rect">
            <a:avLst/>
          </a:prstGeom>
          <a:solidFill>
            <a:srgbClr val="FFC700"/>
          </a:solidFill>
          <a:ln w="12700">
            <a:solidFill>
              <a:srgbClr val="FFC700"/>
            </a:solidFill>
            <a:prstDash val="solid"/>
          </a:ln>
        </p:spPr>
      </p:sp>
      <p:sp>
        <p:nvSpPr>
          <p:cNvPr id="41" name="Text 39"/>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COMMERCIAL · STATION 12</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12 / 17</a:t>
            </a:r>
            <a:endParaRPr lang="en-US" sz="1100" dirty="0"/>
          </a:p>
        </p:txBody>
      </p:sp>
      <p:sp>
        <p:nvSpPr>
          <p:cNvPr id="7" name="Text 5"/>
          <p:cNvSpPr/>
          <p:nvPr/>
        </p:nvSpPr>
        <p:spPr>
          <a:xfrm>
            <a:off x="548640" y="1280160"/>
            <a:ext cx="10972800" cy="731520"/>
          </a:xfrm>
          <a:prstGeom prst="rect">
            <a:avLst/>
          </a:prstGeom>
          <a:noFill/>
          <a:ln/>
        </p:spPr>
        <p:txBody>
          <a:bodyPr wrap="square" lIns="0" tIns="0" rIns="0" bIns="0" rtlCol="0" anchor="ctr"/>
          <a:lstStyle/>
          <a:p>
            <a:pPr indent="0" marL="0">
              <a:buNone/>
            </a:pPr>
            <a:r>
              <a:rPr lang="en-US" sz="3200" b="1" spc="-50" kern="0" dirty="0">
                <a:solidFill>
                  <a:srgbClr val="FFFFFF"/>
                </a:solidFill>
                <a:latin typeface="Inter" pitchFamily="34" charset="0"/>
                <a:ea typeface="Inter" pitchFamily="34" charset="-122"/>
                <a:cs typeface="Inter" pitchFamily="34" charset="-120"/>
              </a:rPr>
              <a:t>Simple economics.</a:t>
            </a:r>
            <a:endParaRPr lang="en-US" sz="3200" dirty="0"/>
          </a:p>
        </p:txBody>
      </p:sp>
      <p:sp>
        <p:nvSpPr>
          <p:cNvPr id="8" name="Text 6"/>
          <p:cNvSpPr/>
          <p:nvPr/>
        </p:nvSpPr>
        <p:spPr>
          <a:xfrm>
            <a:off x="548640" y="2011680"/>
            <a:ext cx="10972800" cy="457200"/>
          </a:xfrm>
          <a:prstGeom prst="rect">
            <a:avLst/>
          </a:prstGeom>
          <a:noFill/>
          <a:ln/>
        </p:spPr>
        <p:txBody>
          <a:bodyPr wrap="square" lIns="0" tIns="0" rIns="0" bIns="0" rtlCol="0" anchor="ctr"/>
          <a:lstStyle/>
          <a:p>
            <a:pPr indent="0" marL="0">
              <a:buNone/>
            </a:pPr>
            <a:r>
              <a:rPr lang="en-US" sz="1400" i="1" dirty="0">
                <a:solidFill>
                  <a:srgbClr val="B6CDE5"/>
                </a:solidFill>
                <a:latin typeface="Inter" pitchFamily="34" charset="0"/>
                <a:ea typeface="Inter" pitchFamily="34" charset="-122"/>
                <a:cs typeface="Inter" pitchFamily="34" charset="-120"/>
              </a:rPr>
              <a:t>College keeps administrative margin. BuildAI runs the programme.</a:t>
            </a:r>
            <a:endParaRPr lang="en-US" sz="1400" dirty="0"/>
          </a:p>
        </p:txBody>
      </p:sp>
      <p:sp>
        <p:nvSpPr>
          <p:cNvPr id="9" name="Shape 7"/>
          <p:cNvSpPr/>
          <p:nvPr/>
        </p:nvSpPr>
        <p:spPr>
          <a:xfrm>
            <a:off x="548640" y="2743200"/>
            <a:ext cx="3657600" cy="2377440"/>
          </a:xfrm>
          <a:prstGeom prst="rect">
            <a:avLst/>
          </a:prstGeom>
          <a:solidFill>
            <a:srgbClr val="002651"/>
          </a:solidFill>
          <a:ln w="12700">
            <a:solidFill>
              <a:srgbClr val="002651"/>
            </a:solidFill>
            <a:prstDash val="solid"/>
          </a:ln>
        </p:spPr>
      </p:sp>
      <p:sp>
        <p:nvSpPr>
          <p:cNvPr id="10" name="Text 8"/>
          <p:cNvSpPr/>
          <p:nvPr/>
        </p:nvSpPr>
        <p:spPr>
          <a:xfrm>
            <a:off x="822960" y="3017520"/>
            <a:ext cx="3108960" cy="32004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 STUDENT FEE</a:t>
            </a:r>
            <a:endParaRPr lang="en-US" sz="1100" dirty="0"/>
          </a:p>
        </p:txBody>
      </p:sp>
      <p:sp>
        <p:nvSpPr>
          <p:cNvPr id="11" name="Text 9"/>
          <p:cNvSpPr/>
          <p:nvPr/>
        </p:nvSpPr>
        <p:spPr>
          <a:xfrm>
            <a:off x="822960" y="3474720"/>
            <a:ext cx="3108960" cy="914400"/>
          </a:xfrm>
          <a:prstGeom prst="rect">
            <a:avLst/>
          </a:prstGeom>
          <a:noFill/>
          <a:ln/>
        </p:spPr>
        <p:txBody>
          <a:bodyPr wrap="square" lIns="0" tIns="0" rIns="0" bIns="0" rtlCol="0" anchor="ctr"/>
          <a:lstStyle/>
          <a:p>
            <a:pPr indent="0" marL="0">
              <a:buNone/>
            </a:pPr>
            <a:r>
              <a:rPr lang="en-US" sz="3800" b="1" spc="-100" kern="0" dirty="0">
                <a:solidFill>
                  <a:srgbClr val="FFFFFF"/>
                </a:solidFill>
                <a:latin typeface="Inter" pitchFamily="34" charset="0"/>
                <a:ea typeface="Inter" pitchFamily="34" charset="-122"/>
                <a:cs typeface="Inter" pitchFamily="34" charset="-120"/>
              </a:rPr>
              <a:t>₹20K – ₹25K</a:t>
            </a:r>
            <a:endParaRPr lang="en-US" sz="3800" dirty="0"/>
          </a:p>
        </p:txBody>
      </p:sp>
      <p:sp>
        <p:nvSpPr>
          <p:cNvPr id="12" name="Text 10"/>
          <p:cNvSpPr/>
          <p:nvPr/>
        </p:nvSpPr>
        <p:spPr>
          <a:xfrm>
            <a:off x="822960" y="4434840"/>
            <a:ext cx="3108960" cy="64008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What students pay for the 13-week apprenticeship.</a:t>
            </a:r>
            <a:endParaRPr lang="en-US" sz="1200" dirty="0"/>
          </a:p>
        </p:txBody>
      </p:sp>
      <p:sp>
        <p:nvSpPr>
          <p:cNvPr id="13" name="Shape 11"/>
          <p:cNvSpPr/>
          <p:nvPr/>
        </p:nvSpPr>
        <p:spPr>
          <a:xfrm>
            <a:off x="4343400" y="2743200"/>
            <a:ext cx="3657600" cy="2377440"/>
          </a:xfrm>
          <a:prstGeom prst="rect">
            <a:avLst/>
          </a:prstGeom>
          <a:solidFill>
            <a:srgbClr val="FFC700"/>
          </a:solidFill>
          <a:ln w="12700">
            <a:solidFill>
              <a:srgbClr val="FFC700"/>
            </a:solidFill>
            <a:prstDash val="solid"/>
          </a:ln>
        </p:spPr>
      </p:sp>
      <p:sp>
        <p:nvSpPr>
          <p:cNvPr id="14" name="Text 12"/>
          <p:cNvSpPr/>
          <p:nvPr/>
        </p:nvSpPr>
        <p:spPr>
          <a:xfrm>
            <a:off x="4617720" y="3017520"/>
            <a:ext cx="3108960" cy="320040"/>
          </a:xfrm>
          <a:prstGeom prst="rect">
            <a:avLst/>
          </a:prstGeom>
          <a:noFill/>
          <a:ln/>
        </p:spPr>
        <p:txBody>
          <a:bodyPr wrap="square" lIns="0" tIns="0" rIns="0" bIns="0" rtlCol="0" anchor="ctr"/>
          <a:lstStyle/>
          <a:p>
            <a:pPr indent="0" marL="0">
              <a:buNone/>
            </a:pPr>
            <a:r>
              <a:rPr lang="en-US" sz="1100" b="1" spc="500" kern="0" dirty="0">
                <a:solidFill>
                  <a:srgbClr val="003D7A"/>
                </a:solidFill>
                <a:latin typeface="Inter" pitchFamily="34" charset="0"/>
                <a:ea typeface="Inter" pitchFamily="34" charset="-122"/>
                <a:cs typeface="Inter" pitchFamily="34" charset="-120"/>
              </a:rPr>
              <a:t>→ COLLEGE MARGIN</a:t>
            </a:r>
            <a:endParaRPr lang="en-US" sz="1100" dirty="0"/>
          </a:p>
        </p:txBody>
      </p:sp>
      <p:sp>
        <p:nvSpPr>
          <p:cNvPr id="15" name="Text 13"/>
          <p:cNvSpPr/>
          <p:nvPr/>
        </p:nvSpPr>
        <p:spPr>
          <a:xfrm>
            <a:off x="4617720" y="3474720"/>
            <a:ext cx="3108960" cy="914400"/>
          </a:xfrm>
          <a:prstGeom prst="rect">
            <a:avLst/>
          </a:prstGeom>
          <a:noFill/>
          <a:ln/>
        </p:spPr>
        <p:txBody>
          <a:bodyPr wrap="square" lIns="0" tIns="0" rIns="0" bIns="0" rtlCol="0" anchor="ctr"/>
          <a:lstStyle/>
          <a:p>
            <a:pPr indent="0" marL="0">
              <a:buNone/>
            </a:pPr>
            <a:r>
              <a:rPr lang="en-US" sz="3800" b="1" spc="-100" kern="0" dirty="0">
                <a:solidFill>
                  <a:srgbClr val="003D7A"/>
                </a:solidFill>
                <a:latin typeface="Inter" pitchFamily="34" charset="0"/>
                <a:ea typeface="Inter" pitchFamily="34" charset="-122"/>
                <a:cs typeface="Inter" pitchFamily="34" charset="-120"/>
              </a:rPr>
              <a:t>₹5K – ₹7K</a:t>
            </a:r>
            <a:endParaRPr lang="en-US" sz="3800" dirty="0"/>
          </a:p>
        </p:txBody>
      </p:sp>
      <p:sp>
        <p:nvSpPr>
          <p:cNvPr id="16" name="Text 14"/>
          <p:cNvSpPr/>
          <p:nvPr/>
        </p:nvSpPr>
        <p:spPr>
          <a:xfrm>
            <a:off x="4617720" y="4434840"/>
            <a:ext cx="3108960" cy="640080"/>
          </a:xfrm>
          <a:prstGeom prst="rect">
            <a:avLst/>
          </a:prstGeom>
          <a:noFill/>
          <a:ln/>
        </p:spPr>
        <p:txBody>
          <a:bodyPr wrap="square" lIns="0" tIns="0" rIns="0" bIns="0" rtlCol="0" anchor="ctr"/>
          <a:lstStyle/>
          <a:p>
            <a:pPr indent="0" marL="0">
              <a:lnSpc>
                <a:spcPts val="1600"/>
              </a:lnSpc>
              <a:buNone/>
            </a:pPr>
            <a:r>
              <a:rPr lang="en-US" sz="1200" dirty="0">
                <a:solidFill>
                  <a:srgbClr val="003D7A"/>
                </a:solidFill>
                <a:latin typeface="Inter" pitchFamily="34" charset="0"/>
                <a:ea typeface="Inter" pitchFamily="34" charset="-122"/>
                <a:cs typeface="Inter" pitchFamily="34" charset="-120"/>
              </a:rPr>
              <a:t>Per enrolled student. Administrative + facilitation margin.</a:t>
            </a:r>
            <a:endParaRPr lang="en-US" sz="1200" dirty="0"/>
          </a:p>
        </p:txBody>
      </p:sp>
      <p:sp>
        <p:nvSpPr>
          <p:cNvPr id="17" name="Shape 15"/>
          <p:cNvSpPr/>
          <p:nvPr/>
        </p:nvSpPr>
        <p:spPr>
          <a:xfrm>
            <a:off x="8138160" y="2743200"/>
            <a:ext cx="3657600" cy="2377440"/>
          </a:xfrm>
          <a:prstGeom prst="rect">
            <a:avLst/>
          </a:prstGeom>
          <a:solidFill>
            <a:srgbClr val="002651"/>
          </a:solidFill>
          <a:ln w="12700">
            <a:solidFill>
              <a:srgbClr val="002651"/>
            </a:solidFill>
            <a:prstDash val="solid"/>
          </a:ln>
        </p:spPr>
      </p:sp>
      <p:sp>
        <p:nvSpPr>
          <p:cNvPr id="18" name="Text 16"/>
          <p:cNvSpPr/>
          <p:nvPr/>
        </p:nvSpPr>
        <p:spPr>
          <a:xfrm>
            <a:off x="8412480" y="3017520"/>
            <a:ext cx="3108960" cy="32004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 BUILDAI FEE</a:t>
            </a:r>
            <a:endParaRPr lang="en-US" sz="1100" dirty="0"/>
          </a:p>
        </p:txBody>
      </p:sp>
      <p:sp>
        <p:nvSpPr>
          <p:cNvPr id="19" name="Text 17"/>
          <p:cNvSpPr/>
          <p:nvPr/>
        </p:nvSpPr>
        <p:spPr>
          <a:xfrm>
            <a:off x="8412480" y="3474720"/>
            <a:ext cx="3108960" cy="914400"/>
          </a:xfrm>
          <a:prstGeom prst="rect">
            <a:avLst/>
          </a:prstGeom>
          <a:noFill/>
          <a:ln/>
        </p:spPr>
        <p:txBody>
          <a:bodyPr wrap="square" lIns="0" tIns="0" rIns="0" bIns="0" rtlCol="0" anchor="ctr"/>
          <a:lstStyle/>
          <a:p>
            <a:pPr indent="0" marL="0">
              <a:buNone/>
            </a:pPr>
            <a:r>
              <a:rPr lang="en-US" sz="3800" b="1" spc="-100" kern="0" dirty="0">
                <a:solidFill>
                  <a:srgbClr val="FFFFFF"/>
                </a:solidFill>
                <a:latin typeface="Inter" pitchFamily="34" charset="0"/>
                <a:ea typeface="Inter" pitchFamily="34" charset="-122"/>
                <a:cs typeface="Inter" pitchFamily="34" charset="-120"/>
              </a:rPr>
              <a:t>₹15K – ₹18K</a:t>
            </a:r>
            <a:endParaRPr lang="en-US" sz="3800" dirty="0"/>
          </a:p>
        </p:txBody>
      </p:sp>
      <p:sp>
        <p:nvSpPr>
          <p:cNvPr id="20" name="Text 18"/>
          <p:cNvSpPr/>
          <p:nvPr/>
        </p:nvSpPr>
        <p:spPr>
          <a:xfrm>
            <a:off x="8412480" y="4434840"/>
            <a:ext cx="3108960" cy="64008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Per enrolled student. Covers mentors, tools, ops, evaluation.</a:t>
            </a:r>
            <a:endParaRPr lang="en-US" sz="1200" dirty="0"/>
          </a:p>
        </p:txBody>
      </p:sp>
      <p:sp>
        <p:nvSpPr>
          <p:cNvPr id="21" name="Shape 19"/>
          <p:cNvSpPr/>
          <p:nvPr/>
        </p:nvSpPr>
        <p:spPr>
          <a:xfrm>
            <a:off x="548640" y="5349240"/>
            <a:ext cx="11094415" cy="0"/>
          </a:xfrm>
          <a:prstGeom prst="line">
            <a:avLst/>
          </a:prstGeom>
          <a:noFill/>
          <a:ln w="12700">
            <a:solidFill>
              <a:srgbClr val="FFFFFF"/>
            </a:solidFill>
            <a:prstDash val="solid"/>
          </a:ln>
        </p:spPr>
      </p:sp>
      <p:sp>
        <p:nvSpPr>
          <p:cNvPr id="22" name="Text 20"/>
          <p:cNvSpPr/>
          <p:nvPr/>
        </p:nvSpPr>
        <p:spPr>
          <a:xfrm>
            <a:off x="548640" y="5486400"/>
            <a:ext cx="10972800" cy="36576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Per-cohort revenue for college  </a:t>
            </a:r>
            <a:pPr indent="0" marL="0">
              <a:buNone/>
            </a:pPr>
            <a:r>
              <a:rPr lang="en-US" sz="1700" dirty="0">
                <a:solidFill>
                  <a:srgbClr val="B6CDE5"/>
                </a:solidFill>
                <a:latin typeface="Inter" pitchFamily="34" charset="0"/>
                <a:ea typeface="Inter" pitchFamily="34" charset="-122"/>
                <a:cs typeface="Inter" pitchFamily="34" charset="-120"/>
              </a:rPr>
              <a:t>(100 × ₹6,000)  </a:t>
            </a:r>
            <a:pPr indent="0" marL="0">
              <a:buNone/>
            </a:pPr>
            <a:r>
              <a:rPr lang="en-US" sz="1700" b="1" dirty="0">
                <a:solidFill>
                  <a:srgbClr val="FFC700"/>
                </a:solidFill>
                <a:latin typeface="Inter" pitchFamily="34" charset="0"/>
                <a:ea typeface="Inter" pitchFamily="34" charset="-122"/>
                <a:cs typeface="Inter" pitchFamily="34" charset="-120"/>
              </a:rPr>
              <a:t>= ₹6 lakh</a:t>
            </a:r>
            <a:endParaRPr lang="en-US" sz="1700" dirty="0"/>
          </a:p>
        </p:txBody>
      </p:sp>
      <p:sp>
        <p:nvSpPr>
          <p:cNvPr id="23" name="Text 21"/>
          <p:cNvSpPr/>
          <p:nvPr/>
        </p:nvSpPr>
        <p:spPr>
          <a:xfrm>
            <a:off x="548640" y="5897880"/>
            <a:ext cx="11430000" cy="36576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Two cohorts per year  </a:t>
            </a:r>
            <a:pPr indent="0" marL="0">
              <a:buNone/>
            </a:pPr>
            <a:r>
              <a:rPr lang="en-US" sz="1700" dirty="0">
                <a:solidFill>
                  <a:srgbClr val="B6CDE5"/>
                </a:solidFill>
                <a:latin typeface="Inter" pitchFamily="34" charset="0"/>
                <a:ea typeface="Inter" pitchFamily="34" charset="-122"/>
                <a:cs typeface="Inter" pitchFamily="34" charset="-120"/>
              </a:rPr>
              <a:t>(summer + winter)  </a:t>
            </a:r>
            <a:pPr indent="0" marL="0">
              <a:buNone/>
            </a:pPr>
            <a:r>
              <a:rPr lang="en-US" sz="1700" b="1" dirty="0">
                <a:solidFill>
                  <a:srgbClr val="FFC700"/>
                </a:solidFill>
                <a:latin typeface="Inter" pitchFamily="34" charset="0"/>
                <a:ea typeface="Inter" pitchFamily="34" charset="-122"/>
                <a:cs typeface="Inter" pitchFamily="34" charset="-120"/>
              </a:rPr>
              <a:t>= ₹12 lakh annual margin to your institution</a:t>
            </a:r>
            <a:endParaRPr lang="en-US" sz="1700" dirty="0"/>
          </a:p>
        </p:txBody>
      </p:sp>
      <p:sp>
        <p:nvSpPr>
          <p:cNvPr id="24" name="Shape 22"/>
          <p:cNvSpPr/>
          <p:nvPr/>
        </p:nvSpPr>
        <p:spPr>
          <a:xfrm>
            <a:off x="548640" y="6355080"/>
            <a:ext cx="11094415" cy="0"/>
          </a:xfrm>
          <a:prstGeom prst="line">
            <a:avLst/>
          </a:prstGeom>
          <a:noFill/>
          <a:ln w="12700">
            <a:solidFill>
              <a:srgbClr val="FFFFFF"/>
            </a:solidFill>
            <a:prstDash val="solid"/>
          </a:ln>
        </p:spPr>
      </p:sp>
      <p:sp>
        <p:nvSpPr>
          <p:cNvPr id="25" name="Text 23"/>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COMMERCIAL MODEL</a:t>
            </a:r>
            <a:endParaRPr lang="en-US" sz="900" dirty="0"/>
          </a:p>
        </p:txBody>
      </p:sp>
      <p:sp>
        <p:nvSpPr>
          <p:cNvPr id="26" name="Shape 24"/>
          <p:cNvSpPr/>
          <p:nvPr/>
        </p:nvSpPr>
        <p:spPr>
          <a:xfrm>
            <a:off x="10545775" y="6473952"/>
            <a:ext cx="1097280" cy="228600"/>
          </a:xfrm>
          <a:prstGeom prst="rect">
            <a:avLst/>
          </a:prstGeom>
          <a:solidFill>
            <a:srgbClr val="FFC700"/>
          </a:solidFill>
          <a:ln w="12700">
            <a:solidFill>
              <a:srgbClr val="FFC700"/>
            </a:solidFill>
            <a:prstDash val="solid"/>
          </a:ln>
        </p:spPr>
      </p:sp>
      <p:sp>
        <p:nvSpPr>
          <p:cNvPr id="27" name="Text 25"/>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HOW WE DIFFER · STATION 13</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13 / 17</a:t>
            </a:r>
            <a:endParaRPr lang="en-US" sz="1100" dirty="0"/>
          </a:p>
        </p:txBody>
      </p:sp>
      <p:sp>
        <p:nvSpPr>
          <p:cNvPr id="7" name="Text 5"/>
          <p:cNvSpPr/>
          <p:nvPr/>
        </p:nvSpPr>
        <p:spPr>
          <a:xfrm>
            <a:off x="548640" y="1280160"/>
            <a:ext cx="10972800" cy="1371600"/>
          </a:xfrm>
          <a:prstGeom prst="rect">
            <a:avLst/>
          </a:prstGeom>
          <a:noFill/>
          <a:ln/>
        </p:spPr>
        <p:txBody>
          <a:bodyPr wrap="square" lIns="0" tIns="0" rIns="0" bIns="0" rtlCol="0" anchor="ctr"/>
          <a:lstStyle/>
          <a:p>
            <a:pPr indent="0" marL="0">
              <a:lnSpc>
                <a:spcPts val="3400"/>
              </a:lnSpc>
              <a:buNone/>
            </a:pPr>
            <a:r>
              <a:rPr lang="en-US" sz="2800" b="1" spc="-50" kern="0" dirty="0">
                <a:solidFill>
                  <a:srgbClr val="FFFFFF"/>
                </a:solidFill>
                <a:latin typeface="Inter" pitchFamily="34" charset="0"/>
                <a:ea typeface="Inter" pitchFamily="34" charset="-122"/>
                <a:cs typeface="Inter" pitchFamily="34" charset="-120"/>
              </a:rPr>
              <a:t>Why BuildAI is not Newton School,</a:t>
            </a:r>
            <a:endParaRPr lang="en-US" sz="2800" dirty="0"/>
          </a:p>
          <a:p>
            <a:pPr indent="0" marL="0">
              <a:lnSpc>
                <a:spcPts val="3400"/>
              </a:lnSpc>
              <a:buNone/>
            </a:pPr>
            <a:r>
              <a:rPr lang="en-US" sz="2800" b="1" spc="-50" kern="0" dirty="0">
                <a:solidFill>
                  <a:srgbClr val="FFFFFF"/>
                </a:solidFill>
                <a:latin typeface="Inter" pitchFamily="34" charset="0"/>
                <a:ea typeface="Inter" pitchFamily="34" charset="-122"/>
                <a:cs typeface="Inter" pitchFamily="34" charset="-120"/>
              </a:rPr>
              <a:t>upGrad, or Internshala.</a:t>
            </a:r>
            <a:endParaRPr lang="en-US" sz="2800" dirty="0"/>
          </a:p>
        </p:txBody>
      </p:sp>
      <p:sp>
        <p:nvSpPr>
          <p:cNvPr id="8" name="Shape 6"/>
          <p:cNvSpPr/>
          <p:nvPr/>
        </p:nvSpPr>
        <p:spPr>
          <a:xfrm>
            <a:off x="548640" y="2880360"/>
            <a:ext cx="2194560" cy="457200"/>
          </a:xfrm>
          <a:prstGeom prst="rect">
            <a:avLst/>
          </a:prstGeom>
          <a:solidFill>
            <a:srgbClr val="002651"/>
          </a:solidFill>
          <a:ln w="9525">
            <a:solidFill>
              <a:srgbClr val="003D7A"/>
            </a:solidFill>
            <a:prstDash val="solid"/>
          </a:ln>
        </p:spPr>
      </p:sp>
      <p:sp>
        <p:nvSpPr>
          <p:cNvPr id="9" name="Text 7"/>
          <p:cNvSpPr/>
          <p:nvPr/>
        </p:nvSpPr>
        <p:spPr>
          <a:xfrm>
            <a:off x="685800" y="2880360"/>
            <a:ext cx="1920240" cy="457200"/>
          </a:xfrm>
          <a:prstGeom prst="rect">
            <a:avLst/>
          </a:prstGeom>
          <a:noFill/>
          <a:ln/>
        </p:spPr>
        <p:txBody>
          <a:bodyPr wrap="square" lIns="0" tIns="0" rIns="0" bIns="0" rtlCol="0" anchor="ctr"/>
          <a:lstStyle/>
          <a:p>
            <a:pPr indent="0" marL="0">
              <a:buNone/>
            </a:pPr>
            <a:endParaRPr lang="en-US" sz="1200" dirty="0"/>
          </a:p>
        </p:txBody>
      </p:sp>
      <p:sp>
        <p:nvSpPr>
          <p:cNvPr id="10" name="Shape 8"/>
          <p:cNvSpPr/>
          <p:nvPr/>
        </p:nvSpPr>
        <p:spPr>
          <a:xfrm>
            <a:off x="2743200" y="2880360"/>
            <a:ext cx="2377440" cy="457200"/>
          </a:xfrm>
          <a:prstGeom prst="rect">
            <a:avLst/>
          </a:prstGeom>
          <a:solidFill>
            <a:srgbClr val="FFC700"/>
          </a:solidFill>
          <a:ln w="9525">
            <a:solidFill>
              <a:srgbClr val="003D7A"/>
            </a:solidFill>
            <a:prstDash val="solid"/>
          </a:ln>
        </p:spPr>
      </p:sp>
      <p:sp>
        <p:nvSpPr>
          <p:cNvPr id="11" name="Text 9"/>
          <p:cNvSpPr/>
          <p:nvPr/>
        </p:nvSpPr>
        <p:spPr>
          <a:xfrm>
            <a:off x="2880360" y="2880360"/>
            <a:ext cx="2103120" cy="45720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BuildAI</a:t>
            </a:r>
            <a:endParaRPr lang="en-US" sz="1200" dirty="0"/>
          </a:p>
        </p:txBody>
      </p:sp>
      <p:sp>
        <p:nvSpPr>
          <p:cNvPr id="12" name="Shape 10"/>
          <p:cNvSpPr/>
          <p:nvPr/>
        </p:nvSpPr>
        <p:spPr>
          <a:xfrm>
            <a:off x="5120640" y="2880360"/>
            <a:ext cx="2194560" cy="457200"/>
          </a:xfrm>
          <a:prstGeom prst="rect">
            <a:avLst/>
          </a:prstGeom>
          <a:solidFill>
            <a:srgbClr val="002651"/>
          </a:solidFill>
          <a:ln w="9525">
            <a:solidFill>
              <a:srgbClr val="003D7A"/>
            </a:solidFill>
            <a:prstDash val="solid"/>
          </a:ln>
        </p:spPr>
      </p:sp>
      <p:sp>
        <p:nvSpPr>
          <p:cNvPr id="13" name="Text 11"/>
          <p:cNvSpPr/>
          <p:nvPr/>
        </p:nvSpPr>
        <p:spPr>
          <a:xfrm>
            <a:off x="5257800" y="28803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Newton School</a:t>
            </a:r>
            <a:endParaRPr lang="en-US" sz="1200" dirty="0"/>
          </a:p>
        </p:txBody>
      </p:sp>
      <p:sp>
        <p:nvSpPr>
          <p:cNvPr id="14" name="Shape 12"/>
          <p:cNvSpPr/>
          <p:nvPr/>
        </p:nvSpPr>
        <p:spPr>
          <a:xfrm>
            <a:off x="7315200" y="2880360"/>
            <a:ext cx="2194560" cy="457200"/>
          </a:xfrm>
          <a:prstGeom prst="rect">
            <a:avLst/>
          </a:prstGeom>
          <a:solidFill>
            <a:srgbClr val="002651"/>
          </a:solidFill>
          <a:ln w="9525">
            <a:solidFill>
              <a:srgbClr val="003D7A"/>
            </a:solidFill>
            <a:prstDash val="solid"/>
          </a:ln>
        </p:spPr>
      </p:sp>
      <p:sp>
        <p:nvSpPr>
          <p:cNvPr id="15" name="Text 13"/>
          <p:cNvSpPr/>
          <p:nvPr/>
        </p:nvSpPr>
        <p:spPr>
          <a:xfrm>
            <a:off x="7452360" y="28803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upGrad</a:t>
            </a:r>
            <a:endParaRPr lang="en-US" sz="1200" dirty="0"/>
          </a:p>
        </p:txBody>
      </p:sp>
      <p:sp>
        <p:nvSpPr>
          <p:cNvPr id="16" name="Shape 14"/>
          <p:cNvSpPr/>
          <p:nvPr/>
        </p:nvSpPr>
        <p:spPr>
          <a:xfrm>
            <a:off x="9509760" y="2880360"/>
            <a:ext cx="2103120" cy="457200"/>
          </a:xfrm>
          <a:prstGeom prst="rect">
            <a:avLst/>
          </a:prstGeom>
          <a:solidFill>
            <a:srgbClr val="002651"/>
          </a:solidFill>
          <a:ln w="9525">
            <a:solidFill>
              <a:srgbClr val="003D7A"/>
            </a:solidFill>
            <a:prstDash val="solid"/>
          </a:ln>
        </p:spPr>
      </p:sp>
      <p:sp>
        <p:nvSpPr>
          <p:cNvPr id="17" name="Text 15"/>
          <p:cNvSpPr/>
          <p:nvPr/>
        </p:nvSpPr>
        <p:spPr>
          <a:xfrm>
            <a:off x="9646920" y="2880360"/>
            <a:ext cx="182880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Internshala</a:t>
            </a:r>
            <a:endParaRPr lang="en-US" sz="1200" dirty="0"/>
          </a:p>
        </p:txBody>
      </p:sp>
      <p:sp>
        <p:nvSpPr>
          <p:cNvPr id="18" name="Shape 16"/>
          <p:cNvSpPr/>
          <p:nvPr/>
        </p:nvSpPr>
        <p:spPr>
          <a:xfrm>
            <a:off x="548640" y="3337560"/>
            <a:ext cx="2194560" cy="457200"/>
          </a:xfrm>
          <a:prstGeom prst="rect">
            <a:avLst/>
          </a:prstGeom>
          <a:solidFill>
            <a:srgbClr val="002651"/>
          </a:solidFill>
          <a:ln w="9525">
            <a:solidFill>
              <a:srgbClr val="003D7A"/>
            </a:solidFill>
            <a:prstDash val="solid"/>
          </a:ln>
        </p:spPr>
      </p:sp>
      <p:sp>
        <p:nvSpPr>
          <p:cNvPr id="19" name="Text 17"/>
          <p:cNvSpPr/>
          <p:nvPr/>
        </p:nvSpPr>
        <p:spPr>
          <a:xfrm>
            <a:off x="685800" y="33375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Format</a:t>
            </a:r>
            <a:endParaRPr lang="en-US" sz="1200" dirty="0"/>
          </a:p>
        </p:txBody>
      </p:sp>
      <p:sp>
        <p:nvSpPr>
          <p:cNvPr id="20" name="Shape 18"/>
          <p:cNvSpPr/>
          <p:nvPr/>
        </p:nvSpPr>
        <p:spPr>
          <a:xfrm>
            <a:off x="2743200" y="3337560"/>
            <a:ext cx="2377440" cy="457200"/>
          </a:xfrm>
          <a:prstGeom prst="rect">
            <a:avLst/>
          </a:prstGeom>
          <a:solidFill>
            <a:srgbClr val="FFC700"/>
          </a:solidFill>
          <a:ln w="9525">
            <a:solidFill>
              <a:srgbClr val="003D7A"/>
            </a:solidFill>
            <a:prstDash val="solid"/>
          </a:ln>
        </p:spPr>
      </p:sp>
      <p:sp>
        <p:nvSpPr>
          <p:cNvPr id="21" name="Text 19"/>
          <p:cNvSpPr/>
          <p:nvPr/>
        </p:nvSpPr>
        <p:spPr>
          <a:xfrm>
            <a:off x="2880360" y="3337560"/>
            <a:ext cx="2103120" cy="45720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Apprenticeship</a:t>
            </a:r>
            <a:endParaRPr lang="en-US" sz="1200" dirty="0"/>
          </a:p>
        </p:txBody>
      </p:sp>
      <p:sp>
        <p:nvSpPr>
          <p:cNvPr id="22" name="Shape 20"/>
          <p:cNvSpPr/>
          <p:nvPr/>
        </p:nvSpPr>
        <p:spPr>
          <a:xfrm>
            <a:off x="5120640" y="3337560"/>
            <a:ext cx="2194560" cy="457200"/>
          </a:xfrm>
          <a:prstGeom prst="rect">
            <a:avLst/>
          </a:prstGeom>
          <a:solidFill>
            <a:srgbClr val="002651"/>
          </a:solidFill>
          <a:ln w="9525">
            <a:solidFill>
              <a:srgbClr val="003D7A"/>
            </a:solidFill>
            <a:prstDash val="solid"/>
          </a:ln>
        </p:spPr>
      </p:sp>
      <p:sp>
        <p:nvSpPr>
          <p:cNvPr id="23" name="Text 21"/>
          <p:cNvSpPr/>
          <p:nvPr/>
        </p:nvSpPr>
        <p:spPr>
          <a:xfrm>
            <a:off x="5257800" y="33375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Embedded school</a:t>
            </a:r>
            <a:endParaRPr lang="en-US" sz="1200" dirty="0"/>
          </a:p>
        </p:txBody>
      </p:sp>
      <p:sp>
        <p:nvSpPr>
          <p:cNvPr id="24" name="Shape 22"/>
          <p:cNvSpPr/>
          <p:nvPr/>
        </p:nvSpPr>
        <p:spPr>
          <a:xfrm>
            <a:off x="7315200" y="3337560"/>
            <a:ext cx="2194560" cy="457200"/>
          </a:xfrm>
          <a:prstGeom prst="rect">
            <a:avLst/>
          </a:prstGeom>
          <a:solidFill>
            <a:srgbClr val="002651"/>
          </a:solidFill>
          <a:ln w="9525">
            <a:solidFill>
              <a:srgbClr val="003D7A"/>
            </a:solidFill>
            <a:prstDash val="solid"/>
          </a:ln>
        </p:spPr>
      </p:sp>
      <p:sp>
        <p:nvSpPr>
          <p:cNvPr id="25" name="Text 23"/>
          <p:cNvSpPr/>
          <p:nvPr/>
        </p:nvSpPr>
        <p:spPr>
          <a:xfrm>
            <a:off x="7452360" y="33375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Video courses</a:t>
            </a:r>
            <a:endParaRPr lang="en-US" sz="1200" dirty="0"/>
          </a:p>
        </p:txBody>
      </p:sp>
      <p:sp>
        <p:nvSpPr>
          <p:cNvPr id="26" name="Shape 24"/>
          <p:cNvSpPr/>
          <p:nvPr/>
        </p:nvSpPr>
        <p:spPr>
          <a:xfrm>
            <a:off x="9509760" y="3337560"/>
            <a:ext cx="2103120" cy="457200"/>
          </a:xfrm>
          <a:prstGeom prst="rect">
            <a:avLst/>
          </a:prstGeom>
          <a:solidFill>
            <a:srgbClr val="002651"/>
          </a:solidFill>
          <a:ln w="9525">
            <a:solidFill>
              <a:srgbClr val="003D7A"/>
            </a:solidFill>
            <a:prstDash val="solid"/>
          </a:ln>
        </p:spPr>
      </p:sp>
      <p:sp>
        <p:nvSpPr>
          <p:cNvPr id="27" name="Text 25"/>
          <p:cNvSpPr/>
          <p:nvPr/>
        </p:nvSpPr>
        <p:spPr>
          <a:xfrm>
            <a:off x="9646920" y="3337560"/>
            <a:ext cx="182880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Self-paced</a:t>
            </a:r>
            <a:endParaRPr lang="en-US" sz="1200" dirty="0"/>
          </a:p>
        </p:txBody>
      </p:sp>
      <p:sp>
        <p:nvSpPr>
          <p:cNvPr id="28" name="Shape 26"/>
          <p:cNvSpPr/>
          <p:nvPr/>
        </p:nvSpPr>
        <p:spPr>
          <a:xfrm>
            <a:off x="548640" y="3794760"/>
            <a:ext cx="2194560" cy="457200"/>
          </a:xfrm>
          <a:prstGeom prst="rect">
            <a:avLst/>
          </a:prstGeom>
          <a:solidFill>
            <a:srgbClr val="002651"/>
          </a:solidFill>
          <a:ln w="9525">
            <a:solidFill>
              <a:srgbClr val="003D7A"/>
            </a:solidFill>
            <a:prstDash val="solid"/>
          </a:ln>
        </p:spPr>
      </p:sp>
      <p:sp>
        <p:nvSpPr>
          <p:cNvPr id="29" name="Text 27"/>
          <p:cNvSpPr/>
          <p:nvPr/>
        </p:nvSpPr>
        <p:spPr>
          <a:xfrm>
            <a:off x="685800" y="37947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AI-native?</a:t>
            </a:r>
            <a:endParaRPr lang="en-US" sz="1200" dirty="0"/>
          </a:p>
        </p:txBody>
      </p:sp>
      <p:sp>
        <p:nvSpPr>
          <p:cNvPr id="30" name="Shape 28"/>
          <p:cNvSpPr/>
          <p:nvPr/>
        </p:nvSpPr>
        <p:spPr>
          <a:xfrm>
            <a:off x="2743200" y="3794760"/>
            <a:ext cx="2377440" cy="457200"/>
          </a:xfrm>
          <a:prstGeom prst="rect">
            <a:avLst/>
          </a:prstGeom>
          <a:solidFill>
            <a:srgbClr val="FFC700"/>
          </a:solidFill>
          <a:ln w="9525">
            <a:solidFill>
              <a:srgbClr val="003D7A"/>
            </a:solidFill>
            <a:prstDash val="solid"/>
          </a:ln>
        </p:spPr>
      </p:sp>
      <p:sp>
        <p:nvSpPr>
          <p:cNvPr id="31" name="Text 29"/>
          <p:cNvSpPr/>
          <p:nvPr/>
        </p:nvSpPr>
        <p:spPr>
          <a:xfrm>
            <a:off x="2880360" y="3794760"/>
            <a:ext cx="2103120" cy="45720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Built-in</a:t>
            </a:r>
            <a:endParaRPr lang="en-US" sz="1200" dirty="0"/>
          </a:p>
        </p:txBody>
      </p:sp>
      <p:sp>
        <p:nvSpPr>
          <p:cNvPr id="32" name="Shape 30"/>
          <p:cNvSpPr/>
          <p:nvPr/>
        </p:nvSpPr>
        <p:spPr>
          <a:xfrm>
            <a:off x="5120640" y="3794760"/>
            <a:ext cx="2194560" cy="457200"/>
          </a:xfrm>
          <a:prstGeom prst="rect">
            <a:avLst/>
          </a:prstGeom>
          <a:solidFill>
            <a:srgbClr val="002651"/>
          </a:solidFill>
          <a:ln w="9525">
            <a:solidFill>
              <a:srgbClr val="003D7A"/>
            </a:solidFill>
            <a:prstDash val="solid"/>
          </a:ln>
        </p:spPr>
      </p:sp>
      <p:sp>
        <p:nvSpPr>
          <p:cNvPr id="33" name="Text 31"/>
          <p:cNvSpPr/>
          <p:nvPr/>
        </p:nvSpPr>
        <p:spPr>
          <a:xfrm>
            <a:off x="5257800" y="37947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Bolted on</a:t>
            </a:r>
            <a:endParaRPr lang="en-US" sz="1200" dirty="0"/>
          </a:p>
        </p:txBody>
      </p:sp>
      <p:sp>
        <p:nvSpPr>
          <p:cNvPr id="34" name="Shape 32"/>
          <p:cNvSpPr/>
          <p:nvPr/>
        </p:nvSpPr>
        <p:spPr>
          <a:xfrm>
            <a:off x="7315200" y="3794760"/>
            <a:ext cx="2194560" cy="457200"/>
          </a:xfrm>
          <a:prstGeom prst="rect">
            <a:avLst/>
          </a:prstGeom>
          <a:solidFill>
            <a:srgbClr val="002651"/>
          </a:solidFill>
          <a:ln w="9525">
            <a:solidFill>
              <a:srgbClr val="003D7A"/>
            </a:solidFill>
            <a:prstDash val="solid"/>
          </a:ln>
        </p:spPr>
      </p:sp>
      <p:sp>
        <p:nvSpPr>
          <p:cNvPr id="35" name="Text 33"/>
          <p:cNvSpPr/>
          <p:nvPr/>
        </p:nvSpPr>
        <p:spPr>
          <a:xfrm>
            <a:off x="7452360" y="37947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Generic literacy</a:t>
            </a:r>
            <a:endParaRPr lang="en-US" sz="1200" dirty="0"/>
          </a:p>
        </p:txBody>
      </p:sp>
      <p:sp>
        <p:nvSpPr>
          <p:cNvPr id="36" name="Shape 34"/>
          <p:cNvSpPr/>
          <p:nvPr/>
        </p:nvSpPr>
        <p:spPr>
          <a:xfrm>
            <a:off x="9509760" y="3794760"/>
            <a:ext cx="2103120" cy="457200"/>
          </a:xfrm>
          <a:prstGeom prst="rect">
            <a:avLst/>
          </a:prstGeom>
          <a:solidFill>
            <a:srgbClr val="002651"/>
          </a:solidFill>
          <a:ln w="9525">
            <a:solidFill>
              <a:srgbClr val="003D7A"/>
            </a:solidFill>
            <a:prstDash val="solid"/>
          </a:ln>
        </p:spPr>
      </p:sp>
      <p:sp>
        <p:nvSpPr>
          <p:cNvPr id="37" name="Text 35"/>
          <p:cNvSpPr/>
          <p:nvPr/>
        </p:nvSpPr>
        <p:spPr>
          <a:xfrm>
            <a:off x="9646920" y="3794760"/>
            <a:ext cx="182880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Basic prompts</a:t>
            </a:r>
            <a:endParaRPr lang="en-US" sz="1200" dirty="0"/>
          </a:p>
        </p:txBody>
      </p:sp>
      <p:sp>
        <p:nvSpPr>
          <p:cNvPr id="38" name="Shape 36"/>
          <p:cNvSpPr/>
          <p:nvPr/>
        </p:nvSpPr>
        <p:spPr>
          <a:xfrm>
            <a:off x="548640" y="4251960"/>
            <a:ext cx="2194560" cy="457200"/>
          </a:xfrm>
          <a:prstGeom prst="rect">
            <a:avLst/>
          </a:prstGeom>
          <a:solidFill>
            <a:srgbClr val="002651"/>
          </a:solidFill>
          <a:ln w="9525">
            <a:solidFill>
              <a:srgbClr val="003D7A"/>
            </a:solidFill>
            <a:prstDash val="solid"/>
          </a:ln>
        </p:spPr>
      </p:sp>
      <p:sp>
        <p:nvSpPr>
          <p:cNvPr id="39" name="Text 37"/>
          <p:cNvSpPr/>
          <p:nvPr/>
        </p:nvSpPr>
        <p:spPr>
          <a:xfrm>
            <a:off x="685800" y="42519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Evaluation</a:t>
            </a:r>
            <a:endParaRPr lang="en-US" sz="1200" dirty="0"/>
          </a:p>
        </p:txBody>
      </p:sp>
      <p:sp>
        <p:nvSpPr>
          <p:cNvPr id="40" name="Shape 38"/>
          <p:cNvSpPr/>
          <p:nvPr/>
        </p:nvSpPr>
        <p:spPr>
          <a:xfrm>
            <a:off x="2743200" y="4251960"/>
            <a:ext cx="2377440" cy="457200"/>
          </a:xfrm>
          <a:prstGeom prst="rect">
            <a:avLst/>
          </a:prstGeom>
          <a:solidFill>
            <a:srgbClr val="FFC700"/>
          </a:solidFill>
          <a:ln w="9525">
            <a:solidFill>
              <a:srgbClr val="003D7A"/>
            </a:solidFill>
            <a:prstDash val="solid"/>
          </a:ln>
        </p:spPr>
      </p:sp>
      <p:sp>
        <p:nvSpPr>
          <p:cNvPr id="41" name="Text 39"/>
          <p:cNvSpPr/>
          <p:nvPr/>
        </p:nvSpPr>
        <p:spPr>
          <a:xfrm>
            <a:off x="2880360" y="4251960"/>
            <a:ext cx="2103120" cy="45720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7-dim + external</a:t>
            </a:r>
            <a:endParaRPr lang="en-US" sz="1200" dirty="0"/>
          </a:p>
        </p:txBody>
      </p:sp>
      <p:sp>
        <p:nvSpPr>
          <p:cNvPr id="42" name="Shape 40"/>
          <p:cNvSpPr/>
          <p:nvPr/>
        </p:nvSpPr>
        <p:spPr>
          <a:xfrm>
            <a:off x="5120640" y="4251960"/>
            <a:ext cx="2194560" cy="457200"/>
          </a:xfrm>
          <a:prstGeom prst="rect">
            <a:avLst/>
          </a:prstGeom>
          <a:solidFill>
            <a:srgbClr val="002651"/>
          </a:solidFill>
          <a:ln w="9525">
            <a:solidFill>
              <a:srgbClr val="003D7A"/>
            </a:solidFill>
            <a:prstDash val="solid"/>
          </a:ln>
        </p:spPr>
      </p:sp>
      <p:sp>
        <p:nvSpPr>
          <p:cNvPr id="43" name="Text 41"/>
          <p:cNvSpPr/>
          <p:nvPr/>
        </p:nvSpPr>
        <p:spPr>
          <a:xfrm>
            <a:off x="5257800" y="42519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Internal grading</a:t>
            </a:r>
            <a:endParaRPr lang="en-US" sz="1200" dirty="0"/>
          </a:p>
        </p:txBody>
      </p:sp>
      <p:sp>
        <p:nvSpPr>
          <p:cNvPr id="44" name="Shape 42"/>
          <p:cNvSpPr/>
          <p:nvPr/>
        </p:nvSpPr>
        <p:spPr>
          <a:xfrm>
            <a:off x="7315200" y="4251960"/>
            <a:ext cx="2194560" cy="457200"/>
          </a:xfrm>
          <a:prstGeom prst="rect">
            <a:avLst/>
          </a:prstGeom>
          <a:solidFill>
            <a:srgbClr val="002651"/>
          </a:solidFill>
          <a:ln w="9525">
            <a:solidFill>
              <a:srgbClr val="003D7A"/>
            </a:solidFill>
            <a:prstDash val="solid"/>
          </a:ln>
        </p:spPr>
      </p:sp>
      <p:sp>
        <p:nvSpPr>
          <p:cNvPr id="45" name="Text 43"/>
          <p:cNvSpPr/>
          <p:nvPr/>
        </p:nvSpPr>
        <p:spPr>
          <a:xfrm>
            <a:off x="7452360" y="42519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Course completion</a:t>
            </a:r>
            <a:endParaRPr lang="en-US" sz="1200" dirty="0"/>
          </a:p>
        </p:txBody>
      </p:sp>
      <p:sp>
        <p:nvSpPr>
          <p:cNvPr id="46" name="Shape 44"/>
          <p:cNvSpPr/>
          <p:nvPr/>
        </p:nvSpPr>
        <p:spPr>
          <a:xfrm>
            <a:off x="9509760" y="4251960"/>
            <a:ext cx="2103120" cy="457200"/>
          </a:xfrm>
          <a:prstGeom prst="rect">
            <a:avLst/>
          </a:prstGeom>
          <a:solidFill>
            <a:srgbClr val="002651"/>
          </a:solidFill>
          <a:ln w="9525">
            <a:solidFill>
              <a:srgbClr val="003D7A"/>
            </a:solidFill>
            <a:prstDash val="solid"/>
          </a:ln>
        </p:spPr>
      </p:sp>
      <p:sp>
        <p:nvSpPr>
          <p:cNvPr id="47" name="Text 45"/>
          <p:cNvSpPr/>
          <p:nvPr/>
        </p:nvSpPr>
        <p:spPr>
          <a:xfrm>
            <a:off x="9646920" y="4251960"/>
            <a:ext cx="182880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Auto certificate</a:t>
            </a:r>
            <a:endParaRPr lang="en-US" sz="1200" dirty="0"/>
          </a:p>
        </p:txBody>
      </p:sp>
      <p:sp>
        <p:nvSpPr>
          <p:cNvPr id="48" name="Shape 46"/>
          <p:cNvSpPr/>
          <p:nvPr/>
        </p:nvSpPr>
        <p:spPr>
          <a:xfrm>
            <a:off x="548640" y="4709160"/>
            <a:ext cx="2194560" cy="457200"/>
          </a:xfrm>
          <a:prstGeom prst="rect">
            <a:avLst/>
          </a:prstGeom>
          <a:solidFill>
            <a:srgbClr val="002651"/>
          </a:solidFill>
          <a:ln w="9525">
            <a:solidFill>
              <a:srgbClr val="003D7A"/>
            </a:solidFill>
            <a:prstDash val="solid"/>
          </a:ln>
        </p:spPr>
      </p:sp>
      <p:sp>
        <p:nvSpPr>
          <p:cNvPr id="49" name="Text 47"/>
          <p:cNvSpPr/>
          <p:nvPr/>
        </p:nvSpPr>
        <p:spPr>
          <a:xfrm>
            <a:off x="685800" y="47091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Output</a:t>
            </a:r>
            <a:endParaRPr lang="en-US" sz="1200" dirty="0"/>
          </a:p>
        </p:txBody>
      </p:sp>
      <p:sp>
        <p:nvSpPr>
          <p:cNvPr id="50" name="Shape 48"/>
          <p:cNvSpPr/>
          <p:nvPr/>
        </p:nvSpPr>
        <p:spPr>
          <a:xfrm>
            <a:off x="2743200" y="4709160"/>
            <a:ext cx="2377440" cy="457200"/>
          </a:xfrm>
          <a:prstGeom prst="rect">
            <a:avLst/>
          </a:prstGeom>
          <a:solidFill>
            <a:srgbClr val="FFC700"/>
          </a:solidFill>
          <a:ln w="9525">
            <a:solidFill>
              <a:srgbClr val="003D7A"/>
            </a:solidFill>
            <a:prstDash val="solid"/>
          </a:ln>
        </p:spPr>
      </p:sp>
      <p:sp>
        <p:nvSpPr>
          <p:cNvPr id="51" name="Text 49"/>
          <p:cNvSpPr/>
          <p:nvPr/>
        </p:nvSpPr>
        <p:spPr>
          <a:xfrm>
            <a:off x="2880360" y="4709160"/>
            <a:ext cx="2103120" cy="45720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Public portfolio</a:t>
            </a:r>
            <a:endParaRPr lang="en-US" sz="1200" dirty="0"/>
          </a:p>
        </p:txBody>
      </p:sp>
      <p:sp>
        <p:nvSpPr>
          <p:cNvPr id="52" name="Shape 50"/>
          <p:cNvSpPr/>
          <p:nvPr/>
        </p:nvSpPr>
        <p:spPr>
          <a:xfrm>
            <a:off x="5120640" y="4709160"/>
            <a:ext cx="2194560" cy="457200"/>
          </a:xfrm>
          <a:prstGeom prst="rect">
            <a:avLst/>
          </a:prstGeom>
          <a:solidFill>
            <a:srgbClr val="002651"/>
          </a:solidFill>
          <a:ln w="9525">
            <a:solidFill>
              <a:srgbClr val="003D7A"/>
            </a:solidFill>
            <a:prstDash val="solid"/>
          </a:ln>
        </p:spPr>
      </p:sp>
      <p:sp>
        <p:nvSpPr>
          <p:cNvPr id="53" name="Text 51"/>
          <p:cNvSpPr/>
          <p:nvPr/>
        </p:nvSpPr>
        <p:spPr>
          <a:xfrm>
            <a:off x="5257800" y="47091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Class projects</a:t>
            </a:r>
            <a:endParaRPr lang="en-US" sz="1200" dirty="0"/>
          </a:p>
        </p:txBody>
      </p:sp>
      <p:sp>
        <p:nvSpPr>
          <p:cNvPr id="54" name="Shape 52"/>
          <p:cNvSpPr/>
          <p:nvPr/>
        </p:nvSpPr>
        <p:spPr>
          <a:xfrm>
            <a:off x="7315200" y="4709160"/>
            <a:ext cx="2194560" cy="457200"/>
          </a:xfrm>
          <a:prstGeom prst="rect">
            <a:avLst/>
          </a:prstGeom>
          <a:solidFill>
            <a:srgbClr val="002651"/>
          </a:solidFill>
          <a:ln w="9525">
            <a:solidFill>
              <a:srgbClr val="003D7A"/>
            </a:solidFill>
            <a:prstDash val="solid"/>
          </a:ln>
        </p:spPr>
      </p:sp>
      <p:sp>
        <p:nvSpPr>
          <p:cNvPr id="55" name="Text 53"/>
          <p:cNvSpPr/>
          <p:nvPr/>
        </p:nvSpPr>
        <p:spPr>
          <a:xfrm>
            <a:off x="7452360" y="47091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Certificate</a:t>
            </a:r>
            <a:endParaRPr lang="en-US" sz="1200" dirty="0"/>
          </a:p>
        </p:txBody>
      </p:sp>
      <p:sp>
        <p:nvSpPr>
          <p:cNvPr id="56" name="Shape 54"/>
          <p:cNvSpPr/>
          <p:nvPr/>
        </p:nvSpPr>
        <p:spPr>
          <a:xfrm>
            <a:off x="9509760" y="4709160"/>
            <a:ext cx="2103120" cy="457200"/>
          </a:xfrm>
          <a:prstGeom prst="rect">
            <a:avLst/>
          </a:prstGeom>
          <a:solidFill>
            <a:srgbClr val="002651"/>
          </a:solidFill>
          <a:ln w="9525">
            <a:solidFill>
              <a:srgbClr val="003D7A"/>
            </a:solidFill>
            <a:prstDash val="solid"/>
          </a:ln>
        </p:spPr>
      </p:sp>
      <p:sp>
        <p:nvSpPr>
          <p:cNvPr id="57" name="Text 55"/>
          <p:cNvSpPr/>
          <p:nvPr/>
        </p:nvSpPr>
        <p:spPr>
          <a:xfrm>
            <a:off x="9646920" y="4709160"/>
            <a:ext cx="182880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Certificate</a:t>
            </a:r>
            <a:endParaRPr lang="en-US" sz="1200" dirty="0"/>
          </a:p>
        </p:txBody>
      </p:sp>
      <p:sp>
        <p:nvSpPr>
          <p:cNvPr id="58" name="Shape 56"/>
          <p:cNvSpPr/>
          <p:nvPr/>
        </p:nvSpPr>
        <p:spPr>
          <a:xfrm>
            <a:off x="548640" y="5166360"/>
            <a:ext cx="2194560" cy="457200"/>
          </a:xfrm>
          <a:prstGeom prst="rect">
            <a:avLst/>
          </a:prstGeom>
          <a:solidFill>
            <a:srgbClr val="002651"/>
          </a:solidFill>
          <a:ln w="9525">
            <a:solidFill>
              <a:srgbClr val="003D7A"/>
            </a:solidFill>
            <a:prstDash val="solid"/>
          </a:ln>
        </p:spPr>
      </p:sp>
      <p:sp>
        <p:nvSpPr>
          <p:cNvPr id="59" name="Text 57"/>
          <p:cNvSpPr/>
          <p:nvPr/>
        </p:nvSpPr>
        <p:spPr>
          <a:xfrm>
            <a:off x="685800" y="51663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Pass rate</a:t>
            </a:r>
            <a:endParaRPr lang="en-US" sz="1200" dirty="0"/>
          </a:p>
        </p:txBody>
      </p:sp>
      <p:sp>
        <p:nvSpPr>
          <p:cNvPr id="60" name="Shape 58"/>
          <p:cNvSpPr/>
          <p:nvPr/>
        </p:nvSpPr>
        <p:spPr>
          <a:xfrm>
            <a:off x="2743200" y="5166360"/>
            <a:ext cx="2377440" cy="457200"/>
          </a:xfrm>
          <a:prstGeom prst="rect">
            <a:avLst/>
          </a:prstGeom>
          <a:solidFill>
            <a:srgbClr val="FFC700"/>
          </a:solidFill>
          <a:ln w="9525">
            <a:solidFill>
              <a:srgbClr val="003D7A"/>
            </a:solidFill>
            <a:prstDash val="solid"/>
          </a:ln>
        </p:spPr>
      </p:sp>
      <p:sp>
        <p:nvSpPr>
          <p:cNvPr id="61" name="Text 59"/>
          <p:cNvSpPr/>
          <p:nvPr/>
        </p:nvSpPr>
        <p:spPr>
          <a:xfrm>
            <a:off x="2880360" y="5166360"/>
            <a:ext cx="2103120" cy="45720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~70% (gated)</a:t>
            </a:r>
            <a:endParaRPr lang="en-US" sz="1200" dirty="0"/>
          </a:p>
        </p:txBody>
      </p:sp>
      <p:sp>
        <p:nvSpPr>
          <p:cNvPr id="62" name="Shape 60"/>
          <p:cNvSpPr/>
          <p:nvPr/>
        </p:nvSpPr>
        <p:spPr>
          <a:xfrm>
            <a:off x="5120640" y="5166360"/>
            <a:ext cx="2194560" cy="457200"/>
          </a:xfrm>
          <a:prstGeom prst="rect">
            <a:avLst/>
          </a:prstGeom>
          <a:solidFill>
            <a:srgbClr val="002651"/>
          </a:solidFill>
          <a:ln w="9525">
            <a:solidFill>
              <a:srgbClr val="003D7A"/>
            </a:solidFill>
            <a:prstDash val="solid"/>
          </a:ln>
        </p:spPr>
      </p:sp>
      <p:sp>
        <p:nvSpPr>
          <p:cNvPr id="63" name="Text 61"/>
          <p:cNvSpPr/>
          <p:nvPr/>
        </p:nvSpPr>
        <p:spPr>
          <a:xfrm>
            <a:off x="5257800" y="51663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~90%+</a:t>
            </a:r>
            <a:endParaRPr lang="en-US" sz="1200" dirty="0"/>
          </a:p>
        </p:txBody>
      </p:sp>
      <p:sp>
        <p:nvSpPr>
          <p:cNvPr id="64" name="Shape 62"/>
          <p:cNvSpPr/>
          <p:nvPr/>
        </p:nvSpPr>
        <p:spPr>
          <a:xfrm>
            <a:off x="7315200" y="5166360"/>
            <a:ext cx="2194560" cy="457200"/>
          </a:xfrm>
          <a:prstGeom prst="rect">
            <a:avLst/>
          </a:prstGeom>
          <a:solidFill>
            <a:srgbClr val="002651"/>
          </a:solidFill>
          <a:ln w="9525">
            <a:solidFill>
              <a:srgbClr val="003D7A"/>
            </a:solidFill>
            <a:prstDash val="solid"/>
          </a:ln>
        </p:spPr>
      </p:sp>
      <p:sp>
        <p:nvSpPr>
          <p:cNvPr id="65" name="Text 63"/>
          <p:cNvSpPr/>
          <p:nvPr/>
        </p:nvSpPr>
        <p:spPr>
          <a:xfrm>
            <a:off x="7452360" y="51663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~95%+</a:t>
            </a:r>
            <a:endParaRPr lang="en-US" sz="1200" dirty="0"/>
          </a:p>
        </p:txBody>
      </p:sp>
      <p:sp>
        <p:nvSpPr>
          <p:cNvPr id="66" name="Shape 64"/>
          <p:cNvSpPr/>
          <p:nvPr/>
        </p:nvSpPr>
        <p:spPr>
          <a:xfrm>
            <a:off x="9509760" y="5166360"/>
            <a:ext cx="2103120" cy="457200"/>
          </a:xfrm>
          <a:prstGeom prst="rect">
            <a:avLst/>
          </a:prstGeom>
          <a:solidFill>
            <a:srgbClr val="002651"/>
          </a:solidFill>
          <a:ln w="9525">
            <a:solidFill>
              <a:srgbClr val="003D7A"/>
            </a:solidFill>
            <a:prstDash val="solid"/>
          </a:ln>
        </p:spPr>
      </p:sp>
      <p:sp>
        <p:nvSpPr>
          <p:cNvPr id="67" name="Text 65"/>
          <p:cNvSpPr/>
          <p:nvPr/>
        </p:nvSpPr>
        <p:spPr>
          <a:xfrm>
            <a:off x="9646920" y="5166360"/>
            <a:ext cx="182880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~95%+</a:t>
            </a:r>
            <a:endParaRPr lang="en-US" sz="1200" dirty="0"/>
          </a:p>
        </p:txBody>
      </p:sp>
      <p:sp>
        <p:nvSpPr>
          <p:cNvPr id="68" name="Shape 66"/>
          <p:cNvSpPr/>
          <p:nvPr/>
        </p:nvSpPr>
        <p:spPr>
          <a:xfrm>
            <a:off x="548640" y="5623560"/>
            <a:ext cx="2194560" cy="457200"/>
          </a:xfrm>
          <a:prstGeom prst="rect">
            <a:avLst/>
          </a:prstGeom>
          <a:solidFill>
            <a:srgbClr val="002651"/>
          </a:solidFill>
          <a:ln w="9525">
            <a:solidFill>
              <a:srgbClr val="003D7A"/>
            </a:solidFill>
            <a:prstDash val="solid"/>
          </a:ln>
        </p:spPr>
      </p:sp>
      <p:sp>
        <p:nvSpPr>
          <p:cNvPr id="69" name="Text 67"/>
          <p:cNvSpPr/>
          <p:nvPr/>
        </p:nvSpPr>
        <p:spPr>
          <a:xfrm>
            <a:off x="685800" y="562356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Price</a:t>
            </a:r>
            <a:endParaRPr lang="en-US" sz="1200" dirty="0"/>
          </a:p>
        </p:txBody>
      </p:sp>
      <p:sp>
        <p:nvSpPr>
          <p:cNvPr id="70" name="Shape 68"/>
          <p:cNvSpPr/>
          <p:nvPr/>
        </p:nvSpPr>
        <p:spPr>
          <a:xfrm>
            <a:off x="2743200" y="5623560"/>
            <a:ext cx="2377440" cy="457200"/>
          </a:xfrm>
          <a:prstGeom prst="rect">
            <a:avLst/>
          </a:prstGeom>
          <a:solidFill>
            <a:srgbClr val="FFC700"/>
          </a:solidFill>
          <a:ln w="9525">
            <a:solidFill>
              <a:srgbClr val="003D7A"/>
            </a:solidFill>
            <a:prstDash val="solid"/>
          </a:ln>
        </p:spPr>
      </p:sp>
      <p:sp>
        <p:nvSpPr>
          <p:cNvPr id="71" name="Text 69"/>
          <p:cNvSpPr/>
          <p:nvPr/>
        </p:nvSpPr>
        <p:spPr>
          <a:xfrm>
            <a:off x="2880360" y="5623560"/>
            <a:ext cx="2103120" cy="45720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₹20–25K</a:t>
            </a:r>
            <a:endParaRPr lang="en-US" sz="1200" dirty="0"/>
          </a:p>
        </p:txBody>
      </p:sp>
      <p:sp>
        <p:nvSpPr>
          <p:cNvPr id="72" name="Shape 70"/>
          <p:cNvSpPr/>
          <p:nvPr/>
        </p:nvSpPr>
        <p:spPr>
          <a:xfrm>
            <a:off x="5120640" y="5623560"/>
            <a:ext cx="2194560" cy="457200"/>
          </a:xfrm>
          <a:prstGeom prst="rect">
            <a:avLst/>
          </a:prstGeom>
          <a:solidFill>
            <a:srgbClr val="002651"/>
          </a:solidFill>
          <a:ln w="9525">
            <a:solidFill>
              <a:srgbClr val="003D7A"/>
            </a:solidFill>
            <a:prstDash val="solid"/>
          </a:ln>
        </p:spPr>
      </p:sp>
      <p:sp>
        <p:nvSpPr>
          <p:cNvPr id="73" name="Text 71"/>
          <p:cNvSpPr/>
          <p:nvPr/>
        </p:nvSpPr>
        <p:spPr>
          <a:xfrm>
            <a:off x="5257800" y="56235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₹3–5L</a:t>
            </a:r>
            <a:endParaRPr lang="en-US" sz="1200" dirty="0"/>
          </a:p>
        </p:txBody>
      </p:sp>
      <p:sp>
        <p:nvSpPr>
          <p:cNvPr id="74" name="Shape 72"/>
          <p:cNvSpPr/>
          <p:nvPr/>
        </p:nvSpPr>
        <p:spPr>
          <a:xfrm>
            <a:off x="7315200" y="5623560"/>
            <a:ext cx="2194560" cy="457200"/>
          </a:xfrm>
          <a:prstGeom prst="rect">
            <a:avLst/>
          </a:prstGeom>
          <a:solidFill>
            <a:srgbClr val="002651"/>
          </a:solidFill>
          <a:ln w="9525">
            <a:solidFill>
              <a:srgbClr val="003D7A"/>
            </a:solidFill>
            <a:prstDash val="solid"/>
          </a:ln>
        </p:spPr>
      </p:sp>
      <p:sp>
        <p:nvSpPr>
          <p:cNvPr id="75" name="Text 73"/>
          <p:cNvSpPr/>
          <p:nvPr/>
        </p:nvSpPr>
        <p:spPr>
          <a:xfrm>
            <a:off x="7452360" y="5623560"/>
            <a:ext cx="192024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₹15–40K</a:t>
            </a:r>
            <a:endParaRPr lang="en-US" sz="1200" dirty="0"/>
          </a:p>
        </p:txBody>
      </p:sp>
      <p:sp>
        <p:nvSpPr>
          <p:cNvPr id="76" name="Shape 74"/>
          <p:cNvSpPr/>
          <p:nvPr/>
        </p:nvSpPr>
        <p:spPr>
          <a:xfrm>
            <a:off x="9509760" y="5623560"/>
            <a:ext cx="2103120" cy="457200"/>
          </a:xfrm>
          <a:prstGeom prst="rect">
            <a:avLst/>
          </a:prstGeom>
          <a:solidFill>
            <a:srgbClr val="002651"/>
          </a:solidFill>
          <a:ln w="9525">
            <a:solidFill>
              <a:srgbClr val="003D7A"/>
            </a:solidFill>
            <a:prstDash val="solid"/>
          </a:ln>
        </p:spPr>
      </p:sp>
      <p:sp>
        <p:nvSpPr>
          <p:cNvPr id="77" name="Text 75"/>
          <p:cNvSpPr/>
          <p:nvPr/>
        </p:nvSpPr>
        <p:spPr>
          <a:xfrm>
            <a:off x="9646920" y="5623560"/>
            <a:ext cx="182880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₹2–5K</a:t>
            </a:r>
            <a:endParaRPr lang="en-US" sz="1200" dirty="0"/>
          </a:p>
        </p:txBody>
      </p:sp>
      <p:sp>
        <p:nvSpPr>
          <p:cNvPr id="78" name="Shape 76"/>
          <p:cNvSpPr/>
          <p:nvPr/>
        </p:nvSpPr>
        <p:spPr>
          <a:xfrm>
            <a:off x="548640" y="6355080"/>
            <a:ext cx="11094415" cy="0"/>
          </a:xfrm>
          <a:prstGeom prst="line">
            <a:avLst/>
          </a:prstGeom>
          <a:noFill/>
          <a:ln w="12700">
            <a:solidFill>
              <a:srgbClr val="FFFFFF"/>
            </a:solidFill>
            <a:prstDash val="solid"/>
          </a:ln>
        </p:spPr>
      </p:sp>
      <p:sp>
        <p:nvSpPr>
          <p:cNvPr id="79" name="Text 77"/>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HOW WE DIFFER</a:t>
            </a:r>
            <a:endParaRPr lang="en-US" sz="900" dirty="0"/>
          </a:p>
        </p:txBody>
      </p:sp>
      <p:sp>
        <p:nvSpPr>
          <p:cNvPr id="80" name="Shape 78"/>
          <p:cNvSpPr/>
          <p:nvPr/>
        </p:nvSpPr>
        <p:spPr>
          <a:xfrm>
            <a:off x="10545775" y="6473952"/>
            <a:ext cx="1097280" cy="228600"/>
          </a:xfrm>
          <a:prstGeom prst="rect">
            <a:avLst/>
          </a:prstGeom>
          <a:solidFill>
            <a:srgbClr val="FFC700"/>
          </a:solidFill>
          <a:ln w="12700">
            <a:solidFill>
              <a:srgbClr val="FFC700"/>
            </a:solidFill>
            <a:prstDash val="solid"/>
          </a:ln>
        </p:spPr>
      </p:sp>
      <p:sp>
        <p:nvSpPr>
          <p:cNvPr id="81" name="Text 79"/>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WHY I'M BUILDING · STATION 14</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14 / 17</a:t>
            </a:r>
            <a:endParaRPr lang="en-US" sz="1100" dirty="0"/>
          </a:p>
        </p:txBody>
      </p:sp>
      <p:sp>
        <p:nvSpPr>
          <p:cNvPr id="7" name="Text 5"/>
          <p:cNvSpPr/>
          <p:nvPr/>
        </p:nvSpPr>
        <p:spPr>
          <a:xfrm>
            <a:off x="548640" y="1280160"/>
            <a:ext cx="10972800" cy="2194560"/>
          </a:xfrm>
          <a:prstGeom prst="rect">
            <a:avLst/>
          </a:prstGeom>
          <a:noFill/>
          <a:ln/>
        </p:spPr>
        <p:txBody>
          <a:bodyPr wrap="square" lIns="0" tIns="0" rIns="0" bIns="0" rtlCol="0" anchor="ctr"/>
          <a:lstStyle/>
          <a:p>
            <a:pPr indent="0" marL="0">
              <a:lnSpc>
                <a:spcPts val="3400"/>
              </a:lnSpc>
              <a:buNone/>
            </a:pPr>
            <a:r>
              <a:rPr lang="en-US" sz="2600" b="1" spc="-50" kern="0" dirty="0">
                <a:solidFill>
                  <a:srgbClr val="FFFFFF"/>
                </a:solidFill>
                <a:latin typeface="Inter" pitchFamily="34" charset="0"/>
                <a:ea typeface="Inter" pitchFamily="34" charset="-122"/>
                <a:cs typeface="Inter" pitchFamily="34" charset="-120"/>
              </a:rPr>
              <a:t>AI is reshaping how software is built.
</a:t>
            </a:r>
            <a:pPr indent="0" marL="0">
              <a:lnSpc>
                <a:spcPts val="3400"/>
              </a:lnSpc>
              <a:buNone/>
            </a:pPr>
            <a:r>
              <a:rPr lang="en-US" sz="2600" b="1" spc="-50" kern="0" dirty="0">
                <a:solidFill>
                  <a:srgbClr val="FFFFFF"/>
                </a:solidFill>
                <a:latin typeface="Inter" pitchFamily="34" charset="0"/>
                <a:ea typeface="Inter" pitchFamily="34" charset="-122"/>
                <a:cs typeface="Inter" pitchFamily="34" charset="-120"/>
              </a:rPr>
              <a:t>India can either supply this workforce —
</a:t>
            </a:r>
            <a:pPr indent="0" marL="0">
              <a:lnSpc>
                <a:spcPts val="3400"/>
              </a:lnSpc>
              <a:buNone/>
            </a:pPr>
            <a:r>
              <a:rPr lang="en-US" sz="2600" b="1" spc="-50" kern="0" dirty="0">
                <a:solidFill>
                  <a:srgbClr val="FFC700"/>
                </a:solidFill>
                <a:latin typeface="Inter" pitchFamily="34" charset="0"/>
                <a:ea typeface="Inter" pitchFamily="34" charset="-122"/>
                <a:cs typeface="Inter" pitchFamily="34" charset="-120"/>
              </a:rPr>
              <a:t>or be supplied by it.</a:t>
            </a:r>
            <a:endParaRPr lang="en-US" sz="2600" dirty="0"/>
          </a:p>
        </p:txBody>
      </p:sp>
      <p:sp>
        <p:nvSpPr>
          <p:cNvPr id="8" name="Shape 6"/>
          <p:cNvSpPr/>
          <p:nvPr/>
        </p:nvSpPr>
        <p:spPr>
          <a:xfrm>
            <a:off x="548640" y="3840480"/>
            <a:ext cx="3657600" cy="2331720"/>
          </a:xfrm>
          <a:prstGeom prst="rect">
            <a:avLst/>
          </a:prstGeom>
          <a:solidFill>
            <a:srgbClr val="002651"/>
          </a:solidFill>
          <a:ln w="12700">
            <a:solidFill>
              <a:srgbClr val="002651"/>
            </a:solidFill>
            <a:prstDash val="solid"/>
          </a:ln>
        </p:spPr>
      </p:sp>
      <p:sp>
        <p:nvSpPr>
          <p:cNvPr id="9" name="Shape 7"/>
          <p:cNvSpPr/>
          <p:nvPr/>
        </p:nvSpPr>
        <p:spPr>
          <a:xfrm>
            <a:off x="548640" y="3840480"/>
            <a:ext cx="109728" cy="2331720"/>
          </a:xfrm>
          <a:prstGeom prst="rect">
            <a:avLst/>
          </a:prstGeom>
          <a:solidFill>
            <a:srgbClr val="FFC700"/>
          </a:solidFill>
          <a:ln w="12700">
            <a:solidFill>
              <a:srgbClr val="FFC700"/>
            </a:solidFill>
            <a:prstDash val="solid"/>
          </a:ln>
        </p:spPr>
      </p:sp>
      <p:sp>
        <p:nvSpPr>
          <p:cNvPr id="10" name="Text 8"/>
          <p:cNvSpPr/>
          <p:nvPr/>
        </p:nvSpPr>
        <p:spPr>
          <a:xfrm>
            <a:off x="822960" y="4023360"/>
            <a:ext cx="3200400" cy="32004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 WHAT I'VE SEEN</a:t>
            </a:r>
            <a:endParaRPr lang="en-US" sz="1100" dirty="0"/>
          </a:p>
        </p:txBody>
      </p:sp>
      <p:sp>
        <p:nvSpPr>
          <p:cNvPr id="11" name="Text 9"/>
          <p:cNvSpPr/>
          <p:nvPr/>
        </p:nvSpPr>
        <p:spPr>
          <a:xfrm>
            <a:off x="822960" y="4434840"/>
            <a:ext cx="3200400" cy="169164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Inter" pitchFamily="34" charset="0"/>
                <a:ea typeface="Inter" pitchFamily="34" charset="-122"/>
                <a:cs typeface="Inter" pitchFamily="34" charset="-120"/>
              </a:rPr>
              <a:t>Working at an AI-native company in the US, I see what AI-first startups actually hire for. The gap between that profile and what Indian colleges produce is structural, not cosmetic. It is also closeable in 13 weeks if the apprenticeship is rigorous.</a:t>
            </a:r>
            <a:endParaRPr lang="en-US" sz="1200" dirty="0"/>
          </a:p>
        </p:txBody>
      </p:sp>
      <p:sp>
        <p:nvSpPr>
          <p:cNvPr id="12" name="Shape 10"/>
          <p:cNvSpPr/>
          <p:nvPr/>
        </p:nvSpPr>
        <p:spPr>
          <a:xfrm>
            <a:off x="4343400" y="3840480"/>
            <a:ext cx="3657600" cy="2331720"/>
          </a:xfrm>
          <a:prstGeom prst="rect">
            <a:avLst/>
          </a:prstGeom>
          <a:solidFill>
            <a:srgbClr val="002651"/>
          </a:solidFill>
          <a:ln w="12700">
            <a:solidFill>
              <a:srgbClr val="002651"/>
            </a:solidFill>
            <a:prstDash val="solid"/>
          </a:ln>
        </p:spPr>
      </p:sp>
      <p:sp>
        <p:nvSpPr>
          <p:cNvPr id="13" name="Shape 11"/>
          <p:cNvSpPr/>
          <p:nvPr/>
        </p:nvSpPr>
        <p:spPr>
          <a:xfrm>
            <a:off x="4343400" y="3840480"/>
            <a:ext cx="109728" cy="2331720"/>
          </a:xfrm>
          <a:prstGeom prst="rect">
            <a:avLst/>
          </a:prstGeom>
          <a:solidFill>
            <a:srgbClr val="FFC700"/>
          </a:solidFill>
          <a:ln w="12700">
            <a:solidFill>
              <a:srgbClr val="FFC700"/>
            </a:solidFill>
            <a:prstDash val="solid"/>
          </a:ln>
        </p:spPr>
      </p:sp>
      <p:sp>
        <p:nvSpPr>
          <p:cNvPr id="14" name="Text 12"/>
          <p:cNvSpPr/>
          <p:nvPr/>
        </p:nvSpPr>
        <p:spPr>
          <a:xfrm>
            <a:off x="4617720" y="4023360"/>
            <a:ext cx="3200400" cy="32004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 WHY ME</a:t>
            </a:r>
            <a:endParaRPr lang="en-US" sz="1100" dirty="0"/>
          </a:p>
        </p:txBody>
      </p:sp>
      <p:sp>
        <p:nvSpPr>
          <p:cNvPr id="15" name="Text 13"/>
          <p:cNvSpPr/>
          <p:nvPr/>
        </p:nvSpPr>
        <p:spPr>
          <a:xfrm>
            <a:off x="4617720" y="4434840"/>
            <a:ext cx="3200400" cy="169164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Inter" pitchFamily="34" charset="0"/>
                <a:ea typeface="Inter" pitchFamily="34" charset="-122"/>
                <a:cs typeface="Inter" pitchFamily="34" charset="-120"/>
              </a:rPr>
              <a:t>IIT Bombay gave me the engineering foundation. Cornell Johnson sharpened the operating lens. Founding an AI-native company taught me what shipping actually feels like.</a:t>
            </a:r>
            <a:endParaRPr lang="en-US" sz="1200" dirty="0"/>
          </a:p>
        </p:txBody>
      </p:sp>
      <p:sp>
        <p:nvSpPr>
          <p:cNvPr id="16" name="Shape 14"/>
          <p:cNvSpPr/>
          <p:nvPr/>
        </p:nvSpPr>
        <p:spPr>
          <a:xfrm>
            <a:off x="8138160" y="3840480"/>
            <a:ext cx="3657600" cy="2331720"/>
          </a:xfrm>
          <a:prstGeom prst="rect">
            <a:avLst/>
          </a:prstGeom>
          <a:solidFill>
            <a:srgbClr val="002651"/>
          </a:solidFill>
          <a:ln w="12700">
            <a:solidFill>
              <a:srgbClr val="002651"/>
            </a:solidFill>
            <a:prstDash val="solid"/>
          </a:ln>
        </p:spPr>
      </p:sp>
      <p:sp>
        <p:nvSpPr>
          <p:cNvPr id="17" name="Shape 15"/>
          <p:cNvSpPr/>
          <p:nvPr/>
        </p:nvSpPr>
        <p:spPr>
          <a:xfrm>
            <a:off x="8138160" y="3840480"/>
            <a:ext cx="109728" cy="2331720"/>
          </a:xfrm>
          <a:prstGeom prst="rect">
            <a:avLst/>
          </a:prstGeom>
          <a:solidFill>
            <a:srgbClr val="FFC700"/>
          </a:solidFill>
          <a:ln w="12700">
            <a:solidFill>
              <a:srgbClr val="FFC700"/>
            </a:solidFill>
            <a:prstDash val="solid"/>
          </a:ln>
        </p:spPr>
      </p:sp>
      <p:sp>
        <p:nvSpPr>
          <p:cNvPr id="18" name="Text 16"/>
          <p:cNvSpPr/>
          <p:nvPr/>
        </p:nvSpPr>
        <p:spPr>
          <a:xfrm>
            <a:off x="8412480" y="4023360"/>
            <a:ext cx="3200400" cy="32004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 WHY NOW</a:t>
            </a:r>
            <a:endParaRPr lang="en-US" sz="1100" dirty="0"/>
          </a:p>
        </p:txBody>
      </p:sp>
      <p:sp>
        <p:nvSpPr>
          <p:cNvPr id="19" name="Text 17"/>
          <p:cNvSpPr/>
          <p:nvPr/>
        </p:nvSpPr>
        <p:spPr>
          <a:xfrm>
            <a:off x="8412480" y="4434840"/>
            <a:ext cx="3200400" cy="169164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Inter" pitchFamily="34" charset="0"/>
                <a:ea typeface="Inter" pitchFamily="34" charset="-122"/>
                <a:cs typeface="Inter" pitchFamily="34" charset="-120"/>
              </a:rPr>
              <a:t>AI-assisted engineering is no longer a 5-year horizon. It is the workflow. The colleges that integrate it over the next 18 months will define their placement decade.</a:t>
            </a:r>
            <a:endParaRPr lang="en-US" sz="1200" dirty="0"/>
          </a:p>
        </p:txBody>
      </p:sp>
      <p:sp>
        <p:nvSpPr>
          <p:cNvPr id="20" name="Shape 18"/>
          <p:cNvSpPr/>
          <p:nvPr/>
        </p:nvSpPr>
        <p:spPr>
          <a:xfrm>
            <a:off x="548640" y="6355080"/>
            <a:ext cx="11094415" cy="0"/>
          </a:xfrm>
          <a:prstGeom prst="line">
            <a:avLst/>
          </a:prstGeom>
          <a:noFill/>
          <a:ln w="12700">
            <a:solidFill>
              <a:srgbClr val="FFFFFF"/>
            </a:solidFill>
            <a:prstDash val="solid"/>
          </a:ln>
        </p:spPr>
      </p:sp>
      <p:sp>
        <p:nvSpPr>
          <p:cNvPr id="21" name="Text 19"/>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WHY I'M BUILDING THIS</a:t>
            </a:r>
            <a:endParaRPr lang="en-US" sz="900" dirty="0"/>
          </a:p>
        </p:txBody>
      </p:sp>
      <p:sp>
        <p:nvSpPr>
          <p:cNvPr id="22" name="Shape 20"/>
          <p:cNvSpPr/>
          <p:nvPr/>
        </p:nvSpPr>
        <p:spPr>
          <a:xfrm>
            <a:off x="10545775" y="6473952"/>
            <a:ext cx="1097280" cy="228600"/>
          </a:xfrm>
          <a:prstGeom prst="rect">
            <a:avLst/>
          </a:prstGeom>
          <a:solidFill>
            <a:srgbClr val="FFC700"/>
          </a:solidFill>
          <a:ln w="12700">
            <a:solidFill>
              <a:srgbClr val="FFC700"/>
            </a:solidFill>
            <a:prstDash val="solid"/>
          </a:ln>
        </p:spPr>
      </p:sp>
      <p:sp>
        <p:nvSpPr>
          <p:cNvPr id="23" name="Text 21"/>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FOUNDING TEAM · STATION 15</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15 / 17</a:t>
            </a:r>
            <a:endParaRPr lang="en-US" sz="1100" dirty="0"/>
          </a:p>
        </p:txBody>
      </p:sp>
      <p:sp>
        <p:nvSpPr>
          <p:cNvPr id="7" name="Text 5"/>
          <p:cNvSpPr/>
          <p:nvPr/>
        </p:nvSpPr>
        <p:spPr>
          <a:xfrm>
            <a:off x="548640" y="1280160"/>
            <a:ext cx="10972800" cy="1280160"/>
          </a:xfrm>
          <a:prstGeom prst="rect">
            <a:avLst/>
          </a:prstGeom>
          <a:noFill/>
          <a:ln/>
        </p:spPr>
        <p:txBody>
          <a:bodyPr wrap="square" lIns="0" tIns="0" rIns="0" bIns="0" rtlCol="0" anchor="ctr"/>
          <a:lstStyle/>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Built by a founder who has</a:t>
            </a:r>
            <a:endParaRPr lang="en-US" sz="3000" dirty="0"/>
          </a:p>
          <a:p>
            <a:pPr indent="0" marL="0">
              <a:lnSpc>
                <a:spcPts val="3600"/>
              </a:lnSpc>
              <a:buNone/>
            </a:pPr>
            <a:r>
              <a:rPr lang="en-US" sz="3000" b="1" spc="-50" kern="0" dirty="0">
                <a:solidFill>
                  <a:srgbClr val="FFFFFF"/>
                </a:solidFill>
                <a:latin typeface="Inter" pitchFamily="34" charset="0"/>
                <a:ea typeface="Inter" pitchFamily="34" charset="-122"/>
                <a:cs typeface="Inter" pitchFamily="34" charset="-120"/>
              </a:rPr>
              <a:t>lived this gap.</a:t>
            </a:r>
            <a:endParaRPr lang="en-US" sz="3000" dirty="0"/>
          </a:p>
        </p:txBody>
      </p:sp>
      <p:sp>
        <p:nvSpPr>
          <p:cNvPr id="8" name="Shape 6"/>
          <p:cNvSpPr/>
          <p:nvPr/>
        </p:nvSpPr>
        <p:spPr>
          <a:xfrm>
            <a:off x="548640" y="3017520"/>
            <a:ext cx="6400800" cy="3154680"/>
          </a:xfrm>
          <a:prstGeom prst="rect">
            <a:avLst/>
          </a:prstGeom>
          <a:solidFill>
            <a:srgbClr val="FFC700"/>
          </a:solidFill>
          <a:ln w="12700">
            <a:solidFill>
              <a:srgbClr val="FFC700"/>
            </a:solidFill>
            <a:prstDash val="solid"/>
          </a:ln>
        </p:spPr>
      </p:sp>
      <p:sp>
        <p:nvSpPr>
          <p:cNvPr id="9" name="Shape 7"/>
          <p:cNvSpPr/>
          <p:nvPr/>
        </p:nvSpPr>
        <p:spPr>
          <a:xfrm>
            <a:off x="868680" y="3337560"/>
            <a:ext cx="1371600" cy="1371600"/>
          </a:xfrm>
          <a:prstGeom prst="ellipse">
            <a:avLst/>
          </a:prstGeom>
          <a:solidFill>
            <a:srgbClr val="003D7A"/>
          </a:solidFill>
          <a:ln w="12700">
            <a:solidFill>
              <a:srgbClr val="003D7A"/>
            </a:solidFill>
            <a:prstDash val="solid"/>
          </a:ln>
        </p:spPr>
      </p:sp>
      <p:sp>
        <p:nvSpPr>
          <p:cNvPr id="10" name="Text 8"/>
          <p:cNvSpPr/>
          <p:nvPr/>
        </p:nvSpPr>
        <p:spPr>
          <a:xfrm>
            <a:off x="868680" y="3337560"/>
            <a:ext cx="1371600" cy="1371600"/>
          </a:xfrm>
          <a:prstGeom prst="rect">
            <a:avLst/>
          </a:prstGeom>
          <a:noFill/>
          <a:ln/>
        </p:spPr>
        <p:txBody>
          <a:bodyPr wrap="square" lIns="0" tIns="0" rIns="0" bIns="0" rtlCol="0" anchor="ctr"/>
          <a:lstStyle/>
          <a:p>
            <a:pPr algn="ctr" indent="0" marL="0">
              <a:buNone/>
            </a:pPr>
            <a:r>
              <a:rPr lang="en-US" sz="4200" b="1" dirty="0">
                <a:solidFill>
                  <a:srgbClr val="FFC700"/>
                </a:solidFill>
                <a:latin typeface="Inter" pitchFamily="34" charset="0"/>
                <a:ea typeface="Inter" pitchFamily="34" charset="-122"/>
                <a:cs typeface="Inter" pitchFamily="34" charset="-120"/>
              </a:rPr>
              <a:t>SA</a:t>
            </a:r>
            <a:endParaRPr lang="en-US" sz="4200" dirty="0"/>
          </a:p>
        </p:txBody>
      </p:sp>
      <p:sp>
        <p:nvSpPr>
          <p:cNvPr id="11" name="Text 9"/>
          <p:cNvSpPr/>
          <p:nvPr/>
        </p:nvSpPr>
        <p:spPr>
          <a:xfrm>
            <a:off x="2468880" y="3337560"/>
            <a:ext cx="4297680" cy="502920"/>
          </a:xfrm>
          <a:prstGeom prst="rect">
            <a:avLst/>
          </a:prstGeom>
          <a:noFill/>
          <a:ln/>
        </p:spPr>
        <p:txBody>
          <a:bodyPr wrap="square" lIns="0" tIns="0" rIns="0" bIns="0" rtlCol="0" anchor="ctr"/>
          <a:lstStyle/>
          <a:p>
            <a:pPr indent="0" marL="0">
              <a:buNone/>
            </a:pPr>
            <a:r>
              <a:rPr lang="en-US" sz="2600" b="1" spc="-50" kern="0" dirty="0">
                <a:solidFill>
                  <a:srgbClr val="003D7A"/>
                </a:solidFill>
                <a:latin typeface="Inter" pitchFamily="34" charset="0"/>
                <a:ea typeface="Inter" pitchFamily="34" charset="-122"/>
                <a:cs typeface="Inter" pitchFamily="34" charset="-120"/>
              </a:rPr>
              <a:t>Sharad Agrawal</a:t>
            </a:r>
            <a:endParaRPr lang="en-US" sz="2600" dirty="0"/>
          </a:p>
        </p:txBody>
      </p:sp>
      <p:sp>
        <p:nvSpPr>
          <p:cNvPr id="12" name="Text 10"/>
          <p:cNvSpPr/>
          <p:nvPr/>
        </p:nvSpPr>
        <p:spPr>
          <a:xfrm>
            <a:off x="2468880" y="3840480"/>
            <a:ext cx="4297680" cy="320040"/>
          </a:xfrm>
          <a:prstGeom prst="rect">
            <a:avLst/>
          </a:prstGeom>
          <a:noFill/>
          <a:ln/>
        </p:spPr>
        <p:txBody>
          <a:bodyPr wrap="square" lIns="0" tIns="0" rIns="0" bIns="0" rtlCol="0" anchor="ctr"/>
          <a:lstStyle/>
          <a:p>
            <a:pPr indent="0" marL="0">
              <a:buNone/>
            </a:pPr>
            <a:r>
              <a:rPr lang="en-US" sz="1300" b="1" spc="300" kern="0" dirty="0">
                <a:solidFill>
                  <a:srgbClr val="003D7A"/>
                </a:solidFill>
                <a:latin typeface="Inter" pitchFamily="34" charset="0"/>
                <a:ea typeface="Inter" pitchFamily="34" charset="-122"/>
                <a:cs typeface="Inter" pitchFamily="34" charset="-120"/>
              </a:rPr>
              <a:t>Founder, BuildAI</a:t>
            </a:r>
            <a:endParaRPr lang="en-US" sz="1300" dirty="0"/>
          </a:p>
        </p:txBody>
      </p:sp>
      <p:sp>
        <p:nvSpPr>
          <p:cNvPr id="13" name="Shape 11"/>
          <p:cNvSpPr/>
          <p:nvPr/>
        </p:nvSpPr>
        <p:spPr>
          <a:xfrm>
            <a:off x="2468880" y="4251960"/>
            <a:ext cx="914400" cy="0"/>
          </a:xfrm>
          <a:prstGeom prst="line">
            <a:avLst/>
          </a:prstGeom>
          <a:noFill/>
          <a:ln w="25400">
            <a:solidFill>
              <a:srgbClr val="003D7A"/>
            </a:solidFill>
            <a:prstDash val="solid"/>
          </a:ln>
        </p:spPr>
      </p:sp>
      <p:sp>
        <p:nvSpPr>
          <p:cNvPr id="14" name="Text 12"/>
          <p:cNvSpPr/>
          <p:nvPr/>
        </p:nvSpPr>
        <p:spPr>
          <a:xfrm>
            <a:off x="868680" y="4937760"/>
            <a:ext cx="5943600" cy="320040"/>
          </a:xfrm>
          <a:prstGeom prst="rect">
            <a:avLst/>
          </a:prstGeom>
          <a:noFill/>
          <a:ln/>
        </p:spPr>
        <p:txBody>
          <a:bodyPr wrap="square" lIns="0" tIns="0" rIns="0" bIns="0" rtlCol="0" anchor="ctr"/>
          <a:lstStyle/>
          <a:p>
            <a:pPr indent="0" marL="0">
              <a:buNone/>
            </a:pPr>
            <a:r>
              <a:rPr lang="en-US" sz="1300" b="1" dirty="0">
                <a:solidFill>
                  <a:srgbClr val="003D7A"/>
                </a:solidFill>
                <a:latin typeface="Inter" pitchFamily="34" charset="0"/>
                <a:ea typeface="Inter" pitchFamily="34" charset="-122"/>
                <a:cs typeface="Inter" pitchFamily="34" charset="-120"/>
              </a:rPr>
              <a:t>IIT Bombay  </a:t>
            </a:r>
            <a:pPr indent="0" marL="0">
              <a:buNone/>
            </a:pPr>
            <a:r>
              <a:rPr lang="en-US" sz="1300" dirty="0">
                <a:solidFill>
                  <a:srgbClr val="003D7A"/>
                </a:solidFill>
                <a:latin typeface="Inter" pitchFamily="34" charset="0"/>
                <a:ea typeface="Inter" pitchFamily="34" charset="-122"/>
                <a:cs typeface="Inter" pitchFamily="34" charset="-120"/>
              </a:rPr>
              <a:t>Masters, 2018</a:t>
            </a:r>
            <a:endParaRPr lang="en-US" sz="1300" dirty="0"/>
          </a:p>
        </p:txBody>
      </p:sp>
      <p:sp>
        <p:nvSpPr>
          <p:cNvPr id="15" name="Text 13"/>
          <p:cNvSpPr/>
          <p:nvPr/>
        </p:nvSpPr>
        <p:spPr>
          <a:xfrm>
            <a:off x="868680" y="5303520"/>
            <a:ext cx="5943600" cy="320040"/>
          </a:xfrm>
          <a:prstGeom prst="rect">
            <a:avLst/>
          </a:prstGeom>
          <a:noFill/>
          <a:ln/>
        </p:spPr>
        <p:txBody>
          <a:bodyPr wrap="square" lIns="0" tIns="0" rIns="0" bIns="0" rtlCol="0" anchor="ctr"/>
          <a:lstStyle/>
          <a:p>
            <a:pPr indent="0" marL="0">
              <a:buNone/>
            </a:pPr>
            <a:r>
              <a:rPr lang="en-US" sz="1300" b="1" dirty="0">
                <a:solidFill>
                  <a:srgbClr val="003D7A"/>
                </a:solidFill>
                <a:latin typeface="Inter" pitchFamily="34" charset="0"/>
                <a:ea typeface="Inter" pitchFamily="34" charset="-122"/>
                <a:cs typeface="Inter" pitchFamily="34" charset="-120"/>
              </a:rPr>
              <a:t>Cornell Johnson  </a:t>
            </a:r>
            <a:pPr indent="0" marL="0">
              <a:buNone/>
            </a:pPr>
            <a:r>
              <a:rPr lang="en-US" sz="1300" dirty="0">
                <a:solidFill>
                  <a:srgbClr val="003D7A"/>
                </a:solidFill>
                <a:latin typeface="Inter" pitchFamily="34" charset="0"/>
                <a:ea typeface="Inter" pitchFamily="34" charset="-122"/>
                <a:cs typeface="Inter" pitchFamily="34" charset="-120"/>
              </a:rPr>
              <a:t>MBA, 2024</a:t>
            </a:r>
            <a:endParaRPr lang="en-US" sz="1300" dirty="0"/>
          </a:p>
        </p:txBody>
      </p:sp>
      <p:sp>
        <p:nvSpPr>
          <p:cNvPr id="16" name="Text 14"/>
          <p:cNvSpPr/>
          <p:nvPr/>
        </p:nvSpPr>
        <p:spPr>
          <a:xfrm>
            <a:off x="868680" y="5669280"/>
            <a:ext cx="5943600" cy="320040"/>
          </a:xfrm>
          <a:prstGeom prst="rect">
            <a:avLst/>
          </a:prstGeom>
          <a:noFill/>
          <a:ln/>
        </p:spPr>
        <p:txBody>
          <a:bodyPr wrap="square" lIns="0" tIns="0" rIns="0" bIns="0" rtlCol="0" anchor="ctr"/>
          <a:lstStyle/>
          <a:p>
            <a:pPr indent="0" marL="0">
              <a:buNone/>
            </a:pPr>
            <a:r>
              <a:rPr lang="en-US" sz="1300" b="1" dirty="0">
                <a:solidFill>
                  <a:srgbClr val="003D7A"/>
                </a:solidFill>
                <a:latin typeface="Inter" pitchFamily="34" charset="0"/>
                <a:ea typeface="Inter" pitchFamily="34" charset="-122"/>
                <a:cs typeface="Inter" pitchFamily="34" charset="-120"/>
              </a:rPr>
              <a:t>Currently  </a:t>
            </a:r>
            <a:pPr indent="0" marL="0">
              <a:buNone/>
            </a:pPr>
            <a:r>
              <a:rPr lang="en-US" sz="1300" dirty="0">
                <a:solidFill>
                  <a:srgbClr val="003D7A"/>
                </a:solidFill>
                <a:latin typeface="Inter" pitchFamily="34" charset="0"/>
                <a:ea typeface="Inter" pitchFamily="34" charset="-122"/>
                <a:cs typeface="Inter" pitchFamily="34" charset="-120"/>
              </a:rPr>
              <a:t>Founder of an AI-native company in the US</a:t>
            </a:r>
            <a:endParaRPr lang="en-US" sz="1300" dirty="0"/>
          </a:p>
        </p:txBody>
      </p:sp>
      <p:sp>
        <p:nvSpPr>
          <p:cNvPr id="17" name="Shape 15"/>
          <p:cNvSpPr/>
          <p:nvPr/>
        </p:nvSpPr>
        <p:spPr>
          <a:xfrm>
            <a:off x="7178040" y="3017520"/>
            <a:ext cx="4480560" cy="3154680"/>
          </a:xfrm>
          <a:prstGeom prst="rect">
            <a:avLst/>
          </a:prstGeom>
          <a:solidFill>
            <a:srgbClr val="002651"/>
          </a:solidFill>
          <a:ln w="12700">
            <a:solidFill>
              <a:srgbClr val="002651"/>
            </a:solidFill>
            <a:prstDash val="solid"/>
          </a:ln>
        </p:spPr>
      </p:sp>
      <p:sp>
        <p:nvSpPr>
          <p:cNvPr id="18" name="Text 16"/>
          <p:cNvSpPr/>
          <p:nvPr/>
        </p:nvSpPr>
        <p:spPr>
          <a:xfrm>
            <a:off x="7406640" y="3200400"/>
            <a:ext cx="4114800" cy="274320"/>
          </a:xfrm>
          <a:prstGeom prst="rect">
            <a:avLst/>
          </a:prstGeom>
          <a:noFill/>
          <a:ln/>
        </p:spPr>
        <p:txBody>
          <a:bodyPr wrap="square" lIns="0" tIns="0" rIns="0" bIns="0" rtlCol="0" anchor="ctr"/>
          <a:lstStyle/>
          <a:p>
            <a:pPr indent="0" marL="0">
              <a:buNone/>
            </a:pPr>
            <a:r>
              <a:rPr lang="en-US" sz="1000" b="1" spc="400" kern="0" dirty="0">
                <a:solidFill>
                  <a:srgbClr val="FFC700"/>
                </a:solidFill>
                <a:latin typeface="Inter" pitchFamily="34" charset="0"/>
                <a:ea typeface="Inter" pitchFamily="34" charset="-122"/>
                <a:cs typeface="Inter" pitchFamily="34" charset="-120"/>
              </a:rPr>
              <a:t>→ FROM THE INTERNAL STRATEGY DOC</a:t>
            </a:r>
            <a:endParaRPr lang="en-US" sz="1000" dirty="0"/>
          </a:p>
        </p:txBody>
      </p:sp>
      <p:sp>
        <p:nvSpPr>
          <p:cNvPr id="19" name="Text 17"/>
          <p:cNvSpPr/>
          <p:nvPr/>
        </p:nvSpPr>
        <p:spPr>
          <a:xfrm>
            <a:off x="7406640" y="3657600"/>
            <a:ext cx="4160520" cy="2286000"/>
          </a:xfrm>
          <a:prstGeom prst="rect">
            <a:avLst/>
          </a:prstGeom>
          <a:noFill/>
          <a:ln/>
        </p:spPr>
        <p:txBody>
          <a:bodyPr wrap="square" lIns="0" tIns="0" rIns="0" bIns="0" rtlCol="0" anchor="ctr"/>
          <a:lstStyle/>
          <a:p>
            <a:pPr indent="0" marL="0">
              <a:lnSpc>
                <a:spcPts val="2800"/>
              </a:lnSpc>
              <a:buNone/>
            </a:pPr>
            <a:r>
              <a:rPr lang="en-US" sz="2000" i="1" dirty="0">
                <a:solidFill>
                  <a:srgbClr val="FFFFFF"/>
                </a:solidFill>
                <a:latin typeface="Inter" pitchFamily="34" charset="0"/>
                <a:ea typeface="Inter" pitchFamily="34" charset="-122"/>
                <a:cs typeface="Inter" pitchFamily="34" charset="-120"/>
              </a:rPr>
              <a:t>"The single most important hire of the next 18 months is the India co-founder."</a:t>
            </a:r>
            <a:endParaRPr lang="en-US" sz="2000" dirty="0"/>
          </a:p>
        </p:txBody>
      </p:sp>
      <p:sp>
        <p:nvSpPr>
          <p:cNvPr id="20" name="Shape 18"/>
          <p:cNvSpPr/>
          <p:nvPr/>
        </p:nvSpPr>
        <p:spPr>
          <a:xfrm>
            <a:off x="548640" y="6355080"/>
            <a:ext cx="11094415" cy="0"/>
          </a:xfrm>
          <a:prstGeom prst="line">
            <a:avLst/>
          </a:prstGeom>
          <a:noFill/>
          <a:ln w="12700">
            <a:solidFill>
              <a:srgbClr val="FFFFFF"/>
            </a:solidFill>
            <a:prstDash val="solid"/>
          </a:ln>
        </p:spPr>
      </p:sp>
      <p:sp>
        <p:nvSpPr>
          <p:cNvPr id="21" name="Text 19"/>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FOUNDING TEAM</a:t>
            </a:r>
            <a:endParaRPr lang="en-US" sz="900" dirty="0"/>
          </a:p>
        </p:txBody>
      </p:sp>
      <p:sp>
        <p:nvSpPr>
          <p:cNvPr id="22" name="Shape 20"/>
          <p:cNvSpPr/>
          <p:nvPr/>
        </p:nvSpPr>
        <p:spPr>
          <a:xfrm>
            <a:off x="10545775" y="6473952"/>
            <a:ext cx="1097280" cy="228600"/>
          </a:xfrm>
          <a:prstGeom prst="rect">
            <a:avLst/>
          </a:prstGeom>
          <a:solidFill>
            <a:srgbClr val="FFC700"/>
          </a:solidFill>
          <a:ln w="12700">
            <a:solidFill>
              <a:srgbClr val="FFC700"/>
            </a:solidFill>
            <a:prstDash val="solid"/>
          </a:ln>
        </p:spPr>
      </p:sp>
      <p:sp>
        <p:nvSpPr>
          <p:cNvPr id="23" name="Text 21"/>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548640" y="960120"/>
            <a:ext cx="11094415" cy="0"/>
          </a:xfrm>
          <a:prstGeom prst="line">
            <a:avLst/>
          </a:prstGeom>
          <a:noFill/>
          <a:ln w="25400">
            <a:solidFill>
              <a:srgbClr val="FFFFFF"/>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73152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NEXT STEPS · STATION 16</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16 / 17</a:t>
            </a:r>
            <a:endParaRPr lang="en-US" sz="1100" dirty="0"/>
          </a:p>
        </p:txBody>
      </p:sp>
      <p:sp>
        <p:nvSpPr>
          <p:cNvPr id="7" name="Text 5"/>
          <p:cNvSpPr/>
          <p:nvPr/>
        </p:nvSpPr>
        <p:spPr>
          <a:xfrm>
            <a:off x="548640" y="1280160"/>
            <a:ext cx="10058400" cy="640080"/>
          </a:xfrm>
          <a:prstGeom prst="rect">
            <a:avLst/>
          </a:prstGeom>
          <a:noFill/>
          <a:ln/>
        </p:spPr>
        <p:txBody>
          <a:bodyPr wrap="square" lIns="0" tIns="0" rIns="0" bIns="0" rtlCol="0" anchor="ctr"/>
          <a:lstStyle/>
          <a:p>
            <a:pPr indent="0" marL="0">
              <a:buNone/>
            </a:pPr>
            <a:r>
              <a:rPr lang="en-US" sz="3200" b="1" spc="-100" kern="0" dirty="0">
                <a:solidFill>
                  <a:srgbClr val="FFFFFF"/>
                </a:solidFill>
                <a:latin typeface="Inter" pitchFamily="34" charset="0"/>
                <a:ea typeface="Inter" pitchFamily="34" charset="-122"/>
                <a:cs typeface="Inter" pitchFamily="34" charset="-120"/>
              </a:rPr>
              <a:t>Pilot partnership process.</a:t>
            </a:r>
            <a:endParaRPr lang="en-US" sz="3200" dirty="0"/>
          </a:p>
        </p:txBody>
      </p:sp>
      <p:sp>
        <p:nvSpPr>
          <p:cNvPr id="8" name="Text 6"/>
          <p:cNvSpPr/>
          <p:nvPr/>
        </p:nvSpPr>
        <p:spPr>
          <a:xfrm>
            <a:off x="548640" y="1965960"/>
            <a:ext cx="10972800" cy="457200"/>
          </a:xfrm>
          <a:prstGeom prst="rect">
            <a:avLst/>
          </a:prstGeom>
          <a:noFill/>
          <a:ln/>
        </p:spPr>
        <p:txBody>
          <a:bodyPr wrap="square" lIns="0" tIns="0" rIns="0" bIns="0" rtlCol="0" anchor="ctr"/>
          <a:lstStyle/>
          <a:p>
            <a:pPr indent="0" marL="0">
              <a:buNone/>
            </a:pPr>
            <a:r>
              <a:rPr lang="en-US" sz="1400" i="1" dirty="0">
                <a:solidFill>
                  <a:srgbClr val="B6CDE5"/>
                </a:solidFill>
                <a:latin typeface="Inter" pitchFamily="34" charset="0"/>
                <a:ea typeface="Inter" pitchFamily="34" charset="-122"/>
                <a:cs typeface="Inter" pitchFamily="34" charset="-120"/>
              </a:rPr>
              <a:t>Four stops between this meeting and Cohort 01 launch.</a:t>
            </a:r>
            <a:endParaRPr lang="en-US" sz="1400" dirty="0"/>
          </a:p>
        </p:txBody>
      </p:sp>
      <p:sp>
        <p:nvSpPr>
          <p:cNvPr id="9" name="Shape 7"/>
          <p:cNvSpPr/>
          <p:nvPr/>
        </p:nvSpPr>
        <p:spPr>
          <a:xfrm>
            <a:off x="1828800" y="4114800"/>
            <a:ext cx="8534095" cy="0"/>
          </a:xfrm>
          <a:prstGeom prst="line">
            <a:avLst/>
          </a:prstGeom>
          <a:noFill/>
          <a:ln w="76200">
            <a:solidFill>
              <a:srgbClr val="FFC700"/>
            </a:solidFill>
            <a:prstDash val="solid"/>
          </a:ln>
        </p:spPr>
      </p:sp>
      <p:sp>
        <p:nvSpPr>
          <p:cNvPr id="10" name="Shape 8"/>
          <p:cNvSpPr/>
          <p:nvPr/>
        </p:nvSpPr>
        <p:spPr>
          <a:xfrm>
            <a:off x="1444752" y="3730752"/>
            <a:ext cx="768096" cy="768096"/>
          </a:xfrm>
          <a:prstGeom prst="ellipse">
            <a:avLst/>
          </a:prstGeom>
          <a:solidFill>
            <a:srgbClr val="FFC700"/>
          </a:solidFill>
          <a:ln w="50800">
            <a:solidFill>
              <a:srgbClr val="FFFFFF"/>
            </a:solidFill>
            <a:prstDash val="solid"/>
          </a:ln>
        </p:spPr>
      </p:sp>
      <p:sp>
        <p:nvSpPr>
          <p:cNvPr id="11" name="Text 9"/>
          <p:cNvSpPr/>
          <p:nvPr/>
        </p:nvSpPr>
        <p:spPr>
          <a:xfrm>
            <a:off x="1444752" y="3730752"/>
            <a:ext cx="768096" cy="768096"/>
          </a:xfrm>
          <a:prstGeom prst="rect">
            <a:avLst/>
          </a:prstGeom>
          <a:noFill/>
          <a:ln/>
        </p:spPr>
        <p:txBody>
          <a:bodyPr wrap="square" lIns="0" tIns="0" rIns="0" bIns="0" rtlCol="0" anchor="ctr"/>
          <a:lstStyle/>
          <a:p>
            <a:pPr algn="ctr" indent="0" marL="0">
              <a:buNone/>
            </a:pPr>
            <a:r>
              <a:rPr lang="en-US" sz="2200" b="1" dirty="0">
                <a:solidFill>
                  <a:srgbClr val="003D7A"/>
                </a:solidFill>
                <a:latin typeface="Inter" pitchFamily="34" charset="0"/>
                <a:ea typeface="Inter" pitchFamily="34" charset="-122"/>
                <a:cs typeface="Inter" pitchFamily="34" charset="-120"/>
              </a:rPr>
              <a:t>01</a:t>
            </a:r>
            <a:endParaRPr lang="en-US" sz="2200" dirty="0"/>
          </a:p>
        </p:txBody>
      </p:sp>
      <p:sp>
        <p:nvSpPr>
          <p:cNvPr id="12" name="Text 10"/>
          <p:cNvSpPr/>
          <p:nvPr/>
        </p:nvSpPr>
        <p:spPr>
          <a:xfrm>
            <a:off x="685800" y="4754880"/>
            <a:ext cx="22860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Internal alignment</a:t>
            </a:r>
            <a:endParaRPr lang="en-US" sz="1500" dirty="0"/>
          </a:p>
        </p:txBody>
      </p:sp>
      <p:sp>
        <p:nvSpPr>
          <p:cNvPr id="13" name="Text 11"/>
          <p:cNvSpPr/>
          <p:nvPr/>
        </p:nvSpPr>
        <p:spPr>
          <a:xfrm>
            <a:off x="685800" y="5166360"/>
            <a:ext cx="228600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Loop in TPO / HOD / Dean on the partnership.</a:t>
            </a:r>
            <a:endParaRPr lang="en-US" sz="1100" dirty="0"/>
          </a:p>
        </p:txBody>
      </p:sp>
      <p:sp>
        <p:nvSpPr>
          <p:cNvPr id="14" name="Shape 12"/>
          <p:cNvSpPr/>
          <p:nvPr/>
        </p:nvSpPr>
        <p:spPr>
          <a:xfrm>
            <a:off x="4279392" y="3730752"/>
            <a:ext cx="768096" cy="768096"/>
          </a:xfrm>
          <a:prstGeom prst="ellipse">
            <a:avLst/>
          </a:prstGeom>
          <a:solidFill>
            <a:srgbClr val="FFC700"/>
          </a:solidFill>
          <a:ln w="50800">
            <a:solidFill>
              <a:srgbClr val="FFFFFF"/>
            </a:solidFill>
            <a:prstDash val="solid"/>
          </a:ln>
        </p:spPr>
      </p:sp>
      <p:sp>
        <p:nvSpPr>
          <p:cNvPr id="15" name="Text 13"/>
          <p:cNvSpPr/>
          <p:nvPr/>
        </p:nvSpPr>
        <p:spPr>
          <a:xfrm>
            <a:off x="4279392" y="3730752"/>
            <a:ext cx="768096" cy="768096"/>
          </a:xfrm>
          <a:prstGeom prst="rect">
            <a:avLst/>
          </a:prstGeom>
          <a:noFill/>
          <a:ln/>
        </p:spPr>
        <p:txBody>
          <a:bodyPr wrap="square" lIns="0" tIns="0" rIns="0" bIns="0" rtlCol="0" anchor="ctr"/>
          <a:lstStyle/>
          <a:p>
            <a:pPr algn="ctr" indent="0" marL="0">
              <a:buNone/>
            </a:pPr>
            <a:r>
              <a:rPr lang="en-US" sz="2200" b="1" dirty="0">
                <a:solidFill>
                  <a:srgbClr val="003D7A"/>
                </a:solidFill>
                <a:latin typeface="Inter" pitchFamily="34" charset="0"/>
                <a:ea typeface="Inter" pitchFamily="34" charset="-122"/>
                <a:cs typeface="Inter" pitchFamily="34" charset="-120"/>
              </a:rPr>
              <a:t>02</a:t>
            </a:r>
            <a:endParaRPr lang="en-US" sz="2200" dirty="0"/>
          </a:p>
        </p:txBody>
      </p:sp>
      <p:sp>
        <p:nvSpPr>
          <p:cNvPr id="16" name="Text 14"/>
          <p:cNvSpPr/>
          <p:nvPr/>
        </p:nvSpPr>
        <p:spPr>
          <a:xfrm>
            <a:off x="3520440" y="4754880"/>
            <a:ext cx="22860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Cohort window</a:t>
            </a:r>
            <a:endParaRPr lang="en-US" sz="1500" dirty="0"/>
          </a:p>
        </p:txBody>
      </p:sp>
      <p:sp>
        <p:nvSpPr>
          <p:cNvPr id="17" name="Text 15"/>
          <p:cNvSpPr/>
          <p:nvPr/>
        </p:nvSpPr>
        <p:spPr>
          <a:xfrm>
            <a:off x="3520440" y="5166360"/>
            <a:ext cx="228600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Pick the summer or winter intensive slot.</a:t>
            </a:r>
            <a:endParaRPr lang="en-US" sz="1100" dirty="0"/>
          </a:p>
        </p:txBody>
      </p:sp>
      <p:sp>
        <p:nvSpPr>
          <p:cNvPr id="18" name="Shape 16"/>
          <p:cNvSpPr/>
          <p:nvPr/>
        </p:nvSpPr>
        <p:spPr>
          <a:xfrm>
            <a:off x="7114032" y="3730752"/>
            <a:ext cx="768096" cy="768096"/>
          </a:xfrm>
          <a:prstGeom prst="ellipse">
            <a:avLst/>
          </a:prstGeom>
          <a:solidFill>
            <a:srgbClr val="FFC700"/>
          </a:solidFill>
          <a:ln w="50800">
            <a:solidFill>
              <a:srgbClr val="FFFFFF"/>
            </a:solidFill>
            <a:prstDash val="solid"/>
          </a:ln>
        </p:spPr>
      </p:sp>
      <p:sp>
        <p:nvSpPr>
          <p:cNvPr id="19" name="Text 17"/>
          <p:cNvSpPr/>
          <p:nvPr/>
        </p:nvSpPr>
        <p:spPr>
          <a:xfrm>
            <a:off x="7114032" y="3730752"/>
            <a:ext cx="768096" cy="768096"/>
          </a:xfrm>
          <a:prstGeom prst="rect">
            <a:avLst/>
          </a:prstGeom>
          <a:noFill/>
          <a:ln/>
        </p:spPr>
        <p:txBody>
          <a:bodyPr wrap="square" lIns="0" tIns="0" rIns="0" bIns="0" rtlCol="0" anchor="ctr"/>
          <a:lstStyle/>
          <a:p>
            <a:pPr algn="ctr" indent="0" marL="0">
              <a:buNone/>
            </a:pPr>
            <a:r>
              <a:rPr lang="en-US" sz="2200" b="1" dirty="0">
                <a:solidFill>
                  <a:srgbClr val="003D7A"/>
                </a:solidFill>
                <a:latin typeface="Inter" pitchFamily="34" charset="0"/>
                <a:ea typeface="Inter" pitchFamily="34" charset="-122"/>
                <a:cs typeface="Inter" pitchFamily="34" charset="-120"/>
              </a:rPr>
              <a:t>03</a:t>
            </a:r>
            <a:endParaRPr lang="en-US" sz="2200" dirty="0"/>
          </a:p>
        </p:txBody>
      </p:sp>
      <p:sp>
        <p:nvSpPr>
          <p:cNvPr id="20" name="Text 18"/>
          <p:cNvSpPr/>
          <p:nvPr/>
        </p:nvSpPr>
        <p:spPr>
          <a:xfrm>
            <a:off x="6355080" y="4754880"/>
            <a:ext cx="22860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Pilot MOU</a:t>
            </a:r>
            <a:endParaRPr lang="en-US" sz="1500" dirty="0"/>
          </a:p>
        </p:txBody>
      </p:sp>
      <p:sp>
        <p:nvSpPr>
          <p:cNvPr id="21" name="Text 19"/>
          <p:cNvSpPr/>
          <p:nvPr/>
        </p:nvSpPr>
        <p:spPr>
          <a:xfrm>
            <a:off x="6355080" y="5166360"/>
            <a:ext cx="228600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Sign a 1-page MOU on responsibilities and terms.</a:t>
            </a:r>
            <a:endParaRPr lang="en-US" sz="1100" dirty="0"/>
          </a:p>
        </p:txBody>
      </p:sp>
      <p:sp>
        <p:nvSpPr>
          <p:cNvPr id="22" name="Shape 20"/>
          <p:cNvSpPr/>
          <p:nvPr/>
        </p:nvSpPr>
        <p:spPr>
          <a:xfrm>
            <a:off x="9978847" y="3730752"/>
            <a:ext cx="768096" cy="768096"/>
          </a:xfrm>
          <a:prstGeom prst="ellipse">
            <a:avLst/>
          </a:prstGeom>
          <a:solidFill>
            <a:srgbClr val="FFC700"/>
          </a:solidFill>
          <a:ln w="50800">
            <a:solidFill>
              <a:srgbClr val="FFFFFF"/>
            </a:solidFill>
            <a:prstDash val="solid"/>
          </a:ln>
        </p:spPr>
      </p:sp>
      <p:sp>
        <p:nvSpPr>
          <p:cNvPr id="23" name="Text 21"/>
          <p:cNvSpPr/>
          <p:nvPr/>
        </p:nvSpPr>
        <p:spPr>
          <a:xfrm>
            <a:off x="9978847" y="3730752"/>
            <a:ext cx="768096" cy="768096"/>
          </a:xfrm>
          <a:prstGeom prst="rect">
            <a:avLst/>
          </a:prstGeom>
          <a:noFill/>
          <a:ln/>
        </p:spPr>
        <p:txBody>
          <a:bodyPr wrap="square" lIns="0" tIns="0" rIns="0" bIns="0" rtlCol="0" anchor="ctr"/>
          <a:lstStyle/>
          <a:p>
            <a:pPr algn="ctr" indent="0" marL="0">
              <a:buNone/>
            </a:pPr>
            <a:r>
              <a:rPr lang="en-US" sz="2200" b="1" dirty="0">
                <a:solidFill>
                  <a:srgbClr val="003D7A"/>
                </a:solidFill>
                <a:latin typeface="Inter" pitchFamily="34" charset="0"/>
                <a:ea typeface="Inter" pitchFamily="34" charset="-122"/>
                <a:cs typeface="Inter" pitchFamily="34" charset="-120"/>
              </a:rPr>
              <a:t>04</a:t>
            </a:r>
            <a:endParaRPr lang="en-US" sz="2200" dirty="0"/>
          </a:p>
        </p:txBody>
      </p:sp>
      <p:sp>
        <p:nvSpPr>
          <p:cNvPr id="24" name="Text 22"/>
          <p:cNvSpPr/>
          <p:nvPr/>
        </p:nvSpPr>
        <p:spPr>
          <a:xfrm>
            <a:off x="9219895" y="4754880"/>
            <a:ext cx="22860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Cohort launch</a:t>
            </a:r>
            <a:endParaRPr lang="en-US" sz="1500" dirty="0"/>
          </a:p>
        </p:txBody>
      </p:sp>
      <p:sp>
        <p:nvSpPr>
          <p:cNvPr id="25" name="Text 23"/>
          <p:cNvSpPr/>
          <p:nvPr/>
        </p:nvSpPr>
        <p:spPr>
          <a:xfrm>
            <a:off x="9219895" y="5166360"/>
            <a:ext cx="2286000" cy="1188720"/>
          </a:xfrm>
          <a:prstGeom prst="rect">
            <a:avLst/>
          </a:prstGeom>
          <a:noFill/>
          <a:ln/>
        </p:spPr>
        <p:txBody>
          <a:bodyPr wrap="square" lIns="0" tIns="0" rIns="0" bIns="0" rtlCol="0" anchor="ctr"/>
          <a:lstStyle/>
          <a:p>
            <a:pPr algn="ctr" indent="0" marL="0">
              <a:lnSpc>
                <a:spcPts val="1400"/>
              </a:lnSpc>
              <a:buNone/>
            </a:pPr>
            <a:r>
              <a:rPr lang="en-US" sz="1100" dirty="0">
                <a:solidFill>
                  <a:srgbClr val="B6CDE5"/>
                </a:solidFill>
                <a:latin typeface="Inter" pitchFamily="34" charset="0"/>
                <a:ea typeface="Inter" pitchFamily="34" charset="-122"/>
                <a:cs typeface="Inter" pitchFamily="34" charset="-120"/>
              </a:rPr>
              <a:t>Enrolment opens. BuildAI handles delivery.</a:t>
            </a:r>
            <a:endParaRPr lang="en-US" sz="1100" dirty="0"/>
          </a:p>
        </p:txBody>
      </p:sp>
      <p:sp>
        <p:nvSpPr>
          <p:cNvPr id="26" name="Shape 24"/>
          <p:cNvSpPr/>
          <p:nvPr/>
        </p:nvSpPr>
        <p:spPr>
          <a:xfrm>
            <a:off x="548640" y="6355080"/>
            <a:ext cx="11094415" cy="0"/>
          </a:xfrm>
          <a:prstGeom prst="line">
            <a:avLst/>
          </a:prstGeom>
          <a:noFill/>
          <a:ln w="12700">
            <a:solidFill>
              <a:srgbClr val="FFFFFF"/>
            </a:solidFill>
            <a:prstDash val="solid"/>
          </a:ln>
        </p:spPr>
      </p:sp>
      <p:sp>
        <p:nvSpPr>
          <p:cNvPr id="27" name="Text 25"/>
          <p:cNvSpPr/>
          <p:nvPr/>
        </p:nvSpPr>
        <p:spPr>
          <a:xfrm>
            <a:off x="548640" y="6473952"/>
            <a:ext cx="8229600" cy="274320"/>
          </a:xfrm>
          <a:prstGeom prst="rect">
            <a:avLst/>
          </a:prstGeom>
          <a:noFill/>
          <a:ln/>
        </p:spPr>
        <p:txBody>
          <a:bodyPr wrap="square" lIns="0" tIns="0" rIns="0" bIns="0" rtlCol="0" anchor="ctr"/>
          <a:lstStyle/>
          <a:p>
            <a:pPr indent="0" marL="0">
              <a:buNone/>
            </a:pPr>
            <a:r>
              <a:rPr lang="en-US" sz="900" b="1" spc="400" kern="0" dirty="0">
                <a:solidFill>
                  <a:srgbClr val="B6CDE5"/>
                </a:solidFill>
                <a:latin typeface="Inter" pitchFamily="34" charset="0"/>
                <a:ea typeface="Inter" pitchFamily="34" charset="-122"/>
                <a:cs typeface="Inter" pitchFamily="34" charset="-120"/>
              </a:rPr>
              <a:t>BUILDAI LINE · COHORT 01 — NEXT STEPS</a:t>
            </a:r>
            <a:endParaRPr lang="en-US" sz="900" dirty="0"/>
          </a:p>
        </p:txBody>
      </p:sp>
      <p:sp>
        <p:nvSpPr>
          <p:cNvPr id="28" name="Shape 26"/>
          <p:cNvSpPr/>
          <p:nvPr/>
        </p:nvSpPr>
        <p:spPr>
          <a:xfrm>
            <a:off x="10545775" y="6473952"/>
            <a:ext cx="1097280" cy="228600"/>
          </a:xfrm>
          <a:prstGeom prst="rect">
            <a:avLst/>
          </a:prstGeom>
          <a:solidFill>
            <a:srgbClr val="FFC700"/>
          </a:solidFill>
          <a:ln w="12700">
            <a:solidFill>
              <a:srgbClr val="FFC700"/>
            </a:solidFill>
            <a:prstDash val="solid"/>
          </a:ln>
        </p:spPr>
      </p:sp>
      <p:sp>
        <p:nvSpPr>
          <p:cNvPr id="29" name="Text 27"/>
          <p:cNvSpPr/>
          <p:nvPr/>
        </p:nvSpPr>
        <p:spPr>
          <a:xfrm>
            <a:off x="10545775" y="6473952"/>
            <a:ext cx="1097280" cy="228600"/>
          </a:xfrm>
          <a:prstGeom prst="rect">
            <a:avLst/>
          </a:prstGeom>
          <a:noFill/>
          <a:ln/>
        </p:spPr>
        <p:txBody>
          <a:bodyPr wrap="square" lIns="0" tIns="0" rIns="0" bIns="0" rtlCol="0" anchor="ctr"/>
          <a:lstStyle/>
          <a:p>
            <a:pPr algn="ctr" indent="0" marL="0">
              <a:buNone/>
            </a:pPr>
            <a:r>
              <a:rPr lang="en-US" sz="900" b="1" spc="300" kern="0" dirty="0">
                <a:solidFill>
                  <a:srgbClr val="003D7A"/>
                </a:solidFill>
                <a:latin typeface="Inter" pitchFamily="34" charset="0"/>
                <a:ea typeface="Inter" pitchFamily="34" charset="-122"/>
                <a:cs typeface="Inter" pitchFamily="34" charset="-120"/>
              </a:rPr>
              <a:t>NEXT STOP →</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D7A"/>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FFC700"/>
          </a:solidFill>
          <a:ln w="12700">
            <a:solidFill>
              <a:srgbClr val="FFC700"/>
            </a:solidFill>
            <a:prstDash val="solid"/>
          </a:ln>
        </p:spPr>
      </p:sp>
      <p:sp>
        <p:nvSpPr>
          <p:cNvPr id="3" name="Shape 1"/>
          <p:cNvSpPr/>
          <p:nvPr/>
        </p:nvSpPr>
        <p:spPr>
          <a:xfrm>
            <a:off x="548640" y="548640"/>
            <a:ext cx="365760" cy="292608"/>
          </a:xfrm>
          <a:prstGeom prst="rect">
            <a:avLst/>
          </a:prstGeom>
          <a:solidFill>
            <a:srgbClr val="FFC700"/>
          </a:solidFill>
          <a:ln w="12700">
            <a:solidFill>
              <a:srgbClr val="FFC700"/>
            </a:solidFill>
            <a:prstDash val="solid"/>
          </a:ln>
        </p:spPr>
      </p:sp>
      <p:sp>
        <p:nvSpPr>
          <p:cNvPr id="4" name="Text 2"/>
          <p:cNvSpPr/>
          <p:nvPr/>
        </p:nvSpPr>
        <p:spPr>
          <a:xfrm>
            <a:off x="548640" y="548640"/>
            <a:ext cx="365760" cy="292608"/>
          </a:xfrm>
          <a:prstGeom prst="rect">
            <a:avLst/>
          </a:prstGeom>
          <a:noFill/>
          <a:ln/>
        </p:spPr>
        <p:txBody>
          <a:bodyPr wrap="square" lIns="0" tIns="0" rIns="0" bIns="0" rtlCol="0" anchor="ctr"/>
          <a:lstStyle/>
          <a:p>
            <a:pPr algn="ctr" indent="0" marL="0">
              <a:buNone/>
            </a:pPr>
            <a:r>
              <a:rPr lang="en-US" sz="1400" b="1" dirty="0">
                <a:solidFill>
                  <a:srgbClr val="003D7A"/>
                </a:solidFill>
                <a:latin typeface="Inter" pitchFamily="34" charset="0"/>
                <a:ea typeface="Inter" pitchFamily="34" charset="-122"/>
                <a:cs typeface="Inter" pitchFamily="34" charset="-120"/>
              </a:rPr>
              <a:t>→</a:t>
            </a:r>
            <a:endParaRPr lang="en-US" sz="1400" dirty="0"/>
          </a:p>
        </p:txBody>
      </p:sp>
      <p:sp>
        <p:nvSpPr>
          <p:cNvPr id="5" name="Text 3"/>
          <p:cNvSpPr/>
          <p:nvPr/>
        </p:nvSpPr>
        <p:spPr>
          <a:xfrm>
            <a:off x="1005840" y="548640"/>
            <a:ext cx="548640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TERMINUS · STATION 17</a:t>
            </a:r>
            <a:endParaRPr lang="en-US" sz="1100" dirty="0"/>
          </a:p>
        </p:txBody>
      </p:sp>
      <p:sp>
        <p:nvSpPr>
          <p:cNvPr id="6" name="Text 4"/>
          <p:cNvSpPr/>
          <p:nvPr/>
        </p:nvSpPr>
        <p:spPr>
          <a:xfrm>
            <a:off x="10362895" y="548640"/>
            <a:ext cx="1280160" cy="320040"/>
          </a:xfrm>
          <a:prstGeom prst="rect">
            <a:avLst/>
          </a:prstGeom>
          <a:noFill/>
          <a:ln/>
        </p:spPr>
        <p:txBody>
          <a:bodyPr wrap="square" lIns="0" tIns="0" rIns="0" bIns="0" rtlCol="0" anchor="ctr"/>
          <a:lstStyle/>
          <a:p>
            <a:pPr algn="r" indent="0" marL="0">
              <a:buNone/>
            </a:pPr>
            <a:r>
              <a:rPr lang="en-US" sz="1100" b="1" spc="500" kern="0" dirty="0">
                <a:solidFill>
                  <a:srgbClr val="FFFFFF"/>
                </a:solidFill>
                <a:latin typeface="Inter" pitchFamily="34" charset="0"/>
                <a:ea typeface="Inter" pitchFamily="34" charset="-122"/>
                <a:cs typeface="Inter" pitchFamily="34" charset="-120"/>
              </a:rPr>
              <a:t>17 / 17</a:t>
            </a:r>
            <a:endParaRPr lang="en-US" sz="1100" dirty="0"/>
          </a:p>
        </p:txBody>
      </p:sp>
      <p:sp>
        <p:nvSpPr>
          <p:cNvPr id="7" name="Shape 5"/>
          <p:cNvSpPr/>
          <p:nvPr/>
        </p:nvSpPr>
        <p:spPr>
          <a:xfrm>
            <a:off x="548640" y="960120"/>
            <a:ext cx="11094415" cy="0"/>
          </a:xfrm>
          <a:prstGeom prst="line">
            <a:avLst/>
          </a:prstGeom>
          <a:noFill/>
          <a:ln w="25400">
            <a:solidFill>
              <a:srgbClr val="FFFFFF"/>
            </a:solidFill>
            <a:prstDash val="solid"/>
          </a:ln>
        </p:spPr>
      </p:sp>
      <p:sp>
        <p:nvSpPr>
          <p:cNvPr id="8" name="Text 6"/>
          <p:cNvSpPr/>
          <p:nvPr/>
        </p:nvSpPr>
        <p:spPr>
          <a:xfrm>
            <a:off x="548640" y="1554480"/>
            <a:ext cx="10972800" cy="1280160"/>
          </a:xfrm>
          <a:prstGeom prst="rect">
            <a:avLst/>
          </a:prstGeom>
          <a:noFill/>
          <a:ln/>
        </p:spPr>
        <p:txBody>
          <a:bodyPr wrap="square" lIns="0" tIns="0" rIns="0" bIns="0" rtlCol="0" anchor="ctr"/>
          <a:lstStyle/>
          <a:p>
            <a:pPr indent="0" marL="0">
              <a:buNone/>
            </a:pPr>
            <a:r>
              <a:rPr lang="en-US" sz="7000" b="1" spc="-200" kern="0" dirty="0">
                <a:solidFill>
                  <a:srgbClr val="FFFFFF"/>
                </a:solidFill>
                <a:latin typeface="Inter" pitchFamily="34" charset="0"/>
                <a:ea typeface="Inter" pitchFamily="34" charset="-122"/>
                <a:cs typeface="Inter" pitchFamily="34" charset="-120"/>
              </a:rPr>
              <a:t>Let's run a pilot</a:t>
            </a:r>
            <a:endParaRPr lang="en-US" sz="7000" dirty="0"/>
          </a:p>
        </p:txBody>
      </p:sp>
      <p:sp>
        <p:nvSpPr>
          <p:cNvPr id="9" name="Text 7"/>
          <p:cNvSpPr/>
          <p:nvPr/>
        </p:nvSpPr>
        <p:spPr>
          <a:xfrm>
            <a:off x="548640" y="2743200"/>
            <a:ext cx="10972800" cy="1280160"/>
          </a:xfrm>
          <a:prstGeom prst="rect">
            <a:avLst/>
          </a:prstGeom>
          <a:noFill/>
          <a:ln/>
        </p:spPr>
        <p:txBody>
          <a:bodyPr wrap="square" lIns="0" tIns="0" rIns="0" bIns="0" rtlCol="0" anchor="ctr"/>
          <a:lstStyle/>
          <a:p>
            <a:pPr indent="0" marL="0">
              <a:buNone/>
            </a:pPr>
            <a:r>
              <a:rPr lang="en-US" sz="7000" b="1" spc="-200" kern="0" dirty="0">
                <a:solidFill>
                  <a:srgbClr val="FFC700"/>
                </a:solidFill>
                <a:latin typeface="Inter" pitchFamily="34" charset="0"/>
                <a:ea typeface="Inter" pitchFamily="34" charset="-122"/>
                <a:cs typeface="Inter" pitchFamily="34" charset="-120"/>
              </a:rPr>
              <a:t>together.</a:t>
            </a:r>
            <a:endParaRPr lang="en-US" sz="7000" dirty="0"/>
          </a:p>
        </p:txBody>
      </p:sp>
      <p:sp>
        <p:nvSpPr>
          <p:cNvPr id="10" name="Text 8"/>
          <p:cNvSpPr/>
          <p:nvPr/>
        </p:nvSpPr>
        <p:spPr>
          <a:xfrm>
            <a:off x="548640" y="4114800"/>
            <a:ext cx="10972800" cy="502920"/>
          </a:xfrm>
          <a:prstGeom prst="rect">
            <a:avLst/>
          </a:prstGeom>
          <a:noFill/>
          <a:ln/>
        </p:spPr>
        <p:txBody>
          <a:bodyPr wrap="square" lIns="0" tIns="0" rIns="0" bIns="0" rtlCol="0" anchor="ctr"/>
          <a:lstStyle/>
          <a:p>
            <a:pPr indent="0" marL="0">
              <a:buNone/>
            </a:pPr>
            <a:r>
              <a:rPr lang="en-US" sz="1800" i="1" dirty="0">
                <a:solidFill>
                  <a:srgbClr val="B6CDE5"/>
                </a:solidFill>
                <a:latin typeface="Inter" pitchFamily="34" charset="0"/>
                <a:ea typeface="Inter" pitchFamily="34" charset="-122"/>
                <a:cs typeface="Inter" pitchFamily="34" charset="-120"/>
              </a:rPr>
              <a:t>Even a 30-student first cohort produces public proof your institution can show.</a:t>
            </a:r>
            <a:endParaRPr lang="en-US" sz="1800" dirty="0"/>
          </a:p>
        </p:txBody>
      </p:sp>
      <p:sp>
        <p:nvSpPr>
          <p:cNvPr id="11" name="Shape 9"/>
          <p:cNvSpPr/>
          <p:nvPr/>
        </p:nvSpPr>
        <p:spPr>
          <a:xfrm>
            <a:off x="548640" y="4937760"/>
            <a:ext cx="5943600" cy="1371600"/>
          </a:xfrm>
          <a:prstGeom prst="rect">
            <a:avLst/>
          </a:prstGeom>
          <a:solidFill>
            <a:srgbClr val="FFC700"/>
          </a:solidFill>
          <a:ln w="12700">
            <a:solidFill>
              <a:srgbClr val="FFC700"/>
            </a:solidFill>
            <a:prstDash val="solid"/>
          </a:ln>
        </p:spPr>
      </p:sp>
      <p:sp>
        <p:nvSpPr>
          <p:cNvPr id="12" name="Text 10"/>
          <p:cNvSpPr/>
          <p:nvPr/>
        </p:nvSpPr>
        <p:spPr>
          <a:xfrm>
            <a:off x="777240" y="5074920"/>
            <a:ext cx="5486400" cy="274320"/>
          </a:xfrm>
          <a:prstGeom prst="rect">
            <a:avLst/>
          </a:prstGeom>
          <a:noFill/>
          <a:ln/>
        </p:spPr>
        <p:txBody>
          <a:bodyPr wrap="square" lIns="0" tIns="0" rIns="0" bIns="0" rtlCol="0" anchor="ctr"/>
          <a:lstStyle/>
          <a:p>
            <a:pPr indent="0" marL="0">
              <a:buNone/>
            </a:pPr>
            <a:r>
              <a:rPr lang="en-US" sz="1000" b="1" spc="500" kern="0" dirty="0">
                <a:solidFill>
                  <a:srgbClr val="003D7A"/>
                </a:solidFill>
                <a:latin typeface="Inter" pitchFamily="34" charset="0"/>
                <a:ea typeface="Inter" pitchFamily="34" charset="-122"/>
                <a:cs typeface="Inter" pitchFamily="34" charset="-120"/>
              </a:rPr>
              <a:t>SHARAD AGRAWAL</a:t>
            </a:r>
            <a:endParaRPr lang="en-US" sz="1000" dirty="0"/>
          </a:p>
        </p:txBody>
      </p:sp>
      <p:sp>
        <p:nvSpPr>
          <p:cNvPr id="13" name="Text 11"/>
          <p:cNvSpPr/>
          <p:nvPr/>
        </p:nvSpPr>
        <p:spPr>
          <a:xfrm>
            <a:off x="777240" y="5349240"/>
            <a:ext cx="5486400" cy="320040"/>
          </a:xfrm>
          <a:prstGeom prst="rect">
            <a:avLst/>
          </a:prstGeom>
          <a:noFill/>
          <a:ln/>
        </p:spPr>
        <p:txBody>
          <a:bodyPr wrap="square" lIns="0" tIns="0" rIns="0" bIns="0" rtlCol="0" anchor="ctr"/>
          <a:lstStyle/>
          <a:p>
            <a:pPr indent="0" marL="0">
              <a:buNone/>
            </a:pPr>
            <a:r>
              <a:rPr lang="en-US" sz="1500" i="1" dirty="0">
                <a:solidFill>
                  <a:srgbClr val="003D7A"/>
                </a:solidFill>
                <a:latin typeface="Inter" pitchFamily="34" charset="0"/>
                <a:ea typeface="Inter" pitchFamily="34" charset="-122"/>
                <a:cs typeface="Inter" pitchFamily="34" charset="-120"/>
              </a:rPr>
              <a:t>Founder, BuildAI</a:t>
            </a:r>
            <a:endParaRPr lang="en-US" sz="1500" dirty="0"/>
          </a:p>
        </p:txBody>
      </p:sp>
      <p:sp>
        <p:nvSpPr>
          <p:cNvPr id="14" name="Shape 12"/>
          <p:cNvSpPr/>
          <p:nvPr/>
        </p:nvSpPr>
        <p:spPr>
          <a:xfrm>
            <a:off x="777240" y="5715000"/>
            <a:ext cx="914400" cy="0"/>
          </a:xfrm>
          <a:prstGeom prst="line">
            <a:avLst/>
          </a:prstGeom>
          <a:noFill/>
          <a:ln w="25400">
            <a:solidFill>
              <a:srgbClr val="003D7A"/>
            </a:solidFill>
            <a:prstDash val="solid"/>
          </a:ln>
        </p:spPr>
      </p:sp>
      <p:sp>
        <p:nvSpPr>
          <p:cNvPr id="15" name="Text 13"/>
          <p:cNvSpPr/>
          <p:nvPr/>
        </p:nvSpPr>
        <p:spPr>
          <a:xfrm>
            <a:off x="777240" y="5806440"/>
            <a:ext cx="5577840" cy="320040"/>
          </a:xfrm>
          <a:prstGeom prst="rect">
            <a:avLst/>
          </a:prstGeom>
          <a:noFill/>
          <a:ln/>
        </p:spPr>
        <p:txBody>
          <a:bodyPr wrap="square" lIns="0" tIns="0" rIns="0" bIns="0" rtlCol="0" anchor="ctr"/>
          <a:lstStyle/>
          <a:p>
            <a:pPr indent="0" marL="0">
              <a:buNone/>
            </a:pPr>
            <a:r>
              <a:rPr lang="en-US" sz="1200" b="1" dirty="0">
                <a:solidFill>
                  <a:srgbClr val="003D7A"/>
                </a:solidFill>
                <a:latin typeface="Inter" pitchFamily="34" charset="0"/>
                <a:ea typeface="Inter" pitchFamily="34" charset="-122"/>
                <a:cs typeface="Inter" pitchFamily="34" charset="-120"/>
              </a:rPr>
              <a:t>contact@meetskybloom.com  ·  IIT Bombay '18  ·  Cornell MBA '24</a:t>
            </a:r>
            <a:endParaRPr lang="en-US" sz="1200" dirty="0"/>
          </a:p>
        </p:txBody>
      </p:sp>
      <p:sp>
        <p:nvSpPr>
          <p:cNvPr id="16" name="Shape 14"/>
          <p:cNvSpPr/>
          <p:nvPr/>
        </p:nvSpPr>
        <p:spPr>
          <a:xfrm>
            <a:off x="7498080" y="4937760"/>
            <a:ext cx="4160520" cy="1371600"/>
          </a:xfrm>
          <a:prstGeom prst="rect">
            <a:avLst/>
          </a:prstGeom>
          <a:solidFill>
            <a:srgbClr val="FFC700"/>
          </a:solidFill>
          <a:ln w="12700">
            <a:solidFill>
              <a:srgbClr val="FFC700"/>
            </a:solidFill>
            <a:prstDash val="solid"/>
          </a:ln>
        </p:spPr>
      </p:sp>
      <p:sp>
        <p:nvSpPr>
          <p:cNvPr id="17" name="Shape 15"/>
          <p:cNvSpPr/>
          <p:nvPr/>
        </p:nvSpPr>
        <p:spPr>
          <a:xfrm>
            <a:off x="7498080" y="4937760"/>
            <a:ext cx="4160520" cy="365760"/>
          </a:xfrm>
          <a:prstGeom prst="rect">
            <a:avLst/>
          </a:prstGeom>
          <a:solidFill>
            <a:srgbClr val="003D7A"/>
          </a:solidFill>
          <a:ln w="12700">
            <a:solidFill>
              <a:srgbClr val="003D7A"/>
            </a:solidFill>
            <a:prstDash val="solid"/>
          </a:ln>
        </p:spPr>
      </p:sp>
      <p:sp>
        <p:nvSpPr>
          <p:cNvPr id="18" name="Text 16"/>
          <p:cNvSpPr/>
          <p:nvPr/>
        </p:nvSpPr>
        <p:spPr>
          <a:xfrm>
            <a:off x="7680960" y="4983480"/>
            <a:ext cx="3840480" cy="274320"/>
          </a:xfrm>
          <a:prstGeom prst="rect">
            <a:avLst/>
          </a:prstGeom>
          <a:noFill/>
          <a:ln/>
        </p:spPr>
        <p:txBody>
          <a:bodyPr wrap="square" lIns="0" tIns="0" rIns="0" bIns="0" rtlCol="0" anchor="ctr"/>
          <a:lstStyle/>
          <a:p>
            <a:pPr indent="0" marL="0">
              <a:buNone/>
            </a:pPr>
            <a:r>
              <a:rPr lang="en-US" sz="1100" b="1" spc="500" kern="0" dirty="0">
                <a:solidFill>
                  <a:srgbClr val="FFC700"/>
                </a:solidFill>
                <a:latin typeface="Inter" pitchFamily="34" charset="0"/>
                <a:ea typeface="Inter" pitchFamily="34" charset="-122"/>
                <a:cs typeface="Inter" pitchFamily="34" charset="-120"/>
              </a:rPr>
              <a:t>→ NEXT COHORT</a:t>
            </a:r>
            <a:endParaRPr lang="en-US" sz="1100" dirty="0"/>
          </a:p>
        </p:txBody>
      </p:sp>
      <p:sp>
        <p:nvSpPr>
          <p:cNvPr id="19" name="Text 17"/>
          <p:cNvSpPr/>
          <p:nvPr/>
        </p:nvSpPr>
        <p:spPr>
          <a:xfrm>
            <a:off x="7680960" y="5394960"/>
            <a:ext cx="3794760" cy="822960"/>
          </a:xfrm>
          <a:prstGeom prst="rect">
            <a:avLst/>
          </a:prstGeom>
          <a:noFill/>
          <a:ln/>
        </p:spPr>
        <p:txBody>
          <a:bodyPr wrap="square" lIns="0" tIns="0" rIns="0" bIns="0" rtlCol="0" anchor="ctr"/>
          <a:lstStyle/>
          <a:p>
            <a:pPr indent="0" marL="0">
              <a:buNone/>
            </a:pPr>
            <a:r>
              <a:rPr lang="en-US" sz="2600" b="1" spc="-50" kern="0" dirty="0">
                <a:solidFill>
                  <a:srgbClr val="003D7A"/>
                </a:solidFill>
                <a:latin typeface="Inter" pitchFamily="34" charset="0"/>
                <a:ea typeface="Inter" pitchFamily="34" charset="-122"/>
                <a:cs typeface="Inter" pitchFamily="34" charset="-120"/>
              </a:rPr>
              <a:t>Summer / Winter 2026</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BuildAI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BuildAI — College Pitch Deck (Wayfinding)</dc:title>
  <dc:subject>PptxGenJS Presentation</dc:subject>
  <dc:creator>Sharad Agrawal</dc:creator>
  <cp:lastModifiedBy>Sharad Agrawal</cp:lastModifiedBy>
  <cp:revision>1</cp:revision>
  <dcterms:created xsi:type="dcterms:W3CDTF">2026-05-27T20:02:30Z</dcterms:created>
  <dcterms:modified xsi:type="dcterms:W3CDTF">2026-05-27T20:02:30Z</dcterms:modified>
</cp:coreProperties>
</file>