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82735" y="0"/>
            <a:ext cx="3108960" cy="2011680"/>
          </a:xfrm>
          <a:prstGeom prst="rect">
            <a:avLst/>
          </a:prstGeom>
          <a:solidFill>
            <a:srgbClr val="FFD400"/>
          </a:solidFill>
          <a:ln w="12700">
            <a:solidFill>
              <a:srgbClr val="FFD400"/>
            </a:solidFill>
            <a:prstDash val="solid"/>
          </a:ln>
        </p:spPr>
      </p:sp>
      <p:sp>
        <p:nvSpPr>
          <p:cNvPr id="3" name="Shape 1"/>
          <p:cNvSpPr/>
          <p:nvPr/>
        </p:nvSpPr>
        <p:spPr>
          <a:xfrm>
            <a:off x="0" y="5669280"/>
            <a:ext cx="457200" cy="1188720"/>
          </a:xfrm>
          <a:prstGeom prst="rect">
            <a:avLst/>
          </a:prstGeom>
          <a:solidFill>
            <a:srgbClr val="E63227"/>
          </a:solidFill>
          <a:ln w="12700">
            <a:solidFill>
              <a:srgbClr val="E63227"/>
            </a:solidFill>
            <a:prstDash val="solid"/>
          </a:ln>
        </p:spPr>
      </p:sp>
      <p:sp>
        <p:nvSpPr>
          <p:cNvPr id="4" name="Text 2"/>
          <p:cNvSpPr/>
          <p:nvPr/>
        </p:nvSpPr>
        <p:spPr>
          <a:xfrm>
            <a:off x="9265615" y="914400"/>
            <a:ext cx="2743200" cy="914400"/>
          </a:xfrm>
          <a:prstGeom prst="rect">
            <a:avLst/>
          </a:prstGeom>
          <a:noFill/>
          <a:ln/>
        </p:spPr>
        <p:txBody>
          <a:bodyPr wrap="square" lIns="0" tIns="0" rIns="0" bIns="0" rtlCol="0" anchor="ctr"/>
          <a:lstStyle/>
          <a:p>
            <a:pPr algn="r" indent="0" marL="0">
              <a:buNone/>
            </a:pPr>
            <a:r>
              <a:rPr lang="en-US" sz="1800" b="1" spc="100" kern="0" dirty="0">
                <a:solidFill>
                  <a:srgbClr val="111111"/>
                </a:solidFill>
                <a:latin typeface="Inter" pitchFamily="34" charset="0"/>
                <a:ea typeface="Inter" pitchFamily="34" charset="-122"/>
                <a:cs typeface="Inter" pitchFamily="34" charset="-120"/>
              </a:rPr>
              <a:t>EARNED,</a:t>
            </a:r>
            <a:endParaRPr lang="en-US" sz="1800" dirty="0"/>
          </a:p>
          <a:p>
            <a:pPr algn="r" indent="0" marL="0">
              <a:buNone/>
            </a:pPr>
            <a:r>
              <a:rPr lang="en-US" sz="1800" b="1" spc="100" kern="0" dirty="0">
                <a:solidFill>
                  <a:srgbClr val="111111"/>
                </a:solidFill>
                <a:latin typeface="Inter" pitchFamily="34" charset="0"/>
                <a:ea typeface="Inter" pitchFamily="34" charset="-122"/>
                <a:cs typeface="Inter" pitchFamily="34" charset="-120"/>
              </a:rPr>
              <a:t>NOT GRANTED.</a:t>
            </a:r>
            <a:endParaRPr lang="en-US" sz="1800" dirty="0"/>
          </a:p>
        </p:txBody>
      </p:sp>
      <p:sp>
        <p:nvSpPr>
          <p:cNvPr id="5" name="Text 3"/>
          <p:cNvSpPr/>
          <p:nvPr/>
        </p:nvSpPr>
        <p:spPr>
          <a:xfrm>
            <a:off x="777240" y="502920"/>
            <a:ext cx="54864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01 / 17  </a:t>
            </a:r>
            <a:pPr indent="0" marL="0">
              <a:buNone/>
            </a:pPr>
            <a:r>
              <a:rPr lang="en-US" sz="1000" b="1" spc="400" kern="0" dirty="0">
                <a:solidFill>
                  <a:srgbClr val="111111"/>
                </a:solidFill>
                <a:latin typeface="Inter" pitchFamily="34" charset="0"/>
                <a:ea typeface="Inter" pitchFamily="34" charset="-122"/>
                <a:cs typeface="Inter" pitchFamily="34" charset="-120"/>
              </a:rPr>
              <a:t>COVER</a:t>
            </a:r>
            <a:endParaRPr lang="en-US" sz="1000" dirty="0"/>
          </a:p>
        </p:txBody>
      </p:sp>
      <p:sp>
        <p:nvSpPr>
          <p:cNvPr id="6" name="Text 4"/>
          <p:cNvSpPr/>
          <p:nvPr/>
        </p:nvSpPr>
        <p:spPr>
          <a:xfrm>
            <a:off x="777240" y="2011680"/>
            <a:ext cx="10058400" cy="2926080"/>
          </a:xfrm>
          <a:prstGeom prst="rect">
            <a:avLst/>
          </a:prstGeom>
          <a:noFill/>
          <a:ln/>
        </p:spPr>
        <p:txBody>
          <a:bodyPr wrap="square" lIns="0" tIns="0" rIns="0" bIns="0" rtlCol="0" anchor="ctr"/>
          <a:lstStyle/>
          <a:p>
            <a:pPr indent="0" marL="0">
              <a:lnSpc>
                <a:spcPts val="6000"/>
              </a:lnSpc>
              <a:buNone/>
            </a:pPr>
            <a:r>
              <a:rPr lang="en-US" sz="6000" b="1" spc="-150" kern="0" dirty="0">
                <a:solidFill>
                  <a:srgbClr val="111111"/>
                </a:solidFill>
                <a:latin typeface="Inter" pitchFamily="34" charset="0"/>
                <a:ea typeface="Inter" pitchFamily="34" charset="-122"/>
                <a:cs typeface="Inter" pitchFamily="34" charset="-120"/>
              </a:rPr>
              <a:t>We don't teach AI.
</a:t>
            </a:r>
            <a:pPr indent="0" marL="0">
              <a:lnSpc>
                <a:spcPts val="6000"/>
              </a:lnSpc>
              <a:buNone/>
            </a:pPr>
            <a:r>
              <a:rPr lang="en-US" sz="6000" b="1" spc="-150" kern="0" dirty="0">
                <a:solidFill>
                  <a:srgbClr val="111111"/>
                </a:solidFill>
                <a:latin typeface="Inter" pitchFamily="34" charset="0"/>
                <a:ea typeface="Inter" pitchFamily="34" charset="-122"/>
                <a:cs typeface="Inter" pitchFamily="34" charset="-120"/>
              </a:rPr>
              <a:t>We make engineers who </a:t>
            </a:r>
            <a:pPr indent="0" marL="0">
              <a:lnSpc>
                <a:spcPts val="6000"/>
              </a:lnSpc>
              <a:buNone/>
            </a:pPr>
            <a:r>
              <a:rPr lang="en-US" sz="6000" b="1" spc="-150" kern="0" dirty="0">
                <a:solidFill>
                  <a:srgbClr val="E63227"/>
                </a:solidFill>
                <a:latin typeface="Inter" pitchFamily="34" charset="0"/>
                <a:ea typeface="Inter" pitchFamily="34" charset="-122"/>
                <a:cs typeface="Inter" pitchFamily="34" charset="-120"/>
              </a:rPr>
              <a:t>ship.</a:t>
            </a:r>
            <a:endParaRPr lang="en-US" sz="6000" dirty="0"/>
          </a:p>
        </p:txBody>
      </p:sp>
      <p:sp>
        <p:nvSpPr>
          <p:cNvPr id="7" name="Text 5"/>
          <p:cNvSpPr/>
          <p:nvPr/>
        </p:nvSpPr>
        <p:spPr>
          <a:xfrm>
            <a:off x="777240" y="4846320"/>
            <a:ext cx="9144000" cy="457200"/>
          </a:xfrm>
          <a:prstGeom prst="rect">
            <a:avLst/>
          </a:prstGeom>
          <a:noFill/>
          <a:ln/>
        </p:spPr>
        <p:txBody>
          <a:bodyPr wrap="square" lIns="0" tIns="0" rIns="0" bIns="0" rtlCol="0" anchor="ctr"/>
          <a:lstStyle/>
          <a:p>
            <a:pPr indent="0" marL="0">
              <a:buNone/>
            </a:pPr>
            <a:r>
              <a:rPr lang="en-US" sz="1800" dirty="0">
                <a:solidFill>
                  <a:srgbClr val="666666"/>
                </a:solidFill>
                <a:latin typeface="Inter" pitchFamily="34" charset="0"/>
                <a:ea typeface="Inter" pitchFamily="34" charset="-122"/>
                <a:cs typeface="Inter" pitchFamily="34" charset="-120"/>
              </a:rPr>
              <a:t>An AI-native product engineering apprenticeship for India.</a:t>
            </a:r>
            <a:endParaRPr lang="en-US" sz="1800" dirty="0"/>
          </a:p>
        </p:txBody>
      </p:sp>
      <p:sp>
        <p:nvSpPr>
          <p:cNvPr id="8" name="Text 6"/>
          <p:cNvSpPr/>
          <p:nvPr/>
        </p:nvSpPr>
        <p:spPr>
          <a:xfrm>
            <a:off x="777240" y="6400800"/>
            <a:ext cx="7315200" cy="274320"/>
          </a:xfrm>
          <a:prstGeom prst="rect">
            <a:avLst/>
          </a:prstGeom>
          <a:noFill/>
          <a:ln/>
        </p:spPr>
        <p:txBody>
          <a:bodyPr wrap="square" lIns="0" tIns="0" rIns="0" bIns="0" rtlCol="0" anchor="ctr"/>
          <a:lstStyle/>
          <a:p>
            <a:pPr indent="0" marL="0">
              <a:buNone/>
            </a:pPr>
            <a:r>
              <a:rPr lang="en-US" sz="1000" b="1" spc="300" kern="0" dirty="0">
                <a:solidFill>
                  <a:srgbClr val="111111"/>
                </a:solidFill>
                <a:latin typeface="Inter" pitchFamily="34" charset="0"/>
                <a:ea typeface="Inter" pitchFamily="34" charset="-122"/>
                <a:cs typeface="Inter" pitchFamily="34" charset="-120"/>
              </a:rPr>
              <a:t>Sharad Agrawal  /  Founder  /  IIT Bombay '18  /  Cornell MBA '24</a:t>
            </a:r>
            <a:endParaRPr lang="en-US" sz="1000" dirty="0"/>
          </a:p>
        </p:txBody>
      </p:sp>
      <p:sp>
        <p:nvSpPr>
          <p:cNvPr id="9" name="Shape 7"/>
          <p:cNvSpPr/>
          <p:nvPr/>
        </p:nvSpPr>
        <p:spPr>
          <a:xfrm>
            <a:off x="10911535" y="6400800"/>
            <a:ext cx="777240" cy="274320"/>
          </a:xfrm>
          <a:prstGeom prst="rect">
            <a:avLst/>
          </a:prstGeom>
          <a:solidFill>
            <a:srgbClr val="111111"/>
          </a:solidFill>
          <a:ln w="12700">
            <a:solidFill>
              <a:srgbClr val="111111"/>
            </a:solidFill>
            <a:prstDash val="solid"/>
          </a:ln>
        </p:spPr>
      </p:sp>
      <p:sp>
        <p:nvSpPr>
          <p:cNvPr id="10" name="Text 8"/>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02 / 17  </a:t>
            </a:r>
            <a:pPr indent="0" marL="0">
              <a:buNone/>
            </a:pPr>
            <a:r>
              <a:rPr lang="en-US" sz="1000" b="1" spc="400" kern="0" dirty="0">
                <a:solidFill>
                  <a:srgbClr val="111111"/>
                </a:solidFill>
                <a:latin typeface="Inter" pitchFamily="34" charset="0"/>
                <a:ea typeface="Inter" pitchFamily="34" charset="-122"/>
                <a:cs typeface="Inter" pitchFamily="34" charset="-120"/>
              </a:rPr>
              <a:t>THE GAP</a:t>
            </a:r>
            <a:endParaRPr lang="en-US" sz="1000" dirty="0"/>
          </a:p>
        </p:txBody>
      </p:sp>
      <p:sp>
        <p:nvSpPr>
          <p:cNvPr id="3" name="Text 1"/>
          <p:cNvSpPr/>
          <p:nvPr/>
        </p:nvSpPr>
        <p:spPr>
          <a:xfrm>
            <a:off x="548640" y="868680"/>
            <a:ext cx="10972800" cy="118872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Traditional curriculum cannot keep pace</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with AI-native engineering workflows.</a:t>
            </a:r>
            <a:endParaRPr lang="en-US" sz="3200" dirty="0"/>
          </a:p>
        </p:txBody>
      </p:sp>
      <p:sp>
        <p:nvSpPr>
          <p:cNvPr id="4" name="Shape 2"/>
          <p:cNvSpPr/>
          <p:nvPr/>
        </p:nvSpPr>
        <p:spPr>
          <a:xfrm>
            <a:off x="548640" y="2468880"/>
            <a:ext cx="5394960" cy="3840480"/>
          </a:xfrm>
          <a:prstGeom prst="rect">
            <a:avLst/>
          </a:prstGeom>
          <a:solidFill>
            <a:srgbClr val="111111"/>
          </a:solidFill>
          <a:ln w="12700">
            <a:solidFill>
              <a:srgbClr val="111111"/>
            </a:solidFill>
            <a:prstDash val="solid"/>
          </a:ln>
        </p:spPr>
      </p:sp>
      <p:sp>
        <p:nvSpPr>
          <p:cNvPr id="5" name="Shape 3"/>
          <p:cNvSpPr/>
          <p:nvPr/>
        </p:nvSpPr>
        <p:spPr>
          <a:xfrm>
            <a:off x="6263640" y="2468880"/>
            <a:ext cx="5394960" cy="3840480"/>
          </a:xfrm>
          <a:prstGeom prst="rect">
            <a:avLst/>
          </a:prstGeom>
          <a:solidFill>
            <a:srgbClr val="FFD400"/>
          </a:solidFill>
          <a:ln w="12700">
            <a:solidFill>
              <a:srgbClr val="FFD400"/>
            </a:solidFill>
            <a:prstDash val="solid"/>
          </a:ln>
        </p:spPr>
      </p:sp>
      <p:sp>
        <p:nvSpPr>
          <p:cNvPr id="6" name="Text 4"/>
          <p:cNvSpPr/>
          <p:nvPr/>
        </p:nvSpPr>
        <p:spPr>
          <a:xfrm>
            <a:off x="868680" y="2697480"/>
            <a:ext cx="4754880" cy="365760"/>
          </a:xfrm>
          <a:prstGeom prst="rect">
            <a:avLst/>
          </a:prstGeom>
          <a:noFill/>
          <a:ln/>
        </p:spPr>
        <p:txBody>
          <a:bodyPr wrap="square" lIns="0" tIns="0" rIns="0" bIns="0" rtlCol="0" anchor="ctr"/>
          <a:lstStyle/>
          <a:p>
            <a:pPr indent="0" marL="0">
              <a:buNone/>
            </a:pPr>
            <a:r>
              <a:rPr lang="en-US" sz="1200" b="1" spc="500" kern="0" dirty="0">
                <a:solidFill>
                  <a:srgbClr val="FFFFFF"/>
                </a:solidFill>
                <a:latin typeface="Inter" pitchFamily="34" charset="0"/>
                <a:ea typeface="Inter" pitchFamily="34" charset="-122"/>
                <a:cs typeface="Inter" pitchFamily="34" charset="-120"/>
              </a:rPr>
              <a:t>WHERE CURRICULUM ENDS</a:t>
            </a:r>
            <a:endParaRPr lang="en-US" sz="1200" dirty="0"/>
          </a:p>
        </p:txBody>
      </p:sp>
      <p:sp>
        <p:nvSpPr>
          <p:cNvPr id="7" name="Shape 5"/>
          <p:cNvSpPr/>
          <p:nvPr/>
        </p:nvSpPr>
        <p:spPr>
          <a:xfrm>
            <a:off x="868680" y="3154680"/>
            <a:ext cx="914400" cy="0"/>
          </a:xfrm>
          <a:prstGeom prst="line">
            <a:avLst/>
          </a:prstGeom>
          <a:noFill/>
          <a:ln w="25400">
            <a:solidFill>
              <a:srgbClr val="E63227"/>
            </a:solidFill>
            <a:prstDash val="solid"/>
          </a:ln>
        </p:spPr>
      </p:sp>
      <p:sp>
        <p:nvSpPr>
          <p:cNvPr id="8" name="Text 6"/>
          <p:cNvSpPr/>
          <p:nvPr/>
        </p:nvSpPr>
        <p:spPr>
          <a:xfrm>
            <a:off x="868680" y="3383280"/>
            <a:ext cx="4754880" cy="28346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FFFFFF"/>
                </a:solidFill>
                <a:latin typeface="Inter" pitchFamily="34" charset="0"/>
                <a:ea typeface="Inter" pitchFamily="34" charset="-122"/>
                <a:cs typeface="Inter" pitchFamily="34" charset="-120"/>
              </a:rPr>
              <a:t>Theoretical foundations are strong</a:t>
            </a:r>
            <a:endParaRPr lang="en-US" sz="1400" dirty="0"/>
          </a:p>
          <a:p>
            <a:pPr marL="342900" indent="-342900">
              <a:spcAft>
                <a:spcPts val="600"/>
              </a:spcAft>
              <a:buSzPct val="100000"/>
              <a:buChar char="—"/>
            </a:pPr>
            <a:r>
              <a:rPr lang="en-US" sz="1400" dirty="0">
                <a:solidFill>
                  <a:srgbClr val="FFFFFF"/>
                </a:solidFill>
                <a:latin typeface="Inter" pitchFamily="34" charset="0"/>
                <a:ea typeface="Inter" pitchFamily="34" charset="-122"/>
                <a:cs typeface="Inter" pitchFamily="34" charset="-120"/>
              </a:rPr>
              <a:t>Limited time for shipping practice</a:t>
            </a:r>
            <a:endParaRPr lang="en-US" sz="1400" dirty="0"/>
          </a:p>
          <a:p>
            <a:pPr marL="342900" indent="-342900">
              <a:spcAft>
                <a:spcPts val="600"/>
              </a:spcAft>
              <a:buSzPct val="100000"/>
              <a:buChar char="—"/>
            </a:pPr>
            <a:r>
              <a:rPr lang="en-US" sz="1400" dirty="0">
                <a:solidFill>
                  <a:srgbClr val="FFFFFF"/>
                </a:solidFill>
                <a:latin typeface="Inter" pitchFamily="34" charset="0"/>
                <a:ea typeface="Inter" pitchFamily="34" charset="-122"/>
                <a:cs typeface="Inter" pitchFamily="34" charset="-120"/>
              </a:rPr>
              <a:t>Production deployment rarely taught</a:t>
            </a:r>
            <a:endParaRPr lang="en-US" sz="1400" dirty="0"/>
          </a:p>
          <a:p>
            <a:pPr marL="342900" indent="-342900">
              <a:spcAft>
                <a:spcPts val="600"/>
              </a:spcAft>
              <a:buSzPct val="100000"/>
              <a:buChar char="—"/>
            </a:pPr>
            <a:r>
              <a:rPr lang="en-US" sz="1400" dirty="0">
                <a:solidFill>
                  <a:srgbClr val="FFFFFF"/>
                </a:solidFill>
                <a:latin typeface="Inter" pitchFamily="34" charset="0"/>
                <a:ea typeface="Inter" pitchFamily="34" charset="-122"/>
                <a:cs typeface="Inter" pitchFamily="34" charset="-120"/>
              </a:rPr>
              <a:t>AI-assisted tools change every quarter</a:t>
            </a:r>
            <a:endParaRPr lang="en-US" sz="1400" dirty="0"/>
          </a:p>
          <a:p>
            <a:pPr marL="342900" indent="-342900">
              <a:spcAft>
                <a:spcPts val="600"/>
              </a:spcAft>
              <a:buSzPct val="100000"/>
              <a:buChar char="—"/>
            </a:pPr>
            <a:r>
              <a:rPr lang="en-US" sz="1400" dirty="0">
                <a:solidFill>
                  <a:srgbClr val="FFFFFF"/>
                </a:solidFill>
                <a:latin typeface="Inter" pitchFamily="34" charset="0"/>
                <a:ea typeface="Inter" pitchFamily="34" charset="-122"/>
                <a:cs typeface="Inter" pitchFamily="34" charset="-120"/>
              </a:rPr>
              <a:t>AI debugging is a different discipline</a:t>
            </a:r>
            <a:endParaRPr lang="en-US" sz="1400" dirty="0"/>
          </a:p>
          <a:p>
            <a:pPr marL="342900" indent="-342900">
              <a:spcAft>
                <a:spcPts val="600"/>
              </a:spcAft>
              <a:buSzPct val="100000"/>
              <a:buChar char="—"/>
            </a:pPr>
            <a:r>
              <a:rPr lang="en-US" sz="1400" dirty="0">
                <a:solidFill>
                  <a:srgbClr val="FFFFFF"/>
                </a:solidFill>
                <a:latin typeface="Inter" pitchFamily="34" charset="0"/>
                <a:ea typeface="Inter" pitchFamily="34" charset="-122"/>
                <a:cs typeface="Inter" pitchFamily="34" charset="-120"/>
              </a:rPr>
              <a:t>Startup workflows are hard to simulate in-class</a:t>
            </a:r>
            <a:endParaRPr lang="en-US" sz="1400" dirty="0"/>
          </a:p>
        </p:txBody>
      </p:sp>
      <p:sp>
        <p:nvSpPr>
          <p:cNvPr id="9" name="Text 7"/>
          <p:cNvSpPr/>
          <p:nvPr/>
        </p:nvSpPr>
        <p:spPr>
          <a:xfrm>
            <a:off x="6583680" y="2697480"/>
            <a:ext cx="4754880" cy="365760"/>
          </a:xfrm>
          <a:prstGeom prst="rect">
            <a:avLst/>
          </a:prstGeom>
          <a:noFill/>
          <a:ln/>
        </p:spPr>
        <p:txBody>
          <a:bodyPr wrap="square" lIns="0" tIns="0" rIns="0" bIns="0" rtlCol="0" anchor="ctr"/>
          <a:lstStyle/>
          <a:p>
            <a:pPr indent="0" marL="0">
              <a:buNone/>
            </a:pPr>
            <a:r>
              <a:rPr lang="en-US" sz="1200" b="1" spc="500" kern="0" dirty="0">
                <a:solidFill>
                  <a:srgbClr val="111111"/>
                </a:solidFill>
                <a:latin typeface="Inter" pitchFamily="34" charset="0"/>
                <a:ea typeface="Inter" pitchFamily="34" charset="-122"/>
                <a:cs typeface="Inter" pitchFamily="34" charset="-120"/>
              </a:rPr>
              <a:t>WHAT STARTUPS NEED</a:t>
            </a:r>
            <a:endParaRPr lang="en-US" sz="1200" dirty="0"/>
          </a:p>
        </p:txBody>
      </p:sp>
      <p:sp>
        <p:nvSpPr>
          <p:cNvPr id="10" name="Shape 8"/>
          <p:cNvSpPr/>
          <p:nvPr/>
        </p:nvSpPr>
        <p:spPr>
          <a:xfrm>
            <a:off x="6583680" y="3154680"/>
            <a:ext cx="914400" cy="0"/>
          </a:xfrm>
          <a:prstGeom prst="line">
            <a:avLst/>
          </a:prstGeom>
          <a:noFill/>
          <a:ln w="25400">
            <a:solidFill>
              <a:srgbClr val="E63227"/>
            </a:solidFill>
            <a:prstDash val="solid"/>
          </a:ln>
        </p:spPr>
      </p:sp>
      <p:sp>
        <p:nvSpPr>
          <p:cNvPr id="11" name="Text 9"/>
          <p:cNvSpPr/>
          <p:nvPr/>
        </p:nvSpPr>
        <p:spPr>
          <a:xfrm>
            <a:off x="6583680" y="3383280"/>
            <a:ext cx="4754880" cy="28346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11111"/>
                </a:solidFill>
                <a:latin typeface="Inter" pitchFamily="34" charset="0"/>
                <a:ea typeface="Inter" pitchFamily="34" charset="-122"/>
                <a:cs typeface="Inter" pitchFamily="34" charset="-120"/>
              </a:rPr>
              <a:t>AI-assisted development fluency</a:t>
            </a:r>
            <a:endParaRPr lang="en-US" sz="1400" dirty="0"/>
          </a:p>
          <a:p>
            <a:pPr marL="342900" indent="-342900">
              <a:spcAft>
                <a:spcPts val="600"/>
              </a:spcAft>
              <a:buSzPct val="100000"/>
              <a:buChar char="—"/>
            </a:pPr>
            <a:r>
              <a:rPr lang="en-US" sz="1400" dirty="0">
                <a:solidFill>
                  <a:srgbClr val="111111"/>
                </a:solidFill>
                <a:latin typeface="Inter" pitchFamily="34" charset="0"/>
                <a:ea typeface="Inter" pitchFamily="34" charset="-122"/>
                <a:cs typeface="Inter" pitchFamily="34" charset="-120"/>
              </a:rPr>
              <a:t>Shipping velocity over algorithm depth</a:t>
            </a:r>
            <a:endParaRPr lang="en-US" sz="1400" dirty="0"/>
          </a:p>
          <a:p>
            <a:pPr marL="342900" indent="-342900">
              <a:spcAft>
                <a:spcPts val="600"/>
              </a:spcAft>
              <a:buSzPct val="100000"/>
              <a:buChar char="—"/>
            </a:pPr>
            <a:r>
              <a:rPr lang="en-US" sz="1400" dirty="0">
                <a:solidFill>
                  <a:srgbClr val="111111"/>
                </a:solidFill>
                <a:latin typeface="Inter" pitchFamily="34" charset="0"/>
                <a:ea typeface="Inter" pitchFamily="34" charset="-122"/>
                <a:cs typeface="Inter" pitchFamily="34" charset="-120"/>
              </a:rPr>
              <a:t>Product and architecture judgment</a:t>
            </a:r>
            <a:endParaRPr lang="en-US" sz="1400" dirty="0"/>
          </a:p>
          <a:p>
            <a:pPr marL="342900" indent="-342900">
              <a:spcAft>
                <a:spcPts val="600"/>
              </a:spcAft>
              <a:buSzPct val="100000"/>
              <a:buChar char="—"/>
            </a:pPr>
            <a:r>
              <a:rPr lang="en-US" sz="1400" dirty="0">
                <a:solidFill>
                  <a:srgbClr val="111111"/>
                </a:solidFill>
                <a:latin typeface="Inter" pitchFamily="34" charset="0"/>
                <a:ea typeface="Inter" pitchFamily="34" charset="-122"/>
                <a:cs typeface="Inter" pitchFamily="34" charset="-120"/>
              </a:rPr>
              <a:t>Evaluation discipline for AI features</a:t>
            </a:r>
            <a:endParaRPr lang="en-US" sz="1400" dirty="0"/>
          </a:p>
          <a:p>
            <a:pPr marL="342900" indent="-342900">
              <a:spcAft>
                <a:spcPts val="600"/>
              </a:spcAft>
              <a:buSzPct val="100000"/>
              <a:buChar char="—"/>
            </a:pPr>
            <a:r>
              <a:rPr lang="en-US" sz="1400" dirty="0">
                <a:solidFill>
                  <a:srgbClr val="111111"/>
                </a:solidFill>
                <a:latin typeface="Inter" pitchFamily="34" charset="0"/>
                <a:ea typeface="Inter" pitchFamily="34" charset="-122"/>
                <a:cs typeface="Inter" pitchFamily="34" charset="-120"/>
              </a:rPr>
              <a:t>Async collaboration habits</a:t>
            </a:r>
            <a:endParaRPr lang="en-US" sz="1400" dirty="0"/>
          </a:p>
          <a:p>
            <a:pPr marL="342900" indent="-342900">
              <a:spcAft>
                <a:spcPts val="600"/>
              </a:spcAft>
              <a:buSzPct val="100000"/>
              <a:buChar char="—"/>
            </a:pPr>
            <a:r>
              <a:rPr lang="en-US" sz="1400" dirty="0">
                <a:solidFill>
                  <a:srgbClr val="111111"/>
                </a:solidFill>
                <a:latin typeface="Inter" pitchFamily="34" charset="0"/>
                <a:ea typeface="Inter" pitchFamily="34" charset="-122"/>
                <a:cs typeface="Inter" pitchFamily="34" charset="-120"/>
              </a:rPr>
              <a:t>Debug AI hallucination, not just human bugs</a:t>
            </a:r>
            <a:endParaRPr lang="en-US" sz="1400" dirty="0"/>
          </a:p>
        </p:txBody>
      </p:sp>
      <p:sp>
        <p:nvSpPr>
          <p:cNvPr id="12" name="Shape 10"/>
          <p:cNvSpPr/>
          <p:nvPr/>
        </p:nvSpPr>
        <p:spPr>
          <a:xfrm>
            <a:off x="548640" y="6355080"/>
            <a:ext cx="11094415" cy="0"/>
          </a:xfrm>
          <a:prstGeom prst="line">
            <a:avLst/>
          </a:prstGeom>
          <a:noFill/>
          <a:ln w="9525">
            <a:solidFill>
              <a:srgbClr val="111111"/>
            </a:solidFill>
            <a:prstDash val="solid"/>
          </a:ln>
        </p:spPr>
      </p:sp>
      <p:sp>
        <p:nvSpPr>
          <p:cNvPr id="13" name="Text 11"/>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The Gap</a:t>
            </a:r>
            <a:endParaRPr lang="en-US" sz="900" dirty="0"/>
          </a:p>
        </p:txBody>
      </p:sp>
      <p:sp>
        <p:nvSpPr>
          <p:cNvPr id="14" name="Shape 12"/>
          <p:cNvSpPr/>
          <p:nvPr/>
        </p:nvSpPr>
        <p:spPr>
          <a:xfrm>
            <a:off x="10911535" y="6400800"/>
            <a:ext cx="777240" cy="274320"/>
          </a:xfrm>
          <a:prstGeom prst="rect">
            <a:avLst/>
          </a:prstGeom>
          <a:solidFill>
            <a:srgbClr val="111111"/>
          </a:solidFill>
          <a:ln w="12700">
            <a:solidFill>
              <a:srgbClr val="111111"/>
            </a:solidFill>
            <a:prstDash val="solid"/>
          </a:ln>
        </p:spPr>
      </p:sp>
      <p:sp>
        <p:nvSpPr>
          <p:cNvPr id="15" name="Text 13"/>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362895" y="0"/>
            <a:ext cx="1828800" cy="1463040"/>
          </a:xfrm>
          <a:prstGeom prst="rect">
            <a:avLst/>
          </a:prstGeom>
          <a:solidFill>
            <a:srgbClr val="FFD400"/>
          </a:solidFill>
          <a:ln w="12700">
            <a:solidFill>
              <a:srgbClr val="FFD400"/>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03 / 17  </a:t>
            </a:r>
            <a:pPr indent="0" marL="0">
              <a:buNone/>
            </a:pPr>
            <a:r>
              <a:rPr lang="en-US" sz="1000" b="1" spc="400" kern="0" dirty="0">
                <a:solidFill>
                  <a:srgbClr val="111111"/>
                </a:solidFill>
                <a:latin typeface="Inter" pitchFamily="34" charset="0"/>
                <a:ea typeface="Inter" pitchFamily="34" charset="-122"/>
                <a:cs typeface="Inter" pitchFamily="34" charset="-120"/>
              </a:rPr>
              <a:t>WHY THIS MATTERS FOR COLLEGES</a:t>
            </a:r>
            <a:endParaRPr lang="en-US" sz="1000" dirty="0"/>
          </a:p>
        </p:txBody>
      </p:sp>
      <p:sp>
        <p:nvSpPr>
          <p:cNvPr id="4" name="Text 2"/>
          <p:cNvSpPr/>
          <p:nvPr/>
        </p:nvSpPr>
        <p:spPr>
          <a:xfrm>
            <a:off x="548640" y="868680"/>
            <a:ext cx="10058400" cy="731520"/>
          </a:xfrm>
          <a:prstGeom prst="rect">
            <a:avLst/>
          </a:prstGeom>
          <a:noFill/>
          <a:ln/>
        </p:spPr>
        <p:txBody>
          <a:bodyPr wrap="square" lIns="0" tIns="0" rIns="0" bIns="0" rtlCol="0" anchor="ctr"/>
          <a:lstStyle/>
          <a:p>
            <a:pPr indent="0" marL="0">
              <a:buNone/>
            </a:pPr>
            <a:r>
              <a:rPr lang="en-US" sz="3200" b="1" spc="-100" kern="0" dirty="0">
                <a:solidFill>
                  <a:srgbClr val="111111"/>
                </a:solidFill>
                <a:latin typeface="Inter" pitchFamily="34" charset="0"/>
                <a:ea typeface="Inter" pitchFamily="34" charset="-122"/>
                <a:cs typeface="Inter" pitchFamily="34" charset="-120"/>
              </a:rPr>
              <a:t>Five reasons tier-2 colleges sign on.</a:t>
            </a:r>
            <a:endParaRPr lang="en-US" sz="3200" dirty="0"/>
          </a:p>
        </p:txBody>
      </p:sp>
      <p:sp>
        <p:nvSpPr>
          <p:cNvPr id="5" name="Text 3"/>
          <p:cNvSpPr/>
          <p:nvPr/>
        </p:nvSpPr>
        <p:spPr>
          <a:xfrm>
            <a:off x="548640" y="1691640"/>
            <a:ext cx="10058400" cy="457200"/>
          </a:xfrm>
          <a:prstGeom prst="rect">
            <a:avLst/>
          </a:prstGeom>
          <a:noFill/>
          <a:ln/>
        </p:spPr>
        <p:txBody>
          <a:bodyPr wrap="square" lIns="0" tIns="0" rIns="0" bIns="0" rtlCol="0" anchor="ctr"/>
          <a:lstStyle/>
          <a:p>
            <a:pPr indent="0" marL="0">
              <a:buNone/>
            </a:pPr>
            <a:r>
              <a:rPr lang="en-US" sz="1400" i="1" dirty="0">
                <a:solidFill>
                  <a:srgbClr val="666666"/>
                </a:solidFill>
                <a:latin typeface="Inter" pitchFamily="34" charset="0"/>
                <a:ea typeface="Inter" pitchFamily="34" charset="-122"/>
                <a:cs typeface="Inter" pitchFamily="34" charset="-120"/>
              </a:rPr>
              <a:t>Stagnant placements. Tier-1 student exits. NAAC pressure. No internal AI capacity. Admissions on autopilot.</a:t>
            </a:r>
            <a:endParaRPr lang="en-US" sz="1400" dirty="0"/>
          </a:p>
        </p:txBody>
      </p:sp>
      <p:sp>
        <p:nvSpPr>
          <p:cNvPr id="6" name="Text 4"/>
          <p:cNvSpPr/>
          <p:nvPr/>
        </p:nvSpPr>
        <p:spPr>
          <a:xfrm>
            <a:off x="548640" y="2606040"/>
            <a:ext cx="640080" cy="548640"/>
          </a:xfrm>
          <a:prstGeom prst="rect">
            <a:avLst/>
          </a:prstGeom>
          <a:noFill/>
          <a:ln/>
        </p:spPr>
        <p:txBody>
          <a:bodyPr wrap="square" lIns="0" tIns="0" rIns="0" bIns="0" rtlCol="0" anchor="ctr"/>
          <a:lstStyle/>
          <a:p>
            <a:pPr indent="0" marL="0">
              <a:buNone/>
            </a:pPr>
            <a:r>
              <a:rPr lang="en-US" sz="2600" b="1" dirty="0">
                <a:solidFill>
                  <a:srgbClr val="E63227"/>
                </a:solidFill>
                <a:latin typeface="Inter" pitchFamily="34" charset="0"/>
                <a:ea typeface="Inter" pitchFamily="34" charset="-122"/>
                <a:cs typeface="Inter" pitchFamily="34" charset="-120"/>
              </a:rPr>
              <a:t>01</a:t>
            </a:r>
            <a:endParaRPr lang="en-US" sz="2600" dirty="0"/>
          </a:p>
        </p:txBody>
      </p:sp>
      <p:sp>
        <p:nvSpPr>
          <p:cNvPr id="7" name="Text 5"/>
          <p:cNvSpPr/>
          <p:nvPr/>
        </p:nvSpPr>
        <p:spPr>
          <a:xfrm>
            <a:off x="1325880" y="2651760"/>
            <a:ext cx="4023360" cy="365760"/>
          </a:xfrm>
          <a:prstGeom prst="rect">
            <a:avLst/>
          </a:prstGeom>
          <a:noFill/>
          <a:ln/>
        </p:spPr>
        <p:txBody>
          <a:bodyPr wrap="square" lIns="0" tIns="0" rIns="0" bIns="0" rtlCol="0" anchor="ctr"/>
          <a:lstStyle/>
          <a:p>
            <a:pPr indent="0" marL="0">
              <a:buNone/>
            </a:pPr>
            <a:r>
              <a:rPr lang="en-US" sz="1600" b="1" dirty="0">
                <a:solidFill>
                  <a:srgbClr val="111111"/>
                </a:solidFill>
                <a:latin typeface="Inter" pitchFamily="34" charset="0"/>
                <a:ea typeface="Inter" pitchFamily="34" charset="-122"/>
                <a:cs typeface="Inter" pitchFamily="34" charset="-120"/>
              </a:rPr>
              <a:t>Placement statistics</a:t>
            </a:r>
            <a:endParaRPr lang="en-US" sz="1600" dirty="0"/>
          </a:p>
        </p:txBody>
      </p:sp>
      <p:sp>
        <p:nvSpPr>
          <p:cNvPr id="8" name="Text 6"/>
          <p:cNvSpPr/>
          <p:nvPr/>
        </p:nvSpPr>
        <p:spPr>
          <a:xfrm>
            <a:off x="5440680" y="2670048"/>
            <a:ext cx="621792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Stagnant or declining numbers, with student exits to tier-1 alternatives.</a:t>
            </a:r>
            <a:endParaRPr lang="en-US" sz="1300" dirty="0"/>
          </a:p>
        </p:txBody>
      </p:sp>
      <p:sp>
        <p:nvSpPr>
          <p:cNvPr id="9" name="Shape 7"/>
          <p:cNvSpPr/>
          <p:nvPr/>
        </p:nvSpPr>
        <p:spPr>
          <a:xfrm>
            <a:off x="548640" y="3200400"/>
            <a:ext cx="11094415" cy="0"/>
          </a:xfrm>
          <a:prstGeom prst="line">
            <a:avLst/>
          </a:prstGeom>
          <a:noFill/>
          <a:ln w="6350">
            <a:solidFill>
              <a:srgbClr val="111111"/>
            </a:solidFill>
            <a:prstDash val="solid"/>
          </a:ln>
        </p:spPr>
      </p:sp>
      <p:sp>
        <p:nvSpPr>
          <p:cNvPr id="10" name="Text 8"/>
          <p:cNvSpPr/>
          <p:nvPr/>
        </p:nvSpPr>
        <p:spPr>
          <a:xfrm>
            <a:off x="548640" y="3319272"/>
            <a:ext cx="640080" cy="548640"/>
          </a:xfrm>
          <a:prstGeom prst="rect">
            <a:avLst/>
          </a:prstGeom>
          <a:noFill/>
          <a:ln/>
        </p:spPr>
        <p:txBody>
          <a:bodyPr wrap="square" lIns="0" tIns="0" rIns="0" bIns="0" rtlCol="0" anchor="ctr"/>
          <a:lstStyle/>
          <a:p>
            <a:pPr indent="0" marL="0">
              <a:buNone/>
            </a:pPr>
            <a:r>
              <a:rPr lang="en-US" sz="2600" b="1" dirty="0">
                <a:solidFill>
                  <a:srgbClr val="E63227"/>
                </a:solidFill>
                <a:latin typeface="Inter" pitchFamily="34" charset="0"/>
                <a:ea typeface="Inter" pitchFamily="34" charset="-122"/>
                <a:cs typeface="Inter" pitchFamily="34" charset="-120"/>
              </a:rPr>
              <a:t>02</a:t>
            </a:r>
            <a:endParaRPr lang="en-US" sz="2600" dirty="0"/>
          </a:p>
        </p:txBody>
      </p:sp>
      <p:sp>
        <p:nvSpPr>
          <p:cNvPr id="11" name="Text 9"/>
          <p:cNvSpPr/>
          <p:nvPr/>
        </p:nvSpPr>
        <p:spPr>
          <a:xfrm>
            <a:off x="1325880" y="3364992"/>
            <a:ext cx="4023360" cy="365760"/>
          </a:xfrm>
          <a:prstGeom prst="rect">
            <a:avLst/>
          </a:prstGeom>
          <a:noFill/>
          <a:ln/>
        </p:spPr>
        <p:txBody>
          <a:bodyPr wrap="square" lIns="0" tIns="0" rIns="0" bIns="0" rtlCol="0" anchor="ctr"/>
          <a:lstStyle/>
          <a:p>
            <a:pPr indent="0" marL="0">
              <a:buNone/>
            </a:pPr>
            <a:r>
              <a:rPr lang="en-US" sz="1600" b="1" dirty="0">
                <a:solidFill>
                  <a:srgbClr val="111111"/>
                </a:solidFill>
                <a:latin typeface="Inter" pitchFamily="34" charset="0"/>
                <a:ea typeface="Inter" pitchFamily="34" charset="-122"/>
                <a:cs typeface="Inter" pitchFamily="34" charset="-120"/>
              </a:rPr>
              <a:t>Industry partnerships</a:t>
            </a:r>
            <a:endParaRPr lang="en-US" sz="1600" dirty="0"/>
          </a:p>
        </p:txBody>
      </p:sp>
      <p:sp>
        <p:nvSpPr>
          <p:cNvPr id="12" name="Text 10"/>
          <p:cNvSpPr/>
          <p:nvPr/>
        </p:nvSpPr>
        <p:spPr>
          <a:xfrm>
            <a:off x="5440680" y="3383280"/>
            <a:ext cx="621792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AICTE and NAAC rankings increasingly weight industry tie-ups.</a:t>
            </a:r>
            <a:endParaRPr lang="en-US" sz="1300" dirty="0"/>
          </a:p>
        </p:txBody>
      </p:sp>
      <p:sp>
        <p:nvSpPr>
          <p:cNvPr id="13" name="Shape 11"/>
          <p:cNvSpPr/>
          <p:nvPr/>
        </p:nvSpPr>
        <p:spPr>
          <a:xfrm>
            <a:off x="548640" y="3913632"/>
            <a:ext cx="11094415" cy="0"/>
          </a:xfrm>
          <a:prstGeom prst="line">
            <a:avLst/>
          </a:prstGeom>
          <a:noFill/>
          <a:ln w="6350">
            <a:solidFill>
              <a:srgbClr val="111111"/>
            </a:solidFill>
            <a:prstDash val="solid"/>
          </a:ln>
        </p:spPr>
      </p:sp>
      <p:sp>
        <p:nvSpPr>
          <p:cNvPr id="14" name="Text 12"/>
          <p:cNvSpPr/>
          <p:nvPr/>
        </p:nvSpPr>
        <p:spPr>
          <a:xfrm>
            <a:off x="548640" y="4032504"/>
            <a:ext cx="640080" cy="548640"/>
          </a:xfrm>
          <a:prstGeom prst="rect">
            <a:avLst/>
          </a:prstGeom>
          <a:noFill/>
          <a:ln/>
        </p:spPr>
        <p:txBody>
          <a:bodyPr wrap="square" lIns="0" tIns="0" rIns="0" bIns="0" rtlCol="0" anchor="ctr"/>
          <a:lstStyle/>
          <a:p>
            <a:pPr indent="0" marL="0">
              <a:buNone/>
            </a:pPr>
            <a:r>
              <a:rPr lang="en-US" sz="2600" b="1" dirty="0">
                <a:solidFill>
                  <a:srgbClr val="E63227"/>
                </a:solidFill>
                <a:latin typeface="Inter" pitchFamily="34" charset="0"/>
                <a:ea typeface="Inter" pitchFamily="34" charset="-122"/>
                <a:cs typeface="Inter" pitchFamily="34" charset="-120"/>
              </a:rPr>
              <a:t>03</a:t>
            </a:r>
            <a:endParaRPr lang="en-US" sz="2600" dirty="0"/>
          </a:p>
        </p:txBody>
      </p:sp>
      <p:sp>
        <p:nvSpPr>
          <p:cNvPr id="15" name="Text 13"/>
          <p:cNvSpPr/>
          <p:nvPr/>
        </p:nvSpPr>
        <p:spPr>
          <a:xfrm>
            <a:off x="1325880" y="4078224"/>
            <a:ext cx="4023360" cy="365760"/>
          </a:xfrm>
          <a:prstGeom prst="rect">
            <a:avLst/>
          </a:prstGeom>
          <a:noFill/>
          <a:ln/>
        </p:spPr>
        <p:txBody>
          <a:bodyPr wrap="square" lIns="0" tIns="0" rIns="0" bIns="0" rtlCol="0" anchor="ctr"/>
          <a:lstStyle/>
          <a:p>
            <a:pPr indent="0" marL="0">
              <a:buNone/>
            </a:pPr>
            <a:r>
              <a:rPr lang="en-US" sz="1600" b="1" dirty="0">
                <a:solidFill>
                  <a:srgbClr val="111111"/>
                </a:solidFill>
                <a:latin typeface="Inter" pitchFamily="34" charset="0"/>
                <a:ea typeface="Inter" pitchFamily="34" charset="-122"/>
                <a:cs typeface="Inter" pitchFamily="34" charset="-120"/>
              </a:rPr>
              <a:t>AI branding gap</a:t>
            </a:r>
            <a:endParaRPr lang="en-US" sz="1600" dirty="0"/>
          </a:p>
        </p:txBody>
      </p:sp>
      <p:sp>
        <p:nvSpPr>
          <p:cNvPr id="16" name="Text 14"/>
          <p:cNvSpPr/>
          <p:nvPr/>
        </p:nvSpPr>
        <p:spPr>
          <a:xfrm>
            <a:off x="5440680" y="4096512"/>
            <a:ext cx="621792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"AI" is now table stakes, but no credible AI programme to point to.</a:t>
            </a:r>
            <a:endParaRPr lang="en-US" sz="1300" dirty="0"/>
          </a:p>
        </p:txBody>
      </p:sp>
      <p:sp>
        <p:nvSpPr>
          <p:cNvPr id="17" name="Shape 15"/>
          <p:cNvSpPr/>
          <p:nvPr/>
        </p:nvSpPr>
        <p:spPr>
          <a:xfrm>
            <a:off x="548640" y="4626864"/>
            <a:ext cx="11094415" cy="0"/>
          </a:xfrm>
          <a:prstGeom prst="line">
            <a:avLst/>
          </a:prstGeom>
          <a:noFill/>
          <a:ln w="6350">
            <a:solidFill>
              <a:srgbClr val="111111"/>
            </a:solidFill>
            <a:prstDash val="solid"/>
          </a:ln>
        </p:spPr>
      </p:sp>
      <p:sp>
        <p:nvSpPr>
          <p:cNvPr id="18" name="Text 16"/>
          <p:cNvSpPr/>
          <p:nvPr/>
        </p:nvSpPr>
        <p:spPr>
          <a:xfrm>
            <a:off x="548640" y="4745736"/>
            <a:ext cx="640080" cy="548640"/>
          </a:xfrm>
          <a:prstGeom prst="rect">
            <a:avLst/>
          </a:prstGeom>
          <a:noFill/>
          <a:ln/>
        </p:spPr>
        <p:txBody>
          <a:bodyPr wrap="square" lIns="0" tIns="0" rIns="0" bIns="0" rtlCol="0" anchor="ctr"/>
          <a:lstStyle/>
          <a:p>
            <a:pPr indent="0" marL="0">
              <a:buNone/>
            </a:pPr>
            <a:r>
              <a:rPr lang="en-US" sz="2600" b="1" dirty="0">
                <a:solidFill>
                  <a:srgbClr val="E63227"/>
                </a:solidFill>
                <a:latin typeface="Inter" pitchFamily="34" charset="0"/>
                <a:ea typeface="Inter" pitchFamily="34" charset="-122"/>
                <a:cs typeface="Inter" pitchFamily="34" charset="-120"/>
              </a:rPr>
              <a:t>04</a:t>
            </a:r>
            <a:endParaRPr lang="en-US" sz="2600" dirty="0"/>
          </a:p>
        </p:txBody>
      </p:sp>
      <p:sp>
        <p:nvSpPr>
          <p:cNvPr id="19" name="Text 17"/>
          <p:cNvSpPr/>
          <p:nvPr/>
        </p:nvSpPr>
        <p:spPr>
          <a:xfrm>
            <a:off x="1325880" y="4791456"/>
            <a:ext cx="4023360" cy="365760"/>
          </a:xfrm>
          <a:prstGeom prst="rect">
            <a:avLst/>
          </a:prstGeom>
          <a:noFill/>
          <a:ln/>
        </p:spPr>
        <p:txBody>
          <a:bodyPr wrap="square" lIns="0" tIns="0" rIns="0" bIns="0" rtlCol="0" anchor="ctr"/>
          <a:lstStyle/>
          <a:p>
            <a:pPr indent="0" marL="0">
              <a:buNone/>
            </a:pPr>
            <a:r>
              <a:rPr lang="en-US" sz="1600" b="1" dirty="0">
                <a:solidFill>
                  <a:srgbClr val="111111"/>
                </a:solidFill>
                <a:latin typeface="Inter" pitchFamily="34" charset="0"/>
                <a:ea typeface="Inter" pitchFamily="34" charset="-122"/>
                <a:cs typeface="Inter" pitchFamily="34" charset="-120"/>
              </a:rPr>
              <a:t>Faculty bandwidth</a:t>
            </a:r>
            <a:endParaRPr lang="en-US" sz="1600" dirty="0"/>
          </a:p>
        </p:txBody>
      </p:sp>
      <p:sp>
        <p:nvSpPr>
          <p:cNvPr id="20" name="Text 18"/>
          <p:cNvSpPr/>
          <p:nvPr/>
        </p:nvSpPr>
        <p:spPr>
          <a:xfrm>
            <a:off x="5440680" y="4809744"/>
            <a:ext cx="621792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No internal capacity to build or run an AI-native curriculum.</a:t>
            </a:r>
            <a:endParaRPr lang="en-US" sz="1300" dirty="0"/>
          </a:p>
        </p:txBody>
      </p:sp>
      <p:sp>
        <p:nvSpPr>
          <p:cNvPr id="21" name="Shape 19"/>
          <p:cNvSpPr/>
          <p:nvPr/>
        </p:nvSpPr>
        <p:spPr>
          <a:xfrm>
            <a:off x="548640" y="5340096"/>
            <a:ext cx="11094415" cy="0"/>
          </a:xfrm>
          <a:prstGeom prst="line">
            <a:avLst/>
          </a:prstGeom>
          <a:noFill/>
          <a:ln w="6350">
            <a:solidFill>
              <a:srgbClr val="111111"/>
            </a:solidFill>
            <a:prstDash val="solid"/>
          </a:ln>
        </p:spPr>
      </p:sp>
      <p:sp>
        <p:nvSpPr>
          <p:cNvPr id="22" name="Text 20"/>
          <p:cNvSpPr/>
          <p:nvPr/>
        </p:nvSpPr>
        <p:spPr>
          <a:xfrm>
            <a:off x="548640" y="5458968"/>
            <a:ext cx="640080" cy="548640"/>
          </a:xfrm>
          <a:prstGeom prst="rect">
            <a:avLst/>
          </a:prstGeom>
          <a:noFill/>
          <a:ln/>
        </p:spPr>
        <p:txBody>
          <a:bodyPr wrap="square" lIns="0" tIns="0" rIns="0" bIns="0" rtlCol="0" anchor="ctr"/>
          <a:lstStyle/>
          <a:p>
            <a:pPr indent="0" marL="0">
              <a:buNone/>
            </a:pPr>
            <a:r>
              <a:rPr lang="en-US" sz="2600" b="1" dirty="0">
                <a:solidFill>
                  <a:srgbClr val="E63227"/>
                </a:solidFill>
                <a:latin typeface="Inter" pitchFamily="34" charset="0"/>
                <a:ea typeface="Inter" pitchFamily="34" charset="-122"/>
                <a:cs typeface="Inter" pitchFamily="34" charset="-120"/>
              </a:rPr>
              <a:t>05</a:t>
            </a:r>
            <a:endParaRPr lang="en-US" sz="2600" dirty="0"/>
          </a:p>
        </p:txBody>
      </p:sp>
      <p:sp>
        <p:nvSpPr>
          <p:cNvPr id="23" name="Text 21"/>
          <p:cNvSpPr/>
          <p:nvPr/>
        </p:nvSpPr>
        <p:spPr>
          <a:xfrm>
            <a:off x="1325880" y="5504688"/>
            <a:ext cx="4023360" cy="365760"/>
          </a:xfrm>
          <a:prstGeom prst="rect">
            <a:avLst/>
          </a:prstGeom>
          <a:noFill/>
          <a:ln/>
        </p:spPr>
        <p:txBody>
          <a:bodyPr wrap="square" lIns="0" tIns="0" rIns="0" bIns="0" rtlCol="0" anchor="ctr"/>
          <a:lstStyle/>
          <a:p>
            <a:pPr indent="0" marL="0">
              <a:buNone/>
            </a:pPr>
            <a:r>
              <a:rPr lang="en-US" sz="1600" b="1" dirty="0">
                <a:solidFill>
                  <a:srgbClr val="111111"/>
                </a:solidFill>
                <a:latin typeface="Inter" pitchFamily="34" charset="0"/>
                <a:ea typeface="Inter" pitchFamily="34" charset="-122"/>
                <a:cs typeface="Inter" pitchFamily="34" charset="-120"/>
              </a:rPr>
              <a:t>Admissions differentiation</a:t>
            </a:r>
            <a:endParaRPr lang="en-US" sz="1600" dirty="0"/>
          </a:p>
        </p:txBody>
      </p:sp>
      <p:sp>
        <p:nvSpPr>
          <p:cNvPr id="24" name="Text 22"/>
          <p:cNvSpPr/>
          <p:nvPr/>
        </p:nvSpPr>
        <p:spPr>
          <a:xfrm>
            <a:off x="5440680" y="5522976"/>
            <a:ext cx="621792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Private colleges compete on marketing in every admission cycle.</a:t>
            </a:r>
            <a:endParaRPr lang="en-US" sz="1300" dirty="0"/>
          </a:p>
        </p:txBody>
      </p:sp>
      <p:sp>
        <p:nvSpPr>
          <p:cNvPr id="25" name="Shape 23"/>
          <p:cNvSpPr/>
          <p:nvPr/>
        </p:nvSpPr>
        <p:spPr>
          <a:xfrm>
            <a:off x="548640" y="6053328"/>
            <a:ext cx="11094415" cy="0"/>
          </a:xfrm>
          <a:prstGeom prst="line">
            <a:avLst/>
          </a:prstGeom>
          <a:noFill/>
          <a:ln w="6350">
            <a:solidFill>
              <a:srgbClr val="111111"/>
            </a:solidFill>
            <a:prstDash val="solid"/>
          </a:ln>
        </p:spPr>
      </p:sp>
      <p:sp>
        <p:nvSpPr>
          <p:cNvPr id="26" name="Shape 24"/>
          <p:cNvSpPr/>
          <p:nvPr/>
        </p:nvSpPr>
        <p:spPr>
          <a:xfrm>
            <a:off x="548640" y="6355080"/>
            <a:ext cx="11094415" cy="0"/>
          </a:xfrm>
          <a:prstGeom prst="line">
            <a:avLst/>
          </a:prstGeom>
          <a:noFill/>
          <a:ln w="9525">
            <a:solidFill>
              <a:srgbClr val="111111"/>
            </a:solidFill>
            <a:prstDash val="solid"/>
          </a:ln>
        </p:spPr>
      </p:sp>
      <p:sp>
        <p:nvSpPr>
          <p:cNvPr id="27" name="Text 25"/>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Why for Colleges</a:t>
            </a:r>
            <a:endParaRPr lang="en-US" sz="900" dirty="0"/>
          </a:p>
        </p:txBody>
      </p:sp>
      <p:sp>
        <p:nvSpPr>
          <p:cNvPr id="28" name="Shape 26"/>
          <p:cNvSpPr/>
          <p:nvPr/>
        </p:nvSpPr>
        <p:spPr>
          <a:xfrm>
            <a:off x="10911535" y="6400800"/>
            <a:ext cx="777240" cy="274320"/>
          </a:xfrm>
          <a:prstGeom prst="rect">
            <a:avLst/>
          </a:prstGeom>
          <a:solidFill>
            <a:srgbClr val="111111"/>
          </a:solidFill>
          <a:ln w="12700">
            <a:solidFill>
              <a:srgbClr val="111111"/>
            </a:solidFill>
            <a:prstDash val="solid"/>
          </a:ln>
        </p:spPr>
      </p:sp>
      <p:sp>
        <p:nvSpPr>
          <p:cNvPr id="29" name="Text 27"/>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534095" y="0"/>
            <a:ext cx="3657600" cy="3108960"/>
          </a:xfrm>
          <a:prstGeom prst="rect">
            <a:avLst/>
          </a:prstGeom>
          <a:solidFill>
            <a:srgbClr val="FFD400"/>
          </a:solidFill>
          <a:ln w="12700">
            <a:solidFill>
              <a:srgbClr val="FFD400"/>
            </a:solidFill>
            <a:prstDash val="solid"/>
          </a:ln>
        </p:spPr>
      </p:sp>
      <p:sp>
        <p:nvSpPr>
          <p:cNvPr id="3" name="Shape 1"/>
          <p:cNvSpPr/>
          <p:nvPr/>
        </p:nvSpPr>
        <p:spPr>
          <a:xfrm>
            <a:off x="0" y="0"/>
            <a:ext cx="320040" cy="3108960"/>
          </a:xfrm>
          <a:prstGeom prst="rect">
            <a:avLst/>
          </a:prstGeom>
          <a:solidFill>
            <a:srgbClr val="E63227"/>
          </a:solidFill>
          <a:ln w="12700">
            <a:solidFill>
              <a:srgbClr val="E63227"/>
            </a:solidFill>
            <a:prstDash val="solid"/>
          </a:ln>
        </p:spPr>
      </p:sp>
      <p:sp>
        <p:nvSpPr>
          <p:cNvPr id="4" name="Text 2"/>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04 / 17  </a:t>
            </a:r>
            <a:pPr indent="0" marL="0">
              <a:buNone/>
            </a:pPr>
            <a:r>
              <a:rPr lang="en-US" sz="1000" b="1" spc="400" kern="0" dirty="0">
                <a:solidFill>
                  <a:srgbClr val="111111"/>
                </a:solidFill>
                <a:latin typeface="Inter" pitchFamily="34" charset="0"/>
                <a:ea typeface="Inter" pitchFamily="34" charset="-122"/>
                <a:cs typeface="Inter" pitchFamily="34" charset="-120"/>
              </a:rPr>
              <a:t>THE PROGRAMME</a:t>
            </a:r>
            <a:endParaRPr lang="en-US" sz="1000" dirty="0"/>
          </a:p>
        </p:txBody>
      </p:sp>
      <p:sp>
        <p:nvSpPr>
          <p:cNvPr id="5" name="Text 3"/>
          <p:cNvSpPr/>
          <p:nvPr/>
        </p:nvSpPr>
        <p:spPr>
          <a:xfrm>
            <a:off x="548640" y="914400"/>
            <a:ext cx="7498080" cy="2377440"/>
          </a:xfrm>
          <a:prstGeom prst="rect">
            <a:avLst/>
          </a:prstGeom>
          <a:noFill/>
          <a:ln/>
        </p:spPr>
        <p:txBody>
          <a:bodyPr wrap="square" lIns="0" tIns="0" rIns="0" bIns="0" rtlCol="0" anchor="ctr"/>
          <a:lstStyle/>
          <a:p>
            <a:pPr indent="0" marL="0">
              <a:lnSpc>
                <a:spcPts val="5800"/>
              </a:lnSpc>
              <a:buNone/>
            </a:pPr>
            <a:r>
              <a:rPr lang="en-US" sz="5400" b="1" spc="-150" kern="0" dirty="0">
                <a:solidFill>
                  <a:srgbClr val="111111"/>
                </a:solidFill>
                <a:latin typeface="Inter" pitchFamily="34" charset="0"/>
                <a:ea typeface="Inter" pitchFamily="34" charset="-122"/>
                <a:cs typeface="Inter" pitchFamily="34" charset="-120"/>
              </a:rPr>
              <a:t>A 13-week </a:t>
            </a:r>
            <a:pPr indent="0" marL="0">
              <a:lnSpc>
                <a:spcPts val="5800"/>
              </a:lnSpc>
              <a:buNone/>
            </a:pPr>
            <a:r>
              <a:rPr lang="en-US" sz="5400" b="1" spc="-150" kern="0" dirty="0">
                <a:solidFill>
                  <a:srgbClr val="E63227"/>
                </a:solidFill>
                <a:latin typeface="Inter" pitchFamily="34" charset="0"/>
                <a:ea typeface="Inter" pitchFamily="34" charset="-122"/>
                <a:cs typeface="Inter" pitchFamily="34" charset="-120"/>
              </a:rPr>
              <a:t>apprenticeship.
</a:t>
            </a:r>
            <a:pPr indent="0" marL="0">
              <a:lnSpc>
                <a:spcPts val="5800"/>
              </a:lnSpc>
              <a:buNone/>
            </a:pPr>
            <a:r>
              <a:rPr lang="en-US" sz="5400" b="1" spc="-150" kern="0" dirty="0">
                <a:solidFill>
                  <a:srgbClr val="111111"/>
                </a:solidFill>
                <a:latin typeface="Inter" pitchFamily="34" charset="0"/>
                <a:ea typeface="Inter" pitchFamily="34" charset="-122"/>
                <a:cs typeface="Inter" pitchFamily="34" charset="-120"/>
              </a:rPr>
              <a:t>Not a course.</a:t>
            </a:r>
            <a:endParaRPr lang="en-US" sz="5400" dirty="0"/>
          </a:p>
        </p:txBody>
      </p:sp>
      <p:sp>
        <p:nvSpPr>
          <p:cNvPr id="6" name="Text 4"/>
          <p:cNvSpPr/>
          <p:nvPr/>
        </p:nvSpPr>
        <p:spPr>
          <a:xfrm>
            <a:off x="548640" y="3657600"/>
            <a:ext cx="7772400" cy="914400"/>
          </a:xfrm>
          <a:prstGeom prst="rect">
            <a:avLst/>
          </a:prstGeom>
          <a:noFill/>
          <a:ln/>
        </p:spPr>
        <p:txBody>
          <a:bodyPr wrap="square" lIns="0" tIns="0" rIns="0" bIns="0" rtlCol="0" anchor="ctr"/>
          <a:lstStyle/>
          <a:p>
            <a:pPr indent="0" marL="0">
              <a:lnSpc>
                <a:spcPts val="2200"/>
              </a:lnSpc>
              <a:buNone/>
            </a:pPr>
            <a:r>
              <a:rPr lang="en-US" sz="1500" dirty="0">
                <a:solidFill>
                  <a:srgbClr val="666666"/>
                </a:solidFill>
                <a:latin typeface="Inter" pitchFamily="34" charset="0"/>
                <a:ea typeface="Inter" pitchFamily="34" charset="-122"/>
                <a:cs typeface="Inter" pitchFamily="34" charset="-120"/>
              </a:rPr>
              <a:t>Built for engineering students. Integrated with tier-2 engineering colleges. Designed around shipping, not sitting through slides.</a:t>
            </a:r>
            <a:endParaRPr lang="en-US" sz="1500" dirty="0"/>
          </a:p>
        </p:txBody>
      </p:sp>
      <p:sp>
        <p:nvSpPr>
          <p:cNvPr id="7" name="Text 5"/>
          <p:cNvSpPr/>
          <p:nvPr/>
        </p:nvSpPr>
        <p:spPr>
          <a:xfrm>
            <a:off x="8716975" y="502920"/>
            <a:ext cx="3291840" cy="274320"/>
          </a:xfrm>
          <a:prstGeom prst="rect">
            <a:avLst/>
          </a:prstGeom>
          <a:noFill/>
          <a:ln/>
        </p:spPr>
        <p:txBody>
          <a:bodyPr wrap="square" lIns="0" tIns="0" rIns="0" bIns="0" rtlCol="0" anchor="ctr"/>
          <a:lstStyle/>
          <a:p>
            <a:pPr indent="0" marL="0">
              <a:buNone/>
            </a:pPr>
            <a:r>
              <a:rPr lang="en-US" sz="1000" b="1" spc="500" kern="0" dirty="0">
                <a:solidFill>
                  <a:srgbClr val="111111"/>
                </a:solidFill>
                <a:latin typeface="Inter" pitchFamily="34" charset="0"/>
                <a:ea typeface="Inter" pitchFamily="34" charset="-122"/>
                <a:cs typeface="Inter" pitchFamily="34" charset="-120"/>
              </a:rPr>
              <a:t>COHORT 01</a:t>
            </a:r>
            <a:endParaRPr lang="en-US" sz="1000" dirty="0"/>
          </a:p>
        </p:txBody>
      </p:sp>
      <p:sp>
        <p:nvSpPr>
          <p:cNvPr id="8" name="Text 6"/>
          <p:cNvSpPr/>
          <p:nvPr/>
        </p:nvSpPr>
        <p:spPr>
          <a:xfrm>
            <a:off x="8716975" y="1554480"/>
            <a:ext cx="3291840" cy="1371600"/>
          </a:xfrm>
          <a:prstGeom prst="rect">
            <a:avLst/>
          </a:prstGeom>
          <a:noFill/>
          <a:ln/>
        </p:spPr>
        <p:txBody>
          <a:bodyPr wrap="square" lIns="0" tIns="0" rIns="0" bIns="0" rtlCol="0" anchor="ctr"/>
          <a:lstStyle/>
          <a:p>
            <a:pPr algn="l" indent="0" marL="0">
              <a:lnSpc>
                <a:spcPts val="3400"/>
              </a:lnSpc>
              <a:buNone/>
            </a:pPr>
            <a:r>
              <a:rPr lang="en-US" sz="3200" b="1" spc="-100" kern="0" dirty="0">
                <a:solidFill>
                  <a:srgbClr val="111111"/>
                </a:solidFill>
                <a:latin typeface="Inter" pitchFamily="34" charset="0"/>
                <a:ea typeface="Inter" pitchFamily="34" charset="-122"/>
                <a:cs typeface="Inter" pitchFamily="34" charset="-120"/>
              </a:rPr>
              <a:t>Earned,</a:t>
            </a:r>
            <a:endParaRPr lang="en-US" sz="3200" dirty="0"/>
          </a:p>
          <a:p>
            <a:pPr algn="l" indent="0" marL="0">
              <a:lnSpc>
                <a:spcPts val="3400"/>
              </a:lnSpc>
              <a:buNone/>
            </a:pPr>
            <a:r>
              <a:rPr lang="en-US" sz="3200" b="1" spc="-100" kern="0" dirty="0">
                <a:solidFill>
                  <a:srgbClr val="111111"/>
                </a:solidFill>
                <a:latin typeface="Inter" pitchFamily="34" charset="0"/>
                <a:ea typeface="Inter" pitchFamily="34" charset="-122"/>
                <a:cs typeface="Inter" pitchFamily="34" charset="-120"/>
              </a:rPr>
              <a:t>not granted.</a:t>
            </a:r>
            <a:endParaRPr lang="en-US" sz="3200" dirty="0"/>
          </a:p>
        </p:txBody>
      </p:sp>
      <p:sp>
        <p:nvSpPr>
          <p:cNvPr id="9" name="Shape 7"/>
          <p:cNvSpPr/>
          <p:nvPr/>
        </p:nvSpPr>
        <p:spPr>
          <a:xfrm>
            <a:off x="548640" y="4754880"/>
            <a:ext cx="11155680" cy="0"/>
          </a:xfrm>
          <a:prstGeom prst="line">
            <a:avLst/>
          </a:prstGeom>
          <a:noFill/>
          <a:ln w="19050">
            <a:solidFill>
              <a:srgbClr val="111111"/>
            </a:solidFill>
            <a:prstDash val="solid"/>
          </a:ln>
        </p:spPr>
      </p:sp>
      <p:sp>
        <p:nvSpPr>
          <p:cNvPr id="10" name="Text 8"/>
          <p:cNvSpPr/>
          <p:nvPr/>
        </p:nvSpPr>
        <p:spPr>
          <a:xfrm>
            <a:off x="731520" y="4892040"/>
            <a:ext cx="3474720" cy="822960"/>
          </a:xfrm>
          <a:prstGeom prst="rect">
            <a:avLst/>
          </a:prstGeom>
          <a:noFill/>
          <a:ln/>
        </p:spPr>
        <p:txBody>
          <a:bodyPr wrap="square" lIns="0" tIns="0" rIns="0" bIns="0" rtlCol="0" anchor="ctr"/>
          <a:lstStyle/>
          <a:p>
            <a:pPr indent="0" marL="0">
              <a:buNone/>
            </a:pPr>
            <a:r>
              <a:rPr lang="en-US" sz="6400" b="1" spc="-300" kern="0" dirty="0">
                <a:solidFill>
                  <a:srgbClr val="111111"/>
                </a:solidFill>
                <a:latin typeface="Inter" pitchFamily="34" charset="0"/>
                <a:ea typeface="Inter" pitchFamily="34" charset="-122"/>
                <a:cs typeface="Inter" pitchFamily="34" charset="-120"/>
              </a:rPr>
              <a:t>13</a:t>
            </a:r>
            <a:endParaRPr lang="en-US" sz="6400" dirty="0"/>
          </a:p>
        </p:txBody>
      </p:sp>
      <p:sp>
        <p:nvSpPr>
          <p:cNvPr id="11" name="Text 9"/>
          <p:cNvSpPr/>
          <p:nvPr/>
        </p:nvSpPr>
        <p:spPr>
          <a:xfrm>
            <a:off x="731520" y="5715000"/>
            <a:ext cx="3474720" cy="228600"/>
          </a:xfrm>
          <a:prstGeom prst="rect">
            <a:avLst/>
          </a:prstGeom>
          <a:noFill/>
          <a:ln/>
        </p:spPr>
        <p:txBody>
          <a:bodyPr wrap="square" lIns="0" tIns="0" rIns="0" bIns="0" rtlCol="0" anchor="ctr"/>
          <a:lstStyle/>
          <a:p>
            <a:pPr indent="0" marL="0">
              <a:buNone/>
            </a:pPr>
            <a:r>
              <a:rPr lang="en-US" sz="900" b="1" spc="400" kern="0" dirty="0">
                <a:solidFill>
                  <a:srgbClr val="111111"/>
                </a:solidFill>
                <a:latin typeface="Inter" pitchFamily="34" charset="0"/>
                <a:ea typeface="Inter" pitchFamily="34" charset="-122"/>
                <a:cs typeface="Inter" pitchFamily="34" charset="-120"/>
              </a:rPr>
              <a:t>WEEKS</a:t>
            </a:r>
            <a:endParaRPr lang="en-US" sz="900" dirty="0"/>
          </a:p>
        </p:txBody>
      </p:sp>
      <p:sp>
        <p:nvSpPr>
          <p:cNvPr id="12" name="Text 10"/>
          <p:cNvSpPr/>
          <p:nvPr/>
        </p:nvSpPr>
        <p:spPr>
          <a:xfrm>
            <a:off x="731520" y="5961888"/>
            <a:ext cx="3291840" cy="320040"/>
          </a:xfrm>
          <a:prstGeom prst="rect">
            <a:avLst/>
          </a:prstGeom>
          <a:noFill/>
          <a:ln/>
        </p:spPr>
        <p:txBody>
          <a:bodyPr wrap="square" lIns="0" tIns="0" rIns="0" bIns="0" rtlCol="0" anchor="ctr"/>
          <a:lstStyle/>
          <a:p>
            <a:pPr indent="0" marL="0">
              <a:buNone/>
            </a:pPr>
            <a:r>
              <a:rPr lang="en-US" sz="1000" dirty="0">
                <a:solidFill>
                  <a:srgbClr val="666666"/>
                </a:solidFill>
                <a:latin typeface="Inter" pitchFamily="34" charset="0"/>
                <a:ea typeface="Inter" pitchFamily="34" charset="-122"/>
                <a:cs typeface="Inter" pitchFamily="34" charset="-120"/>
              </a:rPr>
              <a:t>Aligned to intensive windows</a:t>
            </a:r>
            <a:endParaRPr lang="en-US" sz="1000" dirty="0"/>
          </a:p>
        </p:txBody>
      </p:sp>
      <p:sp>
        <p:nvSpPr>
          <p:cNvPr id="13" name="Shape 11"/>
          <p:cNvSpPr/>
          <p:nvPr/>
        </p:nvSpPr>
        <p:spPr>
          <a:xfrm>
            <a:off x="4206240" y="4892040"/>
            <a:ext cx="0" cy="1463040"/>
          </a:xfrm>
          <a:prstGeom prst="line">
            <a:avLst/>
          </a:prstGeom>
          <a:noFill/>
          <a:ln w="9525">
            <a:solidFill>
              <a:srgbClr val="111111"/>
            </a:solidFill>
            <a:prstDash val="solid"/>
          </a:ln>
        </p:spPr>
      </p:sp>
      <p:sp>
        <p:nvSpPr>
          <p:cNvPr id="14" name="Text 12"/>
          <p:cNvSpPr/>
          <p:nvPr/>
        </p:nvSpPr>
        <p:spPr>
          <a:xfrm>
            <a:off x="4389120" y="4892040"/>
            <a:ext cx="3474720" cy="822960"/>
          </a:xfrm>
          <a:prstGeom prst="rect">
            <a:avLst/>
          </a:prstGeom>
          <a:noFill/>
          <a:ln/>
        </p:spPr>
        <p:txBody>
          <a:bodyPr wrap="square" lIns="0" tIns="0" rIns="0" bIns="0" rtlCol="0" anchor="ctr"/>
          <a:lstStyle/>
          <a:p>
            <a:pPr indent="0" marL="0">
              <a:buNone/>
            </a:pPr>
            <a:r>
              <a:rPr lang="en-US" sz="6400" b="1" spc="-300" kern="0" dirty="0">
                <a:solidFill>
                  <a:srgbClr val="E63227"/>
                </a:solidFill>
                <a:latin typeface="Inter" pitchFamily="34" charset="0"/>
                <a:ea typeface="Inter" pitchFamily="34" charset="-122"/>
                <a:cs typeface="Inter" pitchFamily="34" charset="-120"/>
              </a:rPr>
              <a:t>100</a:t>
            </a:r>
            <a:endParaRPr lang="en-US" sz="6400" dirty="0"/>
          </a:p>
        </p:txBody>
      </p:sp>
      <p:sp>
        <p:nvSpPr>
          <p:cNvPr id="15" name="Text 13"/>
          <p:cNvSpPr/>
          <p:nvPr/>
        </p:nvSpPr>
        <p:spPr>
          <a:xfrm>
            <a:off x="4389120" y="5715000"/>
            <a:ext cx="3474720" cy="228600"/>
          </a:xfrm>
          <a:prstGeom prst="rect">
            <a:avLst/>
          </a:prstGeom>
          <a:noFill/>
          <a:ln/>
        </p:spPr>
        <p:txBody>
          <a:bodyPr wrap="square" lIns="0" tIns="0" rIns="0" bIns="0" rtlCol="0" anchor="ctr"/>
          <a:lstStyle/>
          <a:p>
            <a:pPr indent="0" marL="0">
              <a:buNone/>
            </a:pPr>
            <a:r>
              <a:rPr lang="en-US" sz="900" b="1" spc="400" kern="0" dirty="0">
                <a:solidFill>
                  <a:srgbClr val="111111"/>
                </a:solidFill>
                <a:latin typeface="Inter" pitchFamily="34" charset="0"/>
                <a:ea typeface="Inter" pitchFamily="34" charset="-122"/>
                <a:cs typeface="Inter" pitchFamily="34" charset="-120"/>
              </a:rPr>
              <a:t>STUDENTS PER COHORT</a:t>
            </a:r>
            <a:endParaRPr lang="en-US" sz="900" dirty="0"/>
          </a:p>
        </p:txBody>
      </p:sp>
      <p:sp>
        <p:nvSpPr>
          <p:cNvPr id="16" name="Text 14"/>
          <p:cNvSpPr/>
          <p:nvPr/>
        </p:nvSpPr>
        <p:spPr>
          <a:xfrm>
            <a:off x="4389120" y="5961888"/>
            <a:ext cx="3291840" cy="320040"/>
          </a:xfrm>
          <a:prstGeom prst="rect">
            <a:avLst/>
          </a:prstGeom>
          <a:noFill/>
          <a:ln/>
        </p:spPr>
        <p:txBody>
          <a:bodyPr wrap="square" lIns="0" tIns="0" rIns="0" bIns="0" rtlCol="0" anchor="ctr"/>
          <a:lstStyle/>
          <a:p>
            <a:pPr indent="0" marL="0">
              <a:buNone/>
            </a:pPr>
            <a:r>
              <a:rPr lang="en-US" sz="1000" dirty="0">
                <a:solidFill>
                  <a:srgbClr val="666666"/>
                </a:solidFill>
                <a:latin typeface="Inter" pitchFamily="34" charset="0"/>
                <a:ea typeface="Inter" pitchFamily="34" charset="-122"/>
                <a:cs typeface="Inter" pitchFamily="34" charset="-120"/>
              </a:rPr>
              <a:t>In pods of 8–12, one mentor each</a:t>
            </a:r>
            <a:endParaRPr lang="en-US" sz="1000" dirty="0"/>
          </a:p>
        </p:txBody>
      </p:sp>
      <p:sp>
        <p:nvSpPr>
          <p:cNvPr id="17" name="Shape 15"/>
          <p:cNvSpPr/>
          <p:nvPr/>
        </p:nvSpPr>
        <p:spPr>
          <a:xfrm>
            <a:off x="7863840" y="4892040"/>
            <a:ext cx="0" cy="1463040"/>
          </a:xfrm>
          <a:prstGeom prst="line">
            <a:avLst/>
          </a:prstGeom>
          <a:noFill/>
          <a:ln w="9525">
            <a:solidFill>
              <a:srgbClr val="111111"/>
            </a:solidFill>
            <a:prstDash val="solid"/>
          </a:ln>
        </p:spPr>
      </p:sp>
      <p:sp>
        <p:nvSpPr>
          <p:cNvPr id="18" name="Text 16"/>
          <p:cNvSpPr/>
          <p:nvPr/>
        </p:nvSpPr>
        <p:spPr>
          <a:xfrm>
            <a:off x="8046720" y="4892040"/>
            <a:ext cx="3474720" cy="822960"/>
          </a:xfrm>
          <a:prstGeom prst="rect">
            <a:avLst/>
          </a:prstGeom>
          <a:noFill/>
          <a:ln/>
        </p:spPr>
        <p:txBody>
          <a:bodyPr wrap="square" lIns="0" tIns="0" rIns="0" bIns="0" rtlCol="0" anchor="ctr"/>
          <a:lstStyle/>
          <a:p>
            <a:pPr indent="0" marL="0">
              <a:buNone/>
            </a:pPr>
            <a:r>
              <a:rPr lang="en-US" sz="6400" b="1" spc="-300" kern="0" dirty="0">
                <a:solidFill>
                  <a:srgbClr val="111111"/>
                </a:solidFill>
                <a:latin typeface="Inter" pitchFamily="34" charset="0"/>
                <a:ea typeface="Inter" pitchFamily="34" charset="-122"/>
                <a:cs typeface="Inter" pitchFamily="34" charset="-120"/>
              </a:rPr>
              <a:t>0</a:t>
            </a:r>
            <a:endParaRPr lang="en-US" sz="6400" dirty="0"/>
          </a:p>
        </p:txBody>
      </p:sp>
      <p:sp>
        <p:nvSpPr>
          <p:cNvPr id="19" name="Text 17"/>
          <p:cNvSpPr/>
          <p:nvPr/>
        </p:nvSpPr>
        <p:spPr>
          <a:xfrm>
            <a:off x="8046720" y="5715000"/>
            <a:ext cx="3474720" cy="228600"/>
          </a:xfrm>
          <a:prstGeom prst="rect">
            <a:avLst/>
          </a:prstGeom>
          <a:noFill/>
          <a:ln/>
        </p:spPr>
        <p:txBody>
          <a:bodyPr wrap="square" lIns="0" tIns="0" rIns="0" bIns="0" rtlCol="0" anchor="ctr"/>
          <a:lstStyle/>
          <a:p>
            <a:pPr indent="0" marL="0">
              <a:buNone/>
            </a:pPr>
            <a:r>
              <a:rPr lang="en-US" sz="900" b="1" spc="400" kern="0" dirty="0">
                <a:solidFill>
                  <a:srgbClr val="111111"/>
                </a:solidFill>
                <a:latin typeface="Inter" pitchFamily="34" charset="0"/>
                <a:ea typeface="Inter" pitchFamily="34" charset="-122"/>
                <a:cs typeface="Inter" pitchFamily="34" charset="-120"/>
              </a:rPr>
              <a:t>LECTURES</a:t>
            </a:r>
            <a:endParaRPr lang="en-US" sz="900" dirty="0"/>
          </a:p>
        </p:txBody>
      </p:sp>
      <p:sp>
        <p:nvSpPr>
          <p:cNvPr id="20" name="Text 18"/>
          <p:cNvSpPr/>
          <p:nvPr/>
        </p:nvSpPr>
        <p:spPr>
          <a:xfrm>
            <a:off x="8046720" y="5961888"/>
            <a:ext cx="3291840" cy="320040"/>
          </a:xfrm>
          <a:prstGeom prst="rect">
            <a:avLst/>
          </a:prstGeom>
          <a:noFill/>
          <a:ln/>
        </p:spPr>
        <p:txBody>
          <a:bodyPr wrap="square" lIns="0" tIns="0" rIns="0" bIns="0" rtlCol="0" anchor="ctr"/>
          <a:lstStyle/>
          <a:p>
            <a:pPr indent="0" marL="0">
              <a:buNone/>
            </a:pPr>
            <a:r>
              <a:rPr lang="en-US" sz="1000" dirty="0">
                <a:solidFill>
                  <a:srgbClr val="666666"/>
                </a:solidFill>
                <a:latin typeface="Inter" pitchFamily="34" charset="0"/>
                <a:ea typeface="Inter" pitchFamily="34" charset="-122"/>
                <a:cs typeface="Inter" pitchFamily="34" charset="-120"/>
              </a:rPr>
              <a:t>Students ship from week one</a:t>
            </a:r>
            <a:endParaRPr lang="en-US" sz="1000" dirty="0"/>
          </a:p>
        </p:txBody>
      </p:sp>
      <p:sp>
        <p:nvSpPr>
          <p:cNvPr id="21" name="Shape 19"/>
          <p:cNvSpPr/>
          <p:nvPr/>
        </p:nvSpPr>
        <p:spPr>
          <a:xfrm>
            <a:off x="548640" y="6355080"/>
            <a:ext cx="11094415" cy="0"/>
          </a:xfrm>
          <a:prstGeom prst="line">
            <a:avLst/>
          </a:prstGeom>
          <a:noFill/>
          <a:ln w="9525">
            <a:solidFill>
              <a:srgbClr val="111111"/>
            </a:solidFill>
            <a:prstDash val="solid"/>
          </a:ln>
        </p:spPr>
      </p:sp>
      <p:sp>
        <p:nvSpPr>
          <p:cNvPr id="22" name="Text 20"/>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The Programme</a:t>
            </a:r>
            <a:endParaRPr lang="en-US" sz="900" dirty="0"/>
          </a:p>
        </p:txBody>
      </p:sp>
      <p:sp>
        <p:nvSpPr>
          <p:cNvPr id="23" name="Shape 21"/>
          <p:cNvSpPr/>
          <p:nvPr/>
        </p:nvSpPr>
        <p:spPr>
          <a:xfrm>
            <a:off x="10911535" y="6400800"/>
            <a:ext cx="777240" cy="274320"/>
          </a:xfrm>
          <a:prstGeom prst="rect">
            <a:avLst/>
          </a:prstGeom>
          <a:solidFill>
            <a:srgbClr val="111111"/>
          </a:solidFill>
          <a:ln w="12700">
            <a:solidFill>
              <a:srgbClr val="111111"/>
            </a:solidFill>
            <a:prstDash val="solid"/>
          </a:ln>
        </p:spPr>
      </p:sp>
      <p:sp>
        <p:nvSpPr>
          <p:cNvPr id="24" name="Text 22"/>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20095" y="0"/>
            <a:ext cx="1371600" cy="1371600"/>
          </a:xfrm>
          <a:prstGeom prst="rect">
            <a:avLst/>
          </a:prstGeom>
          <a:solidFill>
            <a:srgbClr val="E63227"/>
          </a:solidFill>
          <a:ln w="12700">
            <a:solidFill>
              <a:srgbClr val="E63227"/>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05 / 17  </a:t>
            </a:r>
            <a:pPr indent="0" marL="0">
              <a:buNone/>
            </a:pPr>
            <a:r>
              <a:rPr lang="en-US" sz="1000" b="1" spc="400" kern="0" dirty="0">
                <a:solidFill>
                  <a:srgbClr val="111111"/>
                </a:solidFill>
                <a:latin typeface="Inter" pitchFamily="34" charset="0"/>
                <a:ea typeface="Inter" pitchFamily="34" charset="-122"/>
                <a:cs typeface="Inter" pitchFamily="34" charset="-120"/>
              </a:rPr>
              <a:t>HOW IT WORKS</a:t>
            </a:r>
            <a:endParaRPr lang="en-US" sz="1000" dirty="0"/>
          </a:p>
        </p:txBody>
      </p:sp>
      <p:sp>
        <p:nvSpPr>
          <p:cNvPr id="4" name="Text 2"/>
          <p:cNvSpPr/>
          <p:nvPr/>
        </p:nvSpPr>
        <p:spPr>
          <a:xfrm>
            <a:off x="548640" y="868680"/>
            <a:ext cx="91440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A week inside BuildAI looks</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like a week inside an AI startup.</a:t>
            </a:r>
            <a:endParaRPr lang="en-US" sz="3200" dirty="0"/>
          </a:p>
        </p:txBody>
      </p:sp>
      <p:sp>
        <p:nvSpPr>
          <p:cNvPr id="5" name="Shape 3"/>
          <p:cNvSpPr/>
          <p:nvPr/>
        </p:nvSpPr>
        <p:spPr>
          <a:xfrm>
            <a:off x="548640" y="2560320"/>
            <a:ext cx="11094415" cy="0"/>
          </a:xfrm>
          <a:prstGeom prst="line">
            <a:avLst/>
          </a:prstGeom>
          <a:noFill/>
          <a:ln w="19050">
            <a:solidFill>
              <a:srgbClr val="111111"/>
            </a:solidFill>
            <a:prstDash val="solid"/>
          </a:ln>
        </p:spPr>
      </p:sp>
      <p:sp>
        <p:nvSpPr>
          <p:cNvPr id="6" name="Text 4"/>
          <p:cNvSpPr/>
          <p:nvPr/>
        </p:nvSpPr>
        <p:spPr>
          <a:xfrm>
            <a:off x="548640" y="2697480"/>
            <a:ext cx="2286000" cy="502920"/>
          </a:xfrm>
          <a:prstGeom prst="rect">
            <a:avLst/>
          </a:prstGeom>
          <a:noFill/>
          <a:ln/>
        </p:spPr>
        <p:txBody>
          <a:bodyPr wrap="square" lIns="0" tIns="0" rIns="0" bIns="0" rtlCol="0" anchor="ctr"/>
          <a:lstStyle/>
          <a:p>
            <a:pPr indent="0" marL="0">
              <a:buNone/>
            </a:pPr>
            <a:r>
              <a:rPr lang="en-US" sz="1600" b="1" spc="300" kern="0" dirty="0">
                <a:solidFill>
                  <a:srgbClr val="E63227"/>
                </a:solidFill>
                <a:latin typeface="Inter" pitchFamily="34" charset="0"/>
                <a:ea typeface="Inter" pitchFamily="34" charset="-122"/>
                <a:cs typeface="Inter" pitchFamily="34" charset="-120"/>
              </a:rPr>
              <a:t>MON</a:t>
            </a:r>
            <a:endParaRPr lang="en-US" sz="1600" dirty="0"/>
          </a:p>
        </p:txBody>
      </p:sp>
      <p:sp>
        <p:nvSpPr>
          <p:cNvPr id="7" name="Text 5"/>
          <p:cNvSpPr/>
          <p:nvPr/>
        </p:nvSpPr>
        <p:spPr>
          <a:xfrm>
            <a:off x="2926080" y="2697480"/>
            <a:ext cx="3200400" cy="502920"/>
          </a:xfrm>
          <a:prstGeom prst="rect">
            <a:avLst/>
          </a:prstGeom>
          <a:noFill/>
          <a:ln/>
        </p:spPr>
        <p:txBody>
          <a:bodyPr wrap="square" lIns="0" tIns="0" rIns="0" bIns="0" rtlCol="0" anchor="ctr"/>
          <a:lstStyle/>
          <a:p>
            <a:pPr indent="0" marL="0">
              <a:buNone/>
            </a:pPr>
            <a:r>
              <a:rPr lang="en-US" sz="1800" b="1" dirty="0">
                <a:solidFill>
                  <a:srgbClr val="111111"/>
                </a:solidFill>
                <a:latin typeface="Inter" pitchFamily="34" charset="0"/>
                <a:ea typeface="Inter" pitchFamily="34" charset="-122"/>
                <a:cs typeface="Inter" pitchFamily="34" charset="-120"/>
              </a:rPr>
              <a:t>Sprint Kickoff</a:t>
            </a:r>
            <a:endParaRPr lang="en-US" sz="1800" dirty="0"/>
          </a:p>
        </p:txBody>
      </p:sp>
      <p:sp>
        <p:nvSpPr>
          <p:cNvPr id="8" name="Text 6"/>
          <p:cNvSpPr/>
          <p:nvPr/>
        </p:nvSpPr>
        <p:spPr>
          <a:xfrm>
            <a:off x="6217920" y="2743200"/>
            <a:ext cx="548640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Week plan posted async. Students commit work in Linear.</a:t>
            </a:r>
            <a:endParaRPr lang="en-US" sz="1300" dirty="0"/>
          </a:p>
        </p:txBody>
      </p:sp>
      <p:sp>
        <p:nvSpPr>
          <p:cNvPr id="9" name="Shape 7"/>
          <p:cNvSpPr/>
          <p:nvPr/>
        </p:nvSpPr>
        <p:spPr>
          <a:xfrm>
            <a:off x="548640" y="3264408"/>
            <a:ext cx="11094415" cy="0"/>
          </a:xfrm>
          <a:prstGeom prst="line">
            <a:avLst/>
          </a:prstGeom>
          <a:noFill/>
          <a:ln w="6350">
            <a:solidFill>
              <a:srgbClr val="111111"/>
            </a:solidFill>
            <a:prstDash val="solid"/>
          </a:ln>
        </p:spPr>
      </p:sp>
      <p:sp>
        <p:nvSpPr>
          <p:cNvPr id="10" name="Text 8"/>
          <p:cNvSpPr/>
          <p:nvPr/>
        </p:nvSpPr>
        <p:spPr>
          <a:xfrm>
            <a:off x="548640" y="3410712"/>
            <a:ext cx="2286000" cy="502920"/>
          </a:xfrm>
          <a:prstGeom prst="rect">
            <a:avLst/>
          </a:prstGeom>
          <a:noFill/>
          <a:ln/>
        </p:spPr>
        <p:txBody>
          <a:bodyPr wrap="square" lIns="0" tIns="0" rIns="0" bIns="0" rtlCol="0" anchor="ctr"/>
          <a:lstStyle/>
          <a:p>
            <a:pPr indent="0" marL="0">
              <a:buNone/>
            </a:pPr>
            <a:r>
              <a:rPr lang="en-US" sz="1600" b="1" spc="300" kern="0" dirty="0">
                <a:solidFill>
                  <a:srgbClr val="E63227"/>
                </a:solidFill>
                <a:latin typeface="Inter" pitchFamily="34" charset="0"/>
                <a:ea typeface="Inter" pitchFamily="34" charset="-122"/>
                <a:cs typeface="Inter" pitchFamily="34" charset="-120"/>
              </a:rPr>
              <a:t>TUE — THU</a:t>
            </a:r>
            <a:endParaRPr lang="en-US" sz="1600" dirty="0"/>
          </a:p>
        </p:txBody>
      </p:sp>
      <p:sp>
        <p:nvSpPr>
          <p:cNvPr id="11" name="Text 9"/>
          <p:cNvSpPr/>
          <p:nvPr/>
        </p:nvSpPr>
        <p:spPr>
          <a:xfrm>
            <a:off x="2926080" y="3410712"/>
            <a:ext cx="3200400" cy="502920"/>
          </a:xfrm>
          <a:prstGeom prst="rect">
            <a:avLst/>
          </a:prstGeom>
          <a:noFill/>
          <a:ln/>
        </p:spPr>
        <p:txBody>
          <a:bodyPr wrap="square" lIns="0" tIns="0" rIns="0" bIns="0" rtlCol="0" anchor="ctr"/>
          <a:lstStyle/>
          <a:p>
            <a:pPr indent="0" marL="0">
              <a:buNone/>
            </a:pPr>
            <a:r>
              <a:rPr lang="en-US" sz="1800" b="1" dirty="0">
                <a:solidFill>
                  <a:srgbClr val="111111"/>
                </a:solidFill>
                <a:latin typeface="Inter" pitchFamily="34" charset="0"/>
                <a:ea typeface="Inter" pitchFamily="34" charset="-122"/>
                <a:cs typeface="Inter" pitchFamily="34" charset="-120"/>
              </a:rPr>
              <a:t>Build Days</a:t>
            </a:r>
            <a:endParaRPr lang="en-US" sz="1800" dirty="0"/>
          </a:p>
        </p:txBody>
      </p:sp>
      <p:sp>
        <p:nvSpPr>
          <p:cNvPr id="12" name="Text 10"/>
          <p:cNvSpPr/>
          <p:nvPr/>
        </p:nvSpPr>
        <p:spPr>
          <a:xfrm>
            <a:off x="6217920" y="3456432"/>
            <a:ext cx="548640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AI-assisted implementation. PRs opened. Peer code reviews.</a:t>
            </a:r>
            <a:endParaRPr lang="en-US" sz="1300" dirty="0"/>
          </a:p>
        </p:txBody>
      </p:sp>
      <p:sp>
        <p:nvSpPr>
          <p:cNvPr id="13" name="Shape 11"/>
          <p:cNvSpPr/>
          <p:nvPr/>
        </p:nvSpPr>
        <p:spPr>
          <a:xfrm>
            <a:off x="548640" y="3977640"/>
            <a:ext cx="11094415" cy="0"/>
          </a:xfrm>
          <a:prstGeom prst="line">
            <a:avLst/>
          </a:prstGeom>
          <a:noFill/>
          <a:ln w="6350">
            <a:solidFill>
              <a:srgbClr val="111111"/>
            </a:solidFill>
            <a:prstDash val="solid"/>
          </a:ln>
        </p:spPr>
      </p:sp>
      <p:sp>
        <p:nvSpPr>
          <p:cNvPr id="14" name="Text 12"/>
          <p:cNvSpPr/>
          <p:nvPr/>
        </p:nvSpPr>
        <p:spPr>
          <a:xfrm>
            <a:off x="548640" y="4123944"/>
            <a:ext cx="2286000" cy="502920"/>
          </a:xfrm>
          <a:prstGeom prst="rect">
            <a:avLst/>
          </a:prstGeom>
          <a:noFill/>
          <a:ln/>
        </p:spPr>
        <p:txBody>
          <a:bodyPr wrap="square" lIns="0" tIns="0" rIns="0" bIns="0" rtlCol="0" anchor="ctr"/>
          <a:lstStyle/>
          <a:p>
            <a:pPr indent="0" marL="0">
              <a:buNone/>
            </a:pPr>
            <a:r>
              <a:rPr lang="en-US" sz="1600" b="1" spc="300" kern="0" dirty="0">
                <a:solidFill>
                  <a:srgbClr val="E63227"/>
                </a:solidFill>
                <a:latin typeface="Inter" pitchFamily="34" charset="0"/>
                <a:ea typeface="Inter" pitchFamily="34" charset="-122"/>
                <a:cs typeface="Inter" pitchFamily="34" charset="-120"/>
              </a:rPr>
              <a:t>FRI</a:t>
            </a:r>
            <a:endParaRPr lang="en-US" sz="1600" dirty="0"/>
          </a:p>
        </p:txBody>
      </p:sp>
      <p:sp>
        <p:nvSpPr>
          <p:cNvPr id="15" name="Text 13"/>
          <p:cNvSpPr/>
          <p:nvPr/>
        </p:nvSpPr>
        <p:spPr>
          <a:xfrm>
            <a:off x="2926080" y="4123944"/>
            <a:ext cx="3200400" cy="502920"/>
          </a:xfrm>
          <a:prstGeom prst="rect">
            <a:avLst/>
          </a:prstGeom>
          <a:noFill/>
          <a:ln/>
        </p:spPr>
        <p:txBody>
          <a:bodyPr wrap="square" lIns="0" tIns="0" rIns="0" bIns="0" rtlCol="0" anchor="ctr"/>
          <a:lstStyle/>
          <a:p>
            <a:pPr indent="0" marL="0">
              <a:buNone/>
            </a:pPr>
            <a:r>
              <a:rPr lang="en-US" sz="1800" b="1" dirty="0">
                <a:solidFill>
                  <a:srgbClr val="111111"/>
                </a:solidFill>
                <a:latin typeface="Inter" pitchFamily="34" charset="0"/>
                <a:ea typeface="Inter" pitchFamily="34" charset="-122"/>
                <a:cs typeface="Inter" pitchFamily="34" charset="-120"/>
              </a:rPr>
              <a:t>Demo Day</a:t>
            </a:r>
            <a:endParaRPr lang="en-US" sz="1800" dirty="0"/>
          </a:p>
        </p:txBody>
      </p:sp>
      <p:sp>
        <p:nvSpPr>
          <p:cNvPr id="16" name="Text 14"/>
          <p:cNvSpPr/>
          <p:nvPr/>
        </p:nvSpPr>
        <p:spPr>
          <a:xfrm>
            <a:off x="6217920" y="4169664"/>
            <a:ext cx="548640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Async Loom demo from every student. Public archive.</a:t>
            </a:r>
            <a:endParaRPr lang="en-US" sz="1300" dirty="0"/>
          </a:p>
        </p:txBody>
      </p:sp>
      <p:sp>
        <p:nvSpPr>
          <p:cNvPr id="17" name="Shape 15"/>
          <p:cNvSpPr/>
          <p:nvPr/>
        </p:nvSpPr>
        <p:spPr>
          <a:xfrm>
            <a:off x="548640" y="4690872"/>
            <a:ext cx="11094415" cy="0"/>
          </a:xfrm>
          <a:prstGeom prst="line">
            <a:avLst/>
          </a:prstGeom>
          <a:noFill/>
          <a:ln w="6350">
            <a:solidFill>
              <a:srgbClr val="111111"/>
            </a:solidFill>
            <a:prstDash val="solid"/>
          </a:ln>
        </p:spPr>
      </p:sp>
      <p:sp>
        <p:nvSpPr>
          <p:cNvPr id="18" name="Text 16"/>
          <p:cNvSpPr/>
          <p:nvPr/>
        </p:nvSpPr>
        <p:spPr>
          <a:xfrm>
            <a:off x="548640" y="4837176"/>
            <a:ext cx="2286000" cy="502920"/>
          </a:xfrm>
          <a:prstGeom prst="rect">
            <a:avLst/>
          </a:prstGeom>
          <a:noFill/>
          <a:ln/>
        </p:spPr>
        <p:txBody>
          <a:bodyPr wrap="square" lIns="0" tIns="0" rIns="0" bIns="0" rtlCol="0" anchor="ctr"/>
          <a:lstStyle/>
          <a:p>
            <a:pPr indent="0" marL="0">
              <a:buNone/>
            </a:pPr>
            <a:r>
              <a:rPr lang="en-US" sz="1600" b="1" spc="300" kern="0" dirty="0">
                <a:solidFill>
                  <a:srgbClr val="E63227"/>
                </a:solidFill>
                <a:latin typeface="Inter" pitchFamily="34" charset="0"/>
                <a:ea typeface="Inter" pitchFamily="34" charset="-122"/>
                <a:cs typeface="Inter" pitchFamily="34" charset="-120"/>
              </a:rPr>
              <a:t>SAT</a:t>
            </a:r>
            <a:endParaRPr lang="en-US" sz="1600" dirty="0"/>
          </a:p>
        </p:txBody>
      </p:sp>
      <p:sp>
        <p:nvSpPr>
          <p:cNvPr id="19" name="Text 17"/>
          <p:cNvSpPr/>
          <p:nvPr/>
        </p:nvSpPr>
        <p:spPr>
          <a:xfrm>
            <a:off x="2926080" y="4837176"/>
            <a:ext cx="3200400" cy="502920"/>
          </a:xfrm>
          <a:prstGeom prst="rect">
            <a:avLst/>
          </a:prstGeom>
          <a:noFill/>
          <a:ln/>
        </p:spPr>
        <p:txBody>
          <a:bodyPr wrap="square" lIns="0" tIns="0" rIns="0" bIns="0" rtlCol="0" anchor="ctr"/>
          <a:lstStyle/>
          <a:p>
            <a:pPr indent="0" marL="0">
              <a:buNone/>
            </a:pPr>
            <a:r>
              <a:rPr lang="en-US" sz="1800" b="1" dirty="0">
                <a:solidFill>
                  <a:srgbClr val="111111"/>
                </a:solidFill>
                <a:latin typeface="Inter" pitchFamily="34" charset="0"/>
                <a:ea typeface="Inter" pitchFamily="34" charset="-122"/>
                <a:cs typeface="Inter" pitchFamily="34" charset="-120"/>
              </a:rPr>
              <a:t>Live Mentor Session</a:t>
            </a:r>
            <a:endParaRPr lang="en-US" sz="1800" dirty="0"/>
          </a:p>
        </p:txBody>
      </p:sp>
      <p:sp>
        <p:nvSpPr>
          <p:cNvPr id="20" name="Text 18"/>
          <p:cNvSpPr/>
          <p:nvPr/>
        </p:nvSpPr>
        <p:spPr>
          <a:xfrm>
            <a:off x="6217920" y="4882896"/>
            <a:ext cx="548640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90-min architecture review, debugging, Q&amp;A.</a:t>
            </a:r>
            <a:endParaRPr lang="en-US" sz="1300" dirty="0"/>
          </a:p>
        </p:txBody>
      </p:sp>
      <p:sp>
        <p:nvSpPr>
          <p:cNvPr id="21" name="Shape 19"/>
          <p:cNvSpPr/>
          <p:nvPr/>
        </p:nvSpPr>
        <p:spPr>
          <a:xfrm>
            <a:off x="548640" y="5404104"/>
            <a:ext cx="11094415" cy="0"/>
          </a:xfrm>
          <a:prstGeom prst="line">
            <a:avLst/>
          </a:prstGeom>
          <a:noFill/>
          <a:ln w="6350">
            <a:solidFill>
              <a:srgbClr val="111111"/>
            </a:solidFill>
            <a:prstDash val="solid"/>
          </a:ln>
        </p:spPr>
      </p:sp>
      <p:sp>
        <p:nvSpPr>
          <p:cNvPr id="22" name="Text 20"/>
          <p:cNvSpPr/>
          <p:nvPr/>
        </p:nvSpPr>
        <p:spPr>
          <a:xfrm>
            <a:off x="548640" y="5550408"/>
            <a:ext cx="2286000" cy="502920"/>
          </a:xfrm>
          <a:prstGeom prst="rect">
            <a:avLst/>
          </a:prstGeom>
          <a:noFill/>
          <a:ln/>
        </p:spPr>
        <p:txBody>
          <a:bodyPr wrap="square" lIns="0" tIns="0" rIns="0" bIns="0" rtlCol="0" anchor="ctr"/>
          <a:lstStyle/>
          <a:p>
            <a:pPr indent="0" marL="0">
              <a:buNone/>
            </a:pPr>
            <a:r>
              <a:rPr lang="en-US" sz="1600" b="1" spc="300" kern="0" dirty="0">
                <a:solidFill>
                  <a:srgbClr val="E63227"/>
                </a:solidFill>
                <a:latin typeface="Inter" pitchFamily="34" charset="0"/>
                <a:ea typeface="Inter" pitchFamily="34" charset="-122"/>
                <a:cs typeface="Inter" pitchFamily="34" charset="-120"/>
              </a:rPr>
              <a:t>SUN</a:t>
            </a:r>
            <a:endParaRPr lang="en-US" sz="1600" dirty="0"/>
          </a:p>
        </p:txBody>
      </p:sp>
      <p:sp>
        <p:nvSpPr>
          <p:cNvPr id="23" name="Text 21"/>
          <p:cNvSpPr/>
          <p:nvPr/>
        </p:nvSpPr>
        <p:spPr>
          <a:xfrm>
            <a:off x="2926080" y="5550408"/>
            <a:ext cx="3200400" cy="502920"/>
          </a:xfrm>
          <a:prstGeom prst="rect">
            <a:avLst/>
          </a:prstGeom>
          <a:noFill/>
          <a:ln/>
        </p:spPr>
        <p:txBody>
          <a:bodyPr wrap="square" lIns="0" tIns="0" rIns="0" bIns="0" rtlCol="0" anchor="ctr"/>
          <a:lstStyle/>
          <a:p>
            <a:pPr indent="0" marL="0">
              <a:buNone/>
            </a:pPr>
            <a:r>
              <a:rPr lang="en-US" sz="1800" b="1" dirty="0">
                <a:solidFill>
                  <a:srgbClr val="111111"/>
                </a:solidFill>
                <a:latin typeface="Inter" pitchFamily="34" charset="0"/>
                <a:ea typeface="Inter" pitchFamily="34" charset="-122"/>
                <a:cs typeface="Inter" pitchFamily="34" charset="-120"/>
              </a:rPr>
              <a:t>Peer Review</a:t>
            </a:r>
            <a:endParaRPr lang="en-US" sz="1800" dirty="0"/>
          </a:p>
        </p:txBody>
      </p:sp>
      <p:sp>
        <p:nvSpPr>
          <p:cNvPr id="24" name="Text 22"/>
          <p:cNvSpPr/>
          <p:nvPr/>
        </p:nvSpPr>
        <p:spPr>
          <a:xfrm>
            <a:off x="6217920" y="5596128"/>
            <a:ext cx="5486400" cy="548640"/>
          </a:xfrm>
          <a:prstGeom prst="rect">
            <a:avLst/>
          </a:prstGeom>
          <a:noFill/>
          <a:ln/>
        </p:spPr>
        <p:txBody>
          <a:bodyPr wrap="square" lIns="0" tIns="0" rIns="0" bIns="0" rtlCol="0" anchor="ctr"/>
          <a:lstStyle/>
          <a:p>
            <a:pPr indent="0" marL="0">
              <a:buNone/>
            </a:pPr>
            <a:r>
              <a:rPr lang="en-US" sz="1300" dirty="0">
                <a:solidFill>
                  <a:srgbClr val="666666"/>
                </a:solidFill>
                <a:latin typeface="Inter" pitchFamily="34" charset="0"/>
                <a:ea typeface="Inter" pitchFamily="34" charset="-122"/>
                <a:cs typeface="Inter" pitchFamily="34" charset="-120"/>
              </a:rPr>
              <a:t>Cross-pod portfolio reviews. Reading group reflections.</a:t>
            </a:r>
            <a:endParaRPr lang="en-US" sz="1300" dirty="0"/>
          </a:p>
        </p:txBody>
      </p:sp>
      <p:sp>
        <p:nvSpPr>
          <p:cNvPr id="25" name="Shape 23"/>
          <p:cNvSpPr/>
          <p:nvPr/>
        </p:nvSpPr>
        <p:spPr>
          <a:xfrm>
            <a:off x="548640" y="6117336"/>
            <a:ext cx="11094415" cy="0"/>
          </a:xfrm>
          <a:prstGeom prst="line">
            <a:avLst/>
          </a:prstGeom>
          <a:noFill/>
          <a:ln w="6350">
            <a:solidFill>
              <a:srgbClr val="111111"/>
            </a:solidFill>
            <a:prstDash val="solid"/>
          </a:ln>
        </p:spPr>
      </p:sp>
      <p:sp>
        <p:nvSpPr>
          <p:cNvPr id="26" name="Shape 24"/>
          <p:cNvSpPr/>
          <p:nvPr/>
        </p:nvSpPr>
        <p:spPr>
          <a:xfrm>
            <a:off x="548640" y="6355080"/>
            <a:ext cx="11094415" cy="0"/>
          </a:xfrm>
          <a:prstGeom prst="line">
            <a:avLst/>
          </a:prstGeom>
          <a:noFill/>
          <a:ln w="9525">
            <a:solidFill>
              <a:srgbClr val="111111"/>
            </a:solidFill>
            <a:prstDash val="solid"/>
          </a:ln>
        </p:spPr>
      </p:sp>
      <p:sp>
        <p:nvSpPr>
          <p:cNvPr id="27" name="Text 25"/>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How It Works</a:t>
            </a:r>
            <a:endParaRPr lang="en-US" sz="900" dirty="0"/>
          </a:p>
        </p:txBody>
      </p:sp>
      <p:sp>
        <p:nvSpPr>
          <p:cNvPr id="28" name="Shape 26"/>
          <p:cNvSpPr/>
          <p:nvPr/>
        </p:nvSpPr>
        <p:spPr>
          <a:xfrm>
            <a:off x="10911535" y="6400800"/>
            <a:ext cx="777240" cy="274320"/>
          </a:xfrm>
          <a:prstGeom prst="rect">
            <a:avLst/>
          </a:prstGeom>
          <a:solidFill>
            <a:srgbClr val="111111"/>
          </a:solidFill>
          <a:ln w="12700">
            <a:solidFill>
              <a:srgbClr val="111111"/>
            </a:solidFill>
            <a:prstDash val="solid"/>
          </a:ln>
        </p:spPr>
      </p:sp>
      <p:sp>
        <p:nvSpPr>
          <p:cNvPr id="29" name="Text 27"/>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48495" y="0"/>
            <a:ext cx="2743200" cy="457200"/>
          </a:xfrm>
          <a:prstGeom prst="rect">
            <a:avLst/>
          </a:prstGeom>
          <a:solidFill>
            <a:srgbClr val="FFD400"/>
          </a:solidFill>
          <a:ln w="12700">
            <a:solidFill>
              <a:srgbClr val="FFD400"/>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06 / 17  </a:t>
            </a:r>
            <a:pPr indent="0" marL="0">
              <a:buNone/>
            </a:pPr>
            <a:r>
              <a:rPr lang="en-US" sz="1000" b="1" spc="400" kern="0" dirty="0">
                <a:solidFill>
                  <a:srgbClr val="111111"/>
                </a:solidFill>
                <a:latin typeface="Inter" pitchFamily="34" charset="0"/>
                <a:ea typeface="Inter" pitchFamily="34" charset="-122"/>
                <a:cs typeface="Inter" pitchFamily="34" charset="-120"/>
              </a:rPr>
              <a:t>DAY IN THE LIFE</a:t>
            </a:r>
            <a:endParaRPr lang="en-US" sz="1000" dirty="0"/>
          </a:p>
        </p:txBody>
      </p:sp>
      <p:sp>
        <p:nvSpPr>
          <p:cNvPr id="4" name="Text 2"/>
          <p:cNvSpPr/>
          <p:nvPr/>
        </p:nvSpPr>
        <p:spPr>
          <a:xfrm>
            <a:off x="548640" y="868680"/>
            <a:ext cx="82296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A Wednesday in Week 6</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of a BuildAI cohort.</a:t>
            </a:r>
            <a:endParaRPr lang="en-US" sz="3200" dirty="0"/>
          </a:p>
        </p:txBody>
      </p:sp>
      <p:sp>
        <p:nvSpPr>
          <p:cNvPr id="5" name="Text 3"/>
          <p:cNvSpPr/>
          <p:nvPr/>
        </p:nvSpPr>
        <p:spPr>
          <a:xfrm>
            <a:off x="548640" y="2240280"/>
            <a:ext cx="10058400" cy="502920"/>
          </a:xfrm>
          <a:prstGeom prst="rect">
            <a:avLst/>
          </a:prstGeom>
          <a:noFill/>
          <a:ln/>
        </p:spPr>
        <p:txBody>
          <a:bodyPr wrap="square" lIns="0" tIns="0" rIns="0" bIns="0" rtlCol="0" anchor="ctr"/>
          <a:lstStyle/>
          <a:p>
            <a:pPr indent="0" marL="0">
              <a:buNone/>
            </a:pPr>
            <a:r>
              <a:rPr lang="en-US" sz="1400" i="1" dirty="0">
                <a:solidFill>
                  <a:srgbClr val="666666"/>
                </a:solidFill>
                <a:latin typeface="Inter" pitchFamily="34" charset="0"/>
                <a:ea typeface="Inter" pitchFamily="34" charset="-122"/>
                <a:cs typeface="Inter" pitchFamily="34" charset="-120"/>
              </a:rPr>
              <a:t>Not a class schedule. The actual rhythm of a working AI startup, lived by a 3rd-year engineering student.</a:t>
            </a:r>
            <a:endParaRPr lang="en-US" sz="1400" dirty="0"/>
          </a:p>
        </p:txBody>
      </p:sp>
      <p:sp>
        <p:nvSpPr>
          <p:cNvPr id="6" name="Shape 4"/>
          <p:cNvSpPr/>
          <p:nvPr/>
        </p:nvSpPr>
        <p:spPr>
          <a:xfrm>
            <a:off x="548640" y="2971800"/>
            <a:ext cx="3657600" cy="1554480"/>
          </a:xfrm>
          <a:prstGeom prst="rect">
            <a:avLst/>
          </a:prstGeom>
          <a:solidFill>
            <a:srgbClr val="FFFFFF"/>
          </a:solidFill>
          <a:ln w="12700">
            <a:solidFill>
              <a:srgbClr val="111111"/>
            </a:solidFill>
            <a:prstDash val="solid"/>
          </a:ln>
        </p:spPr>
      </p:sp>
      <p:sp>
        <p:nvSpPr>
          <p:cNvPr id="7" name="Shape 5"/>
          <p:cNvSpPr/>
          <p:nvPr/>
        </p:nvSpPr>
        <p:spPr>
          <a:xfrm>
            <a:off x="548640" y="2971800"/>
            <a:ext cx="3657600" cy="73152"/>
          </a:xfrm>
          <a:prstGeom prst="rect">
            <a:avLst/>
          </a:prstGeom>
          <a:solidFill>
            <a:srgbClr val="E63227"/>
          </a:solidFill>
          <a:ln w="12700">
            <a:solidFill>
              <a:srgbClr val="E63227"/>
            </a:solidFill>
            <a:prstDash val="solid"/>
          </a:ln>
        </p:spPr>
      </p:sp>
      <p:sp>
        <p:nvSpPr>
          <p:cNvPr id="8" name="Text 6"/>
          <p:cNvSpPr/>
          <p:nvPr/>
        </p:nvSpPr>
        <p:spPr>
          <a:xfrm>
            <a:off x="731520" y="3154680"/>
            <a:ext cx="3291840" cy="32004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09:00 AM</a:t>
            </a:r>
            <a:endParaRPr lang="en-US" sz="1100" dirty="0"/>
          </a:p>
        </p:txBody>
      </p:sp>
      <p:sp>
        <p:nvSpPr>
          <p:cNvPr id="9" name="Text 7"/>
          <p:cNvSpPr/>
          <p:nvPr/>
        </p:nvSpPr>
        <p:spPr>
          <a:xfrm>
            <a:off x="731520" y="3474720"/>
            <a:ext cx="3291840" cy="320040"/>
          </a:xfrm>
          <a:prstGeom prst="rect">
            <a:avLst/>
          </a:prstGeom>
          <a:noFill/>
          <a:ln/>
        </p:spPr>
        <p:txBody>
          <a:bodyPr wrap="square" lIns="0" tIns="0" rIns="0" bIns="0" rtlCol="0" anchor="ctr"/>
          <a:lstStyle/>
          <a:p>
            <a:pPr indent="0" marL="0">
              <a:buNone/>
            </a:pPr>
            <a:r>
              <a:rPr lang="en-US" sz="1500" b="1" dirty="0">
                <a:solidFill>
                  <a:srgbClr val="111111"/>
                </a:solidFill>
                <a:latin typeface="Inter" pitchFamily="34" charset="0"/>
                <a:ea typeface="Inter" pitchFamily="34" charset="-122"/>
                <a:cs typeface="Inter" pitchFamily="34" charset="-120"/>
              </a:rPr>
              <a:t>Review PR comments</a:t>
            </a:r>
            <a:endParaRPr lang="en-US" sz="1500" dirty="0"/>
          </a:p>
        </p:txBody>
      </p:sp>
      <p:sp>
        <p:nvSpPr>
          <p:cNvPr id="10" name="Text 8"/>
          <p:cNvSpPr/>
          <p:nvPr/>
        </p:nvSpPr>
        <p:spPr>
          <a:xfrm>
            <a:off x="731520" y="3813048"/>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Mentor left feedback overnight on yesterday's PR. Student replies, pushes a fix, requests re-review.</a:t>
            </a:r>
            <a:endParaRPr lang="en-US" sz="1100" dirty="0"/>
          </a:p>
        </p:txBody>
      </p:sp>
      <p:sp>
        <p:nvSpPr>
          <p:cNvPr id="11" name="Shape 9"/>
          <p:cNvSpPr/>
          <p:nvPr/>
        </p:nvSpPr>
        <p:spPr>
          <a:xfrm>
            <a:off x="4343400" y="2971800"/>
            <a:ext cx="3657600" cy="1554480"/>
          </a:xfrm>
          <a:prstGeom prst="rect">
            <a:avLst/>
          </a:prstGeom>
          <a:solidFill>
            <a:srgbClr val="FFFFFF"/>
          </a:solidFill>
          <a:ln w="12700">
            <a:solidFill>
              <a:srgbClr val="111111"/>
            </a:solidFill>
            <a:prstDash val="solid"/>
          </a:ln>
        </p:spPr>
      </p:sp>
      <p:sp>
        <p:nvSpPr>
          <p:cNvPr id="12" name="Shape 10"/>
          <p:cNvSpPr/>
          <p:nvPr/>
        </p:nvSpPr>
        <p:spPr>
          <a:xfrm>
            <a:off x="4343400" y="2971800"/>
            <a:ext cx="3657600" cy="73152"/>
          </a:xfrm>
          <a:prstGeom prst="rect">
            <a:avLst/>
          </a:prstGeom>
          <a:solidFill>
            <a:srgbClr val="E63227"/>
          </a:solidFill>
          <a:ln w="12700">
            <a:solidFill>
              <a:srgbClr val="E63227"/>
            </a:solidFill>
            <a:prstDash val="solid"/>
          </a:ln>
        </p:spPr>
      </p:sp>
      <p:sp>
        <p:nvSpPr>
          <p:cNvPr id="13" name="Text 11"/>
          <p:cNvSpPr/>
          <p:nvPr/>
        </p:nvSpPr>
        <p:spPr>
          <a:xfrm>
            <a:off x="4526280" y="3154680"/>
            <a:ext cx="3291840" cy="32004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10:30 AM</a:t>
            </a:r>
            <a:endParaRPr lang="en-US" sz="1100" dirty="0"/>
          </a:p>
        </p:txBody>
      </p:sp>
      <p:sp>
        <p:nvSpPr>
          <p:cNvPr id="14" name="Text 12"/>
          <p:cNvSpPr/>
          <p:nvPr/>
        </p:nvSpPr>
        <p:spPr>
          <a:xfrm>
            <a:off x="4526280" y="3474720"/>
            <a:ext cx="3291840" cy="320040"/>
          </a:xfrm>
          <a:prstGeom prst="rect">
            <a:avLst/>
          </a:prstGeom>
          <a:noFill/>
          <a:ln/>
        </p:spPr>
        <p:txBody>
          <a:bodyPr wrap="square" lIns="0" tIns="0" rIns="0" bIns="0" rtlCol="0" anchor="ctr"/>
          <a:lstStyle/>
          <a:p>
            <a:pPr indent="0" marL="0">
              <a:buNone/>
            </a:pPr>
            <a:r>
              <a:rPr lang="en-US" sz="1500" b="1" dirty="0">
                <a:solidFill>
                  <a:srgbClr val="111111"/>
                </a:solidFill>
                <a:latin typeface="Inter" pitchFamily="34" charset="0"/>
                <a:ea typeface="Inter" pitchFamily="34" charset="-122"/>
                <a:cs typeface="Inter" pitchFamily="34" charset="-120"/>
              </a:rPr>
              <a:t>Open GitHub issue</a:t>
            </a:r>
            <a:endParaRPr lang="en-US" sz="1500" dirty="0"/>
          </a:p>
        </p:txBody>
      </p:sp>
      <p:sp>
        <p:nvSpPr>
          <p:cNvPr id="15" name="Text 13"/>
          <p:cNvSpPr/>
          <p:nvPr/>
        </p:nvSpPr>
        <p:spPr>
          <a:xfrm>
            <a:off x="4526280" y="3813048"/>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Linear ticket for new feature. Student writes a 3-sentence design note before touching code.</a:t>
            </a:r>
            <a:endParaRPr lang="en-US" sz="1100" dirty="0"/>
          </a:p>
        </p:txBody>
      </p:sp>
      <p:sp>
        <p:nvSpPr>
          <p:cNvPr id="16" name="Shape 14"/>
          <p:cNvSpPr/>
          <p:nvPr/>
        </p:nvSpPr>
        <p:spPr>
          <a:xfrm>
            <a:off x="8138160" y="2971800"/>
            <a:ext cx="3657600" cy="1554480"/>
          </a:xfrm>
          <a:prstGeom prst="rect">
            <a:avLst/>
          </a:prstGeom>
          <a:solidFill>
            <a:srgbClr val="FFFFFF"/>
          </a:solidFill>
          <a:ln w="12700">
            <a:solidFill>
              <a:srgbClr val="111111"/>
            </a:solidFill>
            <a:prstDash val="solid"/>
          </a:ln>
        </p:spPr>
      </p:sp>
      <p:sp>
        <p:nvSpPr>
          <p:cNvPr id="17" name="Shape 15"/>
          <p:cNvSpPr/>
          <p:nvPr/>
        </p:nvSpPr>
        <p:spPr>
          <a:xfrm>
            <a:off x="8138160" y="2971800"/>
            <a:ext cx="3657600" cy="73152"/>
          </a:xfrm>
          <a:prstGeom prst="rect">
            <a:avLst/>
          </a:prstGeom>
          <a:solidFill>
            <a:srgbClr val="E63227"/>
          </a:solidFill>
          <a:ln w="12700">
            <a:solidFill>
              <a:srgbClr val="E63227"/>
            </a:solidFill>
            <a:prstDash val="solid"/>
          </a:ln>
        </p:spPr>
      </p:sp>
      <p:sp>
        <p:nvSpPr>
          <p:cNvPr id="18" name="Text 16"/>
          <p:cNvSpPr/>
          <p:nvPr/>
        </p:nvSpPr>
        <p:spPr>
          <a:xfrm>
            <a:off x="8321040" y="3154680"/>
            <a:ext cx="3291840" cy="32004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12:00 PM</a:t>
            </a:r>
            <a:endParaRPr lang="en-US" sz="1100" dirty="0"/>
          </a:p>
        </p:txBody>
      </p:sp>
      <p:sp>
        <p:nvSpPr>
          <p:cNvPr id="19" name="Text 17"/>
          <p:cNvSpPr/>
          <p:nvPr/>
        </p:nvSpPr>
        <p:spPr>
          <a:xfrm>
            <a:off x="8321040" y="3474720"/>
            <a:ext cx="3291840" cy="320040"/>
          </a:xfrm>
          <a:prstGeom prst="rect">
            <a:avLst/>
          </a:prstGeom>
          <a:noFill/>
          <a:ln/>
        </p:spPr>
        <p:txBody>
          <a:bodyPr wrap="square" lIns="0" tIns="0" rIns="0" bIns="0" rtlCol="0" anchor="ctr"/>
          <a:lstStyle/>
          <a:p>
            <a:pPr indent="0" marL="0">
              <a:buNone/>
            </a:pPr>
            <a:r>
              <a:rPr lang="en-US" sz="1500" b="1" dirty="0">
                <a:solidFill>
                  <a:srgbClr val="111111"/>
                </a:solidFill>
                <a:latin typeface="Inter" pitchFamily="34" charset="0"/>
                <a:ea typeface="Inter" pitchFamily="34" charset="-122"/>
                <a:cs typeface="Inter" pitchFamily="34" charset="-120"/>
              </a:rPr>
              <a:t>Build with Cursor</a:t>
            </a:r>
            <a:endParaRPr lang="en-US" sz="1500" dirty="0"/>
          </a:p>
        </p:txBody>
      </p:sp>
      <p:sp>
        <p:nvSpPr>
          <p:cNvPr id="20" name="Text 18"/>
          <p:cNvSpPr/>
          <p:nvPr/>
        </p:nvSpPr>
        <p:spPr>
          <a:xfrm>
            <a:off x="8321040" y="3813048"/>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AI-assisted implementation. Half the code is generated; the student reviews and refactors every line.</a:t>
            </a:r>
            <a:endParaRPr lang="en-US" sz="1100" dirty="0"/>
          </a:p>
        </p:txBody>
      </p:sp>
      <p:sp>
        <p:nvSpPr>
          <p:cNvPr id="21" name="Shape 19"/>
          <p:cNvSpPr/>
          <p:nvPr/>
        </p:nvSpPr>
        <p:spPr>
          <a:xfrm>
            <a:off x="548640" y="4663440"/>
            <a:ext cx="3657600" cy="1554480"/>
          </a:xfrm>
          <a:prstGeom prst="rect">
            <a:avLst/>
          </a:prstGeom>
          <a:solidFill>
            <a:srgbClr val="FFFFFF"/>
          </a:solidFill>
          <a:ln w="12700">
            <a:solidFill>
              <a:srgbClr val="111111"/>
            </a:solidFill>
            <a:prstDash val="solid"/>
          </a:ln>
        </p:spPr>
      </p:sp>
      <p:sp>
        <p:nvSpPr>
          <p:cNvPr id="22" name="Shape 20"/>
          <p:cNvSpPr/>
          <p:nvPr/>
        </p:nvSpPr>
        <p:spPr>
          <a:xfrm>
            <a:off x="548640" y="4663440"/>
            <a:ext cx="3657600" cy="73152"/>
          </a:xfrm>
          <a:prstGeom prst="rect">
            <a:avLst/>
          </a:prstGeom>
          <a:solidFill>
            <a:srgbClr val="E63227"/>
          </a:solidFill>
          <a:ln w="12700">
            <a:solidFill>
              <a:srgbClr val="E63227"/>
            </a:solidFill>
            <a:prstDash val="solid"/>
          </a:ln>
        </p:spPr>
      </p:sp>
      <p:sp>
        <p:nvSpPr>
          <p:cNvPr id="23" name="Text 21"/>
          <p:cNvSpPr/>
          <p:nvPr/>
        </p:nvSpPr>
        <p:spPr>
          <a:xfrm>
            <a:off x="731520" y="4846320"/>
            <a:ext cx="3291840" cy="32004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03:00 PM</a:t>
            </a:r>
            <a:endParaRPr lang="en-US" sz="1100" dirty="0"/>
          </a:p>
        </p:txBody>
      </p:sp>
      <p:sp>
        <p:nvSpPr>
          <p:cNvPr id="24" name="Text 22"/>
          <p:cNvSpPr/>
          <p:nvPr/>
        </p:nvSpPr>
        <p:spPr>
          <a:xfrm>
            <a:off x="731520" y="5166360"/>
            <a:ext cx="3291840" cy="320040"/>
          </a:xfrm>
          <a:prstGeom prst="rect">
            <a:avLst/>
          </a:prstGeom>
          <a:noFill/>
          <a:ln/>
        </p:spPr>
        <p:txBody>
          <a:bodyPr wrap="square" lIns="0" tIns="0" rIns="0" bIns="0" rtlCol="0" anchor="ctr"/>
          <a:lstStyle/>
          <a:p>
            <a:pPr indent="0" marL="0">
              <a:buNone/>
            </a:pPr>
            <a:r>
              <a:rPr lang="en-US" sz="1500" b="1" dirty="0">
                <a:solidFill>
                  <a:srgbClr val="111111"/>
                </a:solidFill>
                <a:latin typeface="Inter" pitchFamily="34" charset="0"/>
                <a:ea typeface="Inter" pitchFamily="34" charset="-122"/>
                <a:cs typeface="Inter" pitchFamily="34" charset="-120"/>
              </a:rPr>
              <a:t>Debugging session</a:t>
            </a:r>
            <a:endParaRPr lang="en-US" sz="1500" dirty="0"/>
          </a:p>
        </p:txBody>
      </p:sp>
      <p:sp>
        <p:nvSpPr>
          <p:cNvPr id="25" name="Text 23"/>
          <p:cNvSpPr/>
          <p:nvPr/>
        </p:nvSpPr>
        <p:spPr>
          <a:xfrm>
            <a:off x="731520" y="5504688"/>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Hallucinated API response in production. Student traces logs, writes a regression eval, ships fix in 45 min.</a:t>
            </a:r>
            <a:endParaRPr lang="en-US" sz="1100" dirty="0"/>
          </a:p>
        </p:txBody>
      </p:sp>
      <p:sp>
        <p:nvSpPr>
          <p:cNvPr id="26" name="Shape 24"/>
          <p:cNvSpPr/>
          <p:nvPr/>
        </p:nvSpPr>
        <p:spPr>
          <a:xfrm>
            <a:off x="4343400" y="4663440"/>
            <a:ext cx="3657600" cy="1554480"/>
          </a:xfrm>
          <a:prstGeom prst="rect">
            <a:avLst/>
          </a:prstGeom>
          <a:solidFill>
            <a:srgbClr val="FFFFFF"/>
          </a:solidFill>
          <a:ln w="12700">
            <a:solidFill>
              <a:srgbClr val="111111"/>
            </a:solidFill>
            <a:prstDash val="solid"/>
          </a:ln>
        </p:spPr>
      </p:sp>
      <p:sp>
        <p:nvSpPr>
          <p:cNvPr id="27" name="Shape 25"/>
          <p:cNvSpPr/>
          <p:nvPr/>
        </p:nvSpPr>
        <p:spPr>
          <a:xfrm>
            <a:off x="4343400" y="4663440"/>
            <a:ext cx="3657600" cy="73152"/>
          </a:xfrm>
          <a:prstGeom prst="rect">
            <a:avLst/>
          </a:prstGeom>
          <a:solidFill>
            <a:srgbClr val="E63227"/>
          </a:solidFill>
          <a:ln w="12700">
            <a:solidFill>
              <a:srgbClr val="E63227"/>
            </a:solidFill>
            <a:prstDash val="solid"/>
          </a:ln>
        </p:spPr>
      </p:sp>
      <p:sp>
        <p:nvSpPr>
          <p:cNvPr id="28" name="Text 26"/>
          <p:cNvSpPr/>
          <p:nvPr/>
        </p:nvSpPr>
        <p:spPr>
          <a:xfrm>
            <a:off x="4526280" y="4846320"/>
            <a:ext cx="3291840" cy="32004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05:00 PM</a:t>
            </a:r>
            <a:endParaRPr lang="en-US" sz="1100" dirty="0"/>
          </a:p>
        </p:txBody>
      </p:sp>
      <p:sp>
        <p:nvSpPr>
          <p:cNvPr id="29" name="Text 27"/>
          <p:cNvSpPr/>
          <p:nvPr/>
        </p:nvSpPr>
        <p:spPr>
          <a:xfrm>
            <a:off x="4526280" y="5166360"/>
            <a:ext cx="3291840" cy="320040"/>
          </a:xfrm>
          <a:prstGeom prst="rect">
            <a:avLst/>
          </a:prstGeom>
          <a:noFill/>
          <a:ln/>
        </p:spPr>
        <p:txBody>
          <a:bodyPr wrap="square" lIns="0" tIns="0" rIns="0" bIns="0" rtlCol="0" anchor="ctr"/>
          <a:lstStyle/>
          <a:p>
            <a:pPr indent="0" marL="0">
              <a:buNone/>
            </a:pPr>
            <a:r>
              <a:rPr lang="en-US" sz="1500" b="1" dirty="0">
                <a:solidFill>
                  <a:srgbClr val="111111"/>
                </a:solidFill>
                <a:latin typeface="Inter" pitchFamily="34" charset="0"/>
                <a:ea typeface="Inter" pitchFamily="34" charset="-122"/>
                <a:cs typeface="Inter" pitchFamily="34" charset="-120"/>
              </a:rPr>
              <a:t>Review peer's PR</a:t>
            </a:r>
            <a:endParaRPr lang="en-US" sz="1500" dirty="0"/>
          </a:p>
        </p:txBody>
      </p:sp>
      <p:sp>
        <p:nvSpPr>
          <p:cNvPr id="30" name="Text 28"/>
          <p:cNvSpPr/>
          <p:nvPr/>
        </p:nvSpPr>
        <p:spPr>
          <a:xfrm>
            <a:off x="4526280" y="5504688"/>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Cross-pod review. Student leaves 4 substantive comments on another student's submission.</a:t>
            </a:r>
            <a:endParaRPr lang="en-US" sz="1100" dirty="0"/>
          </a:p>
        </p:txBody>
      </p:sp>
      <p:sp>
        <p:nvSpPr>
          <p:cNvPr id="31" name="Shape 29"/>
          <p:cNvSpPr/>
          <p:nvPr/>
        </p:nvSpPr>
        <p:spPr>
          <a:xfrm>
            <a:off x="8138160" y="4663440"/>
            <a:ext cx="3657600" cy="1554480"/>
          </a:xfrm>
          <a:prstGeom prst="rect">
            <a:avLst/>
          </a:prstGeom>
          <a:solidFill>
            <a:srgbClr val="FFFFFF"/>
          </a:solidFill>
          <a:ln w="12700">
            <a:solidFill>
              <a:srgbClr val="111111"/>
            </a:solidFill>
            <a:prstDash val="solid"/>
          </a:ln>
        </p:spPr>
      </p:sp>
      <p:sp>
        <p:nvSpPr>
          <p:cNvPr id="32" name="Shape 30"/>
          <p:cNvSpPr/>
          <p:nvPr/>
        </p:nvSpPr>
        <p:spPr>
          <a:xfrm>
            <a:off x="8138160" y="4663440"/>
            <a:ext cx="3657600" cy="73152"/>
          </a:xfrm>
          <a:prstGeom prst="rect">
            <a:avLst/>
          </a:prstGeom>
          <a:solidFill>
            <a:srgbClr val="E63227"/>
          </a:solidFill>
          <a:ln w="12700">
            <a:solidFill>
              <a:srgbClr val="E63227"/>
            </a:solidFill>
            <a:prstDash val="solid"/>
          </a:ln>
        </p:spPr>
      </p:sp>
      <p:sp>
        <p:nvSpPr>
          <p:cNvPr id="33" name="Text 31"/>
          <p:cNvSpPr/>
          <p:nvPr/>
        </p:nvSpPr>
        <p:spPr>
          <a:xfrm>
            <a:off x="8321040" y="4846320"/>
            <a:ext cx="3291840" cy="32004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07:00 PM</a:t>
            </a:r>
            <a:endParaRPr lang="en-US" sz="1100" dirty="0"/>
          </a:p>
        </p:txBody>
      </p:sp>
      <p:sp>
        <p:nvSpPr>
          <p:cNvPr id="34" name="Text 32"/>
          <p:cNvSpPr/>
          <p:nvPr/>
        </p:nvSpPr>
        <p:spPr>
          <a:xfrm>
            <a:off x="8321040" y="5166360"/>
            <a:ext cx="3291840" cy="320040"/>
          </a:xfrm>
          <a:prstGeom prst="rect">
            <a:avLst/>
          </a:prstGeom>
          <a:noFill/>
          <a:ln/>
        </p:spPr>
        <p:txBody>
          <a:bodyPr wrap="square" lIns="0" tIns="0" rIns="0" bIns="0" rtlCol="0" anchor="ctr"/>
          <a:lstStyle/>
          <a:p>
            <a:pPr indent="0" marL="0">
              <a:buNone/>
            </a:pPr>
            <a:r>
              <a:rPr lang="en-US" sz="1500" b="1" dirty="0">
                <a:solidFill>
                  <a:srgbClr val="111111"/>
                </a:solidFill>
                <a:latin typeface="Inter" pitchFamily="34" charset="0"/>
                <a:ea typeface="Inter" pitchFamily="34" charset="-122"/>
                <a:cs typeface="Inter" pitchFamily="34" charset="-120"/>
              </a:rPr>
              <a:t>Record Loom demo</a:t>
            </a:r>
            <a:endParaRPr lang="en-US" sz="1500" dirty="0"/>
          </a:p>
        </p:txBody>
      </p:sp>
      <p:sp>
        <p:nvSpPr>
          <p:cNvPr id="35" name="Text 33"/>
          <p:cNvSpPr/>
          <p:nvPr/>
        </p:nvSpPr>
        <p:spPr>
          <a:xfrm>
            <a:off x="8321040" y="5504688"/>
            <a:ext cx="3291840" cy="64008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3-minute walkthrough of what shipped today. Posted to public Demo Day archive.</a:t>
            </a:r>
            <a:endParaRPr lang="en-US" sz="1100" dirty="0"/>
          </a:p>
        </p:txBody>
      </p:sp>
      <p:sp>
        <p:nvSpPr>
          <p:cNvPr id="36" name="Shape 34"/>
          <p:cNvSpPr/>
          <p:nvPr/>
        </p:nvSpPr>
        <p:spPr>
          <a:xfrm>
            <a:off x="548640" y="6355080"/>
            <a:ext cx="11094415" cy="0"/>
          </a:xfrm>
          <a:prstGeom prst="line">
            <a:avLst/>
          </a:prstGeom>
          <a:noFill/>
          <a:ln w="9525">
            <a:solidFill>
              <a:srgbClr val="111111"/>
            </a:solidFill>
            <a:prstDash val="solid"/>
          </a:ln>
        </p:spPr>
      </p:sp>
      <p:sp>
        <p:nvSpPr>
          <p:cNvPr id="37" name="Text 35"/>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Day in the Life</a:t>
            </a:r>
            <a:endParaRPr lang="en-US" sz="900" dirty="0"/>
          </a:p>
        </p:txBody>
      </p:sp>
      <p:sp>
        <p:nvSpPr>
          <p:cNvPr id="38" name="Shape 36"/>
          <p:cNvSpPr/>
          <p:nvPr/>
        </p:nvSpPr>
        <p:spPr>
          <a:xfrm>
            <a:off x="10911535" y="6400800"/>
            <a:ext cx="777240" cy="274320"/>
          </a:xfrm>
          <a:prstGeom prst="rect">
            <a:avLst/>
          </a:prstGeom>
          <a:solidFill>
            <a:srgbClr val="111111"/>
          </a:solidFill>
          <a:ln w="12700">
            <a:solidFill>
              <a:srgbClr val="111111"/>
            </a:solidFill>
            <a:prstDash val="solid"/>
          </a:ln>
        </p:spPr>
      </p:sp>
      <p:sp>
        <p:nvSpPr>
          <p:cNvPr id="39" name="Text 37"/>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362895" y="0"/>
            <a:ext cx="1828800" cy="1828800"/>
          </a:xfrm>
          <a:prstGeom prst="rect">
            <a:avLst/>
          </a:prstGeom>
          <a:solidFill>
            <a:srgbClr val="111111"/>
          </a:solidFill>
          <a:ln w="12700">
            <a:solidFill>
              <a:srgbClr val="111111"/>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07 / 17  </a:t>
            </a:r>
            <a:pPr indent="0" marL="0">
              <a:buNone/>
            </a:pPr>
            <a:r>
              <a:rPr lang="en-US" sz="1000" b="1" spc="400" kern="0" dirty="0">
                <a:solidFill>
                  <a:srgbClr val="111111"/>
                </a:solidFill>
                <a:latin typeface="Inter" pitchFamily="34" charset="0"/>
                <a:ea typeface="Inter" pitchFamily="34" charset="-122"/>
                <a:cs typeface="Inter" pitchFamily="34" charset="-120"/>
              </a:rPr>
              <a:t>CURRICULUM</a:t>
            </a:r>
            <a:endParaRPr lang="en-US" sz="1000" dirty="0"/>
          </a:p>
        </p:txBody>
      </p:sp>
      <p:sp>
        <p:nvSpPr>
          <p:cNvPr id="4" name="Text 2"/>
          <p:cNvSpPr/>
          <p:nvPr/>
        </p:nvSpPr>
        <p:spPr>
          <a:xfrm>
            <a:off x="548640" y="868680"/>
            <a:ext cx="82296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Six modules, organised around</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capabilities startups hire for.</a:t>
            </a:r>
            <a:endParaRPr lang="en-US" sz="3200" dirty="0"/>
          </a:p>
        </p:txBody>
      </p:sp>
      <p:sp>
        <p:nvSpPr>
          <p:cNvPr id="5" name="Shape 3"/>
          <p:cNvSpPr/>
          <p:nvPr/>
        </p:nvSpPr>
        <p:spPr>
          <a:xfrm>
            <a:off x="548640" y="2788920"/>
            <a:ext cx="3657600" cy="1691640"/>
          </a:xfrm>
          <a:prstGeom prst="rect">
            <a:avLst/>
          </a:prstGeom>
          <a:solidFill>
            <a:srgbClr val="FFFFFF"/>
          </a:solidFill>
          <a:ln w="12700">
            <a:solidFill>
              <a:srgbClr val="111111"/>
            </a:solidFill>
            <a:prstDash val="solid"/>
          </a:ln>
        </p:spPr>
      </p:sp>
      <p:sp>
        <p:nvSpPr>
          <p:cNvPr id="6" name="Shape 4"/>
          <p:cNvSpPr/>
          <p:nvPr/>
        </p:nvSpPr>
        <p:spPr>
          <a:xfrm>
            <a:off x="548640" y="2788920"/>
            <a:ext cx="73152" cy="1691640"/>
          </a:xfrm>
          <a:prstGeom prst="rect">
            <a:avLst/>
          </a:prstGeom>
          <a:solidFill>
            <a:srgbClr val="111111"/>
          </a:solidFill>
          <a:ln w="12700">
            <a:solidFill>
              <a:srgbClr val="111111"/>
            </a:solidFill>
            <a:prstDash val="solid"/>
          </a:ln>
        </p:spPr>
      </p:sp>
      <p:sp>
        <p:nvSpPr>
          <p:cNvPr id="7" name="Text 5"/>
          <p:cNvSpPr/>
          <p:nvPr/>
        </p:nvSpPr>
        <p:spPr>
          <a:xfrm>
            <a:off x="777240" y="2953512"/>
            <a:ext cx="914400" cy="411480"/>
          </a:xfrm>
          <a:prstGeom prst="rect">
            <a:avLst/>
          </a:prstGeom>
          <a:noFill/>
          <a:ln/>
        </p:spPr>
        <p:txBody>
          <a:bodyPr wrap="square" lIns="0" tIns="0" rIns="0" bIns="0" rtlCol="0" anchor="ctr"/>
          <a:lstStyle/>
          <a:p>
            <a:pPr indent="0" marL="0">
              <a:buNone/>
            </a:pPr>
            <a:r>
              <a:rPr lang="en-US" sz="2200" b="1" dirty="0">
                <a:solidFill>
                  <a:srgbClr val="111111"/>
                </a:solidFill>
                <a:latin typeface="Inter" pitchFamily="34" charset="0"/>
                <a:ea typeface="Inter" pitchFamily="34" charset="-122"/>
                <a:cs typeface="Inter" pitchFamily="34" charset="-120"/>
              </a:rPr>
              <a:t>M0</a:t>
            </a:r>
            <a:endParaRPr lang="en-US" sz="2200" dirty="0"/>
          </a:p>
        </p:txBody>
      </p:sp>
      <p:sp>
        <p:nvSpPr>
          <p:cNvPr id="8" name="Text 6"/>
          <p:cNvSpPr/>
          <p:nvPr/>
        </p:nvSpPr>
        <p:spPr>
          <a:xfrm>
            <a:off x="2651760" y="3017520"/>
            <a:ext cx="1371600" cy="274320"/>
          </a:xfrm>
          <a:prstGeom prst="rect">
            <a:avLst/>
          </a:prstGeom>
          <a:noFill/>
          <a:ln/>
        </p:spPr>
        <p:txBody>
          <a:bodyPr wrap="square" lIns="0" tIns="0" rIns="0" bIns="0" rtlCol="0" anchor="ctr"/>
          <a:lstStyle/>
          <a:p>
            <a:pPr algn="r" indent="0" marL="0">
              <a:buNone/>
            </a:pPr>
            <a:r>
              <a:rPr lang="en-US" sz="900" b="1" spc="400" kern="0" dirty="0">
                <a:solidFill>
                  <a:srgbClr val="666666"/>
                </a:solidFill>
                <a:latin typeface="Inter" pitchFamily="34" charset="0"/>
                <a:ea typeface="Inter" pitchFamily="34" charset="-122"/>
                <a:cs typeface="Inter" pitchFamily="34" charset="-120"/>
              </a:rPr>
              <a:t>WEEK 1</a:t>
            </a:r>
            <a:endParaRPr lang="en-US" sz="900" dirty="0"/>
          </a:p>
        </p:txBody>
      </p:sp>
      <p:sp>
        <p:nvSpPr>
          <p:cNvPr id="9" name="Text 7"/>
          <p:cNvSpPr/>
          <p:nvPr/>
        </p:nvSpPr>
        <p:spPr>
          <a:xfrm>
            <a:off x="777240" y="3447288"/>
            <a:ext cx="3200400" cy="41148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AI-Native OS</a:t>
            </a:r>
            <a:endParaRPr lang="en-US" sz="1700" dirty="0"/>
          </a:p>
        </p:txBody>
      </p:sp>
      <p:sp>
        <p:nvSpPr>
          <p:cNvPr id="10" name="Text 8"/>
          <p:cNvSpPr/>
          <p:nvPr/>
        </p:nvSpPr>
        <p:spPr>
          <a:xfrm>
            <a:off x="777240" y="3886200"/>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Ship one working app by end of week 1.</a:t>
            </a:r>
            <a:endParaRPr lang="en-US" sz="1100" dirty="0"/>
          </a:p>
        </p:txBody>
      </p:sp>
      <p:sp>
        <p:nvSpPr>
          <p:cNvPr id="11" name="Shape 9"/>
          <p:cNvSpPr/>
          <p:nvPr/>
        </p:nvSpPr>
        <p:spPr>
          <a:xfrm>
            <a:off x="4343400" y="2788920"/>
            <a:ext cx="3657600" cy="1691640"/>
          </a:xfrm>
          <a:prstGeom prst="rect">
            <a:avLst/>
          </a:prstGeom>
          <a:solidFill>
            <a:srgbClr val="FFFFFF"/>
          </a:solidFill>
          <a:ln w="12700">
            <a:solidFill>
              <a:srgbClr val="111111"/>
            </a:solidFill>
            <a:prstDash val="solid"/>
          </a:ln>
        </p:spPr>
      </p:sp>
      <p:sp>
        <p:nvSpPr>
          <p:cNvPr id="12" name="Shape 10"/>
          <p:cNvSpPr/>
          <p:nvPr/>
        </p:nvSpPr>
        <p:spPr>
          <a:xfrm>
            <a:off x="4343400" y="2788920"/>
            <a:ext cx="73152" cy="1691640"/>
          </a:xfrm>
          <a:prstGeom prst="rect">
            <a:avLst/>
          </a:prstGeom>
          <a:solidFill>
            <a:srgbClr val="111111"/>
          </a:solidFill>
          <a:ln w="12700">
            <a:solidFill>
              <a:srgbClr val="111111"/>
            </a:solidFill>
            <a:prstDash val="solid"/>
          </a:ln>
        </p:spPr>
      </p:sp>
      <p:sp>
        <p:nvSpPr>
          <p:cNvPr id="13" name="Text 11"/>
          <p:cNvSpPr/>
          <p:nvPr/>
        </p:nvSpPr>
        <p:spPr>
          <a:xfrm>
            <a:off x="4572000" y="2953512"/>
            <a:ext cx="914400" cy="411480"/>
          </a:xfrm>
          <a:prstGeom prst="rect">
            <a:avLst/>
          </a:prstGeom>
          <a:noFill/>
          <a:ln/>
        </p:spPr>
        <p:txBody>
          <a:bodyPr wrap="square" lIns="0" tIns="0" rIns="0" bIns="0" rtlCol="0" anchor="ctr"/>
          <a:lstStyle/>
          <a:p>
            <a:pPr indent="0" marL="0">
              <a:buNone/>
            </a:pPr>
            <a:r>
              <a:rPr lang="en-US" sz="2200" b="1" dirty="0">
                <a:solidFill>
                  <a:srgbClr val="111111"/>
                </a:solidFill>
                <a:latin typeface="Inter" pitchFamily="34" charset="0"/>
                <a:ea typeface="Inter" pitchFamily="34" charset="-122"/>
                <a:cs typeface="Inter" pitchFamily="34" charset="-120"/>
              </a:rPr>
              <a:t>M1</a:t>
            </a:r>
            <a:endParaRPr lang="en-US" sz="2200" dirty="0"/>
          </a:p>
        </p:txBody>
      </p:sp>
      <p:sp>
        <p:nvSpPr>
          <p:cNvPr id="14" name="Text 12"/>
          <p:cNvSpPr/>
          <p:nvPr/>
        </p:nvSpPr>
        <p:spPr>
          <a:xfrm>
            <a:off x="6446520" y="3017520"/>
            <a:ext cx="1371600" cy="274320"/>
          </a:xfrm>
          <a:prstGeom prst="rect">
            <a:avLst/>
          </a:prstGeom>
          <a:noFill/>
          <a:ln/>
        </p:spPr>
        <p:txBody>
          <a:bodyPr wrap="square" lIns="0" tIns="0" rIns="0" bIns="0" rtlCol="0" anchor="ctr"/>
          <a:lstStyle/>
          <a:p>
            <a:pPr algn="r" indent="0" marL="0">
              <a:buNone/>
            </a:pPr>
            <a:r>
              <a:rPr lang="en-US" sz="900" b="1" spc="400" kern="0" dirty="0">
                <a:solidFill>
                  <a:srgbClr val="666666"/>
                </a:solidFill>
                <a:latin typeface="Inter" pitchFamily="34" charset="0"/>
                <a:ea typeface="Inter" pitchFamily="34" charset="-122"/>
                <a:cs typeface="Inter" pitchFamily="34" charset="-120"/>
              </a:rPr>
              <a:t>WEEKS 2–4</a:t>
            </a:r>
            <a:endParaRPr lang="en-US" sz="900" dirty="0"/>
          </a:p>
        </p:txBody>
      </p:sp>
      <p:sp>
        <p:nvSpPr>
          <p:cNvPr id="15" name="Text 13"/>
          <p:cNvSpPr/>
          <p:nvPr/>
        </p:nvSpPr>
        <p:spPr>
          <a:xfrm>
            <a:off x="4572000" y="3447288"/>
            <a:ext cx="3200400" cy="41148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Product Engineering</a:t>
            </a:r>
            <a:endParaRPr lang="en-US" sz="1700" dirty="0"/>
          </a:p>
        </p:txBody>
      </p:sp>
      <p:sp>
        <p:nvSpPr>
          <p:cNvPr id="16" name="Text 14"/>
          <p:cNvSpPr/>
          <p:nvPr/>
        </p:nvSpPr>
        <p:spPr>
          <a:xfrm>
            <a:off x="4572000" y="3886200"/>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Two deployed apps with auth and database.</a:t>
            </a:r>
            <a:endParaRPr lang="en-US" sz="1100" dirty="0"/>
          </a:p>
        </p:txBody>
      </p:sp>
      <p:sp>
        <p:nvSpPr>
          <p:cNvPr id="17" name="Shape 15"/>
          <p:cNvSpPr/>
          <p:nvPr/>
        </p:nvSpPr>
        <p:spPr>
          <a:xfrm>
            <a:off x="8138160" y="2788920"/>
            <a:ext cx="3657600" cy="1691640"/>
          </a:xfrm>
          <a:prstGeom prst="rect">
            <a:avLst/>
          </a:prstGeom>
          <a:solidFill>
            <a:srgbClr val="FFFFFF"/>
          </a:solidFill>
          <a:ln w="12700">
            <a:solidFill>
              <a:srgbClr val="111111"/>
            </a:solidFill>
            <a:prstDash val="solid"/>
          </a:ln>
        </p:spPr>
      </p:sp>
      <p:sp>
        <p:nvSpPr>
          <p:cNvPr id="18" name="Shape 16"/>
          <p:cNvSpPr/>
          <p:nvPr/>
        </p:nvSpPr>
        <p:spPr>
          <a:xfrm>
            <a:off x="8138160" y="2788920"/>
            <a:ext cx="73152" cy="1691640"/>
          </a:xfrm>
          <a:prstGeom prst="rect">
            <a:avLst/>
          </a:prstGeom>
          <a:solidFill>
            <a:srgbClr val="E63227"/>
          </a:solidFill>
          <a:ln w="12700">
            <a:solidFill>
              <a:srgbClr val="E63227"/>
            </a:solidFill>
            <a:prstDash val="solid"/>
          </a:ln>
        </p:spPr>
      </p:sp>
      <p:sp>
        <p:nvSpPr>
          <p:cNvPr id="19" name="Text 17"/>
          <p:cNvSpPr/>
          <p:nvPr/>
        </p:nvSpPr>
        <p:spPr>
          <a:xfrm>
            <a:off x="8366760" y="2953512"/>
            <a:ext cx="914400" cy="411480"/>
          </a:xfrm>
          <a:prstGeom prst="rect">
            <a:avLst/>
          </a:prstGeom>
          <a:noFill/>
          <a:ln/>
        </p:spPr>
        <p:txBody>
          <a:bodyPr wrap="square" lIns="0" tIns="0" rIns="0" bIns="0" rtlCol="0" anchor="ctr"/>
          <a:lstStyle/>
          <a:p>
            <a:pPr indent="0" marL="0">
              <a:buNone/>
            </a:pPr>
            <a:r>
              <a:rPr lang="en-US" sz="2200" b="1" dirty="0">
                <a:solidFill>
                  <a:srgbClr val="E63227"/>
                </a:solidFill>
                <a:latin typeface="Inter" pitchFamily="34" charset="0"/>
                <a:ea typeface="Inter" pitchFamily="34" charset="-122"/>
                <a:cs typeface="Inter" pitchFamily="34" charset="-120"/>
              </a:rPr>
              <a:t>M2</a:t>
            </a:r>
            <a:endParaRPr lang="en-US" sz="2200" dirty="0"/>
          </a:p>
        </p:txBody>
      </p:sp>
      <p:sp>
        <p:nvSpPr>
          <p:cNvPr id="20" name="Text 18"/>
          <p:cNvSpPr/>
          <p:nvPr/>
        </p:nvSpPr>
        <p:spPr>
          <a:xfrm>
            <a:off x="10241280" y="3017520"/>
            <a:ext cx="1371600" cy="274320"/>
          </a:xfrm>
          <a:prstGeom prst="rect">
            <a:avLst/>
          </a:prstGeom>
          <a:noFill/>
          <a:ln/>
        </p:spPr>
        <p:txBody>
          <a:bodyPr wrap="square" lIns="0" tIns="0" rIns="0" bIns="0" rtlCol="0" anchor="ctr"/>
          <a:lstStyle/>
          <a:p>
            <a:pPr algn="r" indent="0" marL="0">
              <a:buNone/>
            </a:pPr>
            <a:r>
              <a:rPr lang="en-US" sz="900" b="1" spc="400" kern="0" dirty="0">
                <a:solidFill>
                  <a:srgbClr val="666666"/>
                </a:solidFill>
                <a:latin typeface="Inter" pitchFamily="34" charset="0"/>
                <a:ea typeface="Inter" pitchFamily="34" charset="-122"/>
                <a:cs typeface="Inter" pitchFamily="34" charset="-120"/>
              </a:rPr>
              <a:t>WEEKS 5–7</a:t>
            </a:r>
            <a:endParaRPr lang="en-US" sz="900" dirty="0"/>
          </a:p>
        </p:txBody>
      </p:sp>
      <p:sp>
        <p:nvSpPr>
          <p:cNvPr id="21" name="Text 19"/>
          <p:cNvSpPr/>
          <p:nvPr/>
        </p:nvSpPr>
        <p:spPr>
          <a:xfrm>
            <a:off x="8366760" y="3447288"/>
            <a:ext cx="3200400" cy="41148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AI Product Patterns</a:t>
            </a:r>
            <a:endParaRPr lang="en-US" sz="1700" dirty="0"/>
          </a:p>
        </p:txBody>
      </p:sp>
      <p:sp>
        <p:nvSpPr>
          <p:cNvPr id="22" name="Text 20"/>
          <p:cNvSpPr/>
          <p:nvPr/>
        </p:nvSpPr>
        <p:spPr>
          <a:xfrm>
            <a:off x="8366760" y="3886200"/>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One real AI-powered product.</a:t>
            </a:r>
            <a:endParaRPr lang="en-US" sz="1100" dirty="0"/>
          </a:p>
        </p:txBody>
      </p:sp>
      <p:sp>
        <p:nvSpPr>
          <p:cNvPr id="23" name="Shape 21"/>
          <p:cNvSpPr/>
          <p:nvPr/>
        </p:nvSpPr>
        <p:spPr>
          <a:xfrm>
            <a:off x="548640" y="4645152"/>
            <a:ext cx="3657600" cy="1691640"/>
          </a:xfrm>
          <a:prstGeom prst="rect">
            <a:avLst/>
          </a:prstGeom>
          <a:solidFill>
            <a:srgbClr val="FFFFFF"/>
          </a:solidFill>
          <a:ln w="12700">
            <a:solidFill>
              <a:srgbClr val="111111"/>
            </a:solidFill>
            <a:prstDash val="solid"/>
          </a:ln>
        </p:spPr>
      </p:sp>
      <p:sp>
        <p:nvSpPr>
          <p:cNvPr id="24" name="Shape 22"/>
          <p:cNvSpPr/>
          <p:nvPr/>
        </p:nvSpPr>
        <p:spPr>
          <a:xfrm>
            <a:off x="548640" y="4645152"/>
            <a:ext cx="73152" cy="1691640"/>
          </a:xfrm>
          <a:prstGeom prst="rect">
            <a:avLst/>
          </a:prstGeom>
          <a:solidFill>
            <a:srgbClr val="111111"/>
          </a:solidFill>
          <a:ln w="12700">
            <a:solidFill>
              <a:srgbClr val="111111"/>
            </a:solidFill>
            <a:prstDash val="solid"/>
          </a:ln>
        </p:spPr>
      </p:sp>
      <p:sp>
        <p:nvSpPr>
          <p:cNvPr id="25" name="Text 23"/>
          <p:cNvSpPr/>
          <p:nvPr/>
        </p:nvSpPr>
        <p:spPr>
          <a:xfrm>
            <a:off x="777240" y="4809744"/>
            <a:ext cx="914400" cy="411480"/>
          </a:xfrm>
          <a:prstGeom prst="rect">
            <a:avLst/>
          </a:prstGeom>
          <a:noFill/>
          <a:ln/>
        </p:spPr>
        <p:txBody>
          <a:bodyPr wrap="square" lIns="0" tIns="0" rIns="0" bIns="0" rtlCol="0" anchor="ctr"/>
          <a:lstStyle/>
          <a:p>
            <a:pPr indent="0" marL="0">
              <a:buNone/>
            </a:pPr>
            <a:r>
              <a:rPr lang="en-US" sz="2200" b="1" dirty="0">
                <a:solidFill>
                  <a:srgbClr val="111111"/>
                </a:solidFill>
                <a:latin typeface="Inter" pitchFamily="34" charset="0"/>
                <a:ea typeface="Inter" pitchFamily="34" charset="-122"/>
                <a:cs typeface="Inter" pitchFamily="34" charset="-120"/>
              </a:rPr>
              <a:t>M3</a:t>
            </a:r>
            <a:endParaRPr lang="en-US" sz="2200" dirty="0"/>
          </a:p>
        </p:txBody>
      </p:sp>
      <p:sp>
        <p:nvSpPr>
          <p:cNvPr id="26" name="Text 24"/>
          <p:cNvSpPr/>
          <p:nvPr/>
        </p:nvSpPr>
        <p:spPr>
          <a:xfrm>
            <a:off x="2651760" y="4873752"/>
            <a:ext cx="1371600" cy="274320"/>
          </a:xfrm>
          <a:prstGeom prst="rect">
            <a:avLst/>
          </a:prstGeom>
          <a:noFill/>
          <a:ln/>
        </p:spPr>
        <p:txBody>
          <a:bodyPr wrap="square" lIns="0" tIns="0" rIns="0" bIns="0" rtlCol="0" anchor="ctr"/>
          <a:lstStyle/>
          <a:p>
            <a:pPr algn="r" indent="0" marL="0">
              <a:buNone/>
            </a:pPr>
            <a:r>
              <a:rPr lang="en-US" sz="900" b="1" spc="400" kern="0" dirty="0">
                <a:solidFill>
                  <a:srgbClr val="666666"/>
                </a:solidFill>
                <a:latin typeface="Inter" pitchFamily="34" charset="0"/>
                <a:ea typeface="Inter" pitchFamily="34" charset="-122"/>
                <a:cs typeface="Inter" pitchFamily="34" charset="-120"/>
              </a:rPr>
              <a:t>WEEK 8</a:t>
            </a:r>
            <a:endParaRPr lang="en-US" sz="900" dirty="0"/>
          </a:p>
        </p:txBody>
      </p:sp>
      <p:sp>
        <p:nvSpPr>
          <p:cNvPr id="27" name="Text 25"/>
          <p:cNvSpPr/>
          <p:nvPr/>
        </p:nvSpPr>
        <p:spPr>
          <a:xfrm>
            <a:off x="777240" y="5303520"/>
            <a:ext cx="3200400" cy="41148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Eval &amp; Reliability</a:t>
            </a:r>
            <a:endParaRPr lang="en-US" sz="1700" dirty="0"/>
          </a:p>
        </p:txBody>
      </p:sp>
      <p:sp>
        <p:nvSpPr>
          <p:cNvPr id="28" name="Text 26"/>
          <p:cNvSpPr/>
          <p:nvPr/>
        </p:nvSpPr>
        <p:spPr>
          <a:xfrm>
            <a:off x="777240" y="5742432"/>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Eval suite that catches regressions.</a:t>
            </a:r>
            <a:endParaRPr lang="en-US" sz="1100" dirty="0"/>
          </a:p>
        </p:txBody>
      </p:sp>
      <p:sp>
        <p:nvSpPr>
          <p:cNvPr id="29" name="Shape 27"/>
          <p:cNvSpPr/>
          <p:nvPr/>
        </p:nvSpPr>
        <p:spPr>
          <a:xfrm>
            <a:off x="4343400" y="4645152"/>
            <a:ext cx="3657600" cy="1691640"/>
          </a:xfrm>
          <a:prstGeom prst="rect">
            <a:avLst/>
          </a:prstGeom>
          <a:solidFill>
            <a:srgbClr val="FFFFFF"/>
          </a:solidFill>
          <a:ln w="12700">
            <a:solidFill>
              <a:srgbClr val="111111"/>
            </a:solidFill>
            <a:prstDash val="solid"/>
          </a:ln>
        </p:spPr>
      </p:sp>
      <p:sp>
        <p:nvSpPr>
          <p:cNvPr id="30" name="Shape 28"/>
          <p:cNvSpPr/>
          <p:nvPr/>
        </p:nvSpPr>
        <p:spPr>
          <a:xfrm>
            <a:off x="4343400" y="4645152"/>
            <a:ext cx="73152" cy="1691640"/>
          </a:xfrm>
          <a:prstGeom prst="rect">
            <a:avLst/>
          </a:prstGeom>
          <a:solidFill>
            <a:srgbClr val="111111"/>
          </a:solidFill>
          <a:ln w="12700">
            <a:solidFill>
              <a:srgbClr val="111111"/>
            </a:solidFill>
            <a:prstDash val="solid"/>
          </a:ln>
        </p:spPr>
      </p:sp>
      <p:sp>
        <p:nvSpPr>
          <p:cNvPr id="31" name="Text 29"/>
          <p:cNvSpPr/>
          <p:nvPr/>
        </p:nvSpPr>
        <p:spPr>
          <a:xfrm>
            <a:off x="4572000" y="4809744"/>
            <a:ext cx="914400" cy="411480"/>
          </a:xfrm>
          <a:prstGeom prst="rect">
            <a:avLst/>
          </a:prstGeom>
          <a:noFill/>
          <a:ln/>
        </p:spPr>
        <p:txBody>
          <a:bodyPr wrap="square" lIns="0" tIns="0" rIns="0" bIns="0" rtlCol="0" anchor="ctr"/>
          <a:lstStyle/>
          <a:p>
            <a:pPr indent="0" marL="0">
              <a:buNone/>
            </a:pPr>
            <a:r>
              <a:rPr lang="en-US" sz="2200" b="1" dirty="0">
                <a:solidFill>
                  <a:srgbClr val="111111"/>
                </a:solidFill>
                <a:latin typeface="Inter" pitchFamily="34" charset="0"/>
                <a:ea typeface="Inter" pitchFamily="34" charset="-122"/>
                <a:cs typeface="Inter" pitchFamily="34" charset="-120"/>
              </a:rPr>
              <a:t>M4</a:t>
            </a:r>
            <a:endParaRPr lang="en-US" sz="2200" dirty="0"/>
          </a:p>
        </p:txBody>
      </p:sp>
      <p:sp>
        <p:nvSpPr>
          <p:cNvPr id="32" name="Text 30"/>
          <p:cNvSpPr/>
          <p:nvPr/>
        </p:nvSpPr>
        <p:spPr>
          <a:xfrm>
            <a:off x="6446520" y="4873752"/>
            <a:ext cx="1371600" cy="274320"/>
          </a:xfrm>
          <a:prstGeom prst="rect">
            <a:avLst/>
          </a:prstGeom>
          <a:noFill/>
          <a:ln/>
        </p:spPr>
        <p:txBody>
          <a:bodyPr wrap="square" lIns="0" tIns="0" rIns="0" bIns="0" rtlCol="0" anchor="ctr"/>
          <a:lstStyle/>
          <a:p>
            <a:pPr algn="r" indent="0" marL="0">
              <a:buNone/>
            </a:pPr>
            <a:r>
              <a:rPr lang="en-US" sz="900" b="1" spc="400" kern="0" dirty="0">
                <a:solidFill>
                  <a:srgbClr val="666666"/>
                </a:solidFill>
                <a:latin typeface="Inter" pitchFamily="34" charset="0"/>
                <a:ea typeface="Inter" pitchFamily="34" charset="-122"/>
                <a:cs typeface="Inter" pitchFamily="34" charset="-120"/>
              </a:rPr>
              <a:t>WEEKS 9–10</a:t>
            </a:r>
            <a:endParaRPr lang="en-US" sz="900" dirty="0"/>
          </a:p>
        </p:txBody>
      </p:sp>
      <p:sp>
        <p:nvSpPr>
          <p:cNvPr id="33" name="Text 31"/>
          <p:cNvSpPr/>
          <p:nvPr/>
        </p:nvSpPr>
        <p:spPr>
          <a:xfrm>
            <a:off x="4572000" y="5303520"/>
            <a:ext cx="3200400" cy="41148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Shipping in a Startup</a:t>
            </a:r>
            <a:endParaRPr lang="en-US" sz="1700" dirty="0"/>
          </a:p>
        </p:txBody>
      </p:sp>
      <p:sp>
        <p:nvSpPr>
          <p:cNvPr id="34" name="Text 32"/>
          <p:cNvSpPr/>
          <p:nvPr/>
        </p:nvSpPr>
        <p:spPr>
          <a:xfrm>
            <a:off x="4572000" y="5742432"/>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Team sprint with PR-reviewed code.</a:t>
            </a:r>
            <a:endParaRPr lang="en-US" sz="1100" dirty="0"/>
          </a:p>
        </p:txBody>
      </p:sp>
      <p:sp>
        <p:nvSpPr>
          <p:cNvPr id="35" name="Shape 33"/>
          <p:cNvSpPr/>
          <p:nvPr/>
        </p:nvSpPr>
        <p:spPr>
          <a:xfrm>
            <a:off x="8138160" y="4645152"/>
            <a:ext cx="3657600" cy="1691640"/>
          </a:xfrm>
          <a:prstGeom prst="rect">
            <a:avLst/>
          </a:prstGeom>
          <a:solidFill>
            <a:srgbClr val="FFFFFF"/>
          </a:solidFill>
          <a:ln w="12700">
            <a:solidFill>
              <a:srgbClr val="111111"/>
            </a:solidFill>
            <a:prstDash val="solid"/>
          </a:ln>
        </p:spPr>
      </p:sp>
      <p:sp>
        <p:nvSpPr>
          <p:cNvPr id="36" name="Shape 34"/>
          <p:cNvSpPr/>
          <p:nvPr/>
        </p:nvSpPr>
        <p:spPr>
          <a:xfrm>
            <a:off x="8138160" y="4645152"/>
            <a:ext cx="73152" cy="1691640"/>
          </a:xfrm>
          <a:prstGeom prst="rect">
            <a:avLst/>
          </a:prstGeom>
          <a:solidFill>
            <a:srgbClr val="E63227"/>
          </a:solidFill>
          <a:ln w="12700">
            <a:solidFill>
              <a:srgbClr val="E63227"/>
            </a:solidFill>
            <a:prstDash val="solid"/>
          </a:ln>
        </p:spPr>
      </p:sp>
      <p:sp>
        <p:nvSpPr>
          <p:cNvPr id="37" name="Text 35"/>
          <p:cNvSpPr/>
          <p:nvPr/>
        </p:nvSpPr>
        <p:spPr>
          <a:xfrm>
            <a:off x="8366760" y="4809744"/>
            <a:ext cx="914400" cy="411480"/>
          </a:xfrm>
          <a:prstGeom prst="rect">
            <a:avLst/>
          </a:prstGeom>
          <a:noFill/>
          <a:ln/>
        </p:spPr>
        <p:txBody>
          <a:bodyPr wrap="square" lIns="0" tIns="0" rIns="0" bIns="0" rtlCol="0" anchor="ctr"/>
          <a:lstStyle/>
          <a:p>
            <a:pPr indent="0" marL="0">
              <a:buNone/>
            </a:pPr>
            <a:r>
              <a:rPr lang="en-US" sz="2200" b="1" dirty="0">
                <a:solidFill>
                  <a:srgbClr val="E63227"/>
                </a:solidFill>
                <a:latin typeface="Inter" pitchFamily="34" charset="0"/>
                <a:ea typeface="Inter" pitchFamily="34" charset="-122"/>
                <a:cs typeface="Inter" pitchFamily="34" charset="-120"/>
              </a:rPr>
              <a:t>M5</a:t>
            </a:r>
            <a:endParaRPr lang="en-US" sz="2200" dirty="0"/>
          </a:p>
        </p:txBody>
      </p:sp>
      <p:sp>
        <p:nvSpPr>
          <p:cNvPr id="38" name="Text 36"/>
          <p:cNvSpPr/>
          <p:nvPr/>
        </p:nvSpPr>
        <p:spPr>
          <a:xfrm>
            <a:off x="10241280" y="4873752"/>
            <a:ext cx="1371600" cy="274320"/>
          </a:xfrm>
          <a:prstGeom prst="rect">
            <a:avLst/>
          </a:prstGeom>
          <a:noFill/>
          <a:ln/>
        </p:spPr>
        <p:txBody>
          <a:bodyPr wrap="square" lIns="0" tIns="0" rIns="0" bIns="0" rtlCol="0" anchor="ctr"/>
          <a:lstStyle/>
          <a:p>
            <a:pPr algn="r" indent="0" marL="0">
              <a:buNone/>
            </a:pPr>
            <a:r>
              <a:rPr lang="en-US" sz="900" b="1" spc="400" kern="0" dirty="0">
                <a:solidFill>
                  <a:srgbClr val="666666"/>
                </a:solidFill>
                <a:latin typeface="Inter" pitchFamily="34" charset="0"/>
                <a:ea typeface="Inter" pitchFamily="34" charset="-122"/>
                <a:cs typeface="Inter" pitchFamily="34" charset="-120"/>
              </a:rPr>
              <a:t>WEEKS 11–13</a:t>
            </a:r>
            <a:endParaRPr lang="en-US" sz="900" dirty="0"/>
          </a:p>
        </p:txBody>
      </p:sp>
      <p:sp>
        <p:nvSpPr>
          <p:cNvPr id="39" name="Text 37"/>
          <p:cNvSpPr/>
          <p:nvPr/>
        </p:nvSpPr>
        <p:spPr>
          <a:xfrm>
            <a:off x="8366760" y="5303520"/>
            <a:ext cx="3200400" cy="41148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Capstone</a:t>
            </a:r>
            <a:endParaRPr lang="en-US" sz="1700" dirty="0"/>
          </a:p>
        </p:txBody>
      </p:sp>
      <p:sp>
        <p:nvSpPr>
          <p:cNvPr id="40" name="Text 38"/>
          <p:cNvSpPr/>
          <p:nvPr/>
        </p:nvSpPr>
        <p:spPr>
          <a:xfrm>
            <a:off x="8366760" y="5742432"/>
            <a:ext cx="3200400" cy="502920"/>
          </a:xfrm>
          <a:prstGeom prst="rect">
            <a:avLst/>
          </a:prstGeom>
          <a:noFill/>
          <a:ln/>
        </p:spPr>
        <p:txBody>
          <a:bodyPr wrap="square" lIns="0" tIns="0" rIns="0" bIns="0" rtlCol="0" anchor="ctr"/>
          <a:lstStyle/>
          <a:p>
            <a:pPr indent="0" marL="0">
              <a:lnSpc>
                <a:spcPts val="1400"/>
              </a:lnSpc>
              <a:buNone/>
            </a:pPr>
            <a:r>
              <a:rPr lang="en-US" sz="1100" dirty="0">
                <a:solidFill>
                  <a:srgbClr val="666666"/>
                </a:solidFill>
                <a:latin typeface="Inter" pitchFamily="34" charset="0"/>
                <a:ea typeface="Inter" pitchFamily="34" charset="-122"/>
                <a:cs typeface="Inter" pitchFamily="34" charset="-120"/>
              </a:rPr>
              <a:t>Real product, real users.</a:t>
            </a:r>
            <a:endParaRPr lang="en-US" sz="1100" dirty="0"/>
          </a:p>
        </p:txBody>
      </p:sp>
      <p:sp>
        <p:nvSpPr>
          <p:cNvPr id="41" name="Shape 39"/>
          <p:cNvSpPr/>
          <p:nvPr/>
        </p:nvSpPr>
        <p:spPr>
          <a:xfrm>
            <a:off x="548640" y="6355080"/>
            <a:ext cx="11094415" cy="0"/>
          </a:xfrm>
          <a:prstGeom prst="line">
            <a:avLst/>
          </a:prstGeom>
          <a:noFill/>
          <a:ln w="9525">
            <a:solidFill>
              <a:srgbClr val="111111"/>
            </a:solidFill>
            <a:prstDash val="solid"/>
          </a:ln>
        </p:spPr>
      </p:sp>
      <p:sp>
        <p:nvSpPr>
          <p:cNvPr id="42" name="Text 40"/>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Curriculum</a:t>
            </a:r>
            <a:endParaRPr lang="en-US" sz="900" dirty="0"/>
          </a:p>
        </p:txBody>
      </p:sp>
      <p:sp>
        <p:nvSpPr>
          <p:cNvPr id="43" name="Shape 41"/>
          <p:cNvSpPr/>
          <p:nvPr/>
        </p:nvSpPr>
        <p:spPr>
          <a:xfrm>
            <a:off x="10911535" y="6400800"/>
            <a:ext cx="777240" cy="274320"/>
          </a:xfrm>
          <a:prstGeom prst="rect">
            <a:avLst/>
          </a:prstGeom>
          <a:solidFill>
            <a:srgbClr val="111111"/>
          </a:solidFill>
          <a:ln w="12700">
            <a:solidFill>
              <a:srgbClr val="111111"/>
            </a:solidFill>
            <a:prstDash val="solid"/>
          </a:ln>
        </p:spPr>
      </p:sp>
      <p:sp>
        <p:nvSpPr>
          <p:cNvPr id="44" name="Text 42"/>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111"/>
          </a:solidFill>
          <a:ln w="12700">
            <a:solidFill>
              <a:srgbClr val="111111"/>
            </a:solidFill>
            <a:prstDash val="solid"/>
          </a:ln>
        </p:spPr>
      </p:sp>
      <p:sp>
        <p:nvSpPr>
          <p:cNvPr id="3" name="Text 1"/>
          <p:cNvSpPr/>
          <p:nvPr/>
        </p:nvSpPr>
        <p:spPr>
          <a:xfrm>
            <a:off x="7772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08 / 17  </a:t>
            </a:r>
            <a:pPr indent="0" marL="0">
              <a:buNone/>
            </a:pPr>
            <a:r>
              <a:rPr lang="en-US" sz="1000" b="1" spc="400" kern="0" dirty="0">
                <a:solidFill>
                  <a:srgbClr val="111111"/>
                </a:solidFill>
                <a:latin typeface="Inter" pitchFamily="34" charset="0"/>
                <a:ea typeface="Inter" pitchFamily="34" charset="-122"/>
                <a:cs typeface="Inter" pitchFamily="34" charset="-120"/>
              </a:rPr>
              <a:t>EVALUATION</a:t>
            </a:r>
            <a:endParaRPr lang="en-US" sz="1000" dirty="0"/>
          </a:p>
        </p:txBody>
      </p:sp>
      <p:sp>
        <p:nvSpPr>
          <p:cNvPr id="4" name="Text 2"/>
          <p:cNvSpPr/>
          <p:nvPr/>
        </p:nvSpPr>
        <p:spPr>
          <a:xfrm>
            <a:off x="777240" y="868680"/>
            <a:ext cx="91440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Seven dimensions. Two reviewers.</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External industry validation.</a:t>
            </a:r>
            <a:endParaRPr lang="en-US" sz="3200" dirty="0"/>
          </a:p>
        </p:txBody>
      </p:sp>
      <p:sp>
        <p:nvSpPr>
          <p:cNvPr id="5" name="Text 3"/>
          <p:cNvSpPr/>
          <p:nvPr/>
        </p:nvSpPr>
        <p:spPr>
          <a:xfrm>
            <a:off x="777240" y="2606040"/>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01</a:t>
            </a:r>
            <a:endParaRPr lang="en-US" sz="1100" dirty="0"/>
          </a:p>
        </p:txBody>
      </p:sp>
      <p:sp>
        <p:nvSpPr>
          <p:cNvPr id="6" name="Text 4"/>
          <p:cNvSpPr/>
          <p:nvPr/>
        </p:nvSpPr>
        <p:spPr>
          <a:xfrm>
            <a:off x="1280160" y="2606040"/>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Shipping velocity</a:t>
            </a:r>
            <a:endParaRPr lang="en-US" sz="1700" dirty="0"/>
          </a:p>
        </p:txBody>
      </p:sp>
      <p:sp>
        <p:nvSpPr>
          <p:cNvPr id="7" name="Text 5"/>
          <p:cNvSpPr/>
          <p:nvPr/>
        </p:nvSpPr>
        <p:spPr>
          <a:xfrm>
            <a:off x="5257800" y="2642616"/>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8" name="Shape 6"/>
          <p:cNvSpPr/>
          <p:nvPr/>
        </p:nvSpPr>
        <p:spPr>
          <a:xfrm>
            <a:off x="777240" y="2953512"/>
            <a:ext cx="5760720" cy="0"/>
          </a:xfrm>
          <a:prstGeom prst="line">
            <a:avLst/>
          </a:prstGeom>
          <a:noFill/>
          <a:ln w="6350">
            <a:solidFill>
              <a:srgbClr val="111111"/>
            </a:solidFill>
            <a:prstDash val="solid"/>
          </a:ln>
        </p:spPr>
      </p:sp>
      <p:sp>
        <p:nvSpPr>
          <p:cNvPr id="9" name="Text 7"/>
          <p:cNvSpPr/>
          <p:nvPr/>
        </p:nvSpPr>
        <p:spPr>
          <a:xfrm>
            <a:off x="777240" y="2990088"/>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02</a:t>
            </a:r>
            <a:endParaRPr lang="en-US" sz="1100" dirty="0"/>
          </a:p>
        </p:txBody>
      </p:sp>
      <p:sp>
        <p:nvSpPr>
          <p:cNvPr id="10" name="Text 8"/>
          <p:cNvSpPr/>
          <p:nvPr/>
        </p:nvSpPr>
        <p:spPr>
          <a:xfrm>
            <a:off x="1280160" y="2990088"/>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Engineering judgment</a:t>
            </a:r>
            <a:endParaRPr lang="en-US" sz="1700" dirty="0"/>
          </a:p>
        </p:txBody>
      </p:sp>
      <p:sp>
        <p:nvSpPr>
          <p:cNvPr id="11" name="Text 9"/>
          <p:cNvSpPr/>
          <p:nvPr/>
        </p:nvSpPr>
        <p:spPr>
          <a:xfrm>
            <a:off x="5257800" y="3026664"/>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12" name="Shape 10"/>
          <p:cNvSpPr/>
          <p:nvPr/>
        </p:nvSpPr>
        <p:spPr>
          <a:xfrm>
            <a:off x="777240" y="3337560"/>
            <a:ext cx="5760720" cy="0"/>
          </a:xfrm>
          <a:prstGeom prst="line">
            <a:avLst/>
          </a:prstGeom>
          <a:noFill/>
          <a:ln w="6350">
            <a:solidFill>
              <a:srgbClr val="111111"/>
            </a:solidFill>
            <a:prstDash val="solid"/>
          </a:ln>
        </p:spPr>
      </p:sp>
      <p:sp>
        <p:nvSpPr>
          <p:cNvPr id="13" name="Text 11"/>
          <p:cNvSpPr/>
          <p:nvPr/>
        </p:nvSpPr>
        <p:spPr>
          <a:xfrm>
            <a:off x="777240" y="3374136"/>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03</a:t>
            </a:r>
            <a:endParaRPr lang="en-US" sz="1100" dirty="0"/>
          </a:p>
        </p:txBody>
      </p:sp>
      <p:sp>
        <p:nvSpPr>
          <p:cNvPr id="14" name="Text 12"/>
          <p:cNvSpPr/>
          <p:nvPr/>
        </p:nvSpPr>
        <p:spPr>
          <a:xfrm>
            <a:off x="1280160" y="3374136"/>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Product thinking</a:t>
            </a:r>
            <a:endParaRPr lang="en-US" sz="1700" dirty="0"/>
          </a:p>
        </p:txBody>
      </p:sp>
      <p:sp>
        <p:nvSpPr>
          <p:cNvPr id="15" name="Text 13"/>
          <p:cNvSpPr/>
          <p:nvPr/>
        </p:nvSpPr>
        <p:spPr>
          <a:xfrm>
            <a:off x="5257800" y="3410712"/>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16" name="Shape 14"/>
          <p:cNvSpPr/>
          <p:nvPr/>
        </p:nvSpPr>
        <p:spPr>
          <a:xfrm>
            <a:off x="777240" y="3721608"/>
            <a:ext cx="5760720" cy="0"/>
          </a:xfrm>
          <a:prstGeom prst="line">
            <a:avLst/>
          </a:prstGeom>
          <a:noFill/>
          <a:ln w="6350">
            <a:solidFill>
              <a:srgbClr val="111111"/>
            </a:solidFill>
            <a:prstDash val="solid"/>
          </a:ln>
        </p:spPr>
      </p:sp>
      <p:sp>
        <p:nvSpPr>
          <p:cNvPr id="17" name="Text 15"/>
          <p:cNvSpPr/>
          <p:nvPr/>
        </p:nvSpPr>
        <p:spPr>
          <a:xfrm>
            <a:off x="777240" y="3758184"/>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04</a:t>
            </a:r>
            <a:endParaRPr lang="en-US" sz="1100" dirty="0"/>
          </a:p>
        </p:txBody>
      </p:sp>
      <p:sp>
        <p:nvSpPr>
          <p:cNvPr id="18" name="Text 16"/>
          <p:cNvSpPr/>
          <p:nvPr/>
        </p:nvSpPr>
        <p:spPr>
          <a:xfrm>
            <a:off x="1280160" y="3758184"/>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AI fluency</a:t>
            </a:r>
            <a:endParaRPr lang="en-US" sz="1700" dirty="0"/>
          </a:p>
        </p:txBody>
      </p:sp>
      <p:sp>
        <p:nvSpPr>
          <p:cNvPr id="19" name="Text 17"/>
          <p:cNvSpPr/>
          <p:nvPr/>
        </p:nvSpPr>
        <p:spPr>
          <a:xfrm>
            <a:off x="5257800" y="3794760"/>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20" name="Shape 18"/>
          <p:cNvSpPr/>
          <p:nvPr/>
        </p:nvSpPr>
        <p:spPr>
          <a:xfrm>
            <a:off x="777240" y="4105656"/>
            <a:ext cx="5760720" cy="0"/>
          </a:xfrm>
          <a:prstGeom prst="line">
            <a:avLst/>
          </a:prstGeom>
          <a:noFill/>
          <a:ln w="6350">
            <a:solidFill>
              <a:srgbClr val="111111"/>
            </a:solidFill>
            <a:prstDash val="solid"/>
          </a:ln>
        </p:spPr>
      </p:sp>
      <p:sp>
        <p:nvSpPr>
          <p:cNvPr id="21" name="Text 19"/>
          <p:cNvSpPr/>
          <p:nvPr/>
        </p:nvSpPr>
        <p:spPr>
          <a:xfrm>
            <a:off x="777240" y="4142232"/>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05</a:t>
            </a:r>
            <a:endParaRPr lang="en-US" sz="1100" dirty="0"/>
          </a:p>
        </p:txBody>
      </p:sp>
      <p:sp>
        <p:nvSpPr>
          <p:cNvPr id="22" name="Text 20"/>
          <p:cNvSpPr/>
          <p:nvPr/>
        </p:nvSpPr>
        <p:spPr>
          <a:xfrm>
            <a:off x="1280160" y="4142232"/>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Collaboration</a:t>
            </a:r>
            <a:endParaRPr lang="en-US" sz="1700" dirty="0"/>
          </a:p>
        </p:txBody>
      </p:sp>
      <p:sp>
        <p:nvSpPr>
          <p:cNvPr id="23" name="Text 21"/>
          <p:cNvSpPr/>
          <p:nvPr/>
        </p:nvSpPr>
        <p:spPr>
          <a:xfrm>
            <a:off x="5257800" y="4178808"/>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24" name="Shape 22"/>
          <p:cNvSpPr/>
          <p:nvPr/>
        </p:nvSpPr>
        <p:spPr>
          <a:xfrm>
            <a:off x="777240" y="4489704"/>
            <a:ext cx="5760720" cy="0"/>
          </a:xfrm>
          <a:prstGeom prst="line">
            <a:avLst/>
          </a:prstGeom>
          <a:noFill/>
          <a:ln w="6350">
            <a:solidFill>
              <a:srgbClr val="111111"/>
            </a:solidFill>
            <a:prstDash val="solid"/>
          </a:ln>
        </p:spPr>
      </p:sp>
      <p:sp>
        <p:nvSpPr>
          <p:cNvPr id="25" name="Text 23"/>
          <p:cNvSpPr/>
          <p:nvPr/>
        </p:nvSpPr>
        <p:spPr>
          <a:xfrm>
            <a:off x="777240" y="4526280"/>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06</a:t>
            </a:r>
            <a:endParaRPr lang="en-US" sz="1100" dirty="0"/>
          </a:p>
        </p:txBody>
      </p:sp>
      <p:sp>
        <p:nvSpPr>
          <p:cNvPr id="26" name="Text 24"/>
          <p:cNvSpPr/>
          <p:nvPr/>
        </p:nvSpPr>
        <p:spPr>
          <a:xfrm>
            <a:off x="1280160" y="4526280"/>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Debugging</a:t>
            </a:r>
            <a:endParaRPr lang="en-US" sz="1700" dirty="0"/>
          </a:p>
        </p:txBody>
      </p:sp>
      <p:sp>
        <p:nvSpPr>
          <p:cNvPr id="27" name="Text 25"/>
          <p:cNvSpPr/>
          <p:nvPr/>
        </p:nvSpPr>
        <p:spPr>
          <a:xfrm>
            <a:off x="5257800" y="4562856"/>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28" name="Shape 26"/>
          <p:cNvSpPr/>
          <p:nvPr/>
        </p:nvSpPr>
        <p:spPr>
          <a:xfrm>
            <a:off x="777240" y="4873752"/>
            <a:ext cx="5760720" cy="0"/>
          </a:xfrm>
          <a:prstGeom prst="line">
            <a:avLst/>
          </a:prstGeom>
          <a:noFill/>
          <a:ln w="6350">
            <a:solidFill>
              <a:srgbClr val="111111"/>
            </a:solidFill>
            <a:prstDash val="solid"/>
          </a:ln>
        </p:spPr>
      </p:sp>
      <p:sp>
        <p:nvSpPr>
          <p:cNvPr id="29" name="Text 27"/>
          <p:cNvSpPr/>
          <p:nvPr/>
        </p:nvSpPr>
        <p:spPr>
          <a:xfrm>
            <a:off x="777240" y="4910328"/>
            <a:ext cx="457200" cy="292608"/>
          </a:xfrm>
          <a:prstGeom prst="rect">
            <a:avLst/>
          </a:prstGeom>
          <a:noFill/>
          <a:ln/>
        </p:spPr>
        <p:txBody>
          <a:bodyPr wrap="square" lIns="0" tIns="0" rIns="0" bIns="0" rtlCol="0" anchor="ctr"/>
          <a:lstStyle/>
          <a:p>
            <a:pPr indent="0" marL="0">
              <a:buNone/>
            </a:pPr>
            <a:r>
              <a:rPr lang="en-US" sz="1100" b="1" dirty="0">
                <a:solidFill>
                  <a:srgbClr val="E63227"/>
                </a:solidFill>
                <a:latin typeface="Inter" pitchFamily="34" charset="0"/>
                <a:ea typeface="Inter" pitchFamily="34" charset="-122"/>
                <a:cs typeface="Inter" pitchFamily="34" charset="-120"/>
              </a:rPr>
              <a:t>07</a:t>
            </a:r>
            <a:endParaRPr lang="en-US" sz="1100" dirty="0"/>
          </a:p>
        </p:txBody>
      </p:sp>
      <p:sp>
        <p:nvSpPr>
          <p:cNvPr id="30" name="Text 28"/>
          <p:cNvSpPr/>
          <p:nvPr/>
        </p:nvSpPr>
        <p:spPr>
          <a:xfrm>
            <a:off x="1280160" y="4910328"/>
            <a:ext cx="4114800" cy="292608"/>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Communication</a:t>
            </a:r>
            <a:endParaRPr lang="en-US" sz="1700" dirty="0"/>
          </a:p>
        </p:txBody>
      </p:sp>
      <p:sp>
        <p:nvSpPr>
          <p:cNvPr id="31" name="Text 29"/>
          <p:cNvSpPr/>
          <p:nvPr/>
        </p:nvSpPr>
        <p:spPr>
          <a:xfrm>
            <a:off x="5257800" y="4946904"/>
            <a:ext cx="1371600" cy="274320"/>
          </a:xfrm>
          <a:prstGeom prst="rect">
            <a:avLst/>
          </a:prstGeom>
          <a:noFill/>
          <a:ln/>
        </p:spPr>
        <p:txBody>
          <a:bodyPr wrap="square" lIns="0" tIns="0" rIns="0" bIns="0" rtlCol="0" anchor="ctr"/>
          <a:lstStyle/>
          <a:p>
            <a:pPr indent="0" marL="0">
              <a:buNone/>
            </a:pPr>
            <a:r>
              <a:rPr lang="en-US" sz="900" b="1" spc="400" kern="0" dirty="0">
                <a:solidFill>
                  <a:srgbClr val="666666"/>
                </a:solidFill>
                <a:latin typeface="Inter" pitchFamily="34" charset="0"/>
                <a:ea typeface="Inter" pitchFamily="34" charset="-122"/>
                <a:cs typeface="Inter" pitchFamily="34" charset="-120"/>
              </a:rPr>
              <a:t>SCORED 1—5</a:t>
            </a:r>
            <a:endParaRPr lang="en-US" sz="900" dirty="0"/>
          </a:p>
        </p:txBody>
      </p:sp>
      <p:sp>
        <p:nvSpPr>
          <p:cNvPr id="32" name="Shape 30"/>
          <p:cNvSpPr/>
          <p:nvPr/>
        </p:nvSpPr>
        <p:spPr>
          <a:xfrm>
            <a:off x="777240" y="5257800"/>
            <a:ext cx="5760720" cy="0"/>
          </a:xfrm>
          <a:prstGeom prst="line">
            <a:avLst/>
          </a:prstGeom>
          <a:noFill/>
          <a:ln w="6350">
            <a:solidFill>
              <a:srgbClr val="111111"/>
            </a:solidFill>
            <a:prstDash val="solid"/>
          </a:ln>
        </p:spPr>
      </p:sp>
      <p:sp>
        <p:nvSpPr>
          <p:cNvPr id="33" name="Shape 31"/>
          <p:cNvSpPr/>
          <p:nvPr/>
        </p:nvSpPr>
        <p:spPr>
          <a:xfrm>
            <a:off x="7315200" y="2606040"/>
            <a:ext cx="4343400" cy="3291840"/>
          </a:xfrm>
          <a:prstGeom prst="rect">
            <a:avLst/>
          </a:prstGeom>
          <a:solidFill>
            <a:srgbClr val="E63227"/>
          </a:solidFill>
          <a:ln w="12700">
            <a:solidFill>
              <a:srgbClr val="E63227"/>
            </a:solidFill>
            <a:prstDash val="solid"/>
          </a:ln>
        </p:spPr>
      </p:sp>
      <p:sp>
        <p:nvSpPr>
          <p:cNvPr id="34" name="Text 32"/>
          <p:cNvSpPr/>
          <p:nvPr/>
        </p:nvSpPr>
        <p:spPr>
          <a:xfrm>
            <a:off x="7589520" y="2788920"/>
            <a:ext cx="3931920" cy="274320"/>
          </a:xfrm>
          <a:prstGeom prst="rect">
            <a:avLst/>
          </a:prstGeom>
          <a:noFill/>
          <a:ln/>
        </p:spPr>
        <p:txBody>
          <a:bodyPr wrap="square" lIns="0" tIns="0" rIns="0" bIns="0" rtlCol="0" anchor="ctr"/>
          <a:lstStyle/>
          <a:p>
            <a:pPr indent="0" marL="0">
              <a:buNone/>
            </a:pPr>
            <a:r>
              <a:rPr lang="en-US" sz="1100" b="1" spc="500" kern="0" dirty="0">
                <a:solidFill>
                  <a:srgbClr val="FFFFFF"/>
                </a:solidFill>
                <a:latin typeface="Inter" pitchFamily="34" charset="0"/>
                <a:ea typeface="Inter" pitchFamily="34" charset="-122"/>
                <a:cs typeface="Inter" pitchFamily="34" charset="-120"/>
              </a:rPr>
              <a:t>EXTERNAL VALIDATION</a:t>
            </a:r>
            <a:endParaRPr lang="en-US" sz="1100" dirty="0"/>
          </a:p>
        </p:txBody>
      </p:sp>
      <p:sp>
        <p:nvSpPr>
          <p:cNvPr id="35" name="Shape 33"/>
          <p:cNvSpPr/>
          <p:nvPr/>
        </p:nvSpPr>
        <p:spPr>
          <a:xfrm>
            <a:off x="7589520" y="3154680"/>
            <a:ext cx="548640" cy="0"/>
          </a:xfrm>
          <a:prstGeom prst="line">
            <a:avLst/>
          </a:prstGeom>
          <a:noFill/>
          <a:ln w="25400">
            <a:solidFill>
              <a:srgbClr val="FFFFFF"/>
            </a:solidFill>
            <a:prstDash val="solid"/>
          </a:ln>
        </p:spPr>
      </p:sp>
      <p:sp>
        <p:nvSpPr>
          <p:cNvPr id="36" name="Text 34"/>
          <p:cNvSpPr/>
          <p:nvPr/>
        </p:nvSpPr>
        <p:spPr>
          <a:xfrm>
            <a:off x="7589520" y="3337560"/>
            <a:ext cx="3840480" cy="1188720"/>
          </a:xfrm>
          <a:prstGeom prst="rect">
            <a:avLst/>
          </a:prstGeom>
          <a:noFill/>
          <a:ln/>
        </p:spPr>
        <p:txBody>
          <a:bodyPr wrap="square" lIns="0" tIns="0" rIns="0" bIns="0" rtlCol="0" anchor="ctr"/>
          <a:lstStyle/>
          <a:p>
            <a:pPr indent="0" marL="0">
              <a:lnSpc>
                <a:spcPts val="2000"/>
              </a:lnSpc>
              <a:buNone/>
            </a:pPr>
            <a:r>
              <a:rPr lang="en-US" sz="1400" b="1" dirty="0">
                <a:solidFill>
                  <a:srgbClr val="FFFFFF"/>
                </a:solidFill>
                <a:latin typeface="Inter" pitchFamily="34" charset="0"/>
                <a:ea typeface="Inter" pitchFamily="34" charset="-122"/>
                <a:cs typeface="Inter" pitchFamily="34" charset="-120"/>
              </a:rPr>
              <a:t>At Week 13, working engineers from real AI-first startups review top portfolios independently.</a:t>
            </a:r>
            <a:endParaRPr lang="en-US" sz="1400" dirty="0"/>
          </a:p>
        </p:txBody>
      </p:sp>
      <p:sp>
        <p:nvSpPr>
          <p:cNvPr id="37" name="Text 35"/>
          <p:cNvSpPr/>
          <p:nvPr/>
        </p:nvSpPr>
        <p:spPr>
          <a:xfrm>
            <a:off x="7589520" y="4572000"/>
            <a:ext cx="3840480" cy="1188720"/>
          </a:xfrm>
          <a:prstGeom prst="rect">
            <a:avLst/>
          </a:prstGeom>
          <a:noFill/>
          <a:ln/>
        </p:spPr>
        <p:txBody>
          <a:bodyPr wrap="square" lIns="0" tIns="0" rIns="0" bIns="0" rtlCol="0" anchor="ctr"/>
          <a:lstStyle/>
          <a:p>
            <a:pPr indent="0" marL="0">
              <a:lnSpc>
                <a:spcPts val="1800"/>
              </a:lnSpc>
              <a:buNone/>
            </a:pPr>
            <a:r>
              <a:rPr lang="en-US" sz="1300" i="1" dirty="0">
                <a:solidFill>
                  <a:srgbClr val="FFFFFF"/>
                </a:solidFill>
                <a:latin typeface="Inter" pitchFamily="34" charset="0"/>
                <a:ea typeface="Inter" pitchFamily="34" charset="-122"/>
                <a:cs typeface="Inter" pitchFamily="34" charset="-120"/>
              </a:rPr>
              <a:t>Their feedback enters the final score — and they become the hiring pipeline.</a:t>
            </a:r>
            <a:endParaRPr lang="en-US" sz="1300" dirty="0"/>
          </a:p>
        </p:txBody>
      </p:sp>
      <p:sp>
        <p:nvSpPr>
          <p:cNvPr id="38" name="Shape 36"/>
          <p:cNvSpPr/>
          <p:nvPr/>
        </p:nvSpPr>
        <p:spPr>
          <a:xfrm>
            <a:off x="548640" y="6355080"/>
            <a:ext cx="11094415" cy="0"/>
          </a:xfrm>
          <a:prstGeom prst="line">
            <a:avLst/>
          </a:prstGeom>
          <a:noFill/>
          <a:ln w="9525">
            <a:solidFill>
              <a:srgbClr val="111111"/>
            </a:solidFill>
            <a:prstDash val="solid"/>
          </a:ln>
        </p:spPr>
      </p:sp>
      <p:sp>
        <p:nvSpPr>
          <p:cNvPr id="39" name="Text 37"/>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Evaluation</a:t>
            </a:r>
            <a:endParaRPr lang="en-US" sz="900" dirty="0"/>
          </a:p>
        </p:txBody>
      </p:sp>
      <p:sp>
        <p:nvSpPr>
          <p:cNvPr id="40" name="Shape 38"/>
          <p:cNvSpPr/>
          <p:nvPr/>
        </p:nvSpPr>
        <p:spPr>
          <a:xfrm>
            <a:off x="10911535" y="6400800"/>
            <a:ext cx="777240" cy="274320"/>
          </a:xfrm>
          <a:prstGeom prst="rect">
            <a:avLst/>
          </a:prstGeom>
          <a:solidFill>
            <a:srgbClr val="111111"/>
          </a:solidFill>
          <a:ln w="12700">
            <a:solidFill>
              <a:srgbClr val="111111"/>
            </a:solidFill>
            <a:prstDash val="solid"/>
          </a:ln>
        </p:spPr>
      </p:sp>
      <p:sp>
        <p:nvSpPr>
          <p:cNvPr id="41" name="Text 39"/>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05695" y="0"/>
            <a:ext cx="2286000" cy="457200"/>
          </a:xfrm>
          <a:prstGeom prst="rect">
            <a:avLst/>
          </a:prstGeom>
          <a:solidFill>
            <a:srgbClr val="FFD400"/>
          </a:solidFill>
          <a:ln w="12700">
            <a:solidFill>
              <a:srgbClr val="FFD400"/>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09 / 17  </a:t>
            </a:r>
            <a:pPr indent="0" marL="0">
              <a:buNone/>
            </a:pPr>
            <a:r>
              <a:rPr lang="en-US" sz="1000" b="1" spc="400" kern="0" dirty="0">
                <a:solidFill>
                  <a:srgbClr val="111111"/>
                </a:solidFill>
                <a:latin typeface="Inter" pitchFamily="34" charset="0"/>
                <a:ea typeface="Inter" pitchFamily="34" charset="-122"/>
                <a:cs typeface="Inter" pitchFamily="34" charset="-120"/>
              </a:rPr>
              <a:t>CERTIFICATION</a:t>
            </a:r>
            <a:endParaRPr lang="en-US" sz="1000" dirty="0"/>
          </a:p>
        </p:txBody>
      </p:sp>
      <p:sp>
        <p:nvSpPr>
          <p:cNvPr id="4" name="Text 2"/>
          <p:cNvSpPr/>
          <p:nvPr/>
        </p:nvSpPr>
        <p:spPr>
          <a:xfrm>
            <a:off x="548640" y="868680"/>
            <a:ext cx="8229600" cy="1371600"/>
          </a:xfrm>
          <a:prstGeom prst="rect">
            <a:avLst/>
          </a:prstGeom>
          <a:noFill/>
          <a:ln/>
        </p:spPr>
        <p:txBody>
          <a:bodyPr wrap="square" lIns="0" tIns="0" rIns="0" bIns="0" rtlCol="0" anchor="ctr"/>
          <a:lstStyle/>
          <a:p>
            <a:pPr indent="0" marL="0">
              <a:lnSpc>
                <a:spcPts val="4000"/>
              </a:lnSpc>
              <a:buNone/>
            </a:pPr>
            <a:r>
              <a:rPr lang="en-US" sz="3600" b="1" spc="-100" kern="0" dirty="0">
                <a:solidFill>
                  <a:srgbClr val="111111"/>
                </a:solidFill>
                <a:latin typeface="Inter" pitchFamily="34" charset="0"/>
                <a:ea typeface="Inter" pitchFamily="34" charset="-122"/>
                <a:cs typeface="Inter" pitchFamily="34" charset="-120"/>
              </a:rPr>
              <a:t>Three tiers.</a:t>
            </a:r>
            <a:endParaRPr lang="en-US" sz="3600" dirty="0"/>
          </a:p>
          <a:p>
            <a:pPr indent="0" marL="0">
              <a:lnSpc>
                <a:spcPts val="4000"/>
              </a:lnSpc>
              <a:buNone/>
            </a:pPr>
            <a:r>
              <a:rPr lang="en-US" sz="3600" b="1" spc="-100" kern="0" dirty="0">
                <a:solidFill>
                  <a:srgbClr val="111111"/>
                </a:solidFill>
                <a:latin typeface="Inter" pitchFamily="34" charset="0"/>
                <a:ea typeface="Inter" pitchFamily="34" charset="-122"/>
                <a:cs typeface="Inter" pitchFamily="34" charset="-120"/>
              </a:rPr>
              <a:t>Earned, not granted.</a:t>
            </a:r>
            <a:endParaRPr lang="en-US" sz="3600" dirty="0"/>
          </a:p>
        </p:txBody>
      </p:sp>
      <p:sp>
        <p:nvSpPr>
          <p:cNvPr id="5" name="Text 3"/>
          <p:cNvSpPr/>
          <p:nvPr/>
        </p:nvSpPr>
        <p:spPr>
          <a:xfrm>
            <a:off x="548640" y="2331720"/>
            <a:ext cx="9144000" cy="457200"/>
          </a:xfrm>
          <a:prstGeom prst="rect">
            <a:avLst/>
          </a:prstGeom>
          <a:noFill/>
          <a:ln/>
        </p:spPr>
        <p:txBody>
          <a:bodyPr wrap="square" lIns="0" tIns="0" rIns="0" bIns="0" rtlCol="0" anchor="ctr"/>
          <a:lstStyle/>
          <a:p>
            <a:pPr indent="0" marL="0">
              <a:buNone/>
            </a:pPr>
            <a:r>
              <a:rPr lang="en-US" sz="1400" i="1" dirty="0">
                <a:solidFill>
                  <a:srgbClr val="666666"/>
                </a:solidFill>
                <a:latin typeface="Inter" pitchFamily="34" charset="0"/>
                <a:ea typeface="Inter" pitchFamily="34" charset="-122"/>
                <a:cs typeface="Inter" pitchFamily="34" charset="-120"/>
              </a:rPr>
              <a:t>Only ~30% of every cohort earns Apprentice Certified or above. Scarcity is what creates startup trust.</a:t>
            </a:r>
            <a:endParaRPr lang="en-US" sz="1400" dirty="0"/>
          </a:p>
        </p:txBody>
      </p:sp>
      <p:sp>
        <p:nvSpPr>
          <p:cNvPr id="6" name="Text 4"/>
          <p:cNvSpPr/>
          <p:nvPr/>
        </p:nvSpPr>
        <p:spPr>
          <a:xfrm>
            <a:off x="548640" y="3246120"/>
            <a:ext cx="3657600" cy="1371600"/>
          </a:xfrm>
          <a:prstGeom prst="rect">
            <a:avLst/>
          </a:prstGeom>
          <a:noFill/>
          <a:ln/>
        </p:spPr>
        <p:txBody>
          <a:bodyPr wrap="square" lIns="0" tIns="0" rIns="0" bIns="0" rtlCol="0" anchor="t"/>
          <a:lstStyle/>
          <a:p>
            <a:pPr indent="0" marL="0">
              <a:buNone/>
            </a:pPr>
            <a:r>
              <a:rPr lang="en-US" sz="2800" spc="-300" kern="0" dirty="0">
                <a:solidFill>
                  <a:srgbClr val="111111"/>
                </a:solidFill>
                <a:latin typeface="Inter" pitchFamily="34" charset="0"/>
                <a:ea typeface="Inter" pitchFamily="34" charset="-122"/>
                <a:cs typeface="Inter" pitchFamily="34" charset="-120"/>
              </a:rPr>
              <a:t>~</a:t>
            </a:r>
            <a:pPr indent="0" marL="0">
              <a:buNone/>
            </a:pPr>
            <a:r>
              <a:rPr lang="en-US" sz="10000" b="1" spc="-300" kern="0" dirty="0">
                <a:solidFill>
                  <a:srgbClr val="111111"/>
                </a:solidFill>
                <a:latin typeface="Inter" pitchFamily="34" charset="0"/>
                <a:ea typeface="Inter" pitchFamily="34" charset="-122"/>
                <a:cs typeface="Inter" pitchFamily="34" charset="-120"/>
              </a:rPr>
              <a:t>70</a:t>
            </a:r>
            <a:pPr indent="0" marL="0">
              <a:buNone/>
            </a:pPr>
            <a:r>
              <a:rPr lang="en-US" sz="5600" spc="-300" kern="0" dirty="0">
                <a:solidFill>
                  <a:srgbClr val="111111"/>
                </a:solidFill>
                <a:latin typeface="Inter" pitchFamily="34" charset="0"/>
                <a:ea typeface="Inter" pitchFamily="34" charset="-122"/>
                <a:cs typeface="Inter" pitchFamily="34" charset="-120"/>
              </a:rPr>
              <a:t>%</a:t>
            </a:r>
            <a:endParaRPr lang="en-US" sz="2800" dirty="0"/>
          </a:p>
        </p:txBody>
      </p:sp>
      <p:sp>
        <p:nvSpPr>
          <p:cNvPr id="7" name="Shape 5"/>
          <p:cNvSpPr/>
          <p:nvPr/>
        </p:nvSpPr>
        <p:spPr>
          <a:xfrm>
            <a:off x="548640" y="4754880"/>
            <a:ext cx="3383280" cy="0"/>
          </a:xfrm>
          <a:prstGeom prst="line">
            <a:avLst/>
          </a:prstGeom>
          <a:noFill/>
          <a:ln w="25400">
            <a:solidFill>
              <a:srgbClr val="111111"/>
            </a:solidFill>
            <a:prstDash val="solid"/>
          </a:ln>
        </p:spPr>
      </p:sp>
      <p:sp>
        <p:nvSpPr>
          <p:cNvPr id="8" name="Text 6"/>
          <p:cNvSpPr/>
          <p:nvPr/>
        </p:nvSpPr>
        <p:spPr>
          <a:xfrm>
            <a:off x="548640" y="4873752"/>
            <a:ext cx="3383280" cy="274320"/>
          </a:xfrm>
          <a:prstGeom prst="rect">
            <a:avLst/>
          </a:prstGeom>
          <a:noFill/>
          <a:ln/>
        </p:spPr>
        <p:txBody>
          <a:bodyPr wrap="square" lIns="0" tIns="0" rIns="0" bIns="0" rtlCol="0" anchor="ctr"/>
          <a:lstStyle/>
          <a:p>
            <a:pPr indent="0" marL="0">
              <a:buNone/>
            </a:pPr>
            <a:r>
              <a:rPr lang="en-US" sz="1100" b="1" spc="500" kern="0" dirty="0">
                <a:solidFill>
                  <a:srgbClr val="111111"/>
                </a:solidFill>
                <a:latin typeface="Inter" pitchFamily="34" charset="0"/>
                <a:ea typeface="Inter" pitchFamily="34" charset="-122"/>
                <a:cs typeface="Inter" pitchFamily="34" charset="-120"/>
              </a:rPr>
              <a:t>PARTICIPATED</a:t>
            </a:r>
            <a:endParaRPr lang="en-US" sz="1100" dirty="0"/>
          </a:p>
        </p:txBody>
      </p:sp>
      <p:sp>
        <p:nvSpPr>
          <p:cNvPr id="9" name="Text 7"/>
          <p:cNvSpPr/>
          <p:nvPr/>
        </p:nvSpPr>
        <p:spPr>
          <a:xfrm>
            <a:off x="548640" y="5212080"/>
            <a:ext cx="3383280" cy="9144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Finished the programme, completed all assignments.</a:t>
            </a:r>
            <a:endParaRPr lang="en-US" sz="1200" dirty="0"/>
          </a:p>
        </p:txBody>
      </p:sp>
      <p:sp>
        <p:nvSpPr>
          <p:cNvPr id="10" name="Text 8"/>
          <p:cNvSpPr/>
          <p:nvPr/>
        </p:nvSpPr>
        <p:spPr>
          <a:xfrm>
            <a:off x="4343400" y="3246120"/>
            <a:ext cx="3657600" cy="1371600"/>
          </a:xfrm>
          <a:prstGeom prst="rect">
            <a:avLst/>
          </a:prstGeom>
          <a:noFill/>
          <a:ln/>
        </p:spPr>
        <p:txBody>
          <a:bodyPr wrap="square" lIns="0" tIns="0" rIns="0" bIns="0" rtlCol="0" anchor="t"/>
          <a:lstStyle/>
          <a:p>
            <a:pPr indent="0" marL="0">
              <a:buNone/>
            </a:pPr>
            <a:r>
              <a:rPr lang="en-US" sz="2800" spc="-300" kern="0" dirty="0">
                <a:solidFill>
                  <a:srgbClr val="111111"/>
                </a:solidFill>
                <a:latin typeface="Inter" pitchFamily="34" charset="0"/>
                <a:ea typeface="Inter" pitchFamily="34" charset="-122"/>
                <a:cs typeface="Inter" pitchFamily="34" charset="-120"/>
              </a:rPr>
              <a:t>~</a:t>
            </a:r>
            <a:pPr indent="0" marL="0">
              <a:buNone/>
            </a:pPr>
            <a:r>
              <a:rPr lang="en-US" sz="10000" b="1" spc="-300" kern="0" dirty="0">
                <a:solidFill>
                  <a:srgbClr val="111111"/>
                </a:solidFill>
                <a:latin typeface="Inter" pitchFamily="34" charset="0"/>
                <a:ea typeface="Inter" pitchFamily="34" charset="-122"/>
                <a:cs typeface="Inter" pitchFamily="34" charset="-120"/>
              </a:rPr>
              <a:t>20</a:t>
            </a:r>
            <a:pPr indent="0" marL="0">
              <a:buNone/>
            </a:pPr>
            <a:r>
              <a:rPr lang="en-US" sz="5600" spc="-300" kern="0" dirty="0">
                <a:solidFill>
                  <a:srgbClr val="111111"/>
                </a:solidFill>
                <a:latin typeface="Inter" pitchFamily="34" charset="0"/>
                <a:ea typeface="Inter" pitchFamily="34" charset="-122"/>
                <a:cs typeface="Inter" pitchFamily="34" charset="-120"/>
              </a:rPr>
              <a:t>%</a:t>
            </a:r>
            <a:endParaRPr lang="en-US" sz="2800" dirty="0"/>
          </a:p>
        </p:txBody>
      </p:sp>
      <p:sp>
        <p:nvSpPr>
          <p:cNvPr id="11" name="Shape 9"/>
          <p:cNvSpPr/>
          <p:nvPr/>
        </p:nvSpPr>
        <p:spPr>
          <a:xfrm>
            <a:off x="4343400" y="4754880"/>
            <a:ext cx="3383280" cy="0"/>
          </a:xfrm>
          <a:prstGeom prst="line">
            <a:avLst/>
          </a:prstGeom>
          <a:noFill/>
          <a:ln w="25400">
            <a:solidFill>
              <a:srgbClr val="111111"/>
            </a:solidFill>
            <a:prstDash val="solid"/>
          </a:ln>
        </p:spPr>
      </p:sp>
      <p:sp>
        <p:nvSpPr>
          <p:cNvPr id="12" name="Text 10"/>
          <p:cNvSpPr/>
          <p:nvPr/>
        </p:nvSpPr>
        <p:spPr>
          <a:xfrm>
            <a:off x="4343400" y="4873752"/>
            <a:ext cx="3383280" cy="274320"/>
          </a:xfrm>
          <a:prstGeom prst="rect">
            <a:avLst/>
          </a:prstGeom>
          <a:noFill/>
          <a:ln/>
        </p:spPr>
        <p:txBody>
          <a:bodyPr wrap="square" lIns="0" tIns="0" rIns="0" bIns="0" rtlCol="0" anchor="ctr"/>
          <a:lstStyle/>
          <a:p>
            <a:pPr indent="0" marL="0">
              <a:buNone/>
            </a:pPr>
            <a:r>
              <a:rPr lang="en-US" sz="1100" b="1" spc="500" kern="0" dirty="0">
                <a:solidFill>
                  <a:srgbClr val="111111"/>
                </a:solidFill>
                <a:latin typeface="Inter" pitchFamily="34" charset="0"/>
                <a:ea typeface="Inter" pitchFamily="34" charset="-122"/>
                <a:cs typeface="Inter" pitchFamily="34" charset="-120"/>
              </a:rPr>
              <a:t>APPRENTICE CERTIFIED</a:t>
            </a:r>
            <a:endParaRPr lang="en-US" sz="1100" dirty="0"/>
          </a:p>
        </p:txBody>
      </p:sp>
      <p:sp>
        <p:nvSpPr>
          <p:cNvPr id="13" name="Text 11"/>
          <p:cNvSpPr/>
          <p:nvPr/>
        </p:nvSpPr>
        <p:spPr>
          <a:xfrm>
            <a:off x="4343400" y="5212080"/>
            <a:ext cx="3383280" cy="9144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All 7 rubric dimensions scored 3 or higher.</a:t>
            </a:r>
            <a:endParaRPr lang="en-US" sz="1200" dirty="0"/>
          </a:p>
        </p:txBody>
      </p:sp>
      <p:sp>
        <p:nvSpPr>
          <p:cNvPr id="14" name="Text 12"/>
          <p:cNvSpPr/>
          <p:nvPr/>
        </p:nvSpPr>
        <p:spPr>
          <a:xfrm>
            <a:off x="8138160" y="3246120"/>
            <a:ext cx="3657600" cy="1371600"/>
          </a:xfrm>
          <a:prstGeom prst="rect">
            <a:avLst/>
          </a:prstGeom>
          <a:noFill/>
          <a:ln/>
        </p:spPr>
        <p:txBody>
          <a:bodyPr wrap="square" lIns="0" tIns="0" rIns="0" bIns="0" rtlCol="0" anchor="t"/>
          <a:lstStyle/>
          <a:p>
            <a:pPr indent="0" marL="0">
              <a:buNone/>
            </a:pPr>
            <a:r>
              <a:rPr lang="en-US" sz="2800" spc="-300" kern="0" dirty="0">
                <a:solidFill>
                  <a:srgbClr val="E63227"/>
                </a:solidFill>
                <a:latin typeface="Inter" pitchFamily="34" charset="0"/>
                <a:ea typeface="Inter" pitchFamily="34" charset="-122"/>
                <a:cs typeface="Inter" pitchFamily="34" charset="-120"/>
              </a:rPr>
              <a:t>~</a:t>
            </a:r>
            <a:pPr indent="0" marL="0">
              <a:buNone/>
            </a:pPr>
            <a:r>
              <a:rPr lang="en-US" sz="10000" b="1" spc="-300" kern="0" dirty="0">
                <a:solidFill>
                  <a:srgbClr val="E63227"/>
                </a:solidFill>
                <a:latin typeface="Inter" pitchFamily="34" charset="0"/>
                <a:ea typeface="Inter" pitchFamily="34" charset="-122"/>
                <a:cs typeface="Inter" pitchFamily="34" charset="-120"/>
              </a:rPr>
              <a:t>10</a:t>
            </a:r>
            <a:pPr indent="0" marL="0">
              <a:buNone/>
            </a:pPr>
            <a:r>
              <a:rPr lang="en-US" sz="5600" spc="-300" kern="0" dirty="0">
                <a:solidFill>
                  <a:srgbClr val="E63227"/>
                </a:solidFill>
                <a:latin typeface="Inter" pitchFamily="34" charset="0"/>
                <a:ea typeface="Inter" pitchFamily="34" charset="-122"/>
                <a:cs typeface="Inter" pitchFamily="34" charset="-120"/>
              </a:rPr>
              <a:t>%</a:t>
            </a:r>
            <a:endParaRPr lang="en-US" sz="2800" dirty="0"/>
          </a:p>
        </p:txBody>
      </p:sp>
      <p:sp>
        <p:nvSpPr>
          <p:cNvPr id="15" name="Shape 13"/>
          <p:cNvSpPr/>
          <p:nvPr/>
        </p:nvSpPr>
        <p:spPr>
          <a:xfrm>
            <a:off x="8138160" y="4754880"/>
            <a:ext cx="3383280" cy="0"/>
          </a:xfrm>
          <a:prstGeom prst="line">
            <a:avLst/>
          </a:prstGeom>
          <a:noFill/>
          <a:ln w="25400">
            <a:solidFill>
              <a:srgbClr val="E63227"/>
            </a:solidFill>
            <a:prstDash val="solid"/>
          </a:ln>
        </p:spPr>
      </p:sp>
      <p:sp>
        <p:nvSpPr>
          <p:cNvPr id="16" name="Text 14"/>
          <p:cNvSpPr/>
          <p:nvPr/>
        </p:nvSpPr>
        <p:spPr>
          <a:xfrm>
            <a:off x="8138160" y="4873752"/>
            <a:ext cx="3383280" cy="274320"/>
          </a:xfrm>
          <a:prstGeom prst="rect">
            <a:avLst/>
          </a:prstGeom>
          <a:noFill/>
          <a:ln/>
        </p:spPr>
        <p:txBody>
          <a:bodyPr wrap="square" lIns="0" tIns="0" rIns="0" bIns="0" rtlCol="0" anchor="ctr"/>
          <a:lstStyle/>
          <a:p>
            <a:pPr indent="0" marL="0">
              <a:buNone/>
            </a:pPr>
            <a:r>
              <a:rPr lang="en-US" sz="1100" b="1" spc="500" kern="0" dirty="0">
                <a:solidFill>
                  <a:srgbClr val="E63227"/>
                </a:solidFill>
                <a:latin typeface="Inter" pitchFamily="34" charset="0"/>
                <a:ea typeface="Inter" pitchFamily="34" charset="-122"/>
                <a:cs typeface="Inter" pitchFamily="34" charset="-120"/>
              </a:rPr>
              <a:t>DISTINCTION</a:t>
            </a:r>
            <a:endParaRPr lang="en-US" sz="1100" dirty="0"/>
          </a:p>
        </p:txBody>
      </p:sp>
      <p:sp>
        <p:nvSpPr>
          <p:cNvPr id="17" name="Text 15"/>
          <p:cNvSpPr/>
          <p:nvPr/>
        </p:nvSpPr>
        <p:spPr>
          <a:xfrm>
            <a:off x="8138160" y="5212080"/>
            <a:ext cx="3383280" cy="9144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Top performers, externally validated, featured in BuildAI's startup review network.</a:t>
            </a:r>
            <a:endParaRPr lang="en-US" sz="1200" dirty="0"/>
          </a:p>
        </p:txBody>
      </p:sp>
      <p:sp>
        <p:nvSpPr>
          <p:cNvPr id="18" name="Shape 16"/>
          <p:cNvSpPr/>
          <p:nvPr/>
        </p:nvSpPr>
        <p:spPr>
          <a:xfrm>
            <a:off x="548640" y="6355080"/>
            <a:ext cx="11094415" cy="0"/>
          </a:xfrm>
          <a:prstGeom prst="line">
            <a:avLst/>
          </a:prstGeom>
          <a:noFill/>
          <a:ln w="9525">
            <a:solidFill>
              <a:srgbClr val="111111"/>
            </a:solidFill>
            <a:prstDash val="solid"/>
          </a:ln>
        </p:spPr>
      </p:sp>
      <p:sp>
        <p:nvSpPr>
          <p:cNvPr id="19" name="Text 17"/>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Certification</a:t>
            </a:r>
            <a:endParaRPr lang="en-US" sz="900" dirty="0"/>
          </a:p>
        </p:txBody>
      </p:sp>
      <p:sp>
        <p:nvSpPr>
          <p:cNvPr id="20" name="Shape 18"/>
          <p:cNvSpPr/>
          <p:nvPr/>
        </p:nvSpPr>
        <p:spPr>
          <a:xfrm>
            <a:off x="10911535" y="6400800"/>
            <a:ext cx="777240" cy="274320"/>
          </a:xfrm>
          <a:prstGeom prst="rect">
            <a:avLst/>
          </a:prstGeom>
          <a:solidFill>
            <a:srgbClr val="111111"/>
          </a:solidFill>
          <a:ln w="12700">
            <a:solidFill>
              <a:srgbClr val="111111"/>
            </a:solidFill>
            <a:prstDash val="solid"/>
          </a:ln>
        </p:spPr>
      </p:sp>
      <p:sp>
        <p:nvSpPr>
          <p:cNvPr id="21" name="Text 19"/>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09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20095" y="0"/>
            <a:ext cx="1371600" cy="1371600"/>
          </a:xfrm>
          <a:prstGeom prst="rect">
            <a:avLst/>
          </a:prstGeom>
          <a:solidFill>
            <a:srgbClr val="111111"/>
          </a:solidFill>
          <a:ln w="12700">
            <a:solidFill>
              <a:srgbClr val="111111"/>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10 / 17  </a:t>
            </a:r>
            <a:pPr indent="0" marL="0">
              <a:buNone/>
            </a:pPr>
            <a:r>
              <a:rPr lang="en-US" sz="1000" b="1" spc="400" kern="0" dirty="0">
                <a:solidFill>
                  <a:srgbClr val="111111"/>
                </a:solidFill>
                <a:latin typeface="Inter" pitchFamily="34" charset="0"/>
                <a:ea typeface="Inter" pitchFamily="34" charset="-122"/>
                <a:cs typeface="Inter" pitchFamily="34" charset="-120"/>
              </a:rPr>
              <a:t>OUTCOMES</a:t>
            </a:r>
            <a:endParaRPr lang="en-US" sz="1000" dirty="0"/>
          </a:p>
        </p:txBody>
      </p:sp>
      <p:sp>
        <p:nvSpPr>
          <p:cNvPr id="4" name="Text 2"/>
          <p:cNvSpPr/>
          <p:nvPr/>
        </p:nvSpPr>
        <p:spPr>
          <a:xfrm>
            <a:off x="548640" y="868680"/>
            <a:ext cx="91440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What every Apprentice Certified</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graduate walks away with.</a:t>
            </a:r>
            <a:endParaRPr lang="en-US" sz="3200" dirty="0"/>
          </a:p>
        </p:txBody>
      </p:sp>
      <p:sp>
        <p:nvSpPr>
          <p:cNvPr id="5" name="Shape 3"/>
          <p:cNvSpPr/>
          <p:nvPr/>
        </p:nvSpPr>
        <p:spPr>
          <a:xfrm>
            <a:off x="548640" y="2788920"/>
            <a:ext cx="3657600" cy="1691640"/>
          </a:xfrm>
          <a:prstGeom prst="rect">
            <a:avLst/>
          </a:prstGeom>
          <a:solidFill>
            <a:srgbClr val="FFFFFF"/>
          </a:solidFill>
          <a:ln w="12700">
            <a:solidFill>
              <a:srgbClr val="111111"/>
            </a:solidFill>
            <a:prstDash val="solid"/>
          </a:ln>
        </p:spPr>
      </p:sp>
      <p:sp>
        <p:nvSpPr>
          <p:cNvPr id="6" name="Text 4"/>
          <p:cNvSpPr/>
          <p:nvPr/>
        </p:nvSpPr>
        <p:spPr>
          <a:xfrm>
            <a:off x="777240" y="2926080"/>
            <a:ext cx="3200400" cy="914400"/>
          </a:xfrm>
          <a:prstGeom prst="rect">
            <a:avLst/>
          </a:prstGeom>
          <a:noFill/>
          <a:ln/>
        </p:spPr>
        <p:txBody>
          <a:bodyPr wrap="square" lIns="0" tIns="0" rIns="0" bIns="0" rtlCol="0" anchor="ctr"/>
          <a:lstStyle/>
          <a:p>
            <a:pPr indent="0" marL="0">
              <a:buNone/>
            </a:pPr>
            <a:r>
              <a:rPr lang="en-US" sz="6400" b="1" spc="-300" kern="0" dirty="0">
                <a:solidFill>
                  <a:srgbClr val="111111"/>
                </a:solidFill>
                <a:latin typeface="Inter" pitchFamily="34" charset="0"/>
                <a:ea typeface="Inter" pitchFamily="34" charset="-122"/>
                <a:cs typeface="Inter" pitchFamily="34" charset="-120"/>
              </a:rPr>
              <a:t>5+</a:t>
            </a:r>
            <a:endParaRPr lang="en-US" sz="6400" dirty="0"/>
          </a:p>
        </p:txBody>
      </p:sp>
      <p:sp>
        <p:nvSpPr>
          <p:cNvPr id="7" name="Shape 5"/>
          <p:cNvSpPr/>
          <p:nvPr/>
        </p:nvSpPr>
        <p:spPr>
          <a:xfrm>
            <a:off x="777240" y="3867912"/>
            <a:ext cx="914400" cy="0"/>
          </a:xfrm>
          <a:prstGeom prst="line">
            <a:avLst/>
          </a:prstGeom>
          <a:noFill/>
          <a:ln w="25400">
            <a:solidFill>
              <a:srgbClr val="E63227"/>
            </a:solidFill>
            <a:prstDash val="solid"/>
          </a:ln>
        </p:spPr>
      </p:sp>
      <p:sp>
        <p:nvSpPr>
          <p:cNvPr id="8" name="Text 6"/>
          <p:cNvSpPr/>
          <p:nvPr/>
        </p:nvSpPr>
        <p:spPr>
          <a:xfrm>
            <a:off x="777240" y="397764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Deployed products in public portfolio</a:t>
            </a:r>
            <a:endParaRPr lang="en-US" sz="1200" dirty="0"/>
          </a:p>
        </p:txBody>
      </p:sp>
      <p:sp>
        <p:nvSpPr>
          <p:cNvPr id="9" name="Shape 7"/>
          <p:cNvSpPr/>
          <p:nvPr/>
        </p:nvSpPr>
        <p:spPr>
          <a:xfrm>
            <a:off x="4343400" y="2788920"/>
            <a:ext cx="3657600" cy="1691640"/>
          </a:xfrm>
          <a:prstGeom prst="rect">
            <a:avLst/>
          </a:prstGeom>
          <a:solidFill>
            <a:srgbClr val="FFFFFF"/>
          </a:solidFill>
          <a:ln w="12700">
            <a:solidFill>
              <a:srgbClr val="111111"/>
            </a:solidFill>
            <a:prstDash val="solid"/>
          </a:ln>
        </p:spPr>
      </p:sp>
      <p:sp>
        <p:nvSpPr>
          <p:cNvPr id="10" name="Text 8"/>
          <p:cNvSpPr/>
          <p:nvPr/>
        </p:nvSpPr>
        <p:spPr>
          <a:xfrm>
            <a:off x="4572000" y="2926080"/>
            <a:ext cx="3200400" cy="914400"/>
          </a:xfrm>
          <a:prstGeom prst="rect">
            <a:avLst/>
          </a:prstGeom>
          <a:noFill/>
          <a:ln/>
        </p:spPr>
        <p:txBody>
          <a:bodyPr wrap="square" lIns="0" tIns="0" rIns="0" bIns="0" rtlCol="0" anchor="ctr"/>
          <a:lstStyle/>
          <a:p>
            <a:pPr indent="0" marL="0">
              <a:buNone/>
            </a:pPr>
            <a:r>
              <a:rPr lang="en-US" sz="6400" b="1" spc="-300" kern="0" dirty="0">
                <a:solidFill>
                  <a:srgbClr val="111111"/>
                </a:solidFill>
                <a:latin typeface="Inter" pitchFamily="34" charset="0"/>
                <a:ea typeface="Inter" pitchFamily="34" charset="-122"/>
                <a:cs typeface="Inter" pitchFamily="34" charset="-120"/>
              </a:rPr>
              <a:t>3+</a:t>
            </a:r>
            <a:endParaRPr lang="en-US" sz="6400" dirty="0"/>
          </a:p>
        </p:txBody>
      </p:sp>
      <p:sp>
        <p:nvSpPr>
          <p:cNvPr id="11" name="Shape 9"/>
          <p:cNvSpPr/>
          <p:nvPr/>
        </p:nvSpPr>
        <p:spPr>
          <a:xfrm>
            <a:off x="4572000" y="3867912"/>
            <a:ext cx="914400" cy="0"/>
          </a:xfrm>
          <a:prstGeom prst="line">
            <a:avLst/>
          </a:prstGeom>
          <a:noFill/>
          <a:ln w="25400">
            <a:solidFill>
              <a:srgbClr val="E63227"/>
            </a:solidFill>
            <a:prstDash val="solid"/>
          </a:ln>
        </p:spPr>
      </p:sp>
      <p:sp>
        <p:nvSpPr>
          <p:cNvPr id="12" name="Text 10"/>
          <p:cNvSpPr/>
          <p:nvPr/>
        </p:nvSpPr>
        <p:spPr>
          <a:xfrm>
            <a:off x="4572000" y="397764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Live URLs with working demos</a:t>
            </a:r>
            <a:endParaRPr lang="en-US" sz="1200" dirty="0"/>
          </a:p>
        </p:txBody>
      </p:sp>
      <p:sp>
        <p:nvSpPr>
          <p:cNvPr id="13" name="Shape 11"/>
          <p:cNvSpPr/>
          <p:nvPr/>
        </p:nvSpPr>
        <p:spPr>
          <a:xfrm>
            <a:off x="8138160" y="2788920"/>
            <a:ext cx="3657600" cy="1691640"/>
          </a:xfrm>
          <a:prstGeom prst="rect">
            <a:avLst/>
          </a:prstGeom>
          <a:solidFill>
            <a:srgbClr val="E63227"/>
          </a:solidFill>
          <a:ln w="12700">
            <a:solidFill>
              <a:srgbClr val="E63227"/>
            </a:solidFill>
            <a:prstDash val="solid"/>
          </a:ln>
        </p:spPr>
      </p:sp>
      <p:sp>
        <p:nvSpPr>
          <p:cNvPr id="14" name="Text 12"/>
          <p:cNvSpPr/>
          <p:nvPr/>
        </p:nvSpPr>
        <p:spPr>
          <a:xfrm>
            <a:off x="8366760" y="2926080"/>
            <a:ext cx="3200400" cy="914400"/>
          </a:xfrm>
          <a:prstGeom prst="rect">
            <a:avLst/>
          </a:prstGeom>
          <a:noFill/>
          <a:ln/>
        </p:spPr>
        <p:txBody>
          <a:bodyPr wrap="square" lIns="0" tIns="0" rIns="0" bIns="0" rtlCol="0" anchor="ctr"/>
          <a:lstStyle/>
          <a:p>
            <a:pPr indent="0" marL="0">
              <a:buNone/>
            </a:pPr>
            <a:r>
              <a:rPr lang="en-US" sz="6400" b="1" spc="-300" kern="0" dirty="0">
                <a:solidFill>
                  <a:srgbClr val="FFFFFF"/>
                </a:solidFill>
                <a:latin typeface="Inter" pitchFamily="34" charset="0"/>
                <a:ea typeface="Inter" pitchFamily="34" charset="-122"/>
                <a:cs typeface="Inter" pitchFamily="34" charset="-120"/>
              </a:rPr>
              <a:t>1</a:t>
            </a:r>
            <a:endParaRPr lang="en-US" sz="6400" dirty="0"/>
          </a:p>
        </p:txBody>
      </p:sp>
      <p:sp>
        <p:nvSpPr>
          <p:cNvPr id="15" name="Shape 13"/>
          <p:cNvSpPr/>
          <p:nvPr/>
        </p:nvSpPr>
        <p:spPr>
          <a:xfrm>
            <a:off x="8366760" y="3867912"/>
            <a:ext cx="914400" cy="0"/>
          </a:xfrm>
          <a:prstGeom prst="line">
            <a:avLst/>
          </a:prstGeom>
          <a:noFill/>
          <a:ln w="25400">
            <a:solidFill>
              <a:srgbClr val="FFD400"/>
            </a:solidFill>
            <a:prstDash val="solid"/>
          </a:ln>
        </p:spPr>
      </p:sp>
      <p:sp>
        <p:nvSpPr>
          <p:cNvPr id="16" name="Text 14"/>
          <p:cNvSpPr/>
          <p:nvPr/>
        </p:nvSpPr>
        <p:spPr>
          <a:xfrm>
            <a:off x="8366760" y="3977640"/>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Capstone reviewed by AI startup engineer</a:t>
            </a:r>
            <a:endParaRPr lang="en-US" sz="1200" dirty="0"/>
          </a:p>
        </p:txBody>
      </p:sp>
      <p:sp>
        <p:nvSpPr>
          <p:cNvPr id="17" name="Shape 15"/>
          <p:cNvSpPr/>
          <p:nvPr/>
        </p:nvSpPr>
        <p:spPr>
          <a:xfrm>
            <a:off x="548640" y="4645152"/>
            <a:ext cx="3657600" cy="1691640"/>
          </a:xfrm>
          <a:prstGeom prst="rect">
            <a:avLst/>
          </a:prstGeom>
          <a:solidFill>
            <a:srgbClr val="FFFFFF"/>
          </a:solidFill>
          <a:ln w="12700">
            <a:solidFill>
              <a:srgbClr val="111111"/>
            </a:solidFill>
            <a:prstDash val="solid"/>
          </a:ln>
        </p:spPr>
      </p:sp>
      <p:sp>
        <p:nvSpPr>
          <p:cNvPr id="18" name="Text 16"/>
          <p:cNvSpPr/>
          <p:nvPr/>
        </p:nvSpPr>
        <p:spPr>
          <a:xfrm>
            <a:off x="777240" y="4782312"/>
            <a:ext cx="3200400" cy="914400"/>
          </a:xfrm>
          <a:prstGeom prst="rect">
            <a:avLst/>
          </a:prstGeom>
          <a:noFill/>
          <a:ln/>
        </p:spPr>
        <p:txBody>
          <a:bodyPr wrap="square" lIns="0" tIns="0" rIns="0" bIns="0" rtlCol="0" anchor="ctr"/>
          <a:lstStyle/>
          <a:p>
            <a:pPr indent="0" marL="0">
              <a:buNone/>
            </a:pPr>
            <a:r>
              <a:rPr lang="en-US" sz="6400" b="1" spc="-300" kern="0" dirty="0">
                <a:solidFill>
                  <a:srgbClr val="111111"/>
                </a:solidFill>
                <a:latin typeface="Inter" pitchFamily="34" charset="0"/>
                <a:ea typeface="Inter" pitchFamily="34" charset="-122"/>
                <a:cs typeface="Inter" pitchFamily="34" charset="-120"/>
              </a:rPr>
              <a:t>13</a:t>
            </a:r>
            <a:endParaRPr lang="en-US" sz="6400" dirty="0"/>
          </a:p>
        </p:txBody>
      </p:sp>
      <p:sp>
        <p:nvSpPr>
          <p:cNvPr id="19" name="Shape 17"/>
          <p:cNvSpPr/>
          <p:nvPr/>
        </p:nvSpPr>
        <p:spPr>
          <a:xfrm>
            <a:off x="777240" y="5724144"/>
            <a:ext cx="914400" cy="0"/>
          </a:xfrm>
          <a:prstGeom prst="line">
            <a:avLst/>
          </a:prstGeom>
          <a:noFill/>
          <a:ln w="25400">
            <a:solidFill>
              <a:srgbClr val="E63227"/>
            </a:solidFill>
            <a:prstDash val="solid"/>
          </a:ln>
        </p:spPr>
      </p:sp>
      <p:sp>
        <p:nvSpPr>
          <p:cNvPr id="20" name="Text 18"/>
          <p:cNvSpPr/>
          <p:nvPr/>
        </p:nvSpPr>
        <p:spPr>
          <a:xfrm>
            <a:off x="777240" y="5833872"/>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Weeks of PR-reviewed real code</a:t>
            </a:r>
            <a:endParaRPr lang="en-US" sz="1200" dirty="0"/>
          </a:p>
        </p:txBody>
      </p:sp>
      <p:sp>
        <p:nvSpPr>
          <p:cNvPr id="21" name="Shape 19"/>
          <p:cNvSpPr/>
          <p:nvPr/>
        </p:nvSpPr>
        <p:spPr>
          <a:xfrm>
            <a:off x="4343400" y="4645152"/>
            <a:ext cx="3657600" cy="1691640"/>
          </a:xfrm>
          <a:prstGeom prst="rect">
            <a:avLst/>
          </a:prstGeom>
          <a:solidFill>
            <a:srgbClr val="FFFFFF"/>
          </a:solidFill>
          <a:ln w="12700">
            <a:solidFill>
              <a:srgbClr val="111111"/>
            </a:solidFill>
            <a:prstDash val="solid"/>
          </a:ln>
        </p:spPr>
      </p:sp>
      <p:sp>
        <p:nvSpPr>
          <p:cNvPr id="22" name="Text 20"/>
          <p:cNvSpPr/>
          <p:nvPr/>
        </p:nvSpPr>
        <p:spPr>
          <a:xfrm>
            <a:off x="4572000" y="4782312"/>
            <a:ext cx="3200400" cy="914400"/>
          </a:xfrm>
          <a:prstGeom prst="rect">
            <a:avLst/>
          </a:prstGeom>
          <a:noFill/>
          <a:ln/>
        </p:spPr>
        <p:txBody>
          <a:bodyPr wrap="square" lIns="0" tIns="0" rIns="0" bIns="0" rtlCol="0" anchor="ctr"/>
          <a:lstStyle/>
          <a:p>
            <a:pPr indent="0" marL="0">
              <a:buNone/>
            </a:pPr>
            <a:r>
              <a:rPr lang="en-US" sz="6400" b="1" spc="-300" kern="0" dirty="0">
                <a:solidFill>
                  <a:srgbClr val="111111"/>
                </a:solidFill>
                <a:latin typeface="Inter" pitchFamily="34" charset="0"/>
                <a:ea typeface="Inter" pitchFamily="34" charset="-122"/>
                <a:cs typeface="Inter" pitchFamily="34" charset="-120"/>
              </a:rPr>
              <a:t>8+</a:t>
            </a:r>
            <a:endParaRPr lang="en-US" sz="6400" dirty="0"/>
          </a:p>
        </p:txBody>
      </p:sp>
      <p:sp>
        <p:nvSpPr>
          <p:cNvPr id="23" name="Shape 21"/>
          <p:cNvSpPr/>
          <p:nvPr/>
        </p:nvSpPr>
        <p:spPr>
          <a:xfrm>
            <a:off x="4572000" y="5724144"/>
            <a:ext cx="914400" cy="0"/>
          </a:xfrm>
          <a:prstGeom prst="line">
            <a:avLst/>
          </a:prstGeom>
          <a:noFill/>
          <a:ln w="25400">
            <a:solidFill>
              <a:srgbClr val="E63227"/>
            </a:solidFill>
            <a:prstDash val="solid"/>
          </a:ln>
        </p:spPr>
      </p:sp>
      <p:sp>
        <p:nvSpPr>
          <p:cNvPr id="24" name="Text 22"/>
          <p:cNvSpPr/>
          <p:nvPr/>
        </p:nvSpPr>
        <p:spPr>
          <a:xfrm>
            <a:off x="4572000" y="5833872"/>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Loom architecture walkthroughs</a:t>
            </a:r>
            <a:endParaRPr lang="en-US" sz="1200" dirty="0"/>
          </a:p>
        </p:txBody>
      </p:sp>
      <p:sp>
        <p:nvSpPr>
          <p:cNvPr id="25" name="Shape 23"/>
          <p:cNvSpPr/>
          <p:nvPr/>
        </p:nvSpPr>
        <p:spPr>
          <a:xfrm>
            <a:off x="8138160" y="4645152"/>
            <a:ext cx="3657600" cy="1691640"/>
          </a:xfrm>
          <a:prstGeom prst="rect">
            <a:avLst/>
          </a:prstGeom>
          <a:solidFill>
            <a:srgbClr val="E63227"/>
          </a:solidFill>
          <a:ln w="12700">
            <a:solidFill>
              <a:srgbClr val="E63227"/>
            </a:solidFill>
            <a:prstDash val="solid"/>
          </a:ln>
        </p:spPr>
      </p:sp>
      <p:sp>
        <p:nvSpPr>
          <p:cNvPr id="26" name="Text 24"/>
          <p:cNvSpPr/>
          <p:nvPr/>
        </p:nvSpPr>
        <p:spPr>
          <a:xfrm>
            <a:off x="8366760" y="4782312"/>
            <a:ext cx="3200400" cy="914400"/>
          </a:xfrm>
          <a:prstGeom prst="rect">
            <a:avLst/>
          </a:prstGeom>
          <a:noFill/>
          <a:ln/>
        </p:spPr>
        <p:txBody>
          <a:bodyPr wrap="square" lIns="0" tIns="0" rIns="0" bIns="0" rtlCol="0" anchor="ctr"/>
          <a:lstStyle/>
          <a:p>
            <a:pPr indent="0" marL="0">
              <a:buNone/>
            </a:pPr>
            <a:r>
              <a:rPr lang="en-US" sz="6400" b="1" spc="-300" kern="0" dirty="0">
                <a:solidFill>
                  <a:srgbClr val="FFFFFF"/>
                </a:solidFill>
                <a:latin typeface="Inter" pitchFamily="34" charset="0"/>
                <a:ea typeface="Inter" pitchFamily="34" charset="-122"/>
                <a:cs typeface="Inter" pitchFamily="34" charset="-120"/>
              </a:rPr>
              <a:t>1</a:t>
            </a:r>
            <a:endParaRPr lang="en-US" sz="6400" dirty="0"/>
          </a:p>
        </p:txBody>
      </p:sp>
      <p:sp>
        <p:nvSpPr>
          <p:cNvPr id="27" name="Shape 25"/>
          <p:cNvSpPr/>
          <p:nvPr/>
        </p:nvSpPr>
        <p:spPr>
          <a:xfrm>
            <a:off x="8366760" y="5724144"/>
            <a:ext cx="914400" cy="0"/>
          </a:xfrm>
          <a:prstGeom prst="line">
            <a:avLst/>
          </a:prstGeom>
          <a:noFill/>
          <a:ln w="25400">
            <a:solidFill>
              <a:srgbClr val="FFD400"/>
            </a:solidFill>
            <a:prstDash val="solid"/>
          </a:ln>
        </p:spPr>
      </p:sp>
      <p:sp>
        <p:nvSpPr>
          <p:cNvPr id="28" name="Text 26"/>
          <p:cNvSpPr/>
          <p:nvPr/>
        </p:nvSpPr>
        <p:spPr>
          <a:xfrm>
            <a:off x="8366760" y="5833872"/>
            <a:ext cx="3200400" cy="50292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Eval suite demonstrating reliability</a:t>
            </a:r>
            <a:endParaRPr lang="en-US" sz="1200" dirty="0"/>
          </a:p>
        </p:txBody>
      </p:sp>
      <p:sp>
        <p:nvSpPr>
          <p:cNvPr id="29" name="Shape 27"/>
          <p:cNvSpPr/>
          <p:nvPr/>
        </p:nvSpPr>
        <p:spPr>
          <a:xfrm>
            <a:off x="548640" y="6355080"/>
            <a:ext cx="11094415" cy="0"/>
          </a:xfrm>
          <a:prstGeom prst="line">
            <a:avLst/>
          </a:prstGeom>
          <a:noFill/>
          <a:ln w="9525">
            <a:solidFill>
              <a:srgbClr val="111111"/>
            </a:solidFill>
            <a:prstDash val="solid"/>
          </a:ln>
        </p:spPr>
      </p:sp>
      <p:sp>
        <p:nvSpPr>
          <p:cNvPr id="30" name="Text 28"/>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Outcomes</a:t>
            </a:r>
            <a:endParaRPr lang="en-US" sz="900" dirty="0"/>
          </a:p>
        </p:txBody>
      </p:sp>
      <p:sp>
        <p:nvSpPr>
          <p:cNvPr id="31" name="Shape 29"/>
          <p:cNvSpPr/>
          <p:nvPr/>
        </p:nvSpPr>
        <p:spPr>
          <a:xfrm>
            <a:off x="10911535" y="6400800"/>
            <a:ext cx="777240" cy="274320"/>
          </a:xfrm>
          <a:prstGeom prst="rect">
            <a:avLst/>
          </a:prstGeom>
          <a:solidFill>
            <a:srgbClr val="111111"/>
          </a:solidFill>
          <a:ln w="12700">
            <a:solidFill>
              <a:srgbClr val="111111"/>
            </a:solidFill>
            <a:prstDash val="solid"/>
          </a:ln>
        </p:spPr>
      </p:sp>
      <p:sp>
        <p:nvSpPr>
          <p:cNvPr id="32" name="Text 30"/>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362895" y="0"/>
            <a:ext cx="1828800" cy="457200"/>
          </a:xfrm>
          <a:prstGeom prst="rect">
            <a:avLst/>
          </a:prstGeom>
          <a:solidFill>
            <a:srgbClr val="FFD400"/>
          </a:solidFill>
          <a:ln w="12700">
            <a:solidFill>
              <a:srgbClr val="FFD400"/>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11 / 17  </a:t>
            </a:r>
            <a:pPr indent="0" marL="0">
              <a:buNone/>
            </a:pPr>
            <a:r>
              <a:rPr lang="en-US" sz="1000" b="1" spc="400" kern="0" dirty="0">
                <a:solidFill>
                  <a:srgbClr val="111111"/>
                </a:solidFill>
                <a:latin typeface="Inter" pitchFamily="34" charset="0"/>
                <a:ea typeface="Inter" pitchFamily="34" charset="-122"/>
                <a:cs typeface="Inter" pitchFamily="34" charset="-120"/>
              </a:rPr>
              <a:t>FOR COLLEGES</a:t>
            </a:r>
            <a:endParaRPr lang="en-US" sz="1000" dirty="0"/>
          </a:p>
        </p:txBody>
      </p:sp>
      <p:sp>
        <p:nvSpPr>
          <p:cNvPr id="4" name="Text 2"/>
          <p:cNvSpPr/>
          <p:nvPr/>
        </p:nvSpPr>
        <p:spPr>
          <a:xfrm>
            <a:off x="548640" y="868680"/>
            <a:ext cx="91440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What your institution gets when</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you partner with BuildAI.</a:t>
            </a:r>
            <a:endParaRPr lang="en-US" sz="3200" dirty="0"/>
          </a:p>
        </p:txBody>
      </p:sp>
      <p:sp>
        <p:nvSpPr>
          <p:cNvPr id="5" name="Shape 3"/>
          <p:cNvSpPr/>
          <p:nvPr/>
        </p:nvSpPr>
        <p:spPr>
          <a:xfrm>
            <a:off x="548640" y="2788920"/>
            <a:ext cx="3657600" cy="1691640"/>
          </a:xfrm>
          <a:prstGeom prst="rect">
            <a:avLst/>
          </a:prstGeom>
          <a:solidFill>
            <a:srgbClr val="FFFFFF"/>
          </a:solidFill>
          <a:ln w="12700">
            <a:solidFill>
              <a:srgbClr val="111111"/>
            </a:solidFill>
            <a:prstDash val="solid"/>
          </a:ln>
        </p:spPr>
      </p:sp>
      <p:sp>
        <p:nvSpPr>
          <p:cNvPr id="6" name="Shape 4"/>
          <p:cNvSpPr/>
          <p:nvPr/>
        </p:nvSpPr>
        <p:spPr>
          <a:xfrm>
            <a:off x="548640" y="2788920"/>
            <a:ext cx="3657600" cy="73152"/>
          </a:xfrm>
          <a:prstGeom prst="rect">
            <a:avLst/>
          </a:prstGeom>
          <a:solidFill>
            <a:srgbClr val="E63227"/>
          </a:solidFill>
          <a:ln w="12700">
            <a:solidFill>
              <a:srgbClr val="E63227"/>
            </a:solidFill>
            <a:prstDash val="solid"/>
          </a:ln>
        </p:spPr>
      </p:sp>
      <p:sp>
        <p:nvSpPr>
          <p:cNvPr id="7" name="Text 5"/>
          <p:cNvSpPr/>
          <p:nvPr/>
        </p:nvSpPr>
        <p:spPr>
          <a:xfrm>
            <a:off x="777240" y="2971800"/>
            <a:ext cx="731520" cy="27432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01</a:t>
            </a:r>
            <a:endParaRPr lang="en-US" sz="1100" dirty="0"/>
          </a:p>
        </p:txBody>
      </p:sp>
      <p:sp>
        <p:nvSpPr>
          <p:cNvPr id="8" name="Text 6"/>
          <p:cNvSpPr/>
          <p:nvPr/>
        </p:nvSpPr>
        <p:spPr>
          <a:xfrm>
            <a:off x="777240" y="3291840"/>
            <a:ext cx="3200400" cy="45720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Credible AI programme</a:t>
            </a:r>
            <a:endParaRPr lang="en-US" sz="1700" dirty="0"/>
          </a:p>
        </p:txBody>
      </p:sp>
      <p:sp>
        <p:nvSpPr>
          <p:cNvPr id="9" name="Text 7"/>
          <p:cNvSpPr/>
          <p:nvPr/>
        </p:nvSpPr>
        <p:spPr>
          <a:xfrm>
            <a:off x="777240" y="3749040"/>
            <a:ext cx="3200400" cy="6858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An AI-native offering your admissions team can point to immediately.</a:t>
            </a:r>
            <a:endParaRPr lang="en-US" sz="1200" dirty="0"/>
          </a:p>
        </p:txBody>
      </p:sp>
      <p:sp>
        <p:nvSpPr>
          <p:cNvPr id="10" name="Shape 8"/>
          <p:cNvSpPr/>
          <p:nvPr/>
        </p:nvSpPr>
        <p:spPr>
          <a:xfrm>
            <a:off x="4343400" y="2788920"/>
            <a:ext cx="3657600" cy="1691640"/>
          </a:xfrm>
          <a:prstGeom prst="rect">
            <a:avLst/>
          </a:prstGeom>
          <a:solidFill>
            <a:srgbClr val="FFFFFF"/>
          </a:solidFill>
          <a:ln w="12700">
            <a:solidFill>
              <a:srgbClr val="111111"/>
            </a:solidFill>
            <a:prstDash val="solid"/>
          </a:ln>
        </p:spPr>
      </p:sp>
      <p:sp>
        <p:nvSpPr>
          <p:cNvPr id="11" name="Text 9"/>
          <p:cNvSpPr/>
          <p:nvPr/>
        </p:nvSpPr>
        <p:spPr>
          <a:xfrm>
            <a:off x="4572000" y="2971800"/>
            <a:ext cx="731520" cy="27432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02</a:t>
            </a:r>
            <a:endParaRPr lang="en-US" sz="1100" dirty="0"/>
          </a:p>
        </p:txBody>
      </p:sp>
      <p:sp>
        <p:nvSpPr>
          <p:cNvPr id="12" name="Text 10"/>
          <p:cNvSpPr/>
          <p:nvPr/>
        </p:nvSpPr>
        <p:spPr>
          <a:xfrm>
            <a:off x="4572000" y="3291840"/>
            <a:ext cx="3200400" cy="45720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Industry partnership</a:t>
            </a:r>
            <a:endParaRPr lang="en-US" sz="1700" dirty="0"/>
          </a:p>
        </p:txBody>
      </p:sp>
      <p:sp>
        <p:nvSpPr>
          <p:cNvPr id="13" name="Text 11"/>
          <p:cNvSpPr/>
          <p:nvPr/>
        </p:nvSpPr>
        <p:spPr>
          <a:xfrm>
            <a:off x="4572000" y="3749040"/>
            <a:ext cx="3200400" cy="6858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Documented industry tie-up for NAAC, AICTE, and placement reports.</a:t>
            </a:r>
            <a:endParaRPr lang="en-US" sz="1200" dirty="0"/>
          </a:p>
        </p:txBody>
      </p:sp>
      <p:sp>
        <p:nvSpPr>
          <p:cNvPr id="14" name="Shape 12"/>
          <p:cNvSpPr/>
          <p:nvPr/>
        </p:nvSpPr>
        <p:spPr>
          <a:xfrm>
            <a:off x="8138160" y="2788920"/>
            <a:ext cx="3657600" cy="1691640"/>
          </a:xfrm>
          <a:prstGeom prst="rect">
            <a:avLst/>
          </a:prstGeom>
          <a:solidFill>
            <a:srgbClr val="FFFFFF"/>
          </a:solidFill>
          <a:ln w="12700">
            <a:solidFill>
              <a:srgbClr val="111111"/>
            </a:solidFill>
            <a:prstDash val="solid"/>
          </a:ln>
        </p:spPr>
      </p:sp>
      <p:sp>
        <p:nvSpPr>
          <p:cNvPr id="15" name="Shape 13"/>
          <p:cNvSpPr/>
          <p:nvPr/>
        </p:nvSpPr>
        <p:spPr>
          <a:xfrm>
            <a:off x="8138160" y="2788920"/>
            <a:ext cx="3657600" cy="73152"/>
          </a:xfrm>
          <a:prstGeom prst="rect">
            <a:avLst/>
          </a:prstGeom>
          <a:solidFill>
            <a:srgbClr val="E63227"/>
          </a:solidFill>
          <a:ln w="12700">
            <a:solidFill>
              <a:srgbClr val="E63227"/>
            </a:solidFill>
            <a:prstDash val="solid"/>
          </a:ln>
        </p:spPr>
      </p:sp>
      <p:sp>
        <p:nvSpPr>
          <p:cNvPr id="16" name="Text 14"/>
          <p:cNvSpPr/>
          <p:nvPr/>
        </p:nvSpPr>
        <p:spPr>
          <a:xfrm>
            <a:off x="8366760" y="2971800"/>
            <a:ext cx="731520" cy="27432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03</a:t>
            </a:r>
            <a:endParaRPr lang="en-US" sz="1100" dirty="0"/>
          </a:p>
        </p:txBody>
      </p:sp>
      <p:sp>
        <p:nvSpPr>
          <p:cNvPr id="17" name="Text 15"/>
          <p:cNvSpPr/>
          <p:nvPr/>
        </p:nvSpPr>
        <p:spPr>
          <a:xfrm>
            <a:off x="8366760" y="3291840"/>
            <a:ext cx="3200400" cy="45720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Student outcomes</a:t>
            </a:r>
            <a:endParaRPr lang="en-US" sz="1700" dirty="0"/>
          </a:p>
        </p:txBody>
      </p:sp>
      <p:sp>
        <p:nvSpPr>
          <p:cNvPr id="18" name="Text 16"/>
          <p:cNvSpPr/>
          <p:nvPr/>
        </p:nvSpPr>
        <p:spPr>
          <a:xfrm>
            <a:off x="8366760" y="3749040"/>
            <a:ext cx="3200400" cy="6858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Measurable GitHub portfolios. Real deployed products. Marketing assets you own.</a:t>
            </a:r>
            <a:endParaRPr lang="en-US" sz="1200" dirty="0"/>
          </a:p>
        </p:txBody>
      </p:sp>
      <p:sp>
        <p:nvSpPr>
          <p:cNvPr id="19" name="Shape 17"/>
          <p:cNvSpPr/>
          <p:nvPr/>
        </p:nvSpPr>
        <p:spPr>
          <a:xfrm>
            <a:off x="548640" y="4645152"/>
            <a:ext cx="3657600" cy="1691640"/>
          </a:xfrm>
          <a:prstGeom prst="rect">
            <a:avLst/>
          </a:prstGeom>
          <a:solidFill>
            <a:srgbClr val="FFFFFF"/>
          </a:solidFill>
          <a:ln w="12700">
            <a:solidFill>
              <a:srgbClr val="111111"/>
            </a:solidFill>
            <a:prstDash val="solid"/>
          </a:ln>
        </p:spPr>
      </p:sp>
      <p:sp>
        <p:nvSpPr>
          <p:cNvPr id="20" name="Text 18"/>
          <p:cNvSpPr/>
          <p:nvPr/>
        </p:nvSpPr>
        <p:spPr>
          <a:xfrm>
            <a:off x="777240" y="4828032"/>
            <a:ext cx="731520" cy="27432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04</a:t>
            </a:r>
            <a:endParaRPr lang="en-US" sz="1100" dirty="0"/>
          </a:p>
        </p:txBody>
      </p:sp>
      <p:sp>
        <p:nvSpPr>
          <p:cNvPr id="21" name="Text 19"/>
          <p:cNvSpPr/>
          <p:nvPr/>
        </p:nvSpPr>
        <p:spPr>
          <a:xfrm>
            <a:off x="777240" y="5148072"/>
            <a:ext cx="3200400" cy="45720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Administrative margin</a:t>
            </a:r>
            <a:endParaRPr lang="en-US" sz="1700" dirty="0"/>
          </a:p>
        </p:txBody>
      </p:sp>
      <p:sp>
        <p:nvSpPr>
          <p:cNvPr id="22" name="Text 20"/>
          <p:cNvSpPr/>
          <p:nvPr/>
        </p:nvSpPr>
        <p:spPr>
          <a:xfrm>
            <a:off x="777240" y="5605272"/>
            <a:ext cx="3200400" cy="6858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₹5,000–₹7,000 per enrolled student. Yours to keep.</a:t>
            </a:r>
            <a:endParaRPr lang="en-US" sz="1200" dirty="0"/>
          </a:p>
        </p:txBody>
      </p:sp>
      <p:sp>
        <p:nvSpPr>
          <p:cNvPr id="23" name="Shape 21"/>
          <p:cNvSpPr/>
          <p:nvPr/>
        </p:nvSpPr>
        <p:spPr>
          <a:xfrm>
            <a:off x="4343400" y="4645152"/>
            <a:ext cx="3657600" cy="1691640"/>
          </a:xfrm>
          <a:prstGeom prst="rect">
            <a:avLst/>
          </a:prstGeom>
          <a:solidFill>
            <a:srgbClr val="FFFFFF"/>
          </a:solidFill>
          <a:ln w="12700">
            <a:solidFill>
              <a:srgbClr val="111111"/>
            </a:solidFill>
            <a:prstDash val="solid"/>
          </a:ln>
        </p:spPr>
      </p:sp>
      <p:sp>
        <p:nvSpPr>
          <p:cNvPr id="24" name="Shape 22"/>
          <p:cNvSpPr/>
          <p:nvPr/>
        </p:nvSpPr>
        <p:spPr>
          <a:xfrm>
            <a:off x="4343400" y="4645152"/>
            <a:ext cx="3657600" cy="73152"/>
          </a:xfrm>
          <a:prstGeom prst="rect">
            <a:avLst/>
          </a:prstGeom>
          <a:solidFill>
            <a:srgbClr val="E63227"/>
          </a:solidFill>
          <a:ln w="12700">
            <a:solidFill>
              <a:srgbClr val="E63227"/>
            </a:solidFill>
            <a:prstDash val="solid"/>
          </a:ln>
        </p:spPr>
      </p:sp>
      <p:sp>
        <p:nvSpPr>
          <p:cNvPr id="25" name="Text 23"/>
          <p:cNvSpPr/>
          <p:nvPr/>
        </p:nvSpPr>
        <p:spPr>
          <a:xfrm>
            <a:off x="4572000" y="4828032"/>
            <a:ext cx="731520" cy="27432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05</a:t>
            </a:r>
            <a:endParaRPr lang="en-US" sz="1100" dirty="0"/>
          </a:p>
        </p:txBody>
      </p:sp>
      <p:sp>
        <p:nvSpPr>
          <p:cNvPr id="26" name="Text 24"/>
          <p:cNvSpPr/>
          <p:nvPr/>
        </p:nvSpPr>
        <p:spPr>
          <a:xfrm>
            <a:off x="4572000" y="5148072"/>
            <a:ext cx="3200400" cy="45720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Zero faculty burden</a:t>
            </a:r>
            <a:endParaRPr lang="en-US" sz="1700" dirty="0"/>
          </a:p>
        </p:txBody>
      </p:sp>
      <p:sp>
        <p:nvSpPr>
          <p:cNvPr id="27" name="Text 25"/>
          <p:cNvSpPr/>
          <p:nvPr/>
        </p:nvSpPr>
        <p:spPr>
          <a:xfrm>
            <a:off x="4572000" y="5605272"/>
            <a:ext cx="3200400" cy="6858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BuildAI runs the entire programme. Your faculty focuses on core curriculum.</a:t>
            </a:r>
            <a:endParaRPr lang="en-US" sz="1200" dirty="0"/>
          </a:p>
        </p:txBody>
      </p:sp>
      <p:sp>
        <p:nvSpPr>
          <p:cNvPr id="28" name="Shape 26"/>
          <p:cNvSpPr/>
          <p:nvPr/>
        </p:nvSpPr>
        <p:spPr>
          <a:xfrm>
            <a:off x="8138160" y="4645152"/>
            <a:ext cx="3657600" cy="1691640"/>
          </a:xfrm>
          <a:prstGeom prst="rect">
            <a:avLst/>
          </a:prstGeom>
          <a:solidFill>
            <a:srgbClr val="FFFFFF"/>
          </a:solidFill>
          <a:ln w="12700">
            <a:solidFill>
              <a:srgbClr val="111111"/>
            </a:solidFill>
            <a:prstDash val="solid"/>
          </a:ln>
        </p:spPr>
      </p:sp>
      <p:sp>
        <p:nvSpPr>
          <p:cNvPr id="29" name="Text 27"/>
          <p:cNvSpPr/>
          <p:nvPr/>
        </p:nvSpPr>
        <p:spPr>
          <a:xfrm>
            <a:off x="8366760" y="4828032"/>
            <a:ext cx="731520" cy="274320"/>
          </a:xfrm>
          <a:prstGeom prst="rect">
            <a:avLst/>
          </a:prstGeom>
          <a:noFill/>
          <a:ln/>
        </p:spPr>
        <p:txBody>
          <a:bodyPr wrap="square" lIns="0" tIns="0" rIns="0" bIns="0" rtlCol="0" anchor="ctr"/>
          <a:lstStyle/>
          <a:p>
            <a:pPr indent="0" marL="0">
              <a:buNone/>
            </a:pPr>
            <a:r>
              <a:rPr lang="en-US" sz="1100" b="1" spc="400" kern="0" dirty="0">
                <a:solidFill>
                  <a:srgbClr val="E63227"/>
                </a:solidFill>
                <a:latin typeface="Inter" pitchFamily="34" charset="0"/>
                <a:ea typeface="Inter" pitchFamily="34" charset="-122"/>
                <a:cs typeface="Inter" pitchFamily="34" charset="-120"/>
              </a:rPr>
              <a:t>06</a:t>
            </a:r>
            <a:endParaRPr lang="en-US" sz="1100" dirty="0"/>
          </a:p>
        </p:txBody>
      </p:sp>
      <p:sp>
        <p:nvSpPr>
          <p:cNvPr id="30" name="Text 28"/>
          <p:cNvSpPr/>
          <p:nvPr/>
        </p:nvSpPr>
        <p:spPr>
          <a:xfrm>
            <a:off x="8366760" y="5148072"/>
            <a:ext cx="3200400" cy="45720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Hiring network access</a:t>
            </a:r>
            <a:endParaRPr lang="en-US" sz="1700" dirty="0"/>
          </a:p>
        </p:txBody>
      </p:sp>
      <p:sp>
        <p:nvSpPr>
          <p:cNvPr id="31" name="Text 29"/>
          <p:cNvSpPr/>
          <p:nvPr/>
        </p:nvSpPr>
        <p:spPr>
          <a:xfrm>
            <a:off x="8366760" y="5605272"/>
            <a:ext cx="3200400" cy="68580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Top graduates introduced to BuildAI's startup review network — a long-term pipeline.</a:t>
            </a:r>
            <a:endParaRPr lang="en-US" sz="1200" dirty="0"/>
          </a:p>
        </p:txBody>
      </p:sp>
      <p:sp>
        <p:nvSpPr>
          <p:cNvPr id="32" name="Shape 30"/>
          <p:cNvSpPr/>
          <p:nvPr/>
        </p:nvSpPr>
        <p:spPr>
          <a:xfrm>
            <a:off x="548640" y="6355080"/>
            <a:ext cx="11094415" cy="0"/>
          </a:xfrm>
          <a:prstGeom prst="line">
            <a:avLst/>
          </a:prstGeom>
          <a:noFill/>
          <a:ln w="9525">
            <a:solidFill>
              <a:srgbClr val="111111"/>
            </a:solidFill>
            <a:prstDash val="solid"/>
          </a:ln>
        </p:spPr>
      </p:sp>
      <p:sp>
        <p:nvSpPr>
          <p:cNvPr id="33" name="Text 31"/>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For Colleges</a:t>
            </a:r>
            <a:endParaRPr lang="en-US" sz="900" dirty="0"/>
          </a:p>
        </p:txBody>
      </p:sp>
      <p:sp>
        <p:nvSpPr>
          <p:cNvPr id="34" name="Shape 32"/>
          <p:cNvSpPr/>
          <p:nvPr/>
        </p:nvSpPr>
        <p:spPr>
          <a:xfrm>
            <a:off x="10911535" y="6400800"/>
            <a:ext cx="777240" cy="274320"/>
          </a:xfrm>
          <a:prstGeom prst="rect">
            <a:avLst/>
          </a:prstGeom>
          <a:solidFill>
            <a:srgbClr val="111111"/>
          </a:solidFill>
          <a:ln w="12700">
            <a:solidFill>
              <a:srgbClr val="111111"/>
            </a:solidFill>
            <a:prstDash val="solid"/>
          </a:ln>
        </p:spPr>
      </p:sp>
      <p:sp>
        <p:nvSpPr>
          <p:cNvPr id="35" name="Text 33"/>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486400"/>
            <a:ext cx="457200" cy="1371600"/>
          </a:xfrm>
          <a:prstGeom prst="rect">
            <a:avLst/>
          </a:prstGeom>
          <a:solidFill>
            <a:srgbClr val="E63227"/>
          </a:solidFill>
          <a:ln w="12700">
            <a:solidFill>
              <a:srgbClr val="E63227"/>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12 / 17  </a:t>
            </a:r>
            <a:pPr indent="0" marL="0">
              <a:buNone/>
            </a:pPr>
            <a:r>
              <a:rPr lang="en-US" sz="1000" b="1" spc="400" kern="0" dirty="0">
                <a:solidFill>
                  <a:srgbClr val="111111"/>
                </a:solidFill>
                <a:latin typeface="Inter" pitchFamily="34" charset="0"/>
                <a:ea typeface="Inter" pitchFamily="34" charset="-122"/>
                <a:cs typeface="Inter" pitchFamily="34" charset="-120"/>
              </a:rPr>
              <a:t>COMMERCIAL MODEL</a:t>
            </a:r>
            <a:endParaRPr lang="en-US" sz="1000" dirty="0"/>
          </a:p>
        </p:txBody>
      </p:sp>
      <p:sp>
        <p:nvSpPr>
          <p:cNvPr id="4" name="Text 2"/>
          <p:cNvSpPr/>
          <p:nvPr/>
        </p:nvSpPr>
        <p:spPr>
          <a:xfrm>
            <a:off x="548640" y="868680"/>
            <a:ext cx="100584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Simple economics.</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College keeps administrative margin.</a:t>
            </a:r>
            <a:endParaRPr lang="en-US" sz="3200" dirty="0"/>
          </a:p>
        </p:txBody>
      </p:sp>
      <p:sp>
        <p:nvSpPr>
          <p:cNvPr id="5" name="Shape 3"/>
          <p:cNvSpPr/>
          <p:nvPr/>
        </p:nvSpPr>
        <p:spPr>
          <a:xfrm>
            <a:off x="548640" y="2743200"/>
            <a:ext cx="3657600" cy="2377440"/>
          </a:xfrm>
          <a:prstGeom prst="rect">
            <a:avLst/>
          </a:prstGeom>
          <a:solidFill>
            <a:srgbClr val="111111"/>
          </a:solidFill>
          <a:ln w="12700">
            <a:solidFill>
              <a:srgbClr val="111111"/>
            </a:solidFill>
            <a:prstDash val="solid"/>
          </a:ln>
        </p:spPr>
      </p:sp>
      <p:sp>
        <p:nvSpPr>
          <p:cNvPr id="6" name="Text 4"/>
          <p:cNvSpPr/>
          <p:nvPr/>
        </p:nvSpPr>
        <p:spPr>
          <a:xfrm>
            <a:off x="822960" y="3017520"/>
            <a:ext cx="3108960" cy="320040"/>
          </a:xfrm>
          <a:prstGeom prst="rect">
            <a:avLst/>
          </a:prstGeom>
          <a:noFill/>
          <a:ln/>
        </p:spPr>
        <p:txBody>
          <a:bodyPr wrap="square" lIns="0" tIns="0" rIns="0" bIns="0" rtlCol="0" anchor="ctr"/>
          <a:lstStyle/>
          <a:p>
            <a:pPr indent="0" marL="0">
              <a:buNone/>
            </a:pPr>
            <a:r>
              <a:rPr lang="en-US" sz="1200" b="1" spc="500" kern="0" dirty="0">
                <a:solidFill>
                  <a:srgbClr val="FFFFFF"/>
                </a:solidFill>
                <a:latin typeface="Inter" pitchFamily="34" charset="0"/>
                <a:ea typeface="Inter" pitchFamily="34" charset="-122"/>
                <a:cs typeface="Inter" pitchFamily="34" charset="-120"/>
              </a:rPr>
              <a:t>STUDENT FEE</a:t>
            </a:r>
            <a:endParaRPr lang="en-US" sz="1200" dirty="0"/>
          </a:p>
        </p:txBody>
      </p:sp>
      <p:sp>
        <p:nvSpPr>
          <p:cNvPr id="7" name="Text 5"/>
          <p:cNvSpPr/>
          <p:nvPr/>
        </p:nvSpPr>
        <p:spPr>
          <a:xfrm>
            <a:off x="822960" y="3474720"/>
            <a:ext cx="3108960" cy="914400"/>
          </a:xfrm>
          <a:prstGeom prst="rect">
            <a:avLst/>
          </a:prstGeom>
          <a:noFill/>
          <a:ln/>
        </p:spPr>
        <p:txBody>
          <a:bodyPr wrap="square" lIns="0" tIns="0" rIns="0" bIns="0" rtlCol="0" anchor="ctr"/>
          <a:lstStyle/>
          <a:p>
            <a:pPr indent="0" marL="0">
              <a:buNone/>
            </a:pPr>
            <a:r>
              <a:rPr lang="en-US" sz="3800" b="1" spc="-100" kern="0" dirty="0">
                <a:solidFill>
                  <a:srgbClr val="FFFFFF"/>
                </a:solidFill>
                <a:latin typeface="Inter" pitchFamily="34" charset="0"/>
                <a:ea typeface="Inter" pitchFamily="34" charset="-122"/>
                <a:cs typeface="Inter" pitchFamily="34" charset="-120"/>
              </a:rPr>
              <a:t>₹20K – ₹25K</a:t>
            </a:r>
            <a:endParaRPr lang="en-US" sz="3800" dirty="0"/>
          </a:p>
        </p:txBody>
      </p:sp>
      <p:sp>
        <p:nvSpPr>
          <p:cNvPr id="8" name="Text 6"/>
          <p:cNvSpPr/>
          <p:nvPr/>
        </p:nvSpPr>
        <p:spPr>
          <a:xfrm>
            <a:off x="822960" y="4434840"/>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What students pay for the 13-week apprenticeship.</a:t>
            </a:r>
            <a:endParaRPr lang="en-US" sz="1200" dirty="0"/>
          </a:p>
        </p:txBody>
      </p:sp>
      <p:sp>
        <p:nvSpPr>
          <p:cNvPr id="9" name="Shape 7"/>
          <p:cNvSpPr/>
          <p:nvPr/>
        </p:nvSpPr>
        <p:spPr>
          <a:xfrm>
            <a:off x="4343400" y="2743200"/>
            <a:ext cx="3657600" cy="2377440"/>
          </a:xfrm>
          <a:prstGeom prst="rect">
            <a:avLst/>
          </a:prstGeom>
          <a:solidFill>
            <a:srgbClr val="FFD400"/>
          </a:solidFill>
          <a:ln w="12700">
            <a:solidFill>
              <a:srgbClr val="FFD400"/>
            </a:solidFill>
            <a:prstDash val="solid"/>
          </a:ln>
        </p:spPr>
      </p:sp>
      <p:sp>
        <p:nvSpPr>
          <p:cNvPr id="10" name="Text 8"/>
          <p:cNvSpPr/>
          <p:nvPr/>
        </p:nvSpPr>
        <p:spPr>
          <a:xfrm>
            <a:off x="4617720" y="3017520"/>
            <a:ext cx="3108960" cy="320040"/>
          </a:xfrm>
          <a:prstGeom prst="rect">
            <a:avLst/>
          </a:prstGeom>
          <a:noFill/>
          <a:ln/>
        </p:spPr>
        <p:txBody>
          <a:bodyPr wrap="square" lIns="0" tIns="0" rIns="0" bIns="0" rtlCol="0" anchor="ctr"/>
          <a:lstStyle/>
          <a:p>
            <a:pPr indent="0" marL="0">
              <a:buNone/>
            </a:pPr>
            <a:r>
              <a:rPr lang="en-US" sz="1200" b="1" spc="500" kern="0" dirty="0">
                <a:solidFill>
                  <a:srgbClr val="111111"/>
                </a:solidFill>
                <a:latin typeface="Inter" pitchFamily="34" charset="0"/>
                <a:ea typeface="Inter" pitchFamily="34" charset="-122"/>
                <a:cs typeface="Inter" pitchFamily="34" charset="-120"/>
              </a:rPr>
              <a:t>COLLEGE MARGIN</a:t>
            </a:r>
            <a:endParaRPr lang="en-US" sz="1200" dirty="0"/>
          </a:p>
        </p:txBody>
      </p:sp>
      <p:sp>
        <p:nvSpPr>
          <p:cNvPr id="11" name="Text 9"/>
          <p:cNvSpPr/>
          <p:nvPr/>
        </p:nvSpPr>
        <p:spPr>
          <a:xfrm>
            <a:off x="4617720" y="3474720"/>
            <a:ext cx="3108960" cy="914400"/>
          </a:xfrm>
          <a:prstGeom prst="rect">
            <a:avLst/>
          </a:prstGeom>
          <a:noFill/>
          <a:ln/>
        </p:spPr>
        <p:txBody>
          <a:bodyPr wrap="square" lIns="0" tIns="0" rIns="0" bIns="0" rtlCol="0" anchor="ctr"/>
          <a:lstStyle/>
          <a:p>
            <a:pPr indent="0" marL="0">
              <a:buNone/>
            </a:pPr>
            <a:r>
              <a:rPr lang="en-US" sz="3800" b="1" spc="-100" kern="0" dirty="0">
                <a:solidFill>
                  <a:srgbClr val="111111"/>
                </a:solidFill>
                <a:latin typeface="Inter" pitchFamily="34" charset="0"/>
                <a:ea typeface="Inter" pitchFamily="34" charset="-122"/>
                <a:cs typeface="Inter" pitchFamily="34" charset="-120"/>
              </a:rPr>
              <a:t>₹5K – ₹7K</a:t>
            </a:r>
            <a:endParaRPr lang="en-US" sz="3800" dirty="0"/>
          </a:p>
        </p:txBody>
      </p:sp>
      <p:sp>
        <p:nvSpPr>
          <p:cNvPr id="12" name="Text 10"/>
          <p:cNvSpPr/>
          <p:nvPr/>
        </p:nvSpPr>
        <p:spPr>
          <a:xfrm>
            <a:off x="4617720" y="4434840"/>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111111"/>
                </a:solidFill>
                <a:latin typeface="Inter" pitchFamily="34" charset="0"/>
                <a:ea typeface="Inter" pitchFamily="34" charset="-122"/>
                <a:cs typeface="Inter" pitchFamily="34" charset="-120"/>
              </a:rPr>
              <a:t>Per enrolled student. Administrative + facilitation margin.</a:t>
            </a:r>
            <a:endParaRPr lang="en-US" sz="1200" dirty="0"/>
          </a:p>
        </p:txBody>
      </p:sp>
      <p:sp>
        <p:nvSpPr>
          <p:cNvPr id="13" name="Shape 11"/>
          <p:cNvSpPr/>
          <p:nvPr/>
        </p:nvSpPr>
        <p:spPr>
          <a:xfrm>
            <a:off x="8138160" y="2743200"/>
            <a:ext cx="3657600" cy="2377440"/>
          </a:xfrm>
          <a:prstGeom prst="rect">
            <a:avLst/>
          </a:prstGeom>
          <a:solidFill>
            <a:srgbClr val="E63227"/>
          </a:solidFill>
          <a:ln w="12700">
            <a:solidFill>
              <a:srgbClr val="E63227"/>
            </a:solidFill>
            <a:prstDash val="solid"/>
          </a:ln>
        </p:spPr>
      </p:sp>
      <p:sp>
        <p:nvSpPr>
          <p:cNvPr id="14" name="Text 12"/>
          <p:cNvSpPr/>
          <p:nvPr/>
        </p:nvSpPr>
        <p:spPr>
          <a:xfrm>
            <a:off x="8412480" y="3017520"/>
            <a:ext cx="3108960" cy="320040"/>
          </a:xfrm>
          <a:prstGeom prst="rect">
            <a:avLst/>
          </a:prstGeom>
          <a:noFill/>
          <a:ln/>
        </p:spPr>
        <p:txBody>
          <a:bodyPr wrap="square" lIns="0" tIns="0" rIns="0" bIns="0" rtlCol="0" anchor="ctr"/>
          <a:lstStyle/>
          <a:p>
            <a:pPr indent="0" marL="0">
              <a:buNone/>
            </a:pPr>
            <a:r>
              <a:rPr lang="en-US" sz="1200" b="1" spc="500" kern="0" dirty="0">
                <a:solidFill>
                  <a:srgbClr val="FFFFFF"/>
                </a:solidFill>
                <a:latin typeface="Inter" pitchFamily="34" charset="0"/>
                <a:ea typeface="Inter" pitchFamily="34" charset="-122"/>
                <a:cs typeface="Inter" pitchFamily="34" charset="-120"/>
              </a:rPr>
              <a:t>BUILDAI FEE</a:t>
            </a:r>
            <a:endParaRPr lang="en-US" sz="1200" dirty="0"/>
          </a:p>
        </p:txBody>
      </p:sp>
      <p:sp>
        <p:nvSpPr>
          <p:cNvPr id="15" name="Text 13"/>
          <p:cNvSpPr/>
          <p:nvPr/>
        </p:nvSpPr>
        <p:spPr>
          <a:xfrm>
            <a:off x="8412480" y="3474720"/>
            <a:ext cx="3108960" cy="914400"/>
          </a:xfrm>
          <a:prstGeom prst="rect">
            <a:avLst/>
          </a:prstGeom>
          <a:noFill/>
          <a:ln/>
        </p:spPr>
        <p:txBody>
          <a:bodyPr wrap="square" lIns="0" tIns="0" rIns="0" bIns="0" rtlCol="0" anchor="ctr"/>
          <a:lstStyle/>
          <a:p>
            <a:pPr indent="0" marL="0">
              <a:buNone/>
            </a:pPr>
            <a:r>
              <a:rPr lang="en-US" sz="3800" b="1" spc="-100" kern="0" dirty="0">
                <a:solidFill>
                  <a:srgbClr val="FFFFFF"/>
                </a:solidFill>
                <a:latin typeface="Inter" pitchFamily="34" charset="0"/>
                <a:ea typeface="Inter" pitchFamily="34" charset="-122"/>
                <a:cs typeface="Inter" pitchFamily="34" charset="-120"/>
              </a:rPr>
              <a:t>₹15K – ₹18K</a:t>
            </a:r>
            <a:endParaRPr lang="en-US" sz="3800" dirty="0"/>
          </a:p>
        </p:txBody>
      </p:sp>
      <p:sp>
        <p:nvSpPr>
          <p:cNvPr id="16" name="Text 14"/>
          <p:cNvSpPr/>
          <p:nvPr/>
        </p:nvSpPr>
        <p:spPr>
          <a:xfrm>
            <a:off x="8412480" y="4434840"/>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FFFFFF"/>
                </a:solidFill>
                <a:latin typeface="Inter" pitchFamily="34" charset="0"/>
                <a:ea typeface="Inter" pitchFamily="34" charset="-122"/>
                <a:cs typeface="Inter" pitchFamily="34" charset="-120"/>
              </a:rPr>
              <a:t>Per enrolled student. Covers mentors, tools, ops, evaluation.</a:t>
            </a:r>
            <a:endParaRPr lang="en-US" sz="1200" dirty="0"/>
          </a:p>
        </p:txBody>
      </p:sp>
      <p:sp>
        <p:nvSpPr>
          <p:cNvPr id="17" name="Shape 15"/>
          <p:cNvSpPr/>
          <p:nvPr/>
        </p:nvSpPr>
        <p:spPr>
          <a:xfrm>
            <a:off x="548640" y="5349240"/>
            <a:ext cx="11094415" cy="0"/>
          </a:xfrm>
          <a:prstGeom prst="line">
            <a:avLst/>
          </a:prstGeom>
          <a:noFill/>
          <a:ln w="19050">
            <a:solidFill>
              <a:srgbClr val="111111"/>
            </a:solidFill>
            <a:prstDash val="solid"/>
          </a:ln>
        </p:spPr>
      </p:sp>
      <p:sp>
        <p:nvSpPr>
          <p:cNvPr id="18" name="Text 16"/>
          <p:cNvSpPr/>
          <p:nvPr/>
        </p:nvSpPr>
        <p:spPr>
          <a:xfrm>
            <a:off x="548640" y="5486400"/>
            <a:ext cx="10972800" cy="36576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Per-cohort revenue for college  </a:t>
            </a:r>
            <a:pPr indent="0" marL="0">
              <a:buNone/>
            </a:pPr>
            <a:r>
              <a:rPr lang="en-US" sz="1700" dirty="0">
                <a:solidFill>
                  <a:srgbClr val="666666"/>
                </a:solidFill>
                <a:latin typeface="Inter" pitchFamily="34" charset="0"/>
                <a:ea typeface="Inter" pitchFamily="34" charset="-122"/>
                <a:cs typeface="Inter" pitchFamily="34" charset="-120"/>
              </a:rPr>
              <a:t>(100 × ₹6,000)  </a:t>
            </a:r>
            <a:pPr indent="0" marL="0">
              <a:buNone/>
            </a:pPr>
            <a:r>
              <a:rPr lang="en-US" sz="1700" b="1" dirty="0">
                <a:solidFill>
                  <a:srgbClr val="E63227"/>
                </a:solidFill>
                <a:latin typeface="Inter" pitchFamily="34" charset="0"/>
                <a:ea typeface="Inter" pitchFamily="34" charset="-122"/>
                <a:cs typeface="Inter" pitchFamily="34" charset="-120"/>
              </a:rPr>
              <a:t>= ₹6 lakh</a:t>
            </a:r>
            <a:endParaRPr lang="en-US" sz="1700" dirty="0"/>
          </a:p>
        </p:txBody>
      </p:sp>
      <p:sp>
        <p:nvSpPr>
          <p:cNvPr id="19" name="Text 17"/>
          <p:cNvSpPr/>
          <p:nvPr/>
        </p:nvSpPr>
        <p:spPr>
          <a:xfrm>
            <a:off x="548640" y="5897880"/>
            <a:ext cx="11430000" cy="365760"/>
          </a:xfrm>
          <a:prstGeom prst="rect">
            <a:avLst/>
          </a:prstGeom>
          <a:noFill/>
          <a:ln/>
        </p:spPr>
        <p:txBody>
          <a:bodyPr wrap="square" lIns="0" tIns="0" rIns="0" bIns="0" rtlCol="0" anchor="ctr"/>
          <a:lstStyle/>
          <a:p>
            <a:pPr indent="0" marL="0">
              <a:buNone/>
            </a:pPr>
            <a:r>
              <a:rPr lang="en-US" sz="1700" b="1" dirty="0">
                <a:solidFill>
                  <a:srgbClr val="111111"/>
                </a:solidFill>
                <a:latin typeface="Inter" pitchFamily="34" charset="0"/>
                <a:ea typeface="Inter" pitchFamily="34" charset="-122"/>
                <a:cs typeface="Inter" pitchFamily="34" charset="-120"/>
              </a:rPr>
              <a:t>Two cohorts per year  </a:t>
            </a:r>
            <a:pPr indent="0" marL="0">
              <a:buNone/>
            </a:pPr>
            <a:r>
              <a:rPr lang="en-US" sz="1700" dirty="0">
                <a:solidFill>
                  <a:srgbClr val="666666"/>
                </a:solidFill>
                <a:latin typeface="Inter" pitchFamily="34" charset="0"/>
                <a:ea typeface="Inter" pitchFamily="34" charset="-122"/>
                <a:cs typeface="Inter" pitchFamily="34" charset="-120"/>
              </a:rPr>
              <a:t>(summer + winter)  </a:t>
            </a:r>
            <a:pPr indent="0" marL="0">
              <a:buNone/>
            </a:pPr>
            <a:r>
              <a:rPr lang="en-US" sz="1700" b="1" dirty="0">
                <a:solidFill>
                  <a:srgbClr val="E63227"/>
                </a:solidFill>
                <a:latin typeface="Inter" pitchFamily="34" charset="0"/>
                <a:ea typeface="Inter" pitchFamily="34" charset="-122"/>
                <a:cs typeface="Inter" pitchFamily="34" charset="-120"/>
              </a:rPr>
              <a:t>= ₹12 lakh annual margin to your institution</a:t>
            </a:r>
            <a:endParaRPr lang="en-US" sz="1700" dirty="0"/>
          </a:p>
        </p:txBody>
      </p:sp>
      <p:sp>
        <p:nvSpPr>
          <p:cNvPr id="20" name="Shape 18"/>
          <p:cNvSpPr/>
          <p:nvPr/>
        </p:nvSpPr>
        <p:spPr>
          <a:xfrm>
            <a:off x="548640" y="6355080"/>
            <a:ext cx="11094415" cy="0"/>
          </a:xfrm>
          <a:prstGeom prst="line">
            <a:avLst/>
          </a:prstGeom>
          <a:noFill/>
          <a:ln w="9525">
            <a:solidFill>
              <a:srgbClr val="111111"/>
            </a:solidFill>
            <a:prstDash val="solid"/>
          </a:ln>
        </p:spPr>
      </p:sp>
      <p:sp>
        <p:nvSpPr>
          <p:cNvPr id="21" name="Text 19"/>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Commercial Model</a:t>
            </a:r>
            <a:endParaRPr lang="en-US" sz="900" dirty="0"/>
          </a:p>
        </p:txBody>
      </p:sp>
      <p:sp>
        <p:nvSpPr>
          <p:cNvPr id="22" name="Shape 20"/>
          <p:cNvSpPr/>
          <p:nvPr/>
        </p:nvSpPr>
        <p:spPr>
          <a:xfrm>
            <a:off x="10911535" y="6400800"/>
            <a:ext cx="777240" cy="274320"/>
          </a:xfrm>
          <a:prstGeom prst="rect">
            <a:avLst/>
          </a:prstGeom>
          <a:solidFill>
            <a:srgbClr val="111111"/>
          </a:solidFill>
          <a:ln w="12700">
            <a:solidFill>
              <a:srgbClr val="111111"/>
            </a:solidFill>
            <a:prstDash val="solid"/>
          </a:ln>
        </p:spPr>
      </p:sp>
      <p:sp>
        <p:nvSpPr>
          <p:cNvPr id="23" name="Text 21"/>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20095" y="0"/>
            <a:ext cx="1371600" cy="1371600"/>
          </a:xfrm>
          <a:prstGeom prst="rect">
            <a:avLst/>
          </a:prstGeom>
          <a:solidFill>
            <a:srgbClr val="FFD400"/>
          </a:solidFill>
          <a:ln w="12700">
            <a:solidFill>
              <a:srgbClr val="FFD400"/>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13 / 17  </a:t>
            </a:r>
            <a:pPr indent="0" marL="0">
              <a:buNone/>
            </a:pPr>
            <a:r>
              <a:rPr lang="en-US" sz="1000" b="1" spc="400" kern="0" dirty="0">
                <a:solidFill>
                  <a:srgbClr val="111111"/>
                </a:solidFill>
                <a:latin typeface="Inter" pitchFamily="34" charset="0"/>
                <a:ea typeface="Inter" pitchFamily="34" charset="-122"/>
                <a:cs typeface="Inter" pitchFamily="34" charset="-120"/>
              </a:rPr>
              <a:t>HOW WE DIFFER</a:t>
            </a:r>
            <a:endParaRPr lang="en-US" sz="1000" dirty="0"/>
          </a:p>
        </p:txBody>
      </p:sp>
      <p:sp>
        <p:nvSpPr>
          <p:cNvPr id="4" name="Text 2"/>
          <p:cNvSpPr/>
          <p:nvPr/>
        </p:nvSpPr>
        <p:spPr>
          <a:xfrm>
            <a:off x="548640" y="868680"/>
            <a:ext cx="100584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Why BuildAI is not Newton School,</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upGrad, or Internshala.</a:t>
            </a:r>
            <a:endParaRPr lang="en-US" sz="3200" dirty="0"/>
          </a:p>
        </p:txBody>
      </p:sp>
      <p:sp>
        <p:nvSpPr>
          <p:cNvPr id="5" name="Shape 3"/>
          <p:cNvSpPr/>
          <p:nvPr/>
        </p:nvSpPr>
        <p:spPr>
          <a:xfrm>
            <a:off x="548640" y="2743200"/>
            <a:ext cx="2194560" cy="457200"/>
          </a:xfrm>
          <a:prstGeom prst="rect">
            <a:avLst/>
          </a:prstGeom>
          <a:solidFill>
            <a:srgbClr val="FFFFFF"/>
          </a:solidFill>
          <a:ln w="6350">
            <a:solidFill>
              <a:srgbClr val="111111"/>
            </a:solidFill>
            <a:prstDash val="solid"/>
          </a:ln>
        </p:spPr>
      </p:sp>
      <p:sp>
        <p:nvSpPr>
          <p:cNvPr id="6" name="Text 4"/>
          <p:cNvSpPr/>
          <p:nvPr/>
        </p:nvSpPr>
        <p:spPr>
          <a:xfrm>
            <a:off x="685800" y="2743200"/>
            <a:ext cx="1920240" cy="457200"/>
          </a:xfrm>
          <a:prstGeom prst="rect">
            <a:avLst/>
          </a:prstGeom>
          <a:noFill/>
          <a:ln/>
        </p:spPr>
        <p:txBody>
          <a:bodyPr wrap="square" lIns="0" tIns="0" rIns="0" bIns="0" rtlCol="0" anchor="ctr"/>
          <a:lstStyle/>
          <a:p>
            <a:pPr indent="0" marL="0">
              <a:buNone/>
            </a:pPr>
            <a:endParaRPr lang="en-US" sz="1200" dirty="0"/>
          </a:p>
        </p:txBody>
      </p:sp>
      <p:sp>
        <p:nvSpPr>
          <p:cNvPr id="7" name="Shape 5"/>
          <p:cNvSpPr/>
          <p:nvPr/>
        </p:nvSpPr>
        <p:spPr>
          <a:xfrm>
            <a:off x="2743200" y="2743200"/>
            <a:ext cx="2377440" cy="457200"/>
          </a:xfrm>
          <a:prstGeom prst="rect">
            <a:avLst/>
          </a:prstGeom>
          <a:solidFill>
            <a:srgbClr val="111111"/>
          </a:solidFill>
          <a:ln w="6350">
            <a:solidFill>
              <a:srgbClr val="111111"/>
            </a:solidFill>
            <a:prstDash val="solid"/>
          </a:ln>
        </p:spPr>
      </p:sp>
      <p:sp>
        <p:nvSpPr>
          <p:cNvPr id="8" name="Text 6"/>
          <p:cNvSpPr/>
          <p:nvPr/>
        </p:nvSpPr>
        <p:spPr>
          <a:xfrm>
            <a:off x="2880360" y="27432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BuildAI</a:t>
            </a:r>
            <a:endParaRPr lang="en-US" sz="1200" dirty="0"/>
          </a:p>
        </p:txBody>
      </p:sp>
      <p:sp>
        <p:nvSpPr>
          <p:cNvPr id="9" name="Shape 7"/>
          <p:cNvSpPr/>
          <p:nvPr/>
        </p:nvSpPr>
        <p:spPr>
          <a:xfrm>
            <a:off x="5120640" y="2743200"/>
            <a:ext cx="2194560" cy="457200"/>
          </a:xfrm>
          <a:prstGeom prst="rect">
            <a:avLst/>
          </a:prstGeom>
          <a:solidFill>
            <a:srgbClr val="FFFFFF"/>
          </a:solidFill>
          <a:ln w="6350">
            <a:solidFill>
              <a:srgbClr val="111111"/>
            </a:solidFill>
            <a:prstDash val="solid"/>
          </a:ln>
        </p:spPr>
      </p:sp>
      <p:sp>
        <p:nvSpPr>
          <p:cNvPr id="10" name="Text 8"/>
          <p:cNvSpPr/>
          <p:nvPr/>
        </p:nvSpPr>
        <p:spPr>
          <a:xfrm>
            <a:off x="5257800" y="27432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Newton School</a:t>
            </a:r>
            <a:endParaRPr lang="en-US" sz="1200" dirty="0"/>
          </a:p>
        </p:txBody>
      </p:sp>
      <p:sp>
        <p:nvSpPr>
          <p:cNvPr id="11" name="Shape 9"/>
          <p:cNvSpPr/>
          <p:nvPr/>
        </p:nvSpPr>
        <p:spPr>
          <a:xfrm>
            <a:off x="7315200" y="2743200"/>
            <a:ext cx="2194560" cy="457200"/>
          </a:xfrm>
          <a:prstGeom prst="rect">
            <a:avLst/>
          </a:prstGeom>
          <a:solidFill>
            <a:srgbClr val="FFFFFF"/>
          </a:solidFill>
          <a:ln w="6350">
            <a:solidFill>
              <a:srgbClr val="111111"/>
            </a:solidFill>
            <a:prstDash val="solid"/>
          </a:ln>
        </p:spPr>
      </p:sp>
      <p:sp>
        <p:nvSpPr>
          <p:cNvPr id="12" name="Text 10"/>
          <p:cNvSpPr/>
          <p:nvPr/>
        </p:nvSpPr>
        <p:spPr>
          <a:xfrm>
            <a:off x="7452360" y="27432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upGrad</a:t>
            </a:r>
            <a:endParaRPr lang="en-US" sz="1200" dirty="0"/>
          </a:p>
        </p:txBody>
      </p:sp>
      <p:sp>
        <p:nvSpPr>
          <p:cNvPr id="13" name="Shape 11"/>
          <p:cNvSpPr/>
          <p:nvPr/>
        </p:nvSpPr>
        <p:spPr>
          <a:xfrm>
            <a:off x="9509760" y="2743200"/>
            <a:ext cx="2103120" cy="457200"/>
          </a:xfrm>
          <a:prstGeom prst="rect">
            <a:avLst/>
          </a:prstGeom>
          <a:solidFill>
            <a:srgbClr val="FFFFFF"/>
          </a:solidFill>
          <a:ln w="6350">
            <a:solidFill>
              <a:srgbClr val="111111"/>
            </a:solidFill>
            <a:prstDash val="solid"/>
          </a:ln>
        </p:spPr>
      </p:sp>
      <p:sp>
        <p:nvSpPr>
          <p:cNvPr id="14" name="Text 12"/>
          <p:cNvSpPr/>
          <p:nvPr/>
        </p:nvSpPr>
        <p:spPr>
          <a:xfrm>
            <a:off x="9646920" y="2743200"/>
            <a:ext cx="182880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Internshala</a:t>
            </a:r>
            <a:endParaRPr lang="en-US" sz="1200" dirty="0"/>
          </a:p>
        </p:txBody>
      </p:sp>
      <p:sp>
        <p:nvSpPr>
          <p:cNvPr id="15" name="Shape 13"/>
          <p:cNvSpPr/>
          <p:nvPr/>
        </p:nvSpPr>
        <p:spPr>
          <a:xfrm>
            <a:off x="548640" y="3200400"/>
            <a:ext cx="2194560" cy="457200"/>
          </a:xfrm>
          <a:prstGeom prst="rect">
            <a:avLst/>
          </a:prstGeom>
          <a:solidFill>
            <a:srgbClr val="FFFFFF"/>
          </a:solidFill>
          <a:ln w="6350">
            <a:solidFill>
              <a:srgbClr val="111111"/>
            </a:solidFill>
            <a:prstDash val="solid"/>
          </a:ln>
        </p:spPr>
      </p:sp>
      <p:sp>
        <p:nvSpPr>
          <p:cNvPr id="16" name="Text 14"/>
          <p:cNvSpPr/>
          <p:nvPr/>
        </p:nvSpPr>
        <p:spPr>
          <a:xfrm>
            <a:off x="685800" y="32004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Format</a:t>
            </a:r>
            <a:endParaRPr lang="en-US" sz="1200" dirty="0"/>
          </a:p>
        </p:txBody>
      </p:sp>
      <p:sp>
        <p:nvSpPr>
          <p:cNvPr id="17" name="Shape 15"/>
          <p:cNvSpPr/>
          <p:nvPr/>
        </p:nvSpPr>
        <p:spPr>
          <a:xfrm>
            <a:off x="2743200" y="3200400"/>
            <a:ext cx="2377440" cy="457200"/>
          </a:xfrm>
          <a:prstGeom prst="rect">
            <a:avLst/>
          </a:prstGeom>
          <a:solidFill>
            <a:srgbClr val="E63227"/>
          </a:solidFill>
          <a:ln w="6350">
            <a:solidFill>
              <a:srgbClr val="111111"/>
            </a:solidFill>
            <a:prstDash val="solid"/>
          </a:ln>
        </p:spPr>
      </p:sp>
      <p:sp>
        <p:nvSpPr>
          <p:cNvPr id="18" name="Text 16"/>
          <p:cNvSpPr/>
          <p:nvPr/>
        </p:nvSpPr>
        <p:spPr>
          <a:xfrm>
            <a:off x="2880360" y="32004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Apprenticeship</a:t>
            </a:r>
            <a:endParaRPr lang="en-US" sz="1200" dirty="0"/>
          </a:p>
        </p:txBody>
      </p:sp>
      <p:sp>
        <p:nvSpPr>
          <p:cNvPr id="19" name="Shape 17"/>
          <p:cNvSpPr/>
          <p:nvPr/>
        </p:nvSpPr>
        <p:spPr>
          <a:xfrm>
            <a:off x="5120640" y="3200400"/>
            <a:ext cx="2194560" cy="457200"/>
          </a:xfrm>
          <a:prstGeom prst="rect">
            <a:avLst/>
          </a:prstGeom>
          <a:solidFill>
            <a:srgbClr val="FFFFFF"/>
          </a:solidFill>
          <a:ln w="6350">
            <a:solidFill>
              <a:srgbClr val="111111"/>
            </a:solidFill>
            <a:prstDash val="solid"/>
          </a:ln>
        </p:spPr>
      </p:sp>
      <p:sp>
        <p:nvSpPr>
          <p:cNvPr id="20" name="Text 18"/>
          <p:cNvSpPr/>
          <p:nvPr/>
        </p:nvSpPr>
        <p:spPr>
          <a:xfrm>
            <a:off x="5257800" y="32004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Embedded school</a:t>
            </a:r>
            <a:endParaRPr lang="en-US" sz="1200" dirty="0"/>
          </a:p>
        </p:txBody>
      </p:sp>
      <p:sp>
        <p:nvSpPr>
          <p:cNvPr id="21" name="Shape 19"/>
          <p:cNvSpPr/>
          <p:nvPr/>
        </p:nvSpPr>
        <p:spPr>
          <a:xfrm>
            <a:off x="7315200" y="3200400"/>
            <a:ext cx="2194560" cy="457200"/>
          </a:xfrm>
          <a:prstGeom prst="rect">
            <a:avLst/>
          </a:prstGeom>
          <a:solidFill>
            <a:srgbClr val="FFFFFF"/>
          </a:solidFill>
          <a:ln w="6350">
            <a:solidFill>
              <a:srgbClr val="111111"/>
            </a:solidFill>
            <a:prstDash val="solid"/>
          </a:ln>
        </p:spPr>
      </p:sp>
      <p:sp>
        <p:nvSpPr>
          <p:cNvPr id="22" name="Text 20"/>
          <p:cNvSpPr/>
          <p:nvPr/>
        </p:nvSpPr>
        <p:spPr>
          <a:xfrm>
            <a:off x="7452360" y="32004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Video courses</a:t>
            </a:r>
            <a:endParaRPr lang="en-US" sz="1200" dirty="0"/>
          </a:p>
        </p:txBody>
      </p:sp>
      <p:sp>
        <p:nvSpPr>
          <p:cNvPr id="23" name="Shape 21"/>
          <p:cNvSpPr/>
          <p:nvPr/>
        </p:nvSpPr>
        <p:spPr>
          <a:xfrm>
            <a:off x="9509760" y="3200400"/>
            <a:ext cx="2103120" cy="457200"/>
          </a:xfrm>
          <a:prstGeom prst="rect">
            <a:avLst/>
          </a:prstGeom>
          <a:solidFill>
            <a:srgbClr val="FFFFFF"/>
          </a:solidFill>
          <a:ln w="6350">
            <a:solidFill>
              <a:srgbClr val="111111"/>
            </a:solidFill>
            <a:prstDash val="solid"/>
          </a:ln>
        </p:spPr>
      </p:sp>
      <p:sp>
        <p:nvSpPr>
          <p:cNvPr id="24" name="Text 22"/>
          <p:cNvSpPr/>
          <p:nvPr/>
        </p:nvSpPr>
        <p:spPr>
          <a:xfrm>
            <a:off x="9646920" y="3200400"/>
            <a:ext cx="182880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Self-paced</a:t>
            </a:r>
            <a:endParaRPr lang="en-US" sz="1200" dirty="0"/>
          </a:p>
        </p:txBody>
      </p:sp>
      <p:sp>
        <p:nvSpPr>
          <p:cNvPr id="25" name="Shape 23"/>
          <p:cNvSpPr/>
          <p:nvPr/>
        </p:nvSpPr>
        <p:spPr>
          <a:xfrm>
            <a:off x="548640" y="3657600"/>
            <a:ext cx="2194560" cy="457200"/>
          </a:xfrm>
          <a:prstGeom prst="rect">
            <a:avLst/>
          </a:prstGeom>
          <a:solidFill>
            <a:srgbClr val="FFFFFF"/>
          </a:solidFill>
          <a:ln w="6350">
            <a:solidFill>
              <a:srgbClr val="111111"/>
            </a:solidFill>
            <a:prstDash val="solid"/>
          </a:ln>
        </p:spPr>
      </p:sp>
      <p:sp>
        <p:nvSpPr>
          <p:cNvPr id="26" name="Text 24"/>
          <p:cNvSpPr/>
          <p:nvPr/>
        </p:nvSpPr>
        <p:spPr>
          <a:xfrm>
            <a:off x="685800" y="36576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AI-native?</a:t>
            </a:r>
            <a:endParaRPr lang="en-US" sz="1200" dirty="0"/>
          </a:p>
        </p:txBody>
      </p:sp>
      <p:sp>
        <p:nvSpPr>
          <p:cNvPr id="27" name="Shape 25"/>
          <p:cNvSpPr/>
          <p:nvPr/>
        </p:nvSpPr>
        <p:spPr>
          <a:xfrm>
            <a:off x="2743200" y="3657600"/>
            <a:ext cx="2377440" cy="457200"/>
          </a:xfrm>
          <a:prstGeom prst="rect">
            <a:avLst/>
          </a:prstGeom>
          <a:solidFill>
            <a:srgbClr val="E63227"/>
          </a:solidFill>
          <a:ln w="6350">
            <a:solidFill>
              <a:srgbClr val="111111"/>
            </a:solidFill>
            <a:prstDash val="solid"/>
          </a:ln>
        </p:spPr>
      </p:sp>
      <p:sp>
        <p:nvSpPr>
          <p:cNvPr id="28" name="Text 26"/>
          <p:cNvSpPr/>
          <p:nvPr/>
        </p:nvSpPr>
        <p:spPr>
          <a:xfrm>
            <a:off x="2880360" y="36576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Built-in</a:t>
            </a:r>
            <a:endParaRPr lang="en-US" sz="1200" dirty="0"/>
          </a:p>
        </p:txBody>
      </p:sp>
      <p:sp>
        <p:nvSpPr>
          <p:cNvPr id="29" name="Shape 27"/>
          <p:cNvSpPr/>
          <p:nvPr/>
        </p:nvSpPr>
        <p:spPr>
          <a:xfrm>
            <a:off x="5120640" y="3657600"/>
            <a:ext cx="2194560" cy="457200"/>
          </a:xfrm>
          <a:prstGeom prst="rect">
            <a:avLst/>
          </a:prstGeom>
          <a:solidFill>
            <a:srgbClr val="FFFFFF"/>
          </a:solidFill>
          <a:ln w="6350">
            <a:solidFill>
              <a:srgbClr val="111111"/>
            </a:solidFill>
            <a:prstDash val="solid"/>
          </a:ln>
        </p:spPr>
      </p:sp>
      <p:sp>
        <p:nvSpPr>
          <p:cNvPr id="30" name="Text 28"/>
          <p:cNvSpPr/>
          <p:nvPr/>
        </p:nvSpPr>
        <p:spPr>
          <a:xfrm>
            <a:off x="5257800" y="36576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Bolted on</a:t>
            </a:r>
            <a:endParaRPr lang="en-US" sz="1200" dirty="0"/>
          </a:p>
        </p:txBody>
      </p:sp>
      <p:sp>
        <p:nvSpPr>
          <p:cNvPr id="31" name="Shape 29"/>
          <p:cNvSpPr/>
          <p:nvPr/>
        </p:nvSpPr>
        <p:spPr>
          <a:xfrm>
            <a:off x="7315200" y="3657600"/>
            <a:ext cx="2194560" cy="457200"/>
          </a:xfrm>
          <a:prstGeom prst="rect">
            <a:avLst/>
          </a:prstGeom>
          <a:solidFill>
            <a:srgbClr val="FFFFFF"/>
          </a:solidFill>
          <a:ln w="6350">
            <a:solidFill>
              <a:srgbClr val="111111"/>
            </a:solidFill>
            <a:prstDash val="solid"/>
          </a:ln>
        </p:spPr>
      </p:sp>
      <p:sp>
        <p:nvSpPr>
          <p:cNvPr id="32" name="Text 30"/>
          <p:cNvSpPr/>
          <p:nvPr/>
        </p:nvSpPr>
        <p:spPr>
          <a:xfrm>
            <a:off x="7452360" y="36576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Generic literacy</a:t>
            </a:r>
            <a:endParaRPr lang="en-US" sz="1200" dirty="0"/>
          </a:p>
        </p:txBody>
      </p:sp>
      <p:sp>
        <p:nvSpPr>
          <p:cNvPr id="33" name="Shape 31"/>
          <p:cNvSpPr/>
          <p:nvPr/>
        </p:nvSpPr>
        <p:spPr>
          <a:xfrm>
            <a:off x="9509760" y="3657600"/>
            <a:ext cx="2103120" cy="457200"/>
          </a:xfrm>
          <a:prstGeom prst="rect">
            <a:avLst/>
          </a:prstGeom>
          <a:solidFill>
            <a:srgbClr val="FFFFFF"/>
          </a:solidFill>
          <a:ln w="6350">
            <a:solidFill>
              <a:srgbClr val="111111"/>
            </a:solidFill>
            <a:prstDash val="solid"/>
          </a:ln>
        </p:spPr>
      </p:sp>
      <p:sp>
        <p:nvSpPr>
          <p:cNvPr id="34" name="Text 32"/>
          <p:cNvSpPr/>
          <p:nvPr/>
        </p:nvSpPr>
        <p:spPr>
          <a:xfrm>
            <a:off x="9646920" y="3657600"/>
            <a:ext cx="182880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Basic prompts</a:t>
            </a:r>
            <a:endParaRPr lang="en-US" sz="1200" dirty="0"/>
          </a:p>
        </p:txBody>
      </p:sp>
      <p:sp>
        <p:nvSpPr>
          <p:cNvPr id="35" name="Shape 33"/>
          <p:cNvSpPr/>
          <p:nvPr/>
        </p:nvSpPr>
        <p:spPr>
          <a:xfrm>
            <a:off x="548640" y="4114800"/>
            <a:ext cx="2194560" cy="457200"/>
          </a:xfrm>
          <a:prstGeom prst="rect">
            <a:avLst/>
          </a:prstGeom>
          <a:solidFill>
            <a:srgbClr val="FFFFFF"/>
          </a:solidFill>
          <a:ln w="6350">
            <a:solidFill>
              <a:srgbClr val="111111"/>
            </a:solidFill>
            <a:prstDash val="solid"/>
          </a:ln>
        </p:spPr>
      </p:sp>
      <p:sp>
        <p:nvSpPr>
          <p:cNvPr id="36" name="Text 34"/>
          <p:cNvSpPr/>
          <p:nvPr/>
        </p:nvSpPr>
        <p:spPr>
          <a:xfrm>
            <a:off x="685800" y="41148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Evaluation</a:t>
            </a:r>
            <a:endParaRPr lang="en-US" sz="1200" dirty="0"/>
          </a:p>
        </p:txBody>
      </p:sp>
      <p:sp>
        <p:nvSpPr>
          <p:cNvPr id="37" name="Shape 35"/>
          <p:cNvSpPr/>
          <p:nvPr/>
        </p:nvSpPr>
        <p:spPr>
          <a:xfrm>
            <a:off x="2743200" y="4114800"/>
            <a:ext cx="2377440" cy="457200"/>
          </a:xfrm>
          <a:prstGeom prst="rect">
            <a:avLst/>
          </a:prstGeom>
          <a:solidFill>
            <a:srgbClr val="E63227"/>
          </a:solidFill>
          <a:ln w="6350">
            <a:solidFill>
              <a:srgbClr val="111111"/>
            </a:solidFill>
            <a:prstDash val="solid"/>
          </a:ln>
        </p:spPr>
      </p:sp>
      <p:sp>
        <p:nvSpPr>
          <p:cNvPr id="38" name="Text 36"/>
          <p:cNvSpPr/>
          <p:nvPr/>
        </p:nvSpPr>
        <p:spPr>
          <a:xfrm>
            <a:off x="2880360" y="41148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7-dim + external review</a:t>
            </a:r>
            <a:endParaRPr lang="en-US" sz="1200" dirty="0"/>
          </a:p>
        </p:txBody>
      </p:sp>
      <p:sp>
        <p:nvSpPr>
          <p:cNvPr id="39" name="Shape 37"/>
          <p:cNvSpPr/>
          <p:nvPr/>
        </p:nvSpPr>
        <p:spPr>
          <a:xfrm>
            <a:off x="5120640" y="4114800"/>
            <a:ext cx="2194560" cy="457200"/>
          </a:xfrm>
          <a:prstGeom prst="rect">
            <a:avLst/>
          </a:prstGeom>
          <a:solidFill>
            <a:srgbClr val="FFFFFF"/>
          </a:solidFill>
          <a:ln w="6350">
            <a:solidFill>
              <a:srgbClr val="111111"/>
            </a:solidFill>
            <a:prstDash val="solid"/>
          </a:ln>
        </p:spPr>
      </p:sp>
      <p:sp>
        <p:nvSpPr>
          <p:cNvPr id="40" name="Text 38"/>
          <p:cNvSpPr/>
          <p:nvPr/>
        </p:nvSpPr>
        <p:spPr>
          <a:xfrm>
            <a:off x="5257800" y="41148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Internal grading</a:t>
            </a:r>
            <a:endParaRPr lang="en-US" sz="1200" dirty="0"/>
          </a:p>
        </p:txBody>
      </p:sp>
      <p:sp>
        <p:nvSpPr>
          <p:cNvPr id="41" name="Shape 39"/>
          <p:cNvSpPr/>
          <p:nvPr/>
        </p:nvSpPr>
        <p:spPr>
          <a:xfrm>
            <a:off x="7315200" y="4114800"/>
            <a:ext cx="2194560" cy="457200"/>
          </a:xfrm>
          <a:prstGeom prst="rect">
            <a:avLst/>
          </a:prstGeom>
          <a:solidFill>
            <a:srgbClr val="FFFFFF"/>
          </a:solidFill>
          <a:ln w="6350">
            <a:solidFill>
              <a:srgbClr val="111111"/>
            </a:solidFill>
            <a:prstDash val="solid"/>
          </a:ln>
        </p:spPr>
      </p:sp>
      <p:sp>
        <p:nvSpPr>
          <p:cNvPr id="42" name="Text 40"/>
          <p:cNvSpPr/>
          <p:nvPr/>
        </p:nvSpPr>
        <p:spPr>
          <a:xfrm>
            <a:off x="7452360" y="41148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Course completion</a:t>
            </a:r>
            <a:endParaRPr lang="en-US" sz="1200" dirty="0"/>
          </a:p>
        </p:txBody>
      </p:sp>
      <p:sp>
        <p:nvSpPr>
          <p:cNvPr id="43" name="Shape 41"/>
          <p:cNvSpPr/>
          <p:nvPr/>
        </p:nvSpPr>
        <p:spPr>
          <a:xfrm>
            <a:off x="9509760" y="4114800"/>
            <a:ext cx="2103120" cy="457200"/>
          </a:xfrm>
          <a:prstGeom prst="rect">
            <a:avLst/>
          </a:prstGeom>
          <a:solidFill>
            <a:srgbClr val="FFFFFF"/>
          </a:solidFill>
          <a:ln w="6350">
            <a:solidFill>
              <a:srgbClr val="111111"/>
            </a:solidFill>
            <a:prstDash val="solid"/>
          </a:ln>
        </p:spPr>
      </p:sp>
      <p:sp>
        <p:nvSpPr>
          <p:cNvPr id="44" name="Text 42"/>
          <p:cNvSpPr/>
          <p:nvPr/>
        </p:nvSpPr>
        <p:spPr>
          <a:xfrm>
            <a:off x="9646920" y="4114800"/>
            <a:ext cx="182880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Auto certificate</a:t>
            </a:r>
            <a:endParaRPr lang="en-US" sz="1200" dirty="0"/>
          </a:p>
        </p:txBody>
      </p:sp>
      <p:sp>
        <p:nvSpPr>
          <p:cNvPr id="45" name="Shape 43"/>
          <p:cNvSpPr/>
          <p:nvPr/>
        </p:nvSpPr>
        <p:spPr>
          <a:xfrm>
            <a:off x="548640" y="4572000"/>
            <a:ext cx="2194560" cy="457200"/>
          </a:xfrm>
          <a:prstGeom prst="rect">
            <a:avLst/>
          </a:prstGeom>
          <a:solidFill>
            <a:srgbClr val="FFFFFF"/>
          </a:solidFill>
          <a:ln w="6350">
            <a:solidFill>
              <a:srgbClr val="111111"/>
            </a:solidFill>
            <a:prstDash val="solid"/>
          </a:ln>
        </p:spPr>
      </p:sp>
      <p:sp>
        <p:nvSpPr>
          <p:cNvPr id="46" name="Text 44"/>
          <p:cNvSpPr/>
          <p:nvPr/>
        </p:nvSpPr>
        <p:spPr>
          <a:xfrm>
            <a:off x="685800" y="45720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Output</a:t>
            </a:r>
            <a:endParaRPr lang="en-US" sz="1200" dirty="0"/>
          </a:p>
        </p:txBody>
      </p:sp>
      <p:sp>
        <p:nvSpPr>
          <p:cNvPr id="47" name="Shape 45"/>
          <p:cNvSpPr/>
          <p:nvPr/>
        </p:nvSpPr>
        <p:spPr>
          <a:xfrm>
            <a:off x="2743200" y="4572000"/>
            <a:ext cx="2377440" cy="457200"/>
          </a:xfrm>
          <a:prstGeom prst="rect">
            <a:avLst/>
          </a:prstGeom>
          <a:solidFill>
            <a:srgbClr val="E63227"/>
          </a:solidFill>
          <a:ln w="6350">
            <a:solidFill>
              <a:srgbClr val="111111"/>
            </a:solidFill>
            <a:prstDash val="solid"/>
          </a:ln>
        </p:spPr>
      </p:sp>
      <p:sp>
        <p:nvSpPr>
          <p:cNvPr id="48" name="Text 46"/>
          <p:cNvSpPr/>
          <p:nvPr/>
        </p:nvSpPr>
        <p:spPr>
          <a:xfrm>
            <a:off x="2880360" y="45720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Public portfolio</a:t>
            </a:r>
            <a:endParaRPr lang="en-US" sz="1200" dirty="0"/>
          </a:p>
        </p:txBody>
      </p:sp>
      <p:sp>
        <p:nvSpPr>
          <p:cNvPr id="49" name="Shape 47"/>
          <p:cNvSpPr/>
          <p:nvPr/>
        </p:nvSpPr>
        <p:spPr>
          <a:xfrm>
            <a:off x="5120640" y="4572000"/>
            <a:ext cx="2194560" cy="457200"/>
          </a:xfrm>
          <a:prstGeom prst="rect">
            <a:avLst/>
          </a:prstGeom>
          <a:solidFill>
            <a:srgbClr val="FFFFFF"/>
          </a:solidFill>
          <a:ln w="6350">
            <a:solidFill>
              <a:srgbClr val="111111"/>
            </a:solidFill>
            <a:prstDash val="solid"/>
          </a:ln>
        </p:spPr>
      </p:sp>
      <p:sp>
        <p:nvSpPr>
          <p:cNvPr id="50" name="Text 48"/>
          <p:cNvSpPr/>
          <p:nvPr/>
        </p:nvSpPr>
        <p:spPr>
          <a:xfrm>
            <a:off x="5257800" y="45720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Class projects</a:t>
            </a:r>
            <a:endParaRPr lang="en-US" sz="1200" dirty="0"/>
          </a:p>
        </p:txBody>
      </p:sp>
      <p:sp>
        <p:nvSpPr>
          <p:cNvPr id="51" name="Shape 49"/>
          <p:cNvSpPr/>
          <p:nvPr/>
        </p:nvSpPr>
        <p:spPr>
          <a:xfrm>
            <a:off x="7315200" y="4572000"/>
            <a:ext cx="2194560" cy="457200"/>
          </a:xfrm>
          <a:prstGeom prst="rect">
            <a:avLst/>
          </a:prstGeom>
          <a:solidFill>
            <a:srgbClr val="FFFFFF"/>
          </a:solidFill>
          <a:ln w="6350">
            <a:solidFill>
              <a:srgbClr val="111111"/>
            </a:solidFill>
            <a:prstDash val="solid"/>
          </a:ln>
        </p:spPr>
      </p:sp>
      <p:sp>
        <p:nvSpPr>
          <p:cNvPr id="52" name="Text 50"/>
          <p:cNvSpPr/>
          <p:nvPr/>
        </p:nvSpPr>
        <p:spPr>
          <a:xfrm>
            <a:off x="7452360" y="45720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Certificate</a:t>
            </a:r>
            <a:endParaRPr lang="en-US" sz="1200" dirty="0"/>
          </a:p>
        </p:txBody>
      </p:sp>
      <p:sp>
        <p:nvSpPr>
          <p:cNvPr id="53" name="Shape 51"/>
          <p:cNvSpPr/>
          <p:nvPr/>
        </p:nvSpPr>
        <p:spPr>
          <a:xfrm>
            <a:off x="9509760" y="4572000"/>
            <a:ext cx="2103120" cy="457200"/>
          </a:xfrm>
          <a:prstGeom prst="rect">
            <a:avLst/>
          </a:prstGeom>
          <a:solidFill>
            <a:srgbClr val="FFFFFF"/>
          </a:solidFill>
          <a:ln w="6350">
            <a:solidFill>
              <a:srgbClr val="111111"/>
            </a:solidFill>
            <a:prstDash val="solid"/>
          </a:ln>
        </p:spPr>
      </p:sp>
      <p:sp>
        <p:nvSpPr>
          <p:cNvPr id="54" name="Text 52"/>
          <p:cNvSpPr/>
          <p:nvPr/>
        </p:nvSpPr>
        <p:spPr>
          <a:xfrm>
            <a:off x="9646920" y="4572000"/>
            <a:ext cx="182880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Certificate</a:t>
            </a:r>
            <a:endParaRPr lang="en-US" sz="1200" dirty="0"/>
          </a:p>
        </p:txBody>
      </p:sp>
      <p:sp>
        <p:nvSpPr>
          <p:cNvPr id="55" name="Shape 53"/>
          <p:cNvSpPr/>
          <p:nvPr/>
        </p:nvSpPr>
        <p:spPr>
          <a:xfrm>
            <a:off x="548640" y="5029200"/>
            <a:ext cx="2194560" cy="457200"/>
          </a:xfrm>
          <a:prstGeom prst="rect">
            <a:avLst/>
          </a:prstGeom>
          <a:solidFill>
            <a:srgbClr val="FFFFFF"/>
          </a:solidFill>
          <a:ln w="6350">
            <a:solidFill>
              <a:srgbClr val="111111"/>
            </a:solidFill>
            <a:prstDash val="solid"/>
          </a:ln>
        </p:spPr>
      </p:sp>
      <p:sp>
        <p:nvSpPr>
          <p:cNvPr id="56" name="Text 54"/>
          <p:cNvSpPr/>
          <p:nvPr/>
        </p:nvSpPr>
        <p:spPr>
          <a:xfrm>
            <a:off x="685800" y="50292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Pass rate</a:t>
            </a:r>
            <a:endParaRPr lang="en-US" sz="1200" dirty="0"/>
          </a:p>
        </p:txBody>
      </p:sp>
      <p:sp>
        <p:nvSpPr>
          <p:cNvPr id="57" name="Shape 55"/>
          <p:cNvSpPr/>
          <p:nvPr/>
        </p:nvSpPr>
        <p:spPr>
          <a:xfrm>
            <a:off x="2743200" y="5029200"/>
            <a:ext cx="2377440" cy="457200"/>
          </a:xfrm>
          <a:prstGeom prst="rect">
            <a:avLst/>
          </a:prstGeom>
          <a:solidFill>
            <a:srgbClr val="E63227"/>
          </a:solidFill>
          <a:ln w="6350">
            <a:solidFill>
              <a:srgbClr val="111111"/>
            </a:solidFill>
            <a:prstDash val="solid"/>
          </a:ln>
        </p:spPr>
      </p:sp>
      <p:sp>
        <p:nvSpPr>
          <p:cNvPr id="58" name="Text 56"/>
          <p:cNvSpPr/>
          <p:nvPr/>
        </p:nvSpPr>
        <p:spPr>
          <a:xfrm>
            <a:off x="2880360" y="50292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~70% (gated)</a:t>
            </a:r>
            <a:endParaRPr lang="en-US" sz="1200" dirty="0"/>
          </a:p>
        </p:txBody>
      </p:sp>
      <p:sp>
        <p:nvSpPr>
          <p:cNvPr id="59" name="Shape 57"/>
          <p:cNvSpPr/>
          <p:nvPr/>
        </p:nvSpPr>
        <p:spPr>
          <a:xfrm>
            <a:off x="5120640" y="5029200"/>
            <a:ext cx="2194560" cy="457200"/>
          </a:xfrm>
          <a:prstGeom prst="rect">
            <a:avLst/>
          </a:prstGeom>
          <a:solidFill>
            <a:srgbClr val="FFFFFF"/>
          </a:solidFill>
          <a:ln w="6350">
            <a:solidFill>
              <a:srgbClr val="111111"/>
            </a:solidFill>
            <a:prstDash val="solid"/>
          </a:ln>
        </p:spPr>
      </p:sp>
      <p:sp>
        <p:nvSpPr>
          <p:cNvPr id="60" name="Text 58"/>
          <p:cNvSpPr/>
          <p:nvPr/>
        </p:nvSpPr>
        <p:spPr>
          <a:xfrm>
            <a:off x="5257800" y="50292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~90%+</a:t>
            </a:r>
            <a:endParaRPr lang="en-US" sz="1200" dirty="0"/>
          </a:p>
        </p:txBody>
      </p:sp>
      <p:sp>
        <p:nvSpPr>
          <p:cNvPr id="61" name="Shape 59"/>
          <p:cNvSpPr/>
          <p:nvPr/>
        </p:nvSpPr>
        <p:spPr>
          <a:xfrm>
            <a:off x="7315200" y="5029200"/>
            <a:ext cx="2194560" cy="457200"/>
          </a:xfrm>
          <a:prstGeom prst="rect">
            <a:avLst/>
          </a:prstGeom>
          <a:solidFill>
            <a:srgbClr val="FFFFFF"/>
          </a:solidFill>
          <a:ln w="6350">
            <a:solidFill>
              <a:srgbClr val="111111"/>
            </a:solidFill>
            <a:prstDash val="solid"/>
          </a:ln>
        </p:spPr>
      </p:sp>
      <p:sp>
        <p:nvSpPr>
          <p:cNvPr id="62" name="Text 60"/>
          <p:cNvSpPr/>
          <p:nvPr/>
        </p:nvSpPr>
        <p:spPr>
          <a:xfrm>
            <a:off x="7452360" y="50292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~95%+</a:t>
            </a:r>
            <a:endParaRPr lang="en-US" sz="1200" dirty="0"/>
          </a:p>
        </p:txBody>
      </p:sp>
      <p:sp>
        <p:nvSpPr>
          <p:cNvPr id="63" name="Shape 61"/>
          <p:cNvSpPr/>
          <p:nvPr/>
        </p:nvSpPr>
        <p:spPr>
          <a:xfrm>
            <a:off x="9509760" y="5029200"/>
            <a:ext cx="2103120" cy="457200"/>
          </a:xfrm>
          <a:prstGeom prst="rect">
            <a:avLst/>
          </a:prstGeom>
          <a:solidFill>
            <a:srgbClr val="FFFFFF"/>
          </a:solidFill>
          <a:ln w="6350">
            <a:solidFill>
              <a:srgbClr val="111111"/>
            </a:solidFill>
            <a:prstDash val="solid"/>
          </a:ln>
        </p:spPr>
      </p:sp>
      <p:sp>
        <p:nvSpPr>
          <p:cNvPr id="64" name="Text 62"/>
          <p:cNvSpPr/>
          <p:nvPr/>
        </p:nvSpPr>
        <p:spPr>
          <a:xfrm>
            <a:off x="9646920" y="5029200"/>
            <a:ext cx="182880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~95%+</a:t>
            </a:r>
            <a:endParaRPr lang="en-US" sz="1200" dirty="0"/>
          </a:p>
        </p:txBody>
      </p:sp>
      <p:sp>
        <p:nvSpPr>
          <p:cNvPr id="65" name="Shape 63"/>
          <p:cNvSpPr/>
          <p:nvPr/>
        </p:nvSpPr>
        <p:spPr>
          <a:xfrm>
            <a:off x="548640" y="5486400"/>
            <a:ext cx="2194560" cy="457200"/>
          </a:xfrm>
          <a:prstGeom prst="rect">
            <a:avLst/>
          </a:prstGeom>
          <a:solidFill>
            <a:srgbClr val="FFFFFF"/>
          </a:solidFill>
          <a:ln w="6350">
            <a:solidFill>
              <a:srgbClr val="111111"/>
            </a:solidFill>
            <a:prstDash val="solid"/>
          </a:ln>
        </p:spPr>
      </p:sp>
      <p:sp>
        <p:nvSpPr>
          <p:cNvPr id="66" name="Text 64"/>
          <p:cNvSpPr/>
          <p:nvPr/>
        </p:nvSpPr>
        <p:spPr>
          <a:xfrm>
            <a:off x="685800" y="5486400"/>
            <a:ext cx="1920240" cy="457200"/>
          </a:xfrm>
          <a:prstGeom prst="rect">
            <a:avLst/>
          </a:prstGeom>
          <a:noFill/>
          <a:ln/>
        </p:spPr>
        <p:txBody>
          <a:bodyPr wrap="square" lIns="0" tIns="0" rIns="0" bIns="0" rtlCol="0" anchor="ctr"/>
          <a:lstStyle/>
          <a:p>
            <a:pPr indent="0" marL="0">
              <a:buNone/>
            </a:pPr>
            <a:r>
              <a:rPr lang="en-US" sz="1200" b="1" dirty="0">
                <a:solidFill>
                  <a:srgbClr val="111111"/>
                </a:solidFill>
                <a:latin typeface="Inter" pitchFamily="34" charset="0"/>
                <a:ea typeface="Inter" pitchFamily="34" charset="-122"/>
                <a:cs typeface="Inter" pitchFamily="34" charset="-120"/>
              </a:rPr>
              <a:t>Price</a:t>
            </a:r>
            <a:endParaRPr lang="en-US" sz="1200" dirty="0"/>
          </a:p>
        </p:txBody>
      </p:sp>
      <p:sp>
        <p:nvSpPr>
          <p:cNvPr id="67" name="Shape 65"/>
          <p:cNvSpPr/>
          <p:nvPr/>
        </p:nvSpPr>
        <p:spPr>
          <a:xfrm>
            <a:off x="2743200" y="5486400"/>
            <a:ext cx="2377440" cy="457200"/>
          </a:xfrm>
          <a:prstGeom prst="rect">
            <a:avLst/>
          </a:prstGeom>
          <a:solidFill>
            <a:srgbClr val="E63227"/>
          </a:solidFill>
          <a:ln w="6350">
            <a:solidFill>
              <a:srgbClr val="111111"/>
            </a:solidFill>
            <a:prstDash val="solid"/>
          </a:ln>
        </p:spPr>
      </p:sp>
      <p:sp>
        <p:nvSpPr>
          <p:cNvPr id="68" name="Text 66"/>
          <p:cNvSpPr/>
          <p:nvPr/>
        </p:nvSpPr>
        <p:spPr>
          <a:xfrm>
            <a:off x="2880360" y="548640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₹20–25K</a:t>
            </a:r>
            <a:endParaRPr lang="en-US" sz="1200" dirty="0"/>
          </a:p>
        </p:txBody>
      </p:sp>
      <p:sp>
        <p:nvSpPr>
          <p:cNvPr id="69" name="Shape 67"/>
          <p:cNvSpPr/>
          <p:nvPr/>
        </p:nvSpPr>
        <p:spPr>
          <a:xfrm>
            <a:off x="5120640" y="5486400"/>
            <a:ext cx="2194560" cy="457200"/>
          </a:xfrm>
          <a:prstGeom prst="rect">
            <a:avLst/>
          </a:prstGeom>
          <a:solidFill>
            <a:srgbClr val="FFFFFF"/>
          </a:solidFill>
          <a:ln w="6350">
            <a:solidFill>
              <a:srgbClr val="111111"/>
            </a:solidFill>
            <a:prstDash val="solid"/>
          </a:ln>
        </p:spPr>
      </p:sp>
      <p:sp>
        <p:nvSpPr>
          <p:cNvPr id="70" name="Text 68"/>
          <p:cNvSpPr/>
          <p:nvPr/>
        </p:nvSpPr>
        <p:spPr>
          <a:xfrm>
            <a:off x="5257800" y="54864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₹3–5L</a:t>
            </a:r>
            <a:endParaRPr lang="en-US" sz="1200" dirty="0"/>
          </a:p>
        </p:txBody>
      </p:sp>
      <p:sp>
        <p:nvSpPr>
          <p:cNvPr id="71" name="Shape 69"/>
          <p:cNvSpPr/>
          <p:nvPr/>
        </p:nvSpPr>
        <p:spPr>
          <a:xfrm>
            <a:off x="7315200" y="5486400"/>
            <a:ext cx="2194560" cy="457200"/>
          </a:xfrm>
          <a:prstGeom prst="rect">
            <a:avLst/>
          </a:prstGeom>
          <a:solidFill>
            <a:srgbClr val="FFFFFF"/>
          </a:solidFill>
          <a:ln w="6350">
            <a:solidFill>
              <a:srgbClr val="111111"/>
            </a:solidFill>
            <a:prstDash val="solid"/>
          </a:ln>
        </p:spPr>
      </p:sp>
      <p:sp>
        <p:nvSpPr>
          <p:cNvPr id="72" name="Text 70"/>
          <p:cNvSpPr/>
          <p:nvPr/>
        </p:nvSpPr>
        <p:spPr>
          <a:xfrm>
            <a:off x="7452360" y="5486400"/>
            <a:ext cx="192024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₹15–40K</a:t>
            </a:r>
            <a:endParaRPr lang="en-US" sz="1200" dirty="0"/>
          </a:p>
        </p:txBody>
      </p:sp>
      <p:sp>
        <p:nvSpPr>
          <p:cNvPr id="73" name="Shape 71"/>
          <p:cNvSpPr/>
          <p:nvPr/>
        </p:nvSpPr>
        <p:spPr>
          <a:xfrm>
            <a:off x="9509760" y="5486400"/>
            <a:ext cx="2103120" cy="457200"/>
          </a:xfrm>
          <a:prstGeom prst="rect">
            <a:avLst/>
          </a:prstGeom>
          <a:solidFill>
            <a:srgbClr val="FFFFFF"/>
          </a:solidFill>
          <a:ln w="6350">
            <a:solidFill>
              <a:srgbClr val="111111"/>
            </a:solidFill>
            <a:prstDash val="solid"/>
          </a:ln>
        </p:spPr>
      </p:sp>
      <p:sp>
        <p:nvSpPr>
          <p:cNvPr id="74" name="Text 72"/>
          <p:cNvSpPr/>
          <p:nvPr/>
        </p:nvSpPr>
        <p:spPr>
          <a:xfrm>
            <a:off x="9646920" y="5486400"/>
            <a:ext cx="1828800" cy="457200"/>
          </a:xfrm>
          <a:prstGeom prst="rect">
            <a:avLst/>
          </a:prstGeom>
          <a:noFill/>
          <a:ln/>
        </p:spPr>
        <p:txBody>
          <a:bodyPr wrap="square" lIns="0" tIns="0" rIns="0" bIns="0" rtlCol="0" anchor="ctr"/>
          <a:lstStyle/>
          <a:p>
            <a:pPr indent="0" marL="0">
              <a:buNone/>
            </a:pPr>
            <a:r>
              <a:rPr lang="en-US" sz="1200" dirty="0">
                <a:solidFill>
                  <a:srgbClr val="111111"/>
                </a:solidFill>
                <a:latin typeface="Inter" pitchFamily="34" charset="0"/>
                <a:ea typeface="Inter" pitchFamily="34" charset="-122"/>
                <a:cs typeface="Inter" pitchFamily="34" charset="-120"/>
              </a:rPr>
              <a:t>₹2–5K</a:t>
            </a:r>
            <a:endParaRPr lang="en-US" sz="1200" dirty="0"/>
          </a:p>
        </p:txBody>
      </p:sp>
      <p:sp>
        <p:nvSpPr>
          <p:cNvPr id="75" name="Shape 73"/>
          <p:cNvSpPr/>
          <p:nvPr/>
        </p:nvSpPr>
        <p:spPr>
          <a:xfrm>
            <a:off x="548640" y="6355080"/>
            <a:ext cx="11094415" cy="0"/>
          </a:xfrm>
          <a:prstGeom prst="line">
            <a:avLst/>
          </a:prstGeom>
          <a:noFill/>
          <a:ln w="9525">
            <a:solidFill>
              <a:srgbClr val="111111"/>
            </a:solidFill>
            <a:prstDash val="solid"/>
          </a:ln>
        </p:spPr>
      </p:sp>
      <p:sp>
        <p:nvSpPr>
          <p:cNvPr id="76" name="Text 74"/>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How We Differ</a:t>
            </a:r>
            <a:endParaRPr lang="en-US" sz="900" dirty="0"/>
          </a:p>
        </p:txBody>
      </p:sp>
      <p:sp>
        <p:nvSpPr>
          <p:cNvPr id="77" name="Shape 75"/>
          <p:cNvSpPr/>
          <p:nvPr/>
        </p:nvSpPr>
        <p:spPr>
          <a:xfrm>
            <a:off x="10911535" y="6400800"/>
            <a:ext cx="777240" cy="274320"/>
          </a:xfrm>
          <a:prstGeom prst="rect">
            <a:avLst/>
          </a:prstGeom>
          <a:solidFill>
            <a:srgbClr val="111111"/>
          </a:solidFill>
          <a:ln w="12700">
            <a:solidFill>
              <a:srgbClr val="111111"/>
            </a:solidFill>
            <a:prstDash val="solid"/>
          </a:ln>
        </p:spPr>
      </p:sp>
      <p:sp>
        <p:nvSpPr>
          <p:cNvPr id="78" name="Text 76"/>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11111"/>
          </a:solidFill>
          <a:ln w="12700">
            <a:solidFill>
              <a:srgbClr val="111111"/>
            </a:solidFill>
            <a:prstDash val="solid"/>
          </a:ln>
        </p:spPr>
      </p:sp>
      <p:sp>
        <p:nvSpPr>
          <p:cNvPr id="3" name="Text 1"/>
          <p:cNvSpPr/>
          <p:nvPr/>
        </p:nvSpPr>
        <p:spPr>
          <a:xfrm>
            <a:off x="7772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14 / 17  </a:t>
            </a:r>
            <a:pPr indent="0" marL="0">
              <a:buNone/>
            </a:pPr>
            <a:r>
              <a:rPr lang="en-US" sz="1000" b="1" spc="400" kern="0" dirty="0">
                <a:solidFill>
                  <a:srgbClr val="111111"/>
                </a:solidFill>
                <a:latin typeface="Inter" pitchFamily="34" charset="0"/>
                <a:ea typeface="Inter" pitchFamily="34" charset="-122"/>
                <a:cs typeface="Inter" pitchFamily="34" charset="-120"/>
              </a:rPr>
              <a:t>WHY I'M BUILDING THIS</a:t>
            </a:r>
            <a:endParaRPr lang="en-US" sz="1000" dirty="0"/>
          </a:p>
        </p:txBody>
      </p:sp>
      <p:sp>
        <p:nvSpPr>
          <p:cNvPr id="4" name="Text 2"/>
          <p:cNvSpPr/>
          <p:nvPr/>
        </p:nvSpPr>
        <p:spPr>
          <a:xfrm>
            <a:off x="777240" y="868680"/>
            <a:ext cx="10972800" cy="2286000"/>
          </a:xfrm>
          <a:prstGeom prst="rect">
            <a:avLst/>
          </a:prstGeom>
          <a:noFill/>
          <a:ln/>
        </p:spPr>
        <p:txBody>
          <a:bodyPr wrap="square" lIns="0" tIns="0" rIns="0" bIns="0" rtlCol="0" anchor="ctr"/>
          <a:lstStyle/>
          <a:p>
            <a:pPr indent="0" marL="0">
              <a:lnSpc>
                <a:spcPts val="3600"/>
              </a:lnSpc>
              <a:buNone/>
            </a:pPr>
            <a:r>
              <a:rPr lang="en-US" sz="2800" b="1" spc="-50" kern="0" dirty="0">
                <a:solidFill>
                  <a:srgbClr val="111111"/>
                </a:solidFill>
                <a:latin typeface="Inter" pitchFamily="34" charset="0"/>
                <a:ea typeface="Inter" pitchFamily="34" charset="-122"/>
                <a:cs typeface="Inter" pitchFamily="34" charset="-120"/>
              </a:rPr>
              <a:t>AI is reshaping how software is built.
</a:t>
            </a:r>
            <a:pPr indent="0" marL="0">
              <a:lnSpc>
                <a:spcPts val="3600"/>
              </a:lnSpc>
              <a:buNone/>
            </a:pPr>
            <a:r>
              <a:rPr lang="en-US" sz="2800" b="1" spc="-50" kern="0" dirty="0">
                <a:solidFill>
                  <a:srgbClr val="111111"/>
                </a:solidFill>
                <a:latin typeface="Inter" pitchFamily="34" charset="0"/>
                <a:ea typeface="Inter" pitchFamily="34" charset="-122"/>
                <a:cs typeface="Inter" pitchFamily="34" charset="-120"/>
              </a:rPr>
              <a:t>India can either supply this workforce —
</a:t>
            </a:r>
            <a:pPr indent="0" marL="0">
              <a:lnSpc>
                <a:spcPts val="3600"/>
              </a:lnSpc>
              <a:buNone/>
            </a:pPr>
            <a:r>
              <a:rPr lang="en-US" sz="2800" b="1" spc="-50" kern="0" dirty="0">
                <a:solidFill>
                  <a:srgbClr val="E63227"/>
                </a:solidFill>
                <a:latin typeface="Inter" pitchFamily="34" charset="0"/>
                <a:ea typeface="Inter" pitchFamily="34" charset="-122"/>
                <a:cs typeface="Inter" pitchFamily="34" charset="-120"/>
              </a:rPr>
              <a:t>or be supplied by it.</a:t>
            </a:r>
            <a:endParaRPr lang="en-US" sz="2800" dirty="0"/>
          </a:p>
        </p:txBody>
      </p:sp>
      <p:sp>
        <p:nvSpPr>
          <p:cNvPr id="5" name="Text 3"/>
          <p:cNvSpPr/>
          <p:nvPr/>
        </p:nvSpPr>
        <p:spPr>
          <a:xfrm>
            <a:off x="777240" y="3657600"/>
            <a:ext cx="3611880" cy="320040"/>
          </a:xfrm>
          <a:prstGeom prst="rect">
            <a:avLst/>
          </a:prstGeom>
          <a:noFill/>
          <a:ln/>
        </p:spPr>
        <p:txBody>
          <a:bodyPr wrap="square" lIns="0" tIns="0" rIns="0" bIns="0" rtlCol="0" anchor="ctr"/>
          <a:lstStyle/>
          <a:p>
            <a:pPr indent="0" marL="0">
              <a:buNone/>
            </a:pPr>
            <a:r>
              <a:rPr lang="en-US" sz="1100" b="1" spc="500" kern="0" dirty="0">
                <a:solidFill>
                  <a:srgbClr val="E63227"/>
                </a:solidFill>
                <a:latin typeface="Inter" pitchFamily="34" charset="0"/>
                <a:ea typeface="Inter" pitchFamily="34" charset="-122"/>
                <a:cs typeface="Inter" pitchFamily="34" charset="-120"/>
              </a:rPr>
              <a:t>WHAT I'VE SEEN</a:t>
            </a:r>
            <a:endParaRPr lang="en-US" sz="1100" dirty="0"/>
          </a:p>
        </p:txBody>
      </p:sp>
      <p:sp>
        <p:nvSpPr>
          <p:cNvPr id="6" name="Shape 4"/>
          <p:cNvSpPr/>
          <p:nvPr/>
        </p:nvSpPr>
        <p:spPr>
          <a:xfrm>
            <a:off x="777240" y="4069080"/>
            <a:ext cx="3337560" cy="0"/>
          </a:xfrm>
          <a:prstGeom prst="line">
            <a:avLst/>
          </a:prstGeom>
          <a:noFill/>
          <a:ln w="12700">
            <a:solidFill>
              <a:srgbClr val="111111"/>
            </a:solidFill>
            <a:prstDash val="solid"/>
          </a:ln>
        </p:spPr>
      </p:sp>
      <p:sp>
        <p:nvSpPr>
          <p:cNvPr id="7" name="Text 5"/>
          <p:cNvSpPr/>
          <p:nvPr/>
        </p:nvSpPr>
        <p:spPr>
          <a:xfrm>
            <a:off x="777240" y="4206240"/>
            <a:ext cx="3429000" cy="2194560"/>
          </a:xfrm>
          <a:prstGeom prst="rect">
            <a:avLst/>
          </a:prstGeom>
          <a:noFill/>
          <a:ln/>
        </p:spPr>
        <p:txBody>
          <a:bodyPr wrap="square" lIns="0" tIns="0" rIns="0" bIns="0" rtlCol="0" anchor="ctr"/>
          <a:lstStyle/>
          <a:p>
            <a:pPr indent="0" marL="0">
              <a:lnSpc>
                <a:spcPts val="1700"/>
              </a:lnSpc>
              <a:buNone/>
            </a:pPr>
            <a:r>
              <a:rPr lang="en-US" sz="1200" dirty="0">
                <a:solidFill>
                  <a:srgbClr val="111111"/>
                </a:solidFill>
                <a:latin typeface="Inter" pitchFamily="34" charset="0"/>
                <a:ea typeface="Inter" pitchFamily="34" charset="-122"/>
                <a:cs typeface="Inter" pitchFamily="34" charset="-120"/>
              </a:rPr>
              <a:t>Working at an AI-native company in the US, I see what AI-first startups actually hire for. The gap between that profile and what Indian colleges produce is structural, not cosmetic. It is also closeable in 13 weeks if the apprenticeship is rigorous.</a:t>
            </a:r>
            <a:endParaRPr lang="en-US" sz="1200" dirty="0"/>
          </a:p>
        </p:txBody>
      </p:sp>
      <p:sp>
        <p:nvSpPr>
          <p:cNvPr id="8" name="Text 6"/>
          <p:cNvSpPr/>
          <p:nvPr/>
        </p:nvSpPr>
        <p:spPr>
          <a:xfrm>
            <a:off x="4526280" y="3657600"/>
            <a:ext cx="3611880" cy="320040"/>
          </a:xfrm>
          <a:prstGeom prst="rect">
            <a:avLst/>
          </a:prstGeom>
          <a:noFill/>
          <a:ln/>
        </p:spPr>
        <p:txBody>
          <a:bodyPr wrap="square" lIns="0" tIns="0" rIns="0" bIns="0" rtlCol="0" anchor="ctr"/>
          <a:lstStyle/>
          <a:p>
            <a:pPr indent="0" marL="0">
              <a:buNone/>
            </a:pPr>
            <a:r>
              <a:rPr lang="en-US" sz="1100" b="1" spc="500" kern="0" dirty="0">
                <a:solidFill>
                  <a:srgbClr val="E63227"/>
                </a:solidFill>
                <a:latin typeface="Inter" pitchFamily="34" charset="0"/>
                <a:ea typeface="Inter" pitchFamily="34" charset="-122"/>
                <a:cs typeface="Inter" pitchFamily="34" charset="-120"/>
              </a:rPr>
              <a:t>WHY ME</a:t>
            </a:r>
            <a:endParaRPr lang="en-US" sz="1100" dirty="0"/>
          </a:p>
        </p:txBody>
      </p:sp>
      <p:sp>
        <p:nvSpPr>
          <p:cNvPr id="9" name="Shape 7"/>
          <p:cNvSpPr/>
          <p:nvPr/>
        </p:nvSpPr>
        <p:spPr>
          <a:xfrm>
            <a:off x="4526280" y="4069080"/>
            <a:ext cx="3337560" cy="0"/>
          </a:xfrm>
          <a:prstGeom prst="line">
            <a:avLst/>
          </a:prstGeom>
          <a:noFill/>
          <a:ln w="12700">
            <a:solidFill>
              <a:srgbClr val="111111"/>
            </a:solidFill>
            <a:prstDash val="solid"/>
          </a:ln>
        </p:spPr>
      </p:sp>
      <p:sp>
        <p:nvSpPr>
          <p:cNvPr id="10" name="Text 8"/>
          <p:cNvSpPr/>
          <p:nvPr/>
        </p:nvSpPr>
        <p:spPr>
          <a:xfrm>
            <a:off x="4526280" y="4206240"/>
            <a:ext cx="3429000" cy="2194560"/>
          </a:xfrm>
          <a:prstGeom prst="rect">
            <a:avLst/>
          </a:prstGeom>
          <a:noFill/>
          <a:ln/>
        </p:spPr>
        <p:txBody>
          <a:bodyPr wrap="square" lIns="0" tIns="0" rIns="0" bIns="0" rtlCol="0" anchor="ctr"/>
          <a:lstStyle/>
          <a:p>
            <a:pPr indent="0" marL="0">
              <a:lnSpc>
                <a:spcPts val="1700"/>
              </a:lnSpc>
              <a:buNone/>
            </a:pPr>
            <a:r>
              <a:rPr lang="en-US" sz="1200" dirty="0">
                <a:solidFill>
                  <a:srgbClr val="111111"/>
                </a:solidFill>
                <a:latin typeface="Inter" pitchFamily="34" charset="0"/>
                <a:ea typeface="Inter" pitchFamily="34" charset="-122"/>
                <a:cs typeface="Inter" pitchFamily="34" charset="-120"/>
              </a:rPr>
              <a:t>IIT Bombay gave me the engineering foundation. Cornell Johnson sharpened the operating lens. Founding an AI-native company taught me what shipping actually feels like. The combination is what's needed to build a credible apprenticeship.</a:t>
            </a:r>
            <a:endParaRPr lang="en-US" sz="1200" dirty="0"/>
          </a:p>
        </p:txBody>
      </p:sp>
      <p:sp>
        <p:nvSpPr>
          <p:cNvPr id="11" name="Text 9"/>
          <p:cNvSpPr/>
          <p:nvPr/>
        </p:nvSpPr>
        <p:spPr>
          <a:xfrm>
            <a:off x="8275320" y="3657600"/>
            <a:ext cx="3611880" cy="320040"/>
          </a:xfrm>
          <a:prstGeom prst="rect">
            <a:avLst/>
          </a:prstGeom>
          <a:noFill/>
          <a:ln/>
        </p:spPr>
        <p:txBody>
          <a:bodyPr wrap="square" lIns="0" tIns="0" rIns="0" bIns="0" rtlCol="0" anchor="ctr"/>
          <a:lstStyle/>
          <a:p>
            <a:pPr indent="0" marL="0">
              <a:buNone/>
            </a:pPr>
            <a:r>
              <a:rPr lang="en-US" sz="1100" b="1" spc="500" kern="0" dirty="0">
                <a:solidFill>
                  <a:srgbClr val="E63227"/>
                </a:solidFill>
                <a:latin typeface="Inter" pitchFamily="34" charset="0"/>
                <a:ea typeface="Inter" pitchFamily="34" charset="-122"/>
                <a:cs typeface="Inter" pitchFamily="34" charset="-120"/>
              </a:rPr>
              <a:t>WHY NOW</a:t>
            </a:r>
            <a:endParaRPr lang="en-US" sz="1100" dirty="0"/>
          </a:p>
        </p:txBody>
      </p:sp>
      <p:sp>
        <p:nvSpPr>
          <p:cNvPr id="12" name="Shape 10"/>
          <p:cNvSpPr/>
          <p:nvPr/>
        </p:nvSpPr>
        <p:spPr>
          <a:xfrm>
            <a:off x="8275320" y="4069080"/>
            <a:ext cx="3337560" cy="0"/>
          </a:xfrm>
          <a:prstGeom prst="line">
            <a:avLst/>
          </a:prstGeom>
          <a:noFill/>
          <a:ln w="12700">
            <a:solidFill>
              <a:srgbClr val="111111"/>
            </a:solidFill>
            <a:prstDash val="solid"/>
          </a:ln>
        </p:spPr>
      </p:sp>
      <p:sp>
        <p:nvSpPr>
          <p:cNvPr id="13" name="Text 11"/>
          <p:cNvSpPr/>
          <p:nvPr/>
        </p:nvSpPr>
        <p:spPr>
          <a:xfrm>
            <a:off x="8275320" y="4206240"/>
            <a:ext cx="3429000" cy="2194560"/>
          </a:xfrm>
          <a:prstGeom prst="rect">
            <a:avLst/>
          </a:prstGeom>
          <a:noFill/>
          <a:ln/>
        </p:spPr>
        <p:txBody>
          <a:bodyPr wrap="square" lIns="0" tIns="0" rIns="0" bIns="0" rtlCol="0" anchor="ctr"/>
          <a:lstStyle/>
          <a:p>
            <a:pPr indent="0" marL="0">
              <a:lnSpc>
                <a:spcPts val="1700"/>
              </a:lnSpc>
              <a:buNone/>
            </a:pPr>
            <a:r>
              <a:rPr lang="en-US" sz="1200" dirty="0">
                <a:solidFill>
                  <a:srgbClr val="111111"/>
                </a:solidFill>
                <a:latin typeface="Inter" pitchFamily="34" charset="0"/>
                <a:ea typeface="Inter" pitchFamily="34" charset="-122"/>
                <a:cs typeface="Inter" pitchFamily="34" charset="-120"/>
              </a:rPr>
              <a:t>AI-assisted engineering is no longer a 5-year horizon. It is the workflow. The colleges that integrate it over the next 18 months will define their placement decade. The ones that wait will spend five years catching up.</a:t>
            </a:r>
            <a:endParaRPr lang="en-US" sz="1200" dirty="0"/>
          </a:p>
        </p:txBody>
      </p:sp>
      <p:sp>
        <p:nvSpPr>
          <p:cNvPr id="14" name="Shape 12"/>
          <p:cNvSpPr/>
          <p:nvPr/>
        </p:nvSpPr>
        <p:spPr>
          <a:xfrm>
            <a:off x="548640" y="6355080"/>
            <a:ext cx="11094415" cy="0"/>
          </a:xfrm>
          <a:prstGeom prst="line">
            <a:avLst/>
          </a:prstGeom>
          <a:noFill/>
          <a:ln w="9525">
            <a:solidFill>
              <a:srgbClr val="111111"/>
            </a:solidFill>
            <a:prstDash val="solid"/>
          </a:ln>
        </p:spPr>
      </p:sp>
      <p:sp>
        <p:nvSpPr>
          <p:cNvPr id="15" name="Text 13"/>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Why I'm Building This</a:t>
            </a:r>
            <a:endParaRPr lang="en-US" sz="900" dirty="0"/>
          </a:p>
        </p:txBody>
      </p:sp>
      <p:sp>
        <p:nvSpPr>
          <p:cNvPr id="16" name="Shape 14"/>
          <p:cNvSpPr/>
          <p:nvPr/>
        </p:nvSpPr>
        <p:spPr>
          <a:xfrm>
            <a:off x="10911535" y="6400800"/>
            <a:ext cx="777240" cy="274320"/>
          </a:xfrm>
          <a:prstGeom prst="rect">
            <a:avLst/>
          </a:prstGeom>
          <a:solidFill>
            <a:srgbClr val="111111"/>
          </a:solidFill>
          <a:ln w="12700">
            <a:solidFill>
              <a:srgbClr val="111111"/>
            </a:solidFill>
            <a:prstDash val="solid"/>
          </a:ln>
        </p:spPr>
      </p:sp>
      <p:sp>
        <p:nvSpPr>
          <p:cNvPr id="17" name="Text 15"/>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076895" y="0"/>
            <a:ext cx="4114800" cy="6858000"/>
          </a:xfrm>
          <a:prstGeom prst="rect">
            <a:avLst/>
          </a:prstGeom>
          <a:solidFill>
            <a:srgbClr val="111111"/>
          </a:solidFill>
          <a:ln w="12700">
            <a:solidFill>
              <a:srgbClr val="111111"/>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15 / 17  </a:t>
            </a:r>
            <a:pPr indent="0" marL="0">
              <a:buNone/>
            </a:pPr>
            <a:r>
              <a:rPr lang="en-US" sz="1000" b="1" spc="400" kern="0" dirty="0">
                <a:solidFill>
                  <a:srgbClr val="111111"/>
                </a:solidFill>
                <a:latin typeface="Inter" pitchFamily="34" charset="0"/>
                <a:ea typeface="Inter" pitchFamily="34" charset="-122"/>
                <a:cs typeface="Inter" pitchFamily="34" charset="-120"/>
              </a:rPr>
              <a:t>FOUNDING TEAM</a:t>
            </a:r>
            <a:endParaRPr lang="en-US" sz="1000" dirty="0"/>
          </a:p>
        </p:txBody>
      </p:sp>
      <p:sp>
        <p:nvSpPr>
          <p:cNvPr id="4" name="Text 2"/>
          <p:cNvSpPr/>
          <p:nvPr/>
        </p:nvSpPr>
        <p:spPr>
          <a:xfrm>
            <a:off x="548640" y="868680"/>
            <a:ext cx="7315200" cy="1371600"/>
          </a:xfrm>
          <a:prstGeom prst="rect">
            <a:avLst/>
          </a:prstGeom>
          <a:noFill/>
          <a:ln/>
        </p:spPr>
        <p:txBody>
          <a:bodyPr wrap="square" lIns="0" tIns="0" rIns="0" bIns="0" rtlCol="0" anchor="ctr"/>
          <a:lstStyle/>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Built by a founder who has</a:t>
            </a:r>
            <a:endParaRPr lang="en-US" sz="3200" dirty="0"/>
          </a:p>
          <a:p>
            <a:pPr indent="0" marL="0">
              <a:lnSpc>
                <a:spcPts val="3600"/>
              </a:lnSpc>
              <a:buNone/>
            </a:pPr>
            <a:r>
              <a:rPr lang="en-US" sz="3200" b="1" spc="-100" kern="0" dirty="0">
                <a:solidFill>
                  <a:srgbClr val="111111"/>
                </a:solidFill>
                <a:latin typeface="Inter" pitchFamily="34" charset="0"/>
                <a:ea typeface="Inter" pitchFamily="34" charset="-122"/>
                <a:cs typeface="Inter" pitchFamily="34" charset="-120"/>
              </a:rPr>
              <a:t>lived this gap.</a:t>
            </a:r>
            <a:endParaRPr lang="en-US" sz="3200" dirty="0"/>
          </a:p>
        </p:txBody>
      </p:sp>
      <p:sp>
        <p:nvSpPr>
          <p:cNvPr id="5" name="Shape 3"/>
          <p:cNvSpPr/>
          <p:nvPr/>
        </p:nvSpPr>
        <p:spPr>
          <a:xfrm>
            <a:off x="548640" y="2926080"/>
            <a:ext cx="1463040" cy="1463040"/>
          </a:xfrm>
          <a:prstGeom prst="ellipse">
            <a:avLst/>
          </a:prstGeom>
          <a:solidFill>
            <a:srgbClr val="E63227"/>
          </a:solidFill>
          <a:ln w="12700">
            <a:solidFill>
              <a:srgbClr val="E63227"/>
            </a:solidFill>
            <a:prstDash val="solid"/>
          </a:ln>
        </p:spPr>
      </p:sp>
      <p:sp>
        <p:nvSpPr>
          <p:cNvPr id="6" name="Text 4"/>
          <p:cNvSpPr/>
          <p:nvPr/>
        </p:nvSpPr>
        <p:spPr>
          <a:xfrm>
            <a:off x="548640" y="2926080"/>
            <a:ext cx="1463040" cy="1463040"/>
          </a:xfrm>
          <a:prstGeom prst="rect">
            <a:avLst/>
          </a:prstGeom>
          <a:noFill/>
          <a:ln/>
        </p:spPr>
        <p:txBody>
          <a:bodyPr wrap="square" lIns="0" tIns="0" rIns="0" bIns="0" rtlCol="0" anchor="ctr"/>
          <a:lstStyle/>
          <a:p>
            <a:pPr algn="ctr" indent="0" marL="0">
              <a:buNone/>
            </a:pPr>
            <a:r>
              <a:rPr lang="en-US" sz="4400" b="1" dirty="0">
                <a:solidFill>
                  <a:srgbClr val="FFFFFF"/>
                </a:solidFill>
                <a:latin typeface="Inter" pitchFamily="34" charset="0"/>
                <a:ea typeface="Inter" pitchFamily="34" charset="-122"/>
                <a:cs typeface="Inter" pitchFamily="34" charset="-120"/>
              </a:rPr>
              <a:t>SA</a:t>
            </a:r>
            <a:endParaRPr lang="en-US" sz="4400" dirty="0"/>
          </a:p>
        </p:txBody>
      </p:sp>
      <p:sp>
        <p:nvSpPr>
          <p:cNvPr id="7" name="Text 5"/>
          <p:cNvSpPr/>
          <p:nvPr/>
        </p:nvSpPr>
        <p:spPr>
          <a:xfrm>
            <a:off x="2194560" y="2926080"/>
            <a:ext cx="5303520" cy="502920"/>
          </a:xfrm>
          <a:prstGeom prst="rect">
            <a:avLst/>
          </a:prstGeom>
          <a:noFill/>
          <a:ln/>
        </p:spPr>
        <p:txBody>
          <a:bodyPr wrap="square" lIns="0" tIns="0" rIns="0" bIns="0" rtlCol="0" anchor="ctr"/>
          <a:lstStyle/>
          <a:p>
            <a:pPr indent="0" marL="0">
              <a:buNone/>
            </a:pPr>
            <a:r>
              <a:rPr lang="en-US" sz="2800" b="1" spc="-50" kern="0" dirty="0">
                <a:solidFill>
                  <a:srgbClr val="111111"/>
                </a:solidFill>
                <a:latin typeface="Inter" pitchFamily="34" charset="0"/>
                <a:ea typeface="Inter" pitchFamily="34" charset="-122"/>
                <a:cs typeface="Inter" pitchFamily="34" charset="-120"/>
              </a:rPr>
              <a:t>Sharad Agrawal</a:t>
            </a:r>
            <a:endParaRPr lang="en-US" sz="2800" dirty="0"/>
          </a:p>
        </p:txBody>
      </p:sp>
      <p:sp>
        <p:nvSpPr>
          <p:cNvPr id="8" name="Text 6"/>
          <p:cNvSpPr/>
          <p:nvPr/>
        </p:nvSpPr>
        <p:spPr>
          <a:xfrm>
            <a:off x="2194560" y="3429000"/>
            <a:ext cx="5303520" cy="320040"/>
          </a:xfrm>
          <a:prstGeom prst="rect">
            <a:avLst/>
          </a:prstGeom>
          <a:noFill/>
          <a:ln/>
        </p:spPr>
        <p:txBody>
          <a:bodyPr wrap="square" lIns="0" tIns="0" rIns="0" bIns="0" rtlCol="0" anchor="ctr"/>
          <a:lstStyle/>
          <a:p>
            <a:pPr indent="0" marL="0">
              <a:buNone/>
            </a:pPr>
            <a:r>
              <a:rPr lang="en-US" sz="1400" b="1" spc="300" kern="0" dirty="0">
                <a:solidFill>
                  <a:srgbClr val="E63227"/>
                </a:solidFill>
                <a:latin typeface="Inter" pitchFamily="34" charset="0"/>
                <a:ea typeface="Inter" pitchFamily="34" charset="-122"/>
                <a:cs typeface="Inter" pitchFamily="34" charset="-120"/>
              </a:rPr>
              <a:t>Founder, BuildAI</a:t>
            </a:r>
            <a:endParaRPr lang="en-US" sz="1400" dirty="0"/>
          </a:p>
        </p:txBody>
      </p:sp>
      <p:sp>
        <p:nvSpPr>
          <p:cNvPr id="9" name="Shape 7"/>
          <p:cNvSpPr/>
          <p:nvPr/>
        </p:nvSpPr>
        <p:spPr>
          <a:xfrm>
            <a:off x="2194560" y="3840480"/>
            <a:ext cx="1097280" cy="0"/>
          </a:xfrm>
          <a:prstGeom prst="line">
            <a:avLst/>
          </a:prstGeom>
          <a:noFill/>
          <a:ln w="25400">
            <a:solidFill>
              <a:srgbClr val="111111"/>
            </a:solidFill>
            <a:prstDash val="solid"/>
          </a:ln>
        </p:spPr>
      </p:sp>
      <p:sp>
        <p:nvSpPr>
          <p:cNvPr id="10" name="Text 8"/>
          <p:cNvSpPr/>
          <p:nvPr/>
        </p:nvSpPr>
        <p:spPr>
          <a:xfrm>
            <a:off x="2194560" y="3977640"/>
            <a:ext cx="5486400" cy="320040"/>
          </a:xfrm>
          <a:prstGeom prst="rect">
            <a:avLst/>
          </a:prstGeom>
          <a:noFill/>
          <a:ln/>
        </p:spPr>
        <p:txBody>
          <a:bodyPr wrap="square" lIns="0" tIns="0" rIns="0" bIns="0" rtlCol="0" anchor="ctr"/>
          <a:lstStyle/>
          <a:p>
            <a:pPr indent="0" marL="0">
              <a:buNone/>
            </a:pPr>
            <a:r>
              <a:rPr lang="en-US" sz="1400" b="1" dirty="0">
                <a:solidFill>
                  <a:srgbClr val="111111"/>
                </a:solidFill>
                <a:latin typeface="Inter" pitchFamily="34" charset="0"/>
                <a:ea typeface="Inter" pitchFamily="34" charset="-122"/>
                <a:cs typeface="Inter" pitchFamily="34" charset="-120"/>
              </a:rPr>
              <a:t>IIT Bombay  </a:t>
            </a:r>
            <a:pPr indent="0" marL="0">
              <a:buNone/>
            </a:pPr>
            <a:r>
              <a:rPr lang="en-US" sz="1400" dirty="0">
                <a:solidFill>
                  <a:srgbClr val="666666"/>
                </a:solidFill>
                <a:latin typeface="Inter" pitchFamily="34" charset="0"/>
                <a:ea typeface="Inter" pitchFamily="34" charset="-122"/>
                <a:cs typeface="Inter" pitchFamily="34" charset="-120"/>
              </a:rPr>
              <a:t>Masters, 2018</a:t>
            </a:r>
            <a:endParaRPr lang="en-US" sz="1400" dirty="0"/>
          </a:p>
        </p:txBody>
      </p:sp>
      <p:sp>
        <p:nvSpPr>
          <p:cNvPr id="11" name="Text 9"/>
          <p:cNvSpPr/>
          <p:nvPr/>
        </p:nvSpPr>
        <p:spPr>
          <a:xfrm>
            <a:off x="2194560" y="4297680"/>
            <a:ext cx="5486400" cy="320040"/>
          </a:xfrm>
          <a:prstGeom prst="rect">
            <a:avLst/>
          </a:prstGeom>
          <a:noFill/>
          <a:ln/>
        </p:spPr>
        <p:txBody>
          <a:bodyPr wrap="square" lIns="0" tIns="0" rIns="0" bIns="0" rtlCol="0" anchor="ctr"/>
          <a:lstStyle/>
          <a:p>
            <a:pPr indent="0" marL="0">
              <a:buNone/>
            </a:pPr>
            <a:r>
              <a:rPr lang="en-US" sz="1400" b="1" dirty="0">
                <a:solidFill>
                  <a:srgbClr val="111111"/>
                </a:solidFill>
                <a:latin typeface="Inter" pitchFamily="34" charset="0"/>
                <a:ea typeface="Inter" pitchFamily="34" charset="-122"/>
                <a:cs typeface="Inter" pitchFamily="34" charset="-120"/>
              </a:rPr>
              <a:t>Cornell Johnson  </a:t>
            </a:r>
            <a:pPr indent="0" marL="0">
              <a:buNone/>
            </a:pPr>
            <a:r>
              <a:rPr lang="en-US" sz="1400" dirty="0">
                <a:solidFill>
                  <a:srgbClr val="666666"/>
                </a:solidFill>
                <a:latin typeface="Inter" pitchFamily="34" charset="0"/>
                <a:ea typeface="Inter" pitchFamily="34" charset="-122"/>
                <a:cs typeface="Inter" pitchFamily="34" charset="-120"/>
              </a:rPr>
              <a:t>MBA, 2024</a:t>
            </a:r>
            <a:endParaRPr lang="en-US" sz="1400" dirty="0"/>
          </a:p>
        </p:txBody>
      </p:sp>
      <p:sp>
        <p:nvSpPr>
          <p:cNvPr id="12" name="Text 10"/>
          <p:cNvSpPr/>
          <p:nvPr/>
        </p:nvSpPr>
        <p:spPr>
          <a:xfrm>
            <a:off x="2194560" y="4617720"/>
            <a:ext cx="5486400" cy="320040"/>
          </a:xfrm>
          <a:prstGeom prst="rect">
            <a:avLst/>
          </a:prstGeom>
          <a:noFill/>
          <a:ln/>
        </p:spPr>
        <p:txBody>
          <a:bodyPr wrap="square" lIns="0" tIns="0" rIns="0" bIns="0" rtlCol="0" anchor="ctr"/>
          <a:lstStyle/>
          <a:p>
            <a:pPr indent="0" marL="0">
              <a:buNone/>
            </a:pPr>
            <a:r>
              <a:rPr lang="en-US" sz="1400" b="1" dirty="0">
                <a:solidFill>
                  <a:srgbClr val="111111"/>
                </a:solidFill>
                <a:latin typeface="Inter" pitchFamily="34" charset="0"/>
                <a:ea typeface="Inter" pitchFamily="34" charset="-122"/>
                <a:cs typeface="Inter" pitchFamily="34" charset="-120"/>
              </a:rPr>
              <a:t>Currently  </a:t>
            </a:r>
            <a:pPr indent="0" marL="0">
              <a:buNone/>
            </a:pPr>
            <a:r>
              <a:rPr lang="en-US" sz="1400" dirty="0">
                <a:solidFill>
                  <a:srgbClr val="666666"/>
                </a:solidFill>
                <a:latin typeface="Inter" pitchFamily="34" charset="0"/>
                <a:ea typeface="Inter" pitchFamily="34" charset="-122"/>
                <a:cs typeface="Inter" pitchFamily="34" charset="-120"/>
              </a:rPr>
              <a:t>Founder of an AI-native company in the US</a:t>
            </a:r>
            <a:endParaRPr lang="en-US" sz="1400" dirty="0"/>
          </a:p>
        </p:txBody>
      </p:sp>
      <p:sp>
        <p:nvSpPr>
          <p:cNvPr id="13" name="Text 11"/>
          <p:cNvSpPr/>
          <p:nvPr/>
        </p:nvSpPr>
        <p:spPr>
          <a:xfrm>
            <a:off x="2194560" y="4937760"/>
            <a:ext cx="5486400" cy="320040"/>
          </a:xfrm>
          <a:prstGeom prst="rect">
            <a:avLst/>
          </a:prstGeom>
          <a:noFill/>
          <a:ln/>
        </p:spPr>
        <p:txBody>
          <a:bodyPr wrap="square" lIns="0" tIns="0" rIns="0" bIns="0" rtlCol="0" anchor="ctr"/>
          <a:lstStyle/>
          <a:p>
            <a:pPr indent="0" marL="0">
              <a:buNone/>
            </a:pPr>
            <a:r>
              <a:rPr lang="en-US" sz="1400" b="1" dirty="0">
                <a:solidFill>
                  <a:srgbClr val="111111"/>
                </a:solidFill>
                <a:latin typeface="Inter" pitchFamily="34" charset="0"/>
                <a:ea typeface="Inter" pitchFamily="34" charset="-122"/>
                <a:cs typeface="Inter" pitchFamily="34" charset="-120"/>
              </a:rPr>
              <a:t>Based in  </a:t>
            </a:r>
            <a:pPr indent="0" marL="0">
              <a:buNone/>
            </a:pPr>
            <a:r>
              <a:rPr lang="en-US" sz="1400" dirty="0">
                <a:solidFill>
                  <a:srgbClr val="666666"/>
                </a:solidFill>
                <a:latin typeface="Inter" pitchFamily="34" charset="0"/>
                <a:ea typeface="Inter" pitchFamily="34" charset="-122"/>
                <a:cs typeface="Inter" pitchFamily="34" charset="-120"/>
              </a:rPr>
              <a:t>US · India ops led by co-founder</a:t>
            </a:r>
            <a:endParaRPr lang="en-US" sz="1400" dirty="0"/>
          </a:p>
        </p:txBody>
      </p:sp>
      <p:sp>
        <p:nvSpPr>
          <p:cNvPr id="14" name="Text 12"/>
          <p:cNvSpPr/>
          <p:nvPr/>
        </p:nvSpPr>
        <p:spPr>
          <a:xfrm>
            <a:off x="2194560" y="5212080"/>
            <a:ext cx="5486400" cy="274320"/>
          </a:xfrm>
          <a:prstGeom prst="rect">
            <a:avLst/>
          </a:prstGeom>
          <a:noFill/>
          <a:ln/>
        </p:spPr>
        <p:txBody>
          <a:bodyPr wrap="square" lIns="0" tIns="0" rIns="0" bIns="0" rtlCol="0" anchor="ctr"/>
          <a:lstStyle/>
          <a:p>
            <a:pPr indent="0" marL="0">
              <a:buNone/>
            </a:pPr>
            <a:r>
              <a:rPr lang="en-US" sz="1200" i="1" dirty="0">
                <a:solidFill>
                  <a:srgbClr val="666666"/>
                </a:solidFill>
                <a:latin typeface="Inter" pitchFamily="34" charset="0"/>
                <a:ea typeface="Inter" pitchFamily="34" charset="-122"/>
                <a:cs typeface="Inter" pitchFamily="34" charset="-120"/>
              </a:rPr>
              <a:t>(recruitment in progress)</a:t>
            </a:r>
            <a:endParaRPr lang="en-US" sz="1200" dirty="0"/>
          </a:p>
        </p:txBody>
      </p:sp>
      <p:sp>
        <p:nvSpPr>
          <p:cNvPr id="15" name="Text 13"/>
          <p:cNvSpPr/>
          <p:nvPr/>
        </p:nvSpPr>
        <p:spPr>
          <a:xfrm>
            <a:off x="8351215" y="1828800"/>
            <a:ext cx="3383280" cy="2743200"/>
          </a:xfrm>
          <a:prstGeom prst="rect">
            <a:avLst/>
          </a:prstGeom>
          <a:noFill/>
          <a:ln/>
        </p:spPr>
        <p:txBody>
          <a:bodyPr wrap="square" lIns="0" tIns="0" rIns="0" bIns="0" rtlCol="0" anchor="ctr"/>
          <a:lstStyle/>
          <a:p>
            <a:pPr indent="0" marL="0">
              <a:lnSpc>
                <a:spcPts val="2600"/>
              </a:lnSpc>
              <a:buNone/>
            </a:pPr>
            <a:r>
              <a:rPr lang="en-US" sz="2000" i="1" dirty="0">
                <a:solidFill>
                  <a:srgbClr val="FFFFFF"/>
                </a:solidFill>
                <a:latin typeface="Inter" pitchFamily="34" charset="0"/>
                <a:ea typeface="Inter" pitchFamily="34" charset="-122"/>
                <a:cs typeface="Inter" pitchFamily="34" charset="-120"/>
              </a:rPr>
              <a:t>"The single most important hire of the next 18 months is the India co-founder."</a:t>
            </a:r>
            <a:endParaRPr lang="en-US" sz="2000" dirty="0"/>
          </a:p>
        </p:txBody>
      </p:sp>
      <p:sp>
        <p:nvSpPr>
          <p:cNvPr id="16" name="Shape 14"/>
          <p:cNvSpPr/>
          <p:nvPr/>
        </p:nvSpPr>
        <p:spPr>
          <a:xfrm>
            <a:off x="8351215" y="4937760"/>
            <a:ext cx="1371600" cy="0"/>
          </a:xfrm>
          <a:prstGeom prst="line">
            <a:avLst/>
          </a:prstGeom>
          <a:noFill/>
          <a:ln w="25400">
            <a:solidFill>
              <a:srgbClr val="FFD400"/>
            </a:solidFill>
            <a:prstDash val="solid"/>
          </a:ln>
        </p:spPr>
      </p:sp>
      <p:sp>
        <p:nvSpPr>
          <p:cNvPr id="17" name="Text 15"/>
          <p:cNvSpPr/>
          <p:nvPr/>
        </p:nvSpPr>
        <p:spPr>
          <a:xfrm>
            <a:off x="8351215" y="5029200"/>
            <a:ext cx="3383280" cy="274320"/>
          </a:xfrm>
          <a:prstGeom prst="rect">
            <a:avLst/>
          </a:prstGeom>
          <a:noFill/>
          <a:ln/>
        </p:spPr>
        <p:txBody>
          <a:bodyPr wrap="square" lIns="0" tIns="0" rIns="0" bIns="0" rtlCol="0" anchor="ctr"/>
          <a:lstStyle/>
          <a:p>
            <a:pPr indent="0" marL="0">
              <a:buNone/>
            </a:pPr>
            <a:r>
              <a:rPr lang="en-US" sz="1000" b="1" spc="400" kern="0" dirty="0">
                <a:solidFill>
                  <a:srgbClr val="FFD400"/>
                </a:solidFill>
                <a:latin typeface="Inter" pitchFamily="34" charset="0"/>
                <a:ea typeface="Inter" pitchFamily="34" charset="-122"/>
                <a:cs typeface="Inter" pitchFamily="34" charset="-120"/>
              </a:rPr>
              <a:t>— INTERNAL STRATEGY DOC</a:t>
            </a:r>
            <a:endParaRPr lang="en-US" sz="1000" dirty="0"/>
          </a:p>
        </p:txBody>
      </p:sp>
      <p:sp>
        <p:nvSpPr>
          <p:cNvPr id="18" name="Shape 16"/>
          <p:cNvSpPr/>
          <p:nvPr/>
        </p:nvSpPr>
        <p:spPr>
          <a:xfrm>
            <a:off x="548640" y="6355080"/>
            <a:ext cx="11094415" cy="0"/>
          </a:xfrm>
          <a:prstGeom prst="line">
            <a:avLst/>
          </a:prstGeom>
          <a:noFill/>
          <a:ln w="9525">
            <a:solidFill>
              <a:srgbClr val="111111"/>
            </a:solidFill>
            <a:prstDash val="solid"/>
          </a:ln>
        </p:spPr>
      </p:sp>
      <p:sp>
        <p:nvSpPr>
          <p:cNvPr id="19" name="Text 17"/>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Founding Team</a:t>
            </a:r>
            <a:endParaRPr lang="en-US" sz="900" dirty="0"/>
          </a:p>
        </p:txBody>
      </p:sp>
      <p:sp>
        <p:nvSpPr>
          <p:cNvPr id="20" name="Shape 18"/>
          <p:cNvSpPr/>
          <p:nvPr/>
        </p:nvSpPr>
        <p:spPr>
          <a:xfrm>
            <a:off x="10911535" y="6400800"/>
            <a:ext cx="777240" cy="274320"/>
          </a:xfrm>
          <a:prstGeom prst="rect">
            <a:avLst/>
          </a:prstGeom>
          <a:solidFill>
            <a:srgbClr val="111111"/>
          </a:solidFill>
          <a:ln w="12700">
            <a:solidFill>
              <a:srgbClr val="111111"/>
            </a:solidFill>
            <a:prstDash val="solid"/>
          </a:ln>
        </p:spPr>
      </p:sp>
      <p:sp>
        <p:nvSpPr>
          <p:cNvPr id="21" name="Text 19"/>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48495" y="0"/>
            <a:ext cx="2743200" cy="457200"/>
          </a:xfrm>
          <a:prstGeom prst="rect">
            <a:avLst/>
          </a:prstGeom>
          <a:solidFill>
            <a:srgbClr val="E63227"/>
          </a:solidFill>
          <a:ln w="12700">
            <a:solidFill>
              <a:srgbClr val="E63227"/>
            </a:solidFill>
            <a:prstDash val="solid"/>
          </a:ln>
        </p:spPr>
      </p:sp>
      <p:sp>
        <p:nvSpPr>
          <p:cNvPr id="3" name="Text 1"/>
          <p:cNvSpPr/>
          <p:nvPr/>
        </p:nvSpPr>
        <p:spPr>
          <a:xfrm>
            <a:off x="548640" y="502920"/>
            <a:ext cx="9144000" cy="274320"/>
          </a:xfrm>
          <a:prstGeom prst="rect">
            <a:avLst/>
          </a:prstGeom>
          <a:noFill/>
          <a:ln/>
        </p:spPr>
        <p:txBody>
          <a:bodyPr wrap="square" lIns="0" tIns="0" rIns="0" bIns="0" rtlCol="0" anchor="ctr"/>
          <a:lstStyle/>
          <a:p>
            <a:pPr indent="0" marL="0">
              <a:buNone/>
            </a:pPr>
            <a:r>
              <a:rPr lang="en-US" sz="1000" b="1" spc="400" kern="0" dirty="0">
                <a:solidFill>
                  <a:srgbClr val="E63227"/>
                </a:solidFill>
                <a:latin typeface="Inter" pitchFamily="34" charset="0"/>
                <a:ea typeface="Inter" pitchFamily="34" charset="-122"/>
                <a:cs typeface="Inter" pitchFamily="34" charset="-120"/>
              </a:rPr>
              <a:t>16 / 17  </a:t>
            </a:r>
            <a:pPr indent="0" marL="0">
              <a:buNone/>
            </a:pPr>
            <a:r>
              <a:rPr lang="en-US" sz="1000" b="1" spc="400" kern="0" dirty="0">
                <a:solidFill>
                  <a:srgbClr val="111111"/>
                </a:solidFill>
                <a:latin typeface="Inter" pitchFamily="34" charset="0"/>
                <a:ea typeface="Inter" pitchFamily="34" charset="-122"/>
                <a:cs typeface="Inter" pitchFamily="34" charset="-120"/>
              </a:rPr>
              <a:t>NEXT STEPS</a:t>
            </a:r>
            <a:endParaRPr lang="en-US" sz="1000" dirty="0"/>
          </a:p>
        </p:txBody>
      </p:sp>
      <p:sp>
        <p:nvSpPr>
          <p:cNvPr id="4" name="Text 2"/>
          <p:cNvSpPr/>
          <p:nvPr/>
        </p:nvSpPr>
        <p:spPr>
          <a:xfrm>
            <a:off x="548640" y="868680"/>
            <a:ext cx="10058400" cy="640080"/>
          </a:xfrm>
          <a:prstGeom prst="rect">
            <a:avLst/>
          </a:prstGeom>
          <a:noFill/>
          <a:ln/>
        </p:spPr>
        <p:txBody>
          <a:bodyPr wrap="square" lIns="0" tIns="0" rIns="0" bIns="0" rtlCol="0" anchor="ctr"/>
          <a:lstStyle/>
          <a:p>
            <a:pPr indent="0" marL="0">
              <a:buNone/>
            </a:pPr>
            <a:r>
              <a:rPr lang="en-US" sz="3600" b="1" spc="-100" kern="0" dirty="0">
                <a:solidFill>
                  <a:srgbClr val="111111"/>
                </a:solidFill>
                <a:latin typeface="Inter" pitchFamily="34" charset="0"/>
                <a:ea typeface="Inter" pitchFamily="34" charset="-122"/>
                <a:cs typeface="Inter" pitchFamily="34" charset="-120"/>
              </a:rPr>
              <a:t>Pilot partnership process.</a:t>
            </a:r>
            <a:endParaRPr lang="en-US" sz="3600" dirty="0"/>
          </a:p>
        </p:txBody>
      </p:sp>
      <p:sp>
        <p:nvSpPr>
          <p:cNvPr id="5" name="Shape 3"/>
          <p:cNvSpPr/>
          <p:nvPr/>
        </p:nvSpPr>
        <p:spPr>
          <a:xfrm>
            <a:off x="548640" y="2286000"/>
            <a:ext cx="2697480" cy="3017520"/>
          </a:xfrm>
          <a:prstGeom prst="rect">
            <a:avLst/>
          </a:prstGeom>
          <a:solidFill>
            <a:srgbClr val="FFFFFF"/>
          </a:solidFill>
          <a:ln w="12700">
            <a:solidFill>
              <a:srgbClr val="111111"/>
            </a:solidFill>
            <a:prstDash val="solid"/>
          </a:ln>
        </p:spPr>
      </p:sp>
      <p:sp>
        <p:nvSpPr>
          <p:cNvPr id="6" name="Shape 4"/>
          <p:cNvSpPr/>
          <p:nvPr/>
        </p:nvSpPr>
        <p:spPr>
          <a:xfrm>
            <a:off x="548640" y="2286000"/>
            <a:ext cx="2697480" cy="548640"/>
          </a:xfrm>
          <a:prstGeom prst="rect">
            <a:avLst/>
          </a:prstGeom>
          <a:solidFill>
            <a:srgbClr val="111111"/>
          </a:solidFill>
          <a:ln w="12700">
            <a:solidFill>
              <a:srgbClr val="111111"/>
            </a:solidFill>
            <a:prstDash val="solid"/>
          </a:ln>
        </p:spPr>
      </p:sp>
      <p:sp>
        <p:nvSpPr>
          <p:cNvPr id="7" name="Text 5"/>
          <p:cNvSpPr/>
          <p:nvPr/>
        </p:nvSpPr>
        <p:spPr>
          <a:xfrm>
            <a:off x="548640" y="2286000"/>
            <a:ext cx="2697480" cy="548640"/>
          </a:xfrm>
          <a:prstGeom prst="rect">
            <a:avLst/>
          </a:prstGeom>
          <a:noFill/>
          <a:ln/>
        </p:spPr>
        <p:txBody>
          <a:bodyPr wrap="square" lIns="0" tIns="0" rIns="0" bIns="0" rtlCol="0" anchor="ctr"/>
          <a:lstStyle/>
          <a:p>
            <a:pPr algn="ctr" indent="0" marL="0">
              <a:buNone/>
            </a:pPr>
            <a:r>
              <a:rPr lang="en-US" sz="1800" b="1" dirty="0">
                <a:solidFill>
                  <a:srgbClr val="FFD400"/>
                </a:solidFill>
                <a:latin typeface="Inter" pitchFamily="34" charset="0"/>
                <a:ea typeface="Inter" pitchFamily="34" charset="-122"/>
                <a:cs typeface="Inter" pitchFamily="34" charset="-120"/>
              </a:rPr>
              <a:t>01</a:t>
            </a:r>
            <a:endParaRPr lang="en-US" sz="1800" dirty="0"/>
          </a:p>
        </p:txBody>
      </p:sp>
      <p:sp>
        <p:nvSpPr>
          <p:cNvPr id="8" name="Text 6"/>
          <p:cNvSpPr/>
          <p:nvPr/>
        </p:nvSpPr>
        <p:spPr>
          <a:xfrm>
            <a:off x="777240" y="3063240"/>
            <a:ext cx="2240280" cy="457200"/>
          </a:xfrm>
          <a:prstGeom prst="rect">
            <a:avLst/>
          </a:prstGeom>
          <a:noFill/>
          <a:ln/>
        </p:spPr>
        <p:txBody>
          <a:bodyPr wrap="square" lIns="0" tIns="0" rIns="0" bIns="0" rtlCol="0" anchor="ctr"/>
          <a:lstStyle/>
          <a:p>
            <a:pPr indent="0" marL="0">
              <a:lnSpc>
                <a:spcPts val="2200"/>
              </a:lnSpc>
              <a:buNone/>
            </a:pPr>
            <a:r>
              <a:rPr lang="en-US" sz="1700" b="1" dirty="0">
                <a:solidFill>
                  <a:srgbClr val="111111"/>
                </a:solidFill>
                <a:latin typeface="Inter" pitchFamily="34" charset="0"/>
                <a:ea typeface="Inter" pitchFamily="34" charset="-122"/>
                <a:cs typeface="Inter" pitchFamily="34" charset="-120"/>
              </a:rPr>
              <a:t>Internal alignment</a:t>
            </a:r>
            <a:endParaRPr lang="en-US" sz="1700" dirty="0"/>
          </a:p>
        </p:txBody>
      </p:sp>
      <p:sp>
        <p:nvSpPr>
          <p:cNvPr id="9" name="Text 7"/>
          <p:cNvSpPr/>
          <p:nvPr/>
        </p:nvSpPr>
        <p:spPr>
          <a:xfrm>
            <a:off x="777240" y="3657600"/>
            <a:ext cx="2240280" cy="146304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Loop in TPO / HOD / Dean on the partnership structure.</a:t>
            </a:r>
            <a:endParaRPr lang="en-US" sz="1200" dirty="0"/>
          </a:p>
        </p:txBody>
      </p:sp>
      <p:sp>
        <p:nvSpPr>
          <p:cNvPr id="10" name="Shape 8"/>
          <p:cNvSpPr/>
          <p:nvPr/>
        </p:nvSpPr>
        <p:spPr>
          <a:xfrm>
            <a:off x="3383280" y="2286000"/>
            <a:ext cx="2697480" cy="3017520"/>
          </a:xfrm>
          <a:prstGeom prst="rect">
            <a:avLst/>
          </a:prstGeom>
          <a:solidFill>
            <a:srgbClr val="FFFFFF"/>
          </a:solidFill>
          <a:ln w="12700">
            <a:solidFill>
              <a:srgbClr val="111111"/>
            </a:solidFill>
            <a:prstDash val="solid"/>
          </a:ln>
        </p:spPr>
      </p:sp>
      <p:sp>
        <p:nvSpPr>
          <p:cNvPr id="11" name="Shape 9"/>
          <p:cNvSpPr/>
          <p:nvPr/>
        </p:nvSpPr>
        <p:spPr>
          <a:xfrm>
            <a:off x="3383280" y="2286000"/>
            <a:ext cx="2697480" cy="548640"/>
          </a:xfrm>
          <a:prstGeom prst="rect">
            <a:avLst/>
          </a:prstGeom>
          <a:solidFill>
            <a:srgbClr val="111111"/>
          </a:solidFill>
          <a:ln w="12700">
            <a:solidFill>
              <a:srgbClr val="111111"/>
            </a:solidFill>
            <a:prstDash val="solid"/>
          </a:ln>
        </p:spPr>
      </p:sp>
      <p:sp>
        <p:nvSpPr>
          <p:cNvPr id="12" name="Text 10"/>
          <p:cNvSpPr/>
          <p:nvPr/>
        </p:nvSpPr>
        <p:spPr>
          <a:xfrm>
            <a:off x="3383280" y="2286000"/>
            <a:ext cx="2697480" cy="548640"/>
          </a:xfrm>
          <a:prstGeom prst="rect">
            <a:avLst/>
          </a:prstGeom>
          <a:noFill/>
          <a:ln/>
        </p:spPr>
        <p:txBody>
          <a:bodyPr wrap="square" lIns="0" tIns="0" rIns="0" bIns="0" rtlCol="0" anchor="ctr"/>
          <a:lstStyle/>
          <a:p>
            <a:pPr algn="ctr" indent="0" marL="0">
              <a:buNone/>
            </a:pPr>
            <a:r>
              <a:rPr lang="en-US" sz="1800" b="1" dirty="0">
                <a:solidFill>
                  <a:srgbClr val="FFD400"/>
                </a:solidFill>
                <a:latin typeface="Inter" pitchFamily="34" charset="0"/>
                <a:ea typeface="Inter" pitchFamily="34" charset="-122"/>
                <a:cs typeface="Inter" pitchFamily="34" charset="-120"/>
              </a:rPr>
              <a:t>02</a:t>
            </a:r>
            <a:endParaRPr lang="en-US" sz="1800" dirty="0"/>
          </a:p>
        </p:txBody>
      </p:sp>
      <p:sp>
        <p:nvSpPr>
          <p:cNvPr id="13" name="Text 11"/>
          <p:cNvSpPr/>
          <p:nvPr/>
        </p:nvSpPr>
        <p:spPr>
          <a:xfrm>
            <a:off x="3611880" y="3063240"/>
            <a:ext cx="2240280" cy="457200"/>
          </a:xfrm>
          <a:prstGeom prst="rect">
            <a:avLst/>
          </a:prstGeom>
          <a:noFill/>
          <a:ln/>
        </p:spPr>
        <p:txBody>
          <a:bodyPr wrap="square" lIns="0" tIns="0" rIns="0" bIns="0" rtlCol="0" anchor="ctr"/>
          <a:lstStyle/>
          <a:p>
            <a:pPr indent="0" marL="0">
              <a:lnSpc>
                <a:spcPts val="2200"/>
              </a:lnSpc>
              <a:buNone/>
            </a:pPr>
            <a:r>
              <a:rPr lang="en-US" sz="1700" b="1" dirty="0">
                <a:solidFill>
                  <a:srgbClr val="111111"/>
                </a:solidFill>
                <a:latin typeface="Inter" pitchFamily="34" charset="0"/>
                <a:ea typeface="Inter" pitchFamily="34" charset="-122"/>
                <a:cs typeface="Inter" pitchFamily="34" charset="-120"/>
              </a:rPr>
              <a:t>Cohort window</a:t>
            </a:r>
            <a:endParaRPr lang="en-US" sz="1700" dirty="0"/>
          </a:p>
        </p:txBody>
      </p:sp>
      <p:sp>
        <p:nvSpPr>
          <p:cNvPr id="14" name="Text 12"/>
          <p:cNvSpPr/>
          <p:nvPr/>
        </p:nvSpPr>
        <p:spPr>
          <a:xfrm>
            <a:off x="3611880" y="3657600"/>
            <a:ext cx="2240280" cy="146304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Pick the summer or winter slot that fits your academic calendar.</a:t>
            </a:r>
            <a:endParaRPr lang="en-US" sz="1200" dirty="0"/>
          </a:p>
        </p:txBody>
      </p:sp>
      <p:sp>
        <p:nvSpPr>
          <p:cNvPr id="15" name="Shape 13"/>
          <p:cNvSpPr/>
          <p:nvPr/>
        </p:nvSpPr>
        <p:spPr>
          <a:xfrm>
            <a:off x="6217920" y="2286000"/>
            <a:ext cx="2697480" cy="3017520"/>
          </a:xfrm>
          <a:prstGeom prst="rect">
            <a:avLst/>
          </a:prstGeom>
          <a:solidFill>
            <a:srgbClr val="FFFFFF"/>
          </a:solidFill>
          <a:ln w="12700">
            <a:solidFill>
              <a:srgbClr val="111111"/>
            </a:solidFill>
            <a:prstDash val="solid"/>
          </a:ln>
        </p:spPr>
      </p:sp>
      <p:sp>
        <p:nvSpPr>
          <p:cNvPr id="16" name="Shape 14"/>
          <p:cNvSpPr/>
          <p:nvPr/>
        </p:nvSpPr>
        <p:spPr>
          <a:xfrm>
            <a:off x="6217920" y="2286000"/>
            <a:ext cx="2697480" cy="548640"/>
          </a:xfrm>
          <a:prstGeom prst="rect">
            <a:avLst/>
          </a:prstGeom>
          <a:solidFill>
            <a:srgbClr val="111111"/>
          </a:solidFill>
          <a:ln w="12700">
            <a:solidFill>
              <a:srgbClr val="111111"/>
            </a:solidFill>
            <a:prstDash val="solid"/>
          </a:ln>
        </p:spPr>
      </p:sp>
      <p:sp>
        <p:nvSpPr>
          <p:cNvPr id="17" name="Text 15"/>
          <p:cNvSpPr/>
          <p:nvPr/>
        </p:nvSpPr>
        <p:spPr>
          <a:xfrm>
            <a:off x="6217920" y="2286000"/>
            <a:ext cx="2697480" cy="548640"/>
          </a:xfrm>
          <a:prstGeom prst="rect">
            <a:avLst/>
          </a:prstGeom>
          <a:noFill/>
          <a:ln/>
        </p:spPr>
        <p:txBody>
          <a:bodyPr wrap="square" lIns="0" tIns="0" rIns="0" bIns="0" rtlCol="0" anchor="ctr"/>
          <a:lstStyle/>
          <a:p>
            <a:pPr algn="ctr" indent="0" marL="0">
              <a:buNone/>
            </a:pPr>
            <a:r>
              <a:rPr lang="en-US" sz="1800" b="1" dirty="0">
                <a:solidFill>
                  <a:srgbClr val="FFD400"/>
                </a:solidFill>
                <a:latin typeface="Inter" pitchFamily="34" charset="0"/>
                <a:ea typeface="Inter" pitchFamily="34" charset="-122"/>
                <a:cs typeface="Inter" pitchFamily="34" charset="-120"/>
              </a:rPr>
              <a:t>03</a:t>
            </a:r>
            <a:endParaRPr lang="en-US" sz="1800" dirty="0"/>
          </a:p>
        </p:txBody>
      </p:sp>
      <p:sp>
        <p:nvSpPr>
          <p:cNvPr id="18" name="Text 16"/>
          <p:cNvSpPr/>
          <p:nvPr/>
        </p:nvSpPr>
        <p:spPr>
          <a:xfrm>
            <a:off x="6446520" y="3063240"/>
            <a:ext cx="2240280" cy="457200"/>
          </a:xfrm>
          <a:prstGeom prst="rect">
            <a:avLst/>
          </a:prstGeom>
          <a:noFill/>
          <a:ln/>
        </p:spPr>
        <p:txBody>
          <a:bodyPr wrap="square" lIns="0" tIns="0" rIns="0" bIns="0" rtlCol="0" anchor="ctr"/>
          <a:lstStyle/>
          <a:p>
            <a:pPr indent="0" marL="0">
              <a:lnSpc>
                <a:spcPts val="2200"/>
              </a:lnSpc>
              <a:buNone/>
            </a:pPr>
            <a:r>
              <a:rPr lang="en-US" sz="1700" b="1" dirty="0">
                <a:solidFill>
                  <a:srgbClr val="111111"/>
                </a:solidFill>
                <a:latin typeface="Inter" pitchFamily="34" charset="0"/>
                <a:ea typeface="Inter" pitchFamily="34" charset="-122"/>
                <a:cs typeface="Inter" pitchFamily="34" charset="-120"/>
              </a:rPr>
              <a:t>Pilot MOU</a:t>
            </a:r>
            <a:endParaRPr lang="en-US" sz="1700" dirty="0"/>
          </a:p>
        </p:txBody>
      </p:sp>
      <p:sp>
        <p:nvSpPr>
          <p:cNvPr id="19" name="Text 17"/>
          <p:cNvSpPr/>
          <p:nvPr/>
        </p:nvSpPr>
        <p:spPr>
          <a:xfrm>
            <a:off x="6446520" y="3657600"/>
            <a:ext cx="2240280" cy="146304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Sign a 1-page MOU outlining responsibilities and commercial terms.</a:t>
            </a:r>
            <a:endParaRPr lang="en-US" sz="1200" dirty="0"/>
          </a:p>
        </p:txBody>
      </p:sp>
      <p:sp>
        <p:nvSpPr>
          <p:cNvPr id="20" name="Shape 18"/>
          <p:cNvSpPr/>
          <p:nvPr/>
        </p:nvSpPr>
        <p:spPr>
          <a:xfrm>
            <a:off x="9052560" y="2286000"/>
            <a:ext cx="2697480" cy="3017520"/>
          </a:xfrm>
          <a:prstGeom prst="rect">
            <a:avLst/>
          </a:prstGeom>
          <a:solidFill>
            <a:srgbClr val="FFFFFF"/>
          </a:solidFill>
          <a:ln w="12700">
            <a:solidFill>
              <a:srgbClr val="111111"/>
            </a:solidFill>
            <a:prstDash val="solid"/>
          </a:ln>
        </p:spPr>
      </p:sp>
      <p:sp>
        <p:nvSpPr>
          <p:cNvPr id="21" name="Shape 19"/>
          <p:cNvSpPr/>
          <p:nvPr/>
        </p:nvSpPr>
        <p:spPr>
          <a:xfrm>
            <a:off x="9052560" y="2286000"/>
            <a:ext cx="2697480" cy="548640"/>
          </a:xfrm>
          <a:prstGeom prst="rect">
            <a:avLst/>
          </a:prstGeom>
          <a:solidFill>
            <a:srgbClr val="E63227"/>
          </a:solidFill>
          <a:ln w="12700">
            <a:solidFill>
              <a:srgbClr val="E63227"/>
            </a:solidFill>
            <a:prstDash val="solid"/>
          </a:ln>
        </p:spPr>
      </p:sp>
      <p:sp>
        <p:nvSpPr>
          <p:cNvPr id="22" name="Text 20"/>
          <p:cNvSpPr/>
          <p:nvPr/>
        </p:nvSpPr>
        <p:spPr>
          <a:xfrm>
            <a:off x="9052560" y="2286000"/>
            <a:ext cx="26974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04</a:t>
            </a:r>
            <a:endParaRPr lang="en-US" sz="1800" dirty="0"/>
          </a:p>
        </p:txBody>
      </p:sp>
      <p:sp>
        <p:nvSpPr>
          <p:cNvPr id="23" name="Text 21"/>
          <p:cNvSpPr/>
          <p:nvPr/>
        </p:nvSpPr>
        <p:spPr>
          <a:xfrm>
            <a:off x="9281160" y="3063240"/>
            <a:ext cx="2240280" cy="457200"/>
          </a:xfrm>
          <a:prstGeom prst="rect">
            <a:avLst/>
          </a:prstGeom>
          <a:noFill/>
          <a:ln/>
        </p:spPr>
        <p:txBody>
          <a:bodyPr wrap="square" lIns="0" tIns="0" rIns="0" bIns="0" rtlCol="0" anchor="ctr"/>
          <a:lstStyle/>
          <a:p>
            <a:pPr indent="0" marL="0">
              <a:lnSpc>
                <a:spcPts val="2200"/>
              </a:lnSpc>
              <a:buNone/>
            </a:pPr>
            <a:r>
              <a:rPr lang="en-US" sz="1700" b="1" dirty="0">
                <a:solidFill>
                  <a:srgbClr val="111111"/>
                </a:solidFill>
                <a:latin typeface="Inter" pitchFamily="34" charset="0"/>
                <a:ea typeface="Inter" pitchFamily="34" charset="-122"/>
                <a:cs typeface="Inter" pitchFamily="34" charset="-120"/>
              </a:rPr>
              <a:t>Cohort launch</a:t>
            </a:r>
            <a:endParaRPr lang="en-US" sz="1700" dirty="0"/>
          </a:p>
        </p:txBody>
      </p:sp>
      <p:sp>
        <p:nvSpPr>
          <p:cNvPr id="24" name="Text 22"/>
          <p:cNvSpPr/>
          <p:nvPr/>
        </p:nvSpPr>
        <p:spPr>
          <a:xfrm>
            <a:off x="9281160" y="3657600"/>
            <a:ext cx="2240280" cy="1463040"/>
          </a:xfrm>
          <a:prstGeom prst="rect">
            <a:avLst/>
          </a:prstGeom>
          <a:noFill/>
          <a:ln/>
        </p:spPr>
        <p:txBody>
          <a:bodyPr wrap="square" lIns="0" tIns="0" rIns="0" bIns="0" rtlCol="0" anchor="ctr"/>
          <a:lstStyle/>
          <a:p>
            <a:pPr indent="0" marL="0">
              <a:lnSpc>
                <a:spcPts val="1600"/>
              </a:lnSpc>
              <a:buNone/>
            </a:pPr>
            <a:r>
              <a:rPr lang="en-US" sz="1200" dirty="0">
                <a:solidFill>
                  <a:srgbClr val="666666"/>
                </a:solidFill>
                <a:latin typeface="Inter" pitchFamily="34" charset="0"/>
                <a:ea typeface="Inter" pitchFamily="34" charset="-122"/>
                <a:cs typeface="Inter" pitchFamily="34" charset="-120"/>
              </a:rPr>
              <a:t>Student enrolment opens. BuildAI handles delivery end-to-end.</a:t>
            </a:r>
            <a:endParaRPr lang="en-US" sz="1200" dirty="0"/>
          </a:p>
        </p:txBody>
      </p:sp>
      <p:sp>
        <p:nvSpPr>
          <p:cNvPr id="25" name="Shape 23"/>
          <p:cNvSpPr/>
          <p:nvPr/>
        </p:nvSpPr>
        <p:spPr>
          <a:xfrm>
            <a:off x="548640" y="6355080"/>
            <a:ext cx="11094415" cy="0"/>
          </a:xfrm>
          <a:prstGeom prst="line">
            <a:avLst/>
          </a:prstGeom>
          <a:noFill/>
          <a:ln w="9525">
            <a:solidFill>
              <a:srgbClr val="111111"/>
            </a:solidFill>
            <a:prstDash val="solid"/>
          </a:ln>
        </p:spPr>
      </p:sp>
      <p:sp>
        <p:nvSpPr>
          <p:cNvPr id="26" name="Text 24"/>
          <p:cNvSpPr/>
          <p:nvPr/>
        </p:nvSpPr>
        <p:spPr>
          <a:xfrm>
            <a:off x="548640" y="6400800"/>
            <a:ext cx="6400800" cy="320040"/>
          </a:xfrm>
          <a:prstGeom prst="rect">
            <a:avLst/>
          </a:prstGeom>
          <a:noFill/>
          <a:ln/>
        </p:spPr>
        <p:txBody>
          <a:bodyPr wrap="square" lIns="0" tIns="0" rIns="0" bIns="0" rtlCol="0" anchor="ctr"/>
          <a:lstStyle/>
          <a:p>
            <a:pPr algn="l" indent="0" marL="0">
              <a:buNone/>
            </a:pPr>
            <a:r>
              <a:rPr lang="en-US" sz="900" b="1" spc="300" kern="0" dirty="0">
                <a:solidFill>
                  <a:srgbClr val="111111"/>
                </a:solidFill>
                <a:latin typeface="Inter" pitchFamily="34" charset="0"/>
                <a:ea typeface="Inter" pitchFamily="34" charset="-122"/>
                <a:cs typeface="Inter" pitchFamily="34" charset="-120"/>
              </a:rPr>
              <a:t>BuildAI / Next Steps</a:t>
            </a:r>
            <a:endParaRPr lang="en-US" sz="900" dirty="0"/>
          </a:p>
        </p:txBody>
      </p:sp>
      <p:sp>
        <p:nvSpPr>
          <p:cNvPr id="27" name="Shape 25"/>
          <p:cNvSpPr/>
          <p:nvPr/>
        </p:nvSpPr>
        <p:spPr>
          <a:xfrm>
            <a:off x="10911535" y="6400800"/>
            <a:ext cx="777240" cy="274320"/>
          </a:xfrm>
          <a:prstGeom prst="rect">
            <a:avLst/>
          </a:prstGeom>
          <a:solidFill>
            <a:srgbClr val="111111"/>
          </a:solidFill>
          <a:ln w="12700">
            <a:solidFill>
              <a:srgbClr val="111111"/>
            </a:solidFill>
            <a:prstDash val="solid"/>
          </a:ln>
        </p:spPr>
      </p:sp>
      <p:sp>
        <p:nvSpPr>
          <p:cNvPr id="28" name="Text 26"/>
          <p:cNvSpPr/>
          <p:nvPr/>
        </p:nvSpPr>
        <p:spPr>
          <a:xfrm>
            <a:off x="10911535" y="6400800"/>
            <a:ext cx="77724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Inter" pitchFamily="34" charset="0"/>
                <a:ea typeface="Inter" pitchFamily="34" charset="-122"/>
                <a:cs typeface="Inter"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7985455" y="4572000"/>
            <a:ext cx="4206240" cy="2286000"/>
          </a:xfrm>
          <a:prstGeom prst="rect">
            <a:avLst/>
          </a:prstGeom>
          <a:solidFill>
            <a:srgbClr val="FFD400"/>
          </a:solidFill>
          <a:ln w="12700">
            <a:solidFill>
              <a:srgbClr val="FFD400"/>
            </a:solidFill>
            <a:prstDash val="solid"/>
          </a:ln>
        </p:spPr>
      </p:sp>
      <p:sp>
        <p:nvSpPr>
          <p:cNvPr id="3" name="Shape 1"/>
          <p:cNvSpPr/>
          <p:nvPr/>
        </p:nvSpPr>
        <p:spPr>
          <a:xfrm>
            <a:off x="0" y="0"/>
            <a:ext cx="457200" cy="6858000"/>
          </a:xfrm>
          <a:prstGeom prst="rect">
            <a:avLst/>
          </a:prstGeom>
          <a:solidFill>
            <a:srgbClr val="E63227"/>
          </a:solidFill>
          <a:ln w="12700">
            <a:solidFill>
              <a:srgbClr val="E63227"/>
            </a:solidFill>
            <a:prstDash val="solid"/>
          </a:ln>
        </p:spPr>
      </p:sp>
      <p:sp>
        <p:nvSpPr>
          <p:cNvPr id="4" name="Text 2"/>
          <p:cNvSpPr/>
          <p:nvPr/>
        </p:nvSpPr>
        <p:spPr>
          <a:xfrm>
            <a:off x="777240" y="502920"/>
            <a:ext cx="5486400" cy="274320"/>
          </a:xfrm>
          <a:prstGeom prst="rect">
            <a:avLst/>
          </a:prstGeom>
          <a:noFill/>
          <a:ln/>
        </p:spPr>
        <p:txBody>
          <a:bodyPr wrap="square" lIns="0" tIns="0" rIns="0" bIns="0" rtlCol="0" anchor="ctr"/>
          <a:lstStyle/>
          <a:p>
            <a:pPr indent="0" marL="0">
              <a:buNone/>
            </a:pPr>
            <a:r>
              <a:rPr lang="en-US" sz="1000" b="1" spc="400" kern="0" dirty="0">
                <a:solidFill>
                  <a:srgbClr val="FFD400"/>
                </a:solidFill>
                <a:latin typeface="Inter" pitchFamily="34" charset="0"/>
                <a:ea typeface="Inter" pitchFamily="34" charset="-122"/>
                <a:cs typeface="Inter" pitchFamily="34" charset="-120"/>
              </a:rPr>
              <a:t>17 / 17  </a:t>
            </a:r>
            <a:pPr indent="0" marL="0">
              <a:buNone/>
            </a:pPr>
            <a:r>
              <a:rPr lang="en-US" sz="1000" b="1" spc="400" kern="0" dirty="0">
                <a:solidFill>
                  <a:srgbClr val="FFFFFF"/>
                </a:solidFill>
                <a:latin typeface="Inter" pitchFamily="34" charset="0"/>
                <a:ea typeface="Inter" pitchFamily="34" charset="-122"/>
                <a:cs typeface="Inter" pitchFamily="34" charset="-120"/>
              </a:rPr>
              <a:t>LET'S BEGIN</a:t>
            </a:r>
            <a:endParaRPr lang="en-US" sz="1000" dirty="0"/>
          </a:p>
        </p:txBody>
      </p:sp>
      <p:sp>
        <p:nvSpPr>
          <p:cNvPr id="5" name="Text 3"/>
          <p:cNvSpPr/>
          <p:nvPr/>
        </p:nvSpPr>
        <p:spPr>
          <a:xfrm>
            <a:off x="777240" y="1371600"/>
            <a:ext cx="10058400" cy="2286000"/>
          </a:xfrm>
          <a:prstGeom prst="rect">
            <a:avLst/>
          </a:prstGeom>
          <a:noFill/>
          <a:ln/>
        </p:spPr>
        <p:txBody>
          <a:bodyPr wrap="square" lIns="0" tIns="0" rIns="0" bIns="0" rtlCol="0" anchor="ctr"/>
          <a:lstStyle/>
          <a:p>
            <a:pPr indent="0" marL="0">
              <a:lnSpc>
                <a:spcPts val="7200"/>
              </a:lnSpc>
              <a:buNone/>
            </a:pPr>
            <a:r>
              <a:rPr lang="en-US" sz="7200" b="1" spc="-200" kern="0" dirty="0">
                <a:solidFill>
                  <a:srgbClr val="FFFFFF"/>
                </a:solidFill>
                <a:latin typeface="Inter" pitchFamily="34" charset="0"/>
                <a:ea typeface="Inter" pitchFamily="34" charset="-122"/>
                <a:cs typeface="Inter" pitchFamily="34" charset="-120"/>
              </a:rPr>
              <a:t>Let's run a pilot </a:t>
            </a:r>
            <a:pPr indent="0" marL="0">
              <a:lnSpc>
                <a:spcPts val="7200"/>
              </a:lnSpc>
              <a:buNone/>
            </a:pPr>
            <a:r>
              <a:rPr lang="en-US" sz="7200" b="1" spc="-200" kern="0" dirty="0">
                <a:solidFill>
                  <a:srgbClr val="FFD400"/>
                </a:solidFill>
                <a:latin typeface="Inter" pitchFamily="34" charset="0"/>
                <a:ea typeface="Inter" pitchFamily="34" charset="-122"/>
                <a:cs typeface="Inter" pitchFamily="34" charset="-120"/>
              </a:rPr>
              <a:t>together.</a:t>
            </a:r>
            <a:endParaRPr lang="en-US" sz="7200" dirty="0"/>
          </a:p>
        </p:txBody>
      </p:sp>
      <p:sp>
        <p:nvSpPr>
          <p:cNvPr id="6" name="Text 4"/>
          <p:cNvSpPr/>
          <p:nvPr/>
        </p:nvSpPr>
        <p:spPr>
          <a:xfrm>
            <a:off x="777240" y="3931920"/>
            <a:ext cx="10058400" cy="502920"/>
          </a:xfrm>
          <a:prstGeom prst="rect">
            <a:avLst/>
          </a:prstGeom>
          <a:noFill/>
          <a:ln/>
        </p:spPr>
        <p:txBody>
          <a:bodyPr wrap="square" lIns="0" tIns="0" rIns="0" bIns="0" rtlCol="0" anchor="ctr"/>
          <a:lstStyle/>
          <a:p>
            <a:pPr indent="0" marL="0">
              <a:buNone/>
            </a:pPr>
            <a:r>
              <a:rPr lang="en-US" sz="2000" i="1" dirty="0">
                <a:solidFill>
                  <a:srgbClr val="AAAAAA"/>
                </a:solidFill>
                <a:latin typeface="Inter" pitchFamily="34" charset="0"/>
                <a:ea typeface="Inter" pitchFamily="34" charset="-122"/>
                <a:cs typeface="Inter" pitchFamily="34" charset="-120"/>
              </a:rPr>
              <a:t>Even a 30-student first cohort produces public proof your institution can show.</a:t>
            </a:r>
            <a:endParaRPr lang="en-US" sz="2000" dirty="0"/>
          </a:p>
        </p:txBody>
      </p:sp>
      <p:sp>
        <p:nvSpPr>
          <p:cNvPr id="7" name="Text 5"/>
          <p:cNvSpPr/>
          <p:nvPr/>
        </p:nvSpPr>
        <p:spPr>
          <a:xfrm>
            <a:off x="8214055" y="4754880"/>
            <a:ext cx="3840480" cy="274320"/>
          </a:xfrm>
          <a:prstGeom prst="rect">
            <a:avLst/>
          </a:prstGeom>
          <a:noFill/>
          <a:ln/>
        </p:spPr>
        <p:txBody>
          <a:bodyPr wrap="square" lIns="0" tIns="0" rIns="0" bIns="0" rtlCol="0" anchor="ctr"/>
          <a:lstStyle/>
          <a:p>
            <a:pPr indent="0" marL="0">
              <a:buNone/>
            </a:pPr>
            <a:r>
              <a:rPr lang="en-US" sz="1000" b="1" spc="500" kern="0" dirty="0">
                <a:solidFill>
                  <a:srgbClr val="111111"/>
                </a:solidFill>
                <a:latin typeface="Inter" pitchFamily="34" charset="0"/>
                <a:ea typeface="Inter" pitchFamily="34" charset="-122"/>
                <a:cs typeface="Inter" pitchFamily="34" charset="-120"/>
              </a:rPr>
              <a:t>SHARAD AGRAWAL</a:t>
            </a:r>
            <a:endParaRPr lang="en-US" sz="1000" dirty="0"/>
          </a:p>
        </p:txBody>
      </p:sp>
      <p:sp>
        <p:nvSpPr>
          <p:cNvPr id="8" name="Text 6"/>
          <p:cNvSpPr/>
          <p:nvPr/>
        </p:nvSpPr>
        <p:spPr>
          <a:xfrm>
            <a:off x="8214055" y="5074920"/>
            <a:ext cx="3840480" cy="320040"/>
          </a:xfrm>
          <a:prstGeom prst="rect">
            <a:avLst/>
          </a:prstGeom>
          <a:noFill/>
          <a:ln/>
        </p:spPr>
        <p:txBody>
          <a:bodyPr wrap="square" lIns="0" tIns="0" rIns="0" bIns="0" rtlCol="0" anchor="ctr"/>
          <a:lstStyle/>
          <a:p>
            <a:pPr indent="0" marL="0">
              <a:buNone/>
            </a:pPr>
            <a:r>
              <a:rPr lang="en-US" sz="1500" i="1" dirty="0">
                <a:solidFill>
                  <a:srgbClr val="111111"/>
                </a:solidFill>
                <a:latin typeface="Inter" pitchFamily="34" charset="0"/>
                <a:ea typeface="Inter" pitchFamily="34" charset="-122"/>
                <a:cs typeface="Inter" pitchFamily="34" charset="-120"/>
              </a:rPr>
              <a:t>Founder, BuildAI</a:t>
            </a:r>
            <a:endParaRPr lang="en-US" sz="1500" dirty="0"/>
          </a:p>
        </p:txBody>
      </p:sp>
      <p:sp>
        <p:nvSpPr>
          <p:cNvPr id="9" name="Shape 7"/>
          <p:cNvSpPr/>
          <p:nvPr/>
        </p:nvSpPr>
        <p:spPr>
          <a:xfrm>
            <a:off x="8214055" y="5486400"/>
            <a:ext cx="914400" cy="0"/>
          </a:xfrm>
          <a:prstGeom prst="line">
            <a:avLst/>
          </a:prstGeom>
          <a:noFill/>
          <a:ln w="25400">
            <a:solidFill>
              <a:srgbClr val="111111"/>
            </a:solidFill>
            <a:prstDash val="solid"/>
          </a:ln>
        </p:spPr>
      </p:sp>
      <p:sp>
        <p:nvSpPr>
          <p:cNvPr id="10" name="Text 8"/>
          <p:cNvSpPr/>
          <p:nvPr/>
        </p:nvSpPr>
        <p:spPr>
          <a:xfrm>
            <a:off x="8214055" y="5577840"/>
            <a:ext cx="3840480" cy="320040"/>
          </a:xfrm>
          <a:prstGeom prst="rect">
            <a:avLst/>
          </a:prstGeom>
          <a:noFill/>
          <a:ln/>
        </p:spPr>
        <p:txBody>
          <a:bodyPr wrap="square" lIns="0" tIns="0" rIns="0" bIns="0" rtlCol="0" anchor="ctr"/>
          <a:lstStyle/>
          <a:p>
            <a:pPr indent="0" marL="0">
              <a:buNone/>
            </a:pPr>
            <a:r>
              <a:rPr lang="en-US" sz="1400" b="1" dirty="0">
                <a:solidFill>
                  <a:srgbClr val="111111"/>
                </a:solidFill>
                <a:latin typeface="Inter" pitchFamily="34" charset="0"/>
                <a:ea typeface="Inter" pitchFamily="34" charset="-122"/>
                <a:cs typeface="Inter" pitchFamily="34" charset="-120"/>
              </a:rPr>
              <a:t>contact@meetskybloom.com</a:t>
            </a:r>
            <a:endParaRPr lang="en-US" sz="1400" dirty="0"/>
          </a:p>
        </p:txBody>
      </p:sp>
      <p:sp>
        <p:nvSpPr>
          <p:cNvPr id="11" name="Text 9"/>
          <p:cNvSpPr/>
          <p:nvPr/>
        </p:nvSpPr>
        <p:spPr>
          <a:xfrm>
            <a:off x="8214055" y="5897880"/>
            <a:ext cx="3840480" cy="274320"/>
          </a:xfrm>
          <a:prstGeom prst="rect">
            <a:avLst/>
          </a:prstGeom>
          <a:noFill/>
          <a:ln/>
        </p:spPr>
        <p:txBody>
          <a:bodyPr wrap="square" lIns="0" tIns="0" rIns="0" bIns="0" rtlCol="0" anchor="ctr"/>
          <a:lstStyle/>
          <a:p>
            <a:pPr indent="0" marL="0">
              <a:buNone/>
            </a:pPr>
            <a:r>
              <a:rPr lang="en-US" sz="1100" dirty="0">
                <a:solidFill>
                  <a:srgbClr val="111111"/>
                </a:solidFill>
                <a:latin typeface="Inter" pitchFamily="34" charset="0"/>
                <a:ea typeface="Inter" pitchFamily="34" charset="-122"/>
                <a:cs typeface="Inter" pitchFamily="34" charset="-120"/>
              </a:rPr>
              <a:t>IIT Bombay '18  ·  Cornell MBA '24</a:t>
            </a:r>
            <a:endParaRPr lang="en-US" sz="1100" dirty="0"/>
          </a:p>
        </p:txBody>
      </p:sp>
      <p:sp>
        <p:nvSpPr>
          <p:cNvPr id="12" name="Shape 10"/>
          <p:cNvSpPr/>
          <p:nvPr/>
        </p:nvSpPr>
        <p:spPr>
          <a:xfrm>
            <a:off x="777240" y="6355080"/>
            <a:ext cx="777240" cy="274320"/>
          </a:xfrm>
          <a:prstGeom prst="rect">
            <a:avLst/>
          </a:prstGeom>
          <a:solidFill>
            <a:srgbClr val="FFFFFF"/>
          </a:solidFill>
          <a:ln w="12700">
            <a:solidFill>
              <a:srgbClr val="FFFFFF"/>
            </a:solidFill>
            <a:prstDash val="solid"/>
          </a:ln>
        </p:spPr>
      </p:sp>
      <p:sp>
        <p:nvSpPr>
          <p:cNvPr id="13" name="Text 11"/>
          <p:cNvSpPr/>
          <p:nvPr/>
        </p:nvSpPr>
        <p:spPr>
          <a:xfrm>
            <a:off x="777240" y="6355080"/>
            <a:ext cx="777240" cy="274320"/>
          </a:xfrm>
          <a:prstGeom prst="rect">
            <a:avLst/>
          </a:prstGeom>
          <a:noFill/>
          <a:ln/>
        </p:spPr>
        <p:txBody>
          <a:bodyPr wrap="square" lIns="0" tIns="0" rIns="0" bIns="0" rtlCol="0" anchor="ctr"/>
          <a:lstStyle/>
          <a:p>
            <a:pPr algn="ctr" indent="0" marL="0">
              <a:buNone/>
            </a:pPr>
            <a:r>
              <a:rPr lang="en-US" sz="900" b="1" spc="300" kern="0" dirty="0">
                <a:solidFill>
                  <a:srgbClr val="111111"/>
                </a:solidFill>
                <a:latin typeface="Inter" pitchFamily="34" charset="0"/>
                <a:ea typeface="Inter" pitchFamily="34" charset="-122"/>
                <a:cs typeface="Inter"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BuildAI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BuildAI — College Pitch Deck (Swiss)</dc:title>
  <dc:subject>PptxGenJS Presentation</dc:subject>
  <dc:creator>Sharad Agrawal</dc:creator>
  <cp:lastModifiedBy>Sharad Agrawal</cp:lastModifiedBy>
  <cp:revision>1</cp:revision>
  <dcterms:created xsi:type="dcterms:W3CDTF">2026-05-27T20:02:30Z</dcterms:created>
  <dcterms:modified xsi:type="dcterms:W3CDTF">2026-05-27T20:02:30Z</dcterms:modified>
</cp:coreProperties>
</file>