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8991295" y="0"/>
            <a:ext cx="3200400" cy="1783080"/>
          </a:xfrm>
          <a:prstGeom prst="rect">
            <a:avLst/>
          </a:prstGeom>
          <a:solidFill>
            <a:srgbClr val="00D4AA"/>
          </a:solidFill>
          <a:ln/>
        </p:spPr>
      </p:sp>
      <p:sp>
        <p:nvSpPr>
          <p:cNvPr id="3" name="Text 1"/>
          <p:cNvSpPr/>
          <p:nvPr/>
        </p:nvSpPr>
        <p:spPr>
          <a:xfrm>
            <a:off x="9082735" y="502920"/>
            <a:ext cx="2834640" cy="914400"/>
          </a:xfrm>
          <a:prstGeom prst="rect">
            <a:avLst/>
          </a:prstGeom>
          <a:noFill/>
          <a:ln/>
        </p:spPr>
        <p:txBody>
          <a:bodyPr wrap="square" lIns="0" tIns="0" rIns="0" bIns="0" rtlCol="0" anchor="ctr"/>
          <a:lstStyle/>
          <a:p>
            <a:pPr algn="r" indent="0" marL="0">
              <a:buNone/>
            </a:pPr>
            <a:r>
              <a:rPr lang="en-US" sz="1700" b="1" spc="200" kern="0" dirty="0">
                <a:solidFill>
                  <a:srgbClr val="0A2540"/>
                </a:solidFill>
                <a:latin typeface="Arial" pitchFamily="34" charset="0"/>
                <a:ea typeface="Arial" pitchFamily="34" charset="-122"/>
                <a:cs typeface="Arial" pitchFamily="34" charset="-120"/>
              </a:rPr>
              <a:t>EARNED,</a:t>
            </a:r>
            <a:endParaRPr lang="en-US" sz="1700" dirty="0"/>
          </a:p>
          <a:p>
            <a:pPr algn="r" indent="0" marL="0">
              <a:buNone/>
            </a:pPr>
            <a:r>
              <a:rPr lang="en-US" sz="1700" b="1" spc="200" kern="0" dirty="0">
                <a:solidFill>
                  <a:srgbClr val="0A2540"/>
                </a:solidFill>
                <a:latin typeface="Arial" pitchFamily="34" charset="0"/>
                <a:ea typeface="Arial" pitchFamily="34" charset="-122"/>
                <a:cs typeface="Arial" pitchFamily="34" charset="-120"/>
              </a:rPr>
              <a:t>NOT GRANTED.</a:t>
            </a:r>
            <a:endParaRPr lang="en-US" sz="1700" dirty="0"/>
          </a:p>
        </p:txBody>
      </p:sp>
      <p:sp>
        <p:nvSpPr>
          <p:cNvPr id="4" name="Text 2"/>
          <p:cNvSpPr/>
          <p:nvPr/>
        </p:nvSpPr>
        <p:spPr>
          <a:xfrm>
            <a:off x="640080" y="347472"/>
            <a:ext cx="8229600" cy="292608"/>
          </a:xfrm>
          <a:prstGeom prst="rect">
            <a:avLst/>
          </a:prstGeom>
          <a:noFill/>
          <a:ln/>
        </p:spPr>
        <p:txBody>
          <a:bodyPr wrap="square" lIns="0" tIns="0" rIns="0" bIns="0" rtlCol="0" anchor="ctr"/>
          <a:lstStyle/>
          <a:p>
            <a:pPr indent="0" marL="0">
              <a:buNone/>
            </a:pPr>
            <a:r>
              <a:rPr lang="en-US" sz="1100" b="1" spc="300" kern="0" dirty="0">
                <a:solidFill>
                  <a:srgbClr val="00D4AA"/>
                </a:solidFill>
                <a:latin typeface="Arial" pitchFamily="34" charset="0"/>
                <a:ea typeface="Arial" pitchFamily="34" charset="-122"/>
                <a:cs typeface="Arial" pitchFamily="34" charset="-120"/>
              </a:rPr>
              <a:t>01 / 21</a:t>
            </a:r>
            <a:pPr indent="0" marL="0">
              <a:buNone/>
            </a:pPr>
            <a:r>
              <a:rPr lang="en-US" sz="1100" b="1" spc="300" kern="0" dirty="0">
                <a:solidFill>
                  <a:srgbClr val="BFD3E0"/>
                </a:solidFill>
                <a:latin typeface="Arial" pitchFamily="34" charset="0"/>
                <a:ea typeface="Arial" pitchFamily="34" charset="-122"/>
                <a:cs typeface="Arial" pitchFamily="34" charset="-120"/>
              </a:rPr>
              <a:t>   COVER</a:t>
            </a:r>
            <a:endParaRPr lang="en-US" sz="1100" dirty="0"/>
          </a:p>
        </p:txBody>
      </p:sp>
      <p:sp>
        <p:nvSpPr>
          <p:cNvPr id="5" name="Text 3"/>
          <p:cNvSpPr/>
          <p:nvPr/>
        </p:nvSpPr>
        <p:spPr>
          <a:xfrm>
            <a:off x="640080" y="1965960"/>
            <a:ext cx="10515600" cy="2651760"/>
          </a:xfrm>
          <a:prstGeom prst="rect">
            <a:avLst/>
          </a:prstGeom>
          <a:noFill/>
          <a:ln/>
        </p:spPr>
        <p:txBody>
          <a:bodyPr wrap="square" lIns="0" tIns="0" rIns="0" bIns="0" rtlCol="0" anchor="ctr"/>
          <a:lstStyle/>
          <a:p>
            <a:pPr indent="0" marL="0">
              <a:lnSpc>
                <a:spcPct val="102000"/>
              </a:lnSpc>
              <a:buNone/>
            </a:pPr>
            <a:r>
              <a:rPr lang="en-US" sz="5600" b="1" dirty="0">
                <a:solidFill>
                  <a:srgbClr val="FFFFFF"/>
                </a:solidFill>
                <a:latin typeface="Arial" pitchFamily="34" charset="0"/>
                <a:ea typeface="Arial" pitchFamily="34" charset="-122"/>
                <a:cs typeface="Arial" pitchFamily="34" charset="-120"/>
              </a:rPr>
              <a:t>We don't teach AI.</a:t>
            </a:r>
            <a:endParaRPr lang="en-US" sz="5600" dirty="0"/>
          </a:p>
          <a:p>
            <a:pPr indent="0" marL="0">
              <a:lnSpc>
                <a:spcPct val="102000"/>
              </a:lnSpc>
              <a:buNone/>
            </a:pPr>
            <a:r>
              <a:rPr lang="en-US" sz="5600" b="1" dirty="0">
                <a:solidFill>
                  <a:srgbClr val="FFFFFF"/>
                </a:solidFill>
                <a:latin typeface="Arial" pitchFamily="34" charset="0"/>
                <a:ea typeface="Arial" pitchFamily="34" charset="-122"/>
                <a:cs typeface="Arial" pitchFamily="34" charset="-120"/>
              </a:rPr>
              <a:t>We make engineers</a:t>
            </a:r>
            <a:endParaRPr lang="en-US" sz="5600" dirty="0"/>
          </a:p>
          <a:p>
            <a:pPr indent="0" marL="0">
              <a:lnSpc>
                <a:spcPct val="102000"/>
              </a:lnSpc>
              <a:buNone/>
            </a:pPr>
            <a:r>
              <a:rPr lang="en-US" sz="5600" b="1" dirty="0">
                <a:solidFill>
                  <a:srgbClr val="00D4AA"/>
                </a:solidFill>
                <a:latin typeface="Arial" pitchFamily="34" charset="0"/>
                <a:ea typeface="Arial" pitchFamily="34" charset="-122"/>
                <a:cs typeface="Arial" pitchFamily="34" charset="-120"/>
              </a:rPr>
              <a:t>who ship.</a:t>
            </a:r>
            <a:endParaRPr lang="en-US" sz="5600" dirty="0"/>
          </a:p>
        </p:txBody>
      </p:sp>
      <p:sp>
        <p:nvSpPr>
          <p:cNvPr id="6" name="Text 4"/>
          <p:cNvSpPr/>
          <p:nvPr/>
        </p:nvSpPr>
        <p:spPr>
          <a:xfrm>
            <a:off x="640080" y="4800600"/>
            <a:ext cx="9144000" cy="457200"/>
          </a:xfrm>
          <a:prstGeom prst="rect">
            <a:avLst/>
          </a:prstGeom>
          <a:noFill/>
          <a:ln/>
        </p:spPr>
        <p:txBody>
          <a:bodyPr wrap="square" lIns="0" tIns="0" rIns="0" bIns="0" rtlCol="0" anchor="ctr"/>
          <a:lstStyle/>
          <a:p>
            <a:pPr indent="0" marL="0">
              <a:buNone/>
            </a:pPr>
            <a:r>
              <a:rPr lang="en-US" sz="1900" dirty="0">
                <a:solidFill>
                  <a:srgbClr val="BFD3E0"/>
                </a:solidFill>
                <a:latin typeface="Arial" pitchFamily="34" charset="0"/>
                <a:ea typeface="Arial" pitchFamily="34" charset="-122"/>
                <a:cs typeface="Arial" pitchFamily="34" charset="-120"/>
              </a:rPr>
              <a:t>An AI-native product engineering apprenticeship for India.</a:t>
            </a:r>
            <a:endParaRPr lang="en-US" sz="1900" dirty="0"/>
          </a:p>
        </p:txBody>
      </p:sp>
      <p:sp>
        <p:nvSpPr>
          <p:cNvPr id="7" name="Shape 5"/>
          <p:cNvSpPr/>
          <p:nvPr/>
        </p:nvSpPr>
        <p:spPr>
          <a:xfrm>
            <a:off x="0" y="5577840"/>
            <a:ext cx="457200" cy="1280160"/>
          </a:xfrm>
          <a:prstGeom prst="rect">
            <a:avLst/>
          </a:prstGeom>
          <a:solidFill>
            <a:srgbClr val="00D4AA"/>
          </a:solidFill>
          <a:ln/>
        </p:spPr>
      </p:sp>
      <p:sp>
        <p:nvSpPr>
          <p:cNvPr id="8" name="Text 6"/>
          <p:cNvSpPr/>
          <p:nvPr/>
        </p:nvSpPr>
        <p:spPr>
          <a:xfrm>
            <a:off x="640080" y="6400800"/>
            <a:ext cx="8229600" cy="274320"/>
          </a:xfrm>
          <a:prstGeom prst="rect">
            <a:avLst/>
          </a:prstGeom>
          <a:noFill/>
          <a:ln/>
        </p:spPr>
        <p:txBody>
          <a:bodyPr wrap="square" lIns="0" tIns="0" rIns="0" bIns="0" rtlCol="0" anchor="ctr"/>
          <a:lstStyle/>
          <a:p>
            <a:pPr indent="0" marL="0">
              <a:buNone/>
            </a:pPr>
            <a:r>
              <a:rPr lang="en-US" sz="1050" b="1" spc="200" kern="0" dirty="0">
                <a:solidFill>
                  <a:srgbClr val="BFD3E0"/>
                </a:solidFill>
                <a:latin typeface="Arial" pitchFamily="34" charset="0"/>
                <a:ea typeface="Arial" pitchFamily="34" charset="-122"/>
                <a:cs typeface="Arial" pitchFamily="34" charset="-120"/>
              </a:rPr>
              <a:t>Sharad Agrawal   /   Founder   /   IIT Bombay '18   /   Cornell MBA '24</a:t>
            </a:r>
            <a:endParaRPr lang="en-US" sz="1050" dirty="0"/>
          </a:p>
        </p:txBody>
      </p:sp>
      <p:sp>
        <p:nvSpPr>
          <p:cNvPr id="9" name="Shape 7"/>
          <p:cNvSpPr/>
          <p:nvPr/>
        </p:nvSpPr>
        <p:spPr>
          <a:xfrm>
            <a:off x="10725912" y="6391656"/>
            <a:ext cx="822960" cy="310896"/>
          </a:xfrm>
          <a:prstGeom prst="rect">
            <a:avLst/>
          </a:prstGeom>
          <a:solidFill>
            <a:srgbClr val="00D4AA"/>
          </a:solidFill>
          <a:ln/>
        </p:spPr>
      </p:sp>
      <p:sp>
        <p:nvSpPr>
          <p:cNvPr id="10" name="Text 8"/>
          <p:cNvSpPr/>
          <p:nvPr/>
        </p:nvSpPr>
        <p:spPr>
          <a:xfrm>
            <a:off x="10725912" y="6391656"/>
            <a:ext cx="822960" cy="310896"/>
          </a:xfrm>
          <a:prstGeom prst="rect">
            <a:avLst/>
          </a:prstGeom>
          <a:noFill/>
          <a:ln/>
        </p:spPr>
        <p:txBody>
          <a:bodyPr wrap="square" lIns="0" tIns="0" rIns="0" bIns="0" rtlCol="0" anchor="ctr"/>
          <a:lstStyle/>
          <a:p>
            <a:pPr algn="ctr" indent="0" marL="0">
              <a:buNone/>
            </a:pPr>
            <a:r>
              <a:rPr lang="en-US" sz="1000" b="1" dirty="0">
                <a:solidFill>
                  <a:srgbClr val="0A2540"/>
                </a:solidFill>
                <a:latin typeface="Arial" pitchFamily="34" charset="0"/>
                <a:ea typeface="Arial" pitchFamily="34" charset="-122"/>
                <a:cs typeface="Arial" pitchFamily="34" charset="-120"/>
              </a:rPr>
              <a:t>01 / 21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8229600" cy="292608"/>
          </a:xfrm>
          <a:prstGeom prst="rect">
            <a:avLst/>
          </a:prstGeom>
          <a:noFill/>
          <a:ln/>
        </p:spPr>
        <p:txBody>
          <a:bodyPr wrap="square" lIns="0" tIns="0" rIns="0" bIns="0" rtlCol="0" anchor="ctr"/>
          <a:lstStyle/>
          <a:p>
            <a:pPr indent="0" marL="0">
              <a:buNone/>
            </a:pPr>
            <a:r>
              <a:rPr lang="en-US" sz="1100" b="1" spc="300" kern="0" dirty="0">
                <a:solidFill>
                  <a:srgbClr val="0A8F77"/>
                </a:solidFill>
                <a:latin typeface="Arial" pitchFamily="34" charset="0"/>
                <a:ea typeface="Arial" pitchFamily="34" charset="-122"/>
                <a:cs typeface="Arial" pitchFamily="34" charset="-120"/>
              </a:rPr>
              <a:t>02 / 21</a:t>
            </a:r>
            <a:pPr indent="0" marL="0">
              <a:buNone/>
            </a:pPr>
            <a:r>
              <a:rPr lang="en-US" sz="1100" b="1" spc="300" kern="0" dirty="0">
                <a:solidFill>
                  <a:srgbClr val="5B6B7B"/>
                </a:solidFill>
                <a:latin typeface="Arial" pitchFamily="34" charset="0"/>
                <a:ea typeface="Arial" pitchFamily="34" charset="-122"/>
                <a:cs typeface="Arial" pitchFamily="34" charset="-120"/>
              </a:rPr>
              <a:t>   THE GAP</a:t>
            </a:r>
            <a:endParaRPr lang="en-US" sz="1100" dirty="0"/>
          </a:p>
        </p:txBody>
      </p:sp>
      <p:sp>
        <p:nvSpPr>
          <p:cNvPr id="3" name="Text 1"/>
          <p:cNvSpPr/>
          <p:nvPr/>
        </p:nvSpPr>
        <p:spPr>
          <a:xfrm>
            <a:off x="621792" y="841248"/>
            <a:ext cx="10241280" cy="1371600"/>
          </a:xfrm>
          <a:prstGeom prst="rect">
            <a:avLst/>
          </a:prstGeom>
          <a:noFill/>
          <a:ln/>
        </p:spPr>
        <p:txBody>
          <a:bodyPr wrap="square" lIns="0" tIns="0" rIns="0" bIns="0" rtlCol="0" anchor="ctr"/>
          <a:lstStyle/>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Traditional curriculum cannot keep pace</a:t>
            </a:r>
            <a:endParaRPr lang="en-US" sz="3300" dirty="0"/>
          </a:p>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with AI-native engineering workflows.</a:t>
            </a:r>
            <a:endParaRPr lang="en-US" sz="3300" dirty="0"/>
          </a:p>
        </p:txBody>
      </p:sp>
      <p:sp>
        <p:nvSpPr>
          <p:cNvPr id="4" name="Shape 2"/>
          <p:cNvSpPr/>
          <p:nvPr/>
        </p:nvSpPr>
        <p:spPr>
          <a:xfrm>
            <a:off x="640080" y="2331720"/>
            <a:ext cx="5358384" cy="3611880"/>
          </a:xfrm>
          <a:prstGeom prst="rect">
            <a:avLst/>
          </a:prstGeom>
          <a:solidFill>
            <a:srgbClr val="0A2540"/>
          </a:solidFill>
          <a:ln/>
        </p:spPr>
      </p:sp>
      <p:sp>
        <p:nvSpPr>
          <p:cNvPr id="5" name="Shape 3"/>
          <p:cNvSpPr/>
          <p:nvPr/>
        </p:nvSpPr>
        <p:spPr>
          <a:xfrm>
            <a:off x="1051560" y="3035808"/>
            <a:ext cx="457200" cy="41148"/>
          </a:xfrm>
          <a:prstGeom prst="rect">
            <a:avLst/>
          </a:prstGeom>
          <a:solidFill>
            <a:srgbClr val="00D4AA"/>
          </a:solidFill>
          <a:ln/>
        </p:spPr>
      </p:sp>
      <p:sp>
        <p:nvSpPr>
          <p:cNvPr id="6" name="Text 4"/>
          <p:cNvSpPr/>
          <p:nvPr/>
        </p:nvSpPr>
        <p:spPr>
          <a:xfrm>
            <a:off x="1051560" y="2670048"/>
            <a:ext cx="4572000" cy="274320"/>
          </a:xfrm>
          <a:prstGeom prst="rect">
            <a:avLst/>
          </a:prstGeom>
          <a:noFill/>
          <a:ln/>
        </p:spPr>
        <p:txBody>
          <a:bodyPr wrap="square" lIns="0" tIns="0" rIns="0" bIns="0" rtlCol="0" anchor="ctr"/>
          <a:lstStyle/>
          <a:p>
            <a:pPr indent="0" marL="0">
              <a:buNone/>
            </a:pPr>
            <a:r>
              <a:rPr lang="en-US" sz="1300" b="1" spc="300" kern="0" dirty="0">
                <a:solidFill>
                  <a:srgbClr val="FFFFFF"/>
                </a:solidFill>
                <a:latin typeface="Arial" pitchFamily="34" charset="0"/>
                <a:ea typeface="Arial" pitchFamily="34" charset="-122"/>
                <a:cs typeface="Arial" pitchFamily="34" charset="-120"/>
              </a:rPr>
              <a:t>WHERE CURRICULUM ENDS</a:t>
            </a:r>
            <a:endParaRPr lang="en-US" sz="1300" dirty="0"/>
          </a:p>
        </p:txBody>
      </p:sp>
      <p:sp>
        <p:nvSpPr>
          <p:cNvPr id="7" name="Text 5"/>
          <p:cNvSpPr/>
          <p:nvPr/>
        </p:nvSpPr>
        <p:spPr>
          <a:xfrm>
            <a:off x="1051560" y="3337560"/>
            <a:ext cx="4572000" cy="2377440"/>
          </a:xfrm>
          <a:prstGeom prst="rect">
            <a:avLst/>
          </a:prstGeom>
          <a:noFill/>
          <a:ln/>
        </p:spPr>
        <p:txBody>
          <a:bodyPr wrap="square" lIns="0" tIns="0" rIns="0" bIns="0" rtlCol="0" anchor="ctr"/>
          <a:lstStyle/>
          <a:p>
            <a:pPr indent="0" marL="0">
              <a:lnSpc>
                <a:spcPct val="155000"/>
              </a:lnSpc>
              <a:buNone/>
            </a:pPr>
            <a:r>
              <a:rPr lang="en-US" sz="1350" dirty="0">
                <a:solidFill>
                  <a:srgbClr val="BFD3E0"/>
                </a:solidFill>
                <a:latin typeface="Arial" pitchFamily="34" charset="0"/>
                <a:ea typeface="Arial" pitchFamily="34" charset="-122"/>
                <a:cs typeface="Arial" pitchFamily="34" charset="-120"/>
              </a:rPr>
              <a:t>—   Theoretical foundations are strong</a:t>
            </a:r>
            <a:endParaRPr lang="en-US" sz="1350" dirty="0"/>
          </a:p>
          <a:p>
            <a:pPr indent="0" marL="0">
              <a:lnSpc>
                <a:spcPct val="155000"/>
              </a:lnSpc>
              <a:buNone/>
            </a:pPr>
            <a:r>
              <a:rPr lang="en-US" sz="1350" dirty="0">
                <a:solidFill>
                  <a:srgbClr val="BFD3E0"/>
                </a:solidFill>
                <a:latin typeface="Arial" pitchFamily="34" charset="0"/>
                <a:ea typeface="Arial" pitchFamily="34" charset="-122"/>
                <a:cs typeface="Arial" pitchFamily="34" charset="-120"/>
              </a:rPr>
              <a:t>—   Limited time for shipping practice</a:t>
            </a:r>
            <a:endParaRPr lang="en-US" sz="1350" dirty="0"/>
          </a:p>
          <a:p>
            <a:pPr indent="0" marL="0">
              <a:lnSpc>
                <a:spcPct val="155000"/>
              </a:lnSpc>
              <a:buNone/>
            </a:pPr>
            <a:r>
              <a:rPr lang="en-US" sz="1350" dirty="0">
                <a:solidFill>
                  <a:srgbClr val="BFD3E0"/>
                </a:solidFill>
                <a:latin typeface="Arial" pitchFamily="34" charset="0"/>
                <a:ea typeface="Arial" pitchFamily="34" charset="-122"/>
                <a:cs typeface="Arial" pitchFamily="34" charset="-120"/>
              </a:rPr>
              <a:t>—   Production deployment rarely taught</a:t>
            </a:r>
            <a:endParaRPr lang="en-US" sz="1350" dirty="0"/>
          </a:p>
          <a:p>
            <a:pPr indent="0" marL="0">
              <a:lnSpc>
                <a:spcPct val="155000"/>
              </a:lnSpc>
              <a:buNone/>
            </a:pPr>
            <a:r>
              <a:rPr lang="en-US" sz="1350" dirty="0">
                <a:solidFill>
                  <a:srgbClr val="BFD3E0"/>
                </a:solidFill>
                <a:latin typeface="Arial" pitchFamily="34" charset="0"/>
                <a:ea typeface="Arial" pitchFamily="34" charset="-122"/>
                <a:cs typeface="Arial" pitchFamily="34" charset="-120"/>
              </a:rPr>
              <a:t>—   AI tooling changes every quarter</a:t>
            </a:r>
            <a:endParaRPr lang="en-US" sz="1350" dirty="0"/>
          </a:p>
          <a:p>
            <a:pPr indent="0" marL="0">
              <a:lnSpc>
                <a:spcPct val="155000"/>
              </a:lnSpc>
              <a:buNone/>
            </a:pPr>
            <a:r>
              <a:rPr lang="en-US" sz="1350" dirty="0">
                <a:solidFill>
                  <a:srgbClr val="BFD3E0"/>
                </a:solidFill>
                <a:latin typeface="Arial" pitchFamily="34" charset="0"/>
                <a:ea typeface="Arial" pitchFamily="34" charset="-122"/>
                <a:cs typeface="Arial" pitchFamily="34" charset="-120"/>
              </a:rPr>
              <a:t>—   AI debugging is a different discipline</a:t>
            </a:r>
            <a:endParaRPr lang="en-US" sz="1350" dirty="0"/>
          </a:p>
          <a:p>
            <a:pPr indent="0" marL="0">
              <a:lnSpc>
                <a:spcPct val="155000"/>
              </a:lnSpc>
              <a:buNone/>
            </a:pPr>
            <a:r>
              <a:rPr lang="en-US" sz="1350" dirty="0">
                <a:solidFill>
                  <a:srgbClr val="BFD3E0"/>
                </a:solidFill>
                <a:latin typeface="Arial" pitchFamily="34" charset="0"/>
                <a:ea typeface="Arial" pitchFamily="34" charset="-122"/>
                <a:cs typeface="Arial" pitchFamily="34" charset="-120"/>
              </a:rPr>
              <a:t>—   Startup workflows are hard to simulate</a:t>
            </a:r>
            <a:endParaRPr lang="en-US" sz="1350" dirty="0"/>
          </a:p>
        </p:txBody>
      </p:sp>
      <p:sp>
        <p:nvSpPr>
          <p:cNvPr id="8" name="Shape 6"/>
          <p:cNvSpPr/>
          <p:nvPr/>
        </p:nvSpPr>
        <p:spPr>
          <a:xfrm>
            <a:off x="6190488" y="2331720"/>
            <a:ext cx="5358384" cy="3611880"/>
          </a:xfrm>
          <a:prstGeom prst="rect">
            <a:avLst/>
          </a:prstGeom>
          <a:solidFill>
            <a:srgbClr val="00D4AA"/>
          </a:solidFill>
          <a:ln/>
        </p:spPr>
      </p:sp>
      <p:sp>
        <p:nvSpPr>
          <p:cNvPr id="9" name="Shape 7"/>
          <p:cNvSpPr/>
          <p:nvPr/>
        </p:nvSpPr>
        <p:spPr>
          <a:xfrm>
            <a:off x="6601968" y="3035808"/>
            <a:ext cx="457200" cy="41148"/>
          </a:xfrm>
          <a:prstGeom prst="rect">
            <a:avLst/>
          </a:prstGeom>
          <a:solidFill>
            <a:srgbClr val="0A2540"/>
          </a:solidFill>
          <a:ln/>
        </p:spPr>
      </p:sp>
      <p:sp>
        <p:nvSpPr>
          <p:cNvPr id="10" name="Text 8"/>
          <p:cNvSpPr/>
          <p:nvPr/>
        </p:nvSpPr>
        <p:spPr>
          <a:xfrm>
            <a:off x="6601968" y="2670048"/>
            <a:ext cx="4572000" cy="274320"/>
          </a:xfrm>
          <a:prstGeom prst="rect">
            <a:avLst/>
          </a:prstGeom>
          <a:noFill/>
          <a:ln/>
        </p:spPr>
        <p:txBody>
          <a:bodyPr wrap="square" lIns="0" tIns="0" rIns="0" bIns="0" rtlCol="0" anchor="ctr"/>
          <a:lstStyle/>
          <a:p>
            <a:pPr indent="0" marL="0">
              <a:buNone/>
            </a:pPr>
            <a:r>
              <a:rPr lang="en-US" sz="1300" b="1" spc="300" kern="0" dirty="0">
                <a:solidFill>
                  <a:srgbClr val="0A2540"/>
                </a:solidFill>
                <a:latin typeface="Arial" pitchFamily="34" charset="0"/>
                <a:ea typeface="Arial" pitchFamily="34" charset="-122"/>
                <a:cs typeface="Arial" pitchFamily="34" charset="-120"/>
              </a:rPr>
              <a:t>WHAT STARTUPS NEED</a:t>
            </a:r>
            <a:endParaRPr lang="en-US" sz="1300" dirty="0"/>
          </a:p>
        </p:txBody>
      </p:sp>
      <p:sp>
        <p:nvSpPr>
          <p:cNvPr id="11" name="Text 9"/>
          <p:cNvSpPr/>
          <p:nvPr/>
        </p:nvSpPr>
        <p:spPr>
          <a:xfrm>
            <a:off x="6601968" y="3337560"/>
            <a:ext cx="4572000" cy="2377440"/>
          </a:xfrm>
          <a:prstGeom prst="rect">
            <a:avLst/>
          </a:prstGeom>
          <a:noFill/>
          <a:ln/>
        </p:spPr>
        <p:txBody>
          <a:bodyPr wrap="square" lIns="0" tIns="0" rIns="0" bIns="0" rtlCol="0" anchor="ctr"/>
          <a:lstStyle/>
          <a:p>
            <a:pPr indent="0" marL="0">
              <a:lnSpc>
                <a:spcPct val="155000"/>
              </a:lnSpc>
              <a:buNone/>
            </a:pPr>
            <a:r>
              <a:rPr lang="en-US" sz="1350" dirty="0">
                <a:solidFill>
                  <a:srgbClr val="0A2540"/>
                </a:solidFill>
                <a:latin typeface="Arial" pitchFamily="34" charset="0"/>
                <a:ea typeface="Arial" pitchFamily="34" charset="-122"/>
                <a:cs typeface="Arial" pitchFamily="34" charset="-120"/>
              </a:rPr>
              <a:t>—   AI-assisted development fluency</a:t>
            </a:r>
            <a:endParaRPr lang="en-US" sz="1350" dirty="0"/>
          </a:p>
          <a:p>
            <a:pPr indent="0" marL="0">
              <a:lnSpc>
                <a:spcPct val="155000"/>
              </a:lnSpc>
              <a:buNone/>
            </a:pPr>
            <a:r>
              <a:rPr lang="en-US" sz="1350" dirty="0">
                <a:solidFill>
                  <a:srgbClr val="0A2540"/>
                </a:solidFill>
                <a:latin typeface="Arial" pitchFamily="34" charset="0"/>
                <a:ea typeface="Arial" pitchFamily="34" charset="-122"/>
                <a:cs typeface="Arial" pitchFamily="34" charset="-120"/>
              </a:rPr>
              <a:t>—   Shipping velocity over algorithm depth</a:t>
            </a:r>
            <a:endParaRPr lang="en-US" sz="1350" dirty="0"/>
          </a:p>
          <a:p>
            <a:pPr indent="0" marL="0">
              <a:lnSpc>
                <a:spcPct val="155000"/>
              </a:lnSpc>
              <a:buNone/>
            </a:pPr>
            <a:r>
              <a:rPr lang="en-US" sz="1350" dirty="0">
                <a:solidFill>
                  <a:srgbClr val="0A2540"/>
                </a:solidFill>
                <a:latin typeface="Arial" pitchFamily="34" charset="0"/>
                <a:ea typeface="Arial" pitchFamily="34" charset="-122"/>
                <a:cs typeface="Arial" pitchFamily="34" charset="-120"/>
              </a:rPr>
              <a:t>—   Product and architecture judgment</a:t>
            </a:r>
            <a:endParaRPr lang="en-US" sz="1350" dirty="0"/>
          </a:p>
          <a:p>
            <a:pPr indent="0" marL="0">
              <a:lnSpc>
                <a:spcPct val="155000"/>
              </a:lnSpc>
              <a:buNone/>
            </a:pPr>
            <a:r>
              <a:rPr lang="en-US" sz="1350" dirty="0">
                <a:solidFill>
                  <a:srgbClr val="0A2540"/>
                </a:solidFill>
                <a:latin typeface="Arial" pitchFamily="34" charset="0"/>
                <a:ea typeface="Arial" pitchFamily="34" charset="-122"/>
                <a:cs typeface="Arial" pitchFamily="34" charset="-120"/>
              </a:rPr>
              <a:t>—   Evaluation discipline for AI features</a:t>
            </a:r>
            <a:endParaRPr lang="en-US" sz="1350" dirty="0"/>
          </a:p>
          <a:p>
            <a:pPr indent="0" marL="0">
              <a:lnSpc>
                <a:spcPct val="155000"/>
              </a:lnSpc>
              <a:buNone/>
            </a:pPr>
            <a:r>
              <a:rPr lang="en-US" sz="1350" dirty="0">
                <a:solidFill>
                  <a:srgbClr val="0A2540"/>
                </a:solidFill>
                <a:latin typeface="Arial" pitchFamily="34" charset="0"/>
                <a:ea typeface="Arial" pitchFamily="34" charset="-122"/>
                <a:cs typeface="Arial" pitchFamily="34" charset="-120"/>
              </a:rPr>
              <a:t>—   Async collaboration habits</a:t>
            </a:r>
            <a:endParaRPr lang="en-US" sz="1350" dirty="0"/>
          </a:p>
          <a:p>
            <a:pPr indent="0" marL="0">
              <a:lnSpc>
                <a:spcPct val="155000"/>
              </a:lnSpc>
              <a:buNone/>
            </a:pPr>
            <a:r>
              <a:rPr lang="en-US" sz="1350" dirty="0">
                <a:solidFill>
                  <a:srgbClr val="0A2540"/>
                </a:solidFill>
                <a:latin typeface="Arial" pitchFamily="34" charset="0"/>
                <a:ea typeface="Arial" pitchFamily="34" charset="-122"/>
                <a:cs typeface="Arial" pitchFamily="34" charset="-120"/>
              </a:rPr>
              <a:t>—   Debugging AI behaviour, not just code</a:t>
            </a:r>
            <a:endParaRPr lang="en-US" sz="1350" dirty="0"/>
          </a:p>
        </p:txBody>
      </p:sp>
      <p:sp>
        <p:nvSpPr>
          <p:cNvPr id="12" name="Shape 10"/>
          <p:cNvSpPr/>
          <p:nvPr/>
        </p:nvSpPr>
        <p:spPr>
          <a:xfrm>
            <a:off x="640080" y="6327648"/>
            <a:ext cx="10911535" cy="0"/>
          </a:xfrm>
          <a:prstGeom prst="line">
            <a:avLst/>
          </a:prstGeom>
          <a:noFill/>
          <a:ln w="12700">
            <a:solidFill>
              <a:srgbClr val="CDD7DF"/>
            </a:solidFill>
            <a:prstDash val="solid"/>
          </a:ln>
        </p:spPr>
      </p:sp>
      <p:sp>
        <p:nvSpPr>
          <p:cNvPr id="13" name="Text 11"/>
          <p:cNvSpPr/>
          <p:nvPr/>
        </p:nvSpPr>
        <p:spPr>
          <a:xfrm>
            <a:off x="640080" y="6400800"/>
            <a:ext cx="6400800" cy="274320"/>
          </a:xfrm>
          <a:prstGeom prst="rect">
            <a:avLst/>
          </a:prstGeom>
          <a:noFill/>
          <a:ln/>
        </p:spPr>
        <p:txBody>
          <a:bodyPr wrap="square" lIns="0" tIns="0" rIns="0" bIns="0" rtlCol="0" anchor="ctr"/>
          <a:lstStyle/>
          <a:p>
            <a:pPr indent="0" marL="0">
              <a:buNone/>
            </a:pPr>
            <a:r>
              <a:rPr lang="en-US" sz="1000" b="1" spc="200" kern="0" dirty="0">
                <a:solidFill>
                  <a:srgbClr val="5B6B7B"/>
                </a:solidFill>
                <a:latin typeface="Arial" pitchFamily="34" charset="0"/>
                <a:ea typeface="Arial" pitchFamily="34" charset="-122"/>
                <a:cs typeface="Arial" pitchFamily="34" charset="-120"/>
              </a:rPr>
              <a:t>BuildAI  /  The Gap</a:t>
            </a:r>
            <a:endParaRPr lang="en-US" sz="1000" dirty="0"/>
          </a:p>
        </p:txBody>
      </p:sp>
      <p:sp>
        <p:nvSpPr>
          <p:cNvPr id="14" name="Shape 12"/>
          <p:cNvSpPr/>
          <p:nvPr/>
        </p:nvSpPr>
        <p:spPr>
          <a:xfrm>
            <a:off x="10725912" y="6391656"/>
            <a:ext cx="822960" cy="310896"/>
          </a:xfrm>
          <a:prstGeom prst="rect">
            <a:avLst/>
          </a:prstGeom>
          <a:solidFill>
            <a:srgbClr val="0A2540"/>
          </a:solidFill>
          <a:ln/>
        </p:spPr>
      </p:sp>
      <p:sp>
        <p:nvSpPr>
          <p:cNvPr id="15" name="Text 13"/>
          <p:cNvSpPr/>
          <p:nvPr/>
        </p:nvSpPr>
        <p:spPr>
          <a:xfrm>
            <a:off x="10725912" y="6391656"/>
            <a:ext cx="8229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02 / 21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997135" y="0"/>
            <a:ext cx="2194560" cy="1325880"/>
          </a:xfrm>
          <a:prstGeom prst="rect">
            <a:avLst/>
          </a:prstGeom>
          <a:solidFill>
            <a:srgbClr val="00D4AA"/>
          </a:solidFill>
          <a:ln/>
        </p:spPr>
      </p:sp>
      <p:sp>
        <p:nvSpPr>
          <p:cNvPr id="3" name="Text 1"/>
          <p:cNvSpPr/>
          <p:nvPr/>
        </p:nvSpPr>
        <p:spPr>
          <a:xfrm>
            <a:off x="640080" y="347472"/>
            <a:ext cx="8229600" cy="292608"/>
          </a:xfrm>
          <a:prstGeom prst="rect">
            <a:avLst/>
          </a:prstGeom>
          <a:noFill/>
          <a:ln/>
        </p:spPr>
        <p:txBody>
          <a:bodyPr wrap="square" lIns="0" tIns="0" rIns="0" bIns="0" rtlCol="0" anchor="ctr"/>
          <a:lstStyle/>
          <a:p>
            <a:pPr indent="0" marL="0">
              <a:buNone/>
            </a:pPr>
            <a:r>
              <a:rPr lang="en-US" sz="1100" b="1" spc="300" kern="0" dirty="0">
                <a:solidFill>
                  <a:srgbClr val="0A8F77"/>
                </a:solidFill>
                <a:latin typeface="Arial" pitchFamily="34" charset="0"/>
                <a:ea typeface="Arial" pitchFamily="34" charset="-122"/>
                <a:cs typeface="Arial" pitchFamily="34" charset="-120"/>
              </a:rPr>
              <a:t>03 / 21</a:t>
            </a:r>
            <a:pPr indent="0" marL="0">
              <a:buNone/>
            </a:pPr>
            <a:r>
              <a:rPr lang="en-US" sz="1100" b="1" spc="300" kern="0" dirty="0">
                <a:solidFill>
                  <a:srgbClr val="5B6B7B"/>
                </a:solidFill>
                <a:latin typeface="Arial" pitchFamily="34" charset="0"/>
                <a:ea typeface="Arial" pitchFamily="34" charset="-122"/>
                <a:cs typeface="Arial" pitchFamily="34" charset="-120"/>
              </a:rPr>
              <a:t>   WHY THIS MATTERS FOR COLLEGES</a:t>
            </a:r>
            <a:endParaRPr lang="en-US" sz="1100" dirty="0"/>
          </a:p>
        </p:txBody>
      </p:sp>
      <p:sp>
        <p:nvSpPr>
          <p:cNvPr id="4" name="Text 2"/>
          <p:cNvSpPr/>
          <p:nvPr/>
        </p:nvSpPr>
        <p:spPr>
          <a:xfrm>
            <a:off x="621792" y="841248"/>
            <a:ext cx="10241280" cy="640080"/>
          </a:xfrm>
          <a:prstGeom prst="rect">
            <a:avLst/>
          </a:prstGeom>
          <a:noFill/>
          <a:ln/>
        </p:spPr>
        <p:txBody>
          <a:bodyPr wrap="square" lIns="0" tIns="0" rIns="0" bIns="0" rtlCol="0" anchor="ctr"/>
          <a:lstStyle/>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Five reasons tier-2 colleges sign on.</a:t>
            </a:r>
            <a:endParaRPr lang="en-US" sz="3300" dirty="0"/>
          </a:p>
        </p:txBody>
      </p:sp>
      <p:sp>
        <p:nvSpPr>
          <p:cNvPr id="5" name="Text 3"/>
          <p:cNvSpPr/>
          <p:nvPr/>
        </p:nvSpPr>
        <p:spPr>
          <a:xfrm>
            <a:off x="640080" y="1572768"/>
            <a:ext cx="10058400" cy="365760"/>
          </a:xfrm>
          <a:prstGeom prst="rect">
            <a:avLst/>
          </a:prstGeom>
          <a:noFill/>
          <a:ln/>
        </p:spPr>
        <p:txBody>
          <a:bodyPr wrap="square" lIns="0" tIns="0" rIns="0" bIns="0" rtlCol="0" anchor="ctr"/>
          <a:lstStyle/>
          <a:p>
            <a:pPr indent="0" marL="0">
              <a:buNone/>
            </a:pPr>
            <a:r>
              <a:rPr lang="en-US" sz="1400" i="1" dirty="0">
                <a:solidFill>
                  <a:srgbClr val="5B6B7B"/>
                </a:solidFill>
                <a:latin typeface="Arial" pitchFamily="34" charset="0"/>
                <a:ea typeface="Arial" pitchFamily="34" charset="-122"/>
                <a:cs typeface="Arial" pitchFamily="34" charset="-120"/>
              </a:rPr>
              <a:t>Stagnant placements. Tier-1 student exits. NAAC pressure. No internal AI capacity. Admissions on autopilot.</a:t>
            </a:r>
            <a:endParaRPr lang="en-US" sz="1400" dirty="0"/>
          </a:p>
        </p:txBody>
      </p:sp>
      <p:sp>
        <p:nvSpPr>
          <p:cNvPr id="6" name="Text 4"/>
          <p:cNvSpPr/>
          <p:nvPr/>
        </p:nvSpPr>
        <p:spPr>
          <a:xfrm>
            <a:off x="640080" y="2432304"/>
            <a:ext cx="731520" cy="457200"/>
          </a:xfrm>
          <a:prstGeom prst="rect">
            <a:avLst/>
          </a:prstGeom>
          <a:noFill/>
          <a:ln/>
        </p:spPr>
        <p:txBody>
          <a:bodyPr wrap="square" lIns="0" tIns="0" rIns="0" bIns="0" rtlCol="0" anchor="ctr"/>
          <a:lstStyle/>
          <a:p>
            <a:pPr indent="0" marL="0">
              <a:buNone/>
            </a:pPr>
            <a:r>
              <a:rPr lang="en-US" sz="2400" b="1" dirty="0">
                <a:solidFill>
                  <a:srgbClr val="0A8F77"/>
                </a:solidFill>
                <a:latin typeface="Arial" pitchFamily="34" charset="0"/>
                <a:ea typeface="Arial" pitchFamily="34" charset="-122"/>
                <a:cs typeface="Arial" pitchFamily="34" charset="-120"/>
              </a:rPr>
              <a:t>01</a:t>
            </a:r>
            <a:endParaRPr lang="en-US" sz="2400" dirty="0"/>
          </a:p>
        </p:txBody>
      </p:sp>
      <p:sp>
        <p:nvSpPr>
          <p:cNvPr id="7" name="Text 5"/>
          <p:cNvSpPr/>
          <p:nvPr/>
        </p:nvSpPr>
        <p:spPr>
          <a:xfrm>
            <a:off x="1508760" y="2468880"/>
            <a:ext cx="4206240" cy="365760"/>
          </a:xfrm>
          <a:prstGeom prst="rect">
            <a:avLst/>
          </a:prstGeom>
          <a:noFill/>
          <a:ln/>
        </p:spPr>
        <p:txBody>
          <a:bodyPr wrap="square" lIns="0" tIns="0" rIns="0" bIns="0" rtlCol="0" anchor="ctr"/>
          <a:lstStyle/>
          <a:p>
            <a:pPr indent="0" marL="0">
              <a:buNone/>
            </a:pPr>
            <a:r>
              <a:rPr lang="en-US" sz="1700" b="1" dirty="0">
                <a:solidFill>
                  <a:srgbClr val="10202E"/>
                </a:solidFill>
                <a:latin typeface="Arial" pitchFamily="34" charset="0"/>
                <a:ea typeface="Arial" pitchFamily="34" charset="-122"/>
                <a:cs typeface="Arial" pitchFamily="34" charset="-120"/>
              </a:rPr>
              <a:t>Placement statistics</a:t>
            </a:r>
            <a:endParaRPr lang="en-US" sz="1700" dirty="0"/>
          </a:p>
        </p:txBody>
      </p:sp>
      <p:sp>
        <p:nvSpPr>
          <p:cNvPr id="8" name="Text 6"/>
          <p:cNvSpPr/>
          <p:nvPr/>
        </p:nvSpPr>
        <p:spPr>
          <a:xfrm>
            <a:off x="5897880" y="2505456"/>
            <a:ext cx="5623560" cy="365760"/>
          </a:xfrm>
          <a:prstGeom prst="rect">
            <a:avLst/>
          </a:prstGeom>
          <a:noFill/>
          <a:ln/>
        </p:spPr>
        <p:txBody>
          <a:bodyPr wrap="square" lIns="0" tIns="0" rIns="0" bIns="0" rtlCol="0" anchor="ctr"/>
          <a:lstStyle/>
          <a:p>
            <a:pPr indent="0" marL="0">
              <a:buNone/>
            </a:pPr>
            <a:r>
              <a:rPr lang="en-US" sz="1300" dirty="0">
                <a:solidFill>
                  <a:srgbClr val="5B6B7B"/>
                </a:solidFill>
                <a:latin typeface="Arial" pitchFamily="34" charset="0"/>
                <a:ea typeface="Arial" pitchFamily="34" charset="-122"/>
                <a:cs typeface="Arial" pitchFamily="34" charset="-120"/>
              </a:rPr>
              <a:t>Stagnant or declining numbers, with student exits to tier-1 alternatives.</a:t>
            </a:r>
            <a:endParaRPr lang="en-US" sz="1300" dirty="0"/>
          </a:p>
        </p:txBody>
      </p:sp>
      <p:sp>
        <p:nvSpPr>
          <p:cNvPr id="9" name="Shape 7"/>
          <p:cNvSpPr/>
          <p:nvPr/>
        </p:nvSpPr>
        <p:spPr>
          <a:xfrm>
            <a:off x="640080" y="3054096"/>
            <a:ext cx="10911535" cy="0"/>
          </a:xfrm>
          <a:prstGeom prst="line">
            <a:avLst/>
          </a:prstGeom>
          <a:noFill/>
          <a:ln w="12700">
            <a:solidFill>
              <a:srgbClr val="CDD7DF"/>
            </a:solidFill>
            <a:prstDash val="solid"/>
          </a:ln>
        </p:spPr>
      </p:sp>
      <p:sp>
        <p:nvSpPr>
          <p:cNvPr id="10" name="Text 8"/>
          <p:cNvSpPr/>
          <p:nvPr/>
        </p:nvSpPr>
        <p:spPr>
          <a:xfrm>
            <a:off x="640080" y="3200400"/>
            <a:ext cx="731520" cy="457200"/>
          </a:xfrm>
          <a:prstGeom prst="rect">
            <a:avLst/>
          </a:prstGeom>
          <a:noFill/>
          <a:ln/>
        </p:spPr>
        <p:txBody>
          <a:bodyPr wrap="square" lIns="0" tIns="0" rIns="0" bIns="0" rtlCol="0" anchor="ctr"/>
          <a:lstStyle/>
          <a:p>
            <a:pPr indent="0" marL="0">
              <a:buNone/>
            </a:pPr>
            <a:r>
              <a:rPr lang="en-US" sz="2400" b="1" dirty="0">
                <a:solidFill>
                  <a:srgbClr val="0A8F77"/>
                </a:solidFill>
                <a:latin typeface="Arial" pitchFamily="34" charset="0"/>
                <a:ea typeface="Arial" pitchFamily="34" charset="-122"/>
                <a:cs typeface="Arial" pitchFamily="34" charset="-120"/>
              </a:rPr>
              <a:t>02</a:t>
            </a:r>
            <a:endParaRPr lang="en-US" sz="2400" dirty="0"/>
          </a:p>
        </p:txBody>
      </p:sp>
      <p:sp>
        <p:nvSpPr>
          <p:cNvPr id="11" name="Text 9"/>
          <p:cNvSpPr/>
          <p:nvPr/>
        </p:nvSpPr>
        <p:spPr>
          <a:xfrm>
            <a:off x="1508760" y="3236976"/>
            <a:ext cx="4206240" cy="365760"/>
          </a:xfrm>
          <a:prstGeom prst="rect">
            <a:avLst/>
          </a:prstGeom>
          <a:noFill/>
          <a:ln/>
        </p:spPr>
        <p:txBody>
          <a:bodyPr wrap="square" lIns="0" tIns="0" rIns="0" bIns="0" rtlCol="0" anchor="ctr"/>
          <a:lstStyle/>
          <a:p>
            <a:pPr indent="0" marL="0">
              <a:buNone/>
            </a:pPr>
            <a:r>
              <a:rPr lang="en-US" sz="1700" b="1" dirty="0">
                <a:solidFill>
                  <a:srgbClr val="10202E"/>
                </a:solidFill>
                <a:latin typeface="Arial" pitchFamily="34" charset="0"/>
                <a:ea typeface="Arial" pitchFamily="34" charset="-122"/>
                <a:cs typeface="Arial" pitchFamily="34" charset="-120"/>
              </a:rPr>
              <a:t>Industry partnerships</a:t>
            </a:r>
            <a:endParaRPr lang="en-US" sz="1700" dirty="0"/>
          </a:p>
        </p:txBody>
      </p:sp>
      <p:sp>
        <p:nvSpPr>
          <p:cNvPr id="12" name="Text 10"/>
          <p:cNvSpPr/>
          <p:nvPr/>
        </p:nvSpPr>
        <p:spPr>
          <a:xfrm>
            <a:off x="5897880" y="3273552"/>
            <a:ext cx="5623560" cy="365760"/>
          </a:xfrm>
          <a:prstGeom prst="rect">
            <a:avLst/>
          </a:prstGeom>
          <a:noFill/>
          <a:ln/>
        </p:spPr>
        <p:txBody>
          <a:bodyPr wrap="square" lIns="0" tIns="0" rIns="0" bIns="0" rtlCol="0" anchor="ctr"/>
          <a:lstStyle/>
          <a:p>
            <a:pPr indent="0" marL="0">
              <a:buNone/>
            </a:pPr>
            <a:r>
              <a:rPr lang="en-US" sz="1300" dirty="0">
                <a:solidFill>
                  <a:srgbClr val="5B6B7B"/>
                </a:solidFill>
                <a:latin typeface="Arial" pitchFamily="34" charset="0"/>
                <a:ea typeface="Arial" pitchFamily="34" charset="-122"/>
                <a:cs typeface="Arial" pitchFamily="34" charset="-120"/>
              </a:rPr>
              <a:t>AICTE and NAAC rankings increasingly weight industry tie-ups.</a:t>
            </a:r>
            <a:endParaRPr lang="en-US" sz="1300" dirty="0"/>
          </a:p>
        </p:txBody>
      </p:sp>
      <p:sp>
        <p:nvSpPr>
          <p:cNvPr id="13" name="Shape 11"/>
          <p:cNvSpPr/>
          <p:nvPr/>
        </p:nvSpPr>
        <p:spPr>
          <a:xfrm>
            <a:off x="640080" y="3822192"/>
            <a:ext cx="10911535" cy="0"/>
          </a:xfrm>
          <a:prstGeom prst="line">
            <a:avLst/>
          </a:prstGeom>
          <a:noFill/>
          <a:ln w="12700">
            <a:solidFill>
              <a:srgbClr val="CDD7DF"/>
            </a:solidFill>
            <a:prstDash val="solid"/>
          </a:ln>
        </p:spPr>
      </p:sp>
      <p:sp>
        <p:nvSpPr>
          <p:cNvPr id="14" name="Text 12"/>
          <p:cNvSpPr/>
          <p:nvPr/>
        </p:nvSpPr>
        <p:spPr>
          <a:xfrm>
            <a:off x="640080" y="3968496"/>
            <a:ext cx="731520" cy="457200"/>
          </a:xfrm>
          <a:prstGeom prst="rect">
            <a:avLst/>
          </a:prstGeom>
          <a:noFill/>
          <a:ln/>
        </p:spPr>
        <p:txBody>
          <a:bodyPr wrap="square" lIns="0" tIns="0" rIns="0" bIns="0" rtlCol="0" anchor="ctr"/>
          <a:lstStyle/>
          <a:p>
            <a:pPr indent="0" marL="0">
              <a:buNone/>
            </a:pPr>
            <a:r>
              <a:rPr lang="en-US" sz="2400" b="1" dirty="0">
                <a:solidFill>
                  <a:srgbClr val="0A8F77"/>
                </a:solidFill>
                <a:latin typeface="Arial" pitchFamily="34" charset="0"/>
                <a:ea typeface="Arial" pitchFamily="34" charset="-122"/>
                <a:cs typeface="Arial" pitchFamily="34" charset="-120"/>
              </a:rPr>
              <a:t>03</a:t>
            </a:r>
            <a:endParaRPr lang="en-US" sz="2400" dirty="0"/>
          </a:p>
        </p:txBody>
      </p:sp>
      <p:sp>
        <p:nvSpPr>
          <p:cNvPr id="15" name="Text 13"/>
          <p:cNvSpPr/>
          <p:nvPr/>
        </p:nvSpPr>
        <p:spPr>
          <a:xfrm>
            <a:off x="1508760" y="4005072"/>
            <a:ext cx="4206240" cy="365760"/>
          </a:xfrm>
          <a:prstGeom prst="rect">
            <a:avLst/>
          </a:prstGeom>
          <a:noFill/>
          <a:ln/>
        </p:spPr>
        <p:txBody>
          <a:bodyPr wrap="square" lIns="0" tIns="0" rIns="0" bIns="0" rtlCol="0" anchor="ctr"/>
          <a:lstStyle/>
          <a:p>
            <a:pPr indent="0" marL="0">
              <a:buNone/>
            </a:pPr>
            <a:r>
              <a:rPr lang="en-US" sz="1700" b="1" dirty="0">
                <a:solidFill>
                  <a:srgbClr val="10202E"/>
                </a:solidFill>
                <a:latin typeface="Arial" pitchFamily="34" charset="0"/>
                <a:ea typeface="Arial" pitchFamily="34" charset="-122"/>
                <a:cs typeface="Arial" pitchFamily="34" charset="-120"/>
              </a:rPr>
              <a:t>AI branding gap</a:t>
            </a:r>
            <a:endParaRPr lang="en-US" sz="1700" dirty="0"/>
          </a:p>
        </p:txBody>
      </p:sp>
      <p:sp>
        <p:nvSpPr>
          <p:cNvPr id="16" name="Text 14"/>
          <p:cNvSpPr/>
          <p:nvPr/>
        </p:nvSpPr>
        <p:spPr>
          <a:xfrm>
            <a:off x="5897880" y="4041648"/>
            <a:ext cx="5623560" cy="365760"/>
          </a:xfrm>
          <a:prstGeom prst="rect">
            <a:avLst/>
          </a:prstGeom>
          <a:noFill/>
          <a:ln/>
        </p:spPr>
        <p:txBody>
          <a:bodyPr wrap="square" lIns="0" tIns="0" rIns="0" bIns="0" rtlCol="0" anchor="ctr"/>
          <a:lstStyle/>
          <a:p>
            <a:pPr indent="0" marL="0">
              <a:buNone/>
            </a:pPr>
            <a:r>
              <a:rPr lang="en-US" sz="1300" dirty="0">
                <a:solidFill>
                  <a:srgbClr val="5B6B7B"/>
                </a:solidFill>
                <a:latin typeface="Arial" pitchFamily="34" charset="0"/>
                <a:ea typeface="Arial" pitchFamily="34" charset="-122"/>
                <a:cs typeface="Arial" pitchFamily="34" charset="-120"/>
              </a:rPr>
              <a:t>“AI” is now table stakes, but no credible AI programme to point to.</a:t>
            </a:r>
            <a:endParaRPr lang="en-US" sz="1300" dirty="0"/>
          </a:p>
        </p:txBody>
      </p:sp>
      <p:sp>
        <p:nvSpPr>
          <p:cNvPr id="17" name="Shape 15"/>
          <p:cNvSpPr/>
          <p:nvPr/>
        </p:nvSpPr>
        <p:spPr>
          <a:xfrm>
            <a:off x="640080" y="4590288"/>
            <a:ext cx="10911535" cy="0"/>
          </a:xfrm>
          <a:prstGeom prst="line">
            <a:avLst/>
          </a:prstGeom>
          <a:noFill/>
          <a:ln w="12700">
            <a:solidFill>
              <a:srgbClr val="CDD7DF"/>
            </a:solidFill>
            <a:prstDash val="solid"/>
          </a:ln>
        </p:spPr>
      </p:sp>
      <p:sp>
        <p:nvSpPr>
          <p:cNvPr id="18" name="Text 16"/>
          <p:cNvSpPr/>
          <p:nvPr/>
        </p:nvSpPr>
        <p:spPr>
          <a:xfrm>
            <a:off x="640080" y="4736592"/>
            <a:ext cx="731520" cy="457200"/>
          </a:xfrm>
          <a:prstGeom prst="rect">
            <a:avLst/>
          </a:prstGeom>
          <a:noFill/>
          <a:ln/>
        </p:spPr>
        <p:txBody>
          <a:bodyPr wrap="square" lIns="0" tIns="0" rIns="0" bIns="0" rtlCol="0" anchor="ctr"/>
          <a:lstStyle/>
          <a:p>
            <a:pPr indent="0" marL="0">
              <a:buNone/>
            </a:pPr>
            <a:r>
              <a:rPr lang="en-US" sz="2400" b="1" dirty="0">
                <a:solidFill>
                  <a:srgbClr val="0A8F77"/>
                </a:solidFill>
                <a:latin typeface="Arial" pitchFamily="34" charset="0"/>
                <a:ea typeface="Arial" pitchFamily="34" charset="-122"/>
                <a:cs typeface="Arial" pitchFamily="34" charset="-120"/>
              </a:rPr>
              <a:t>04</a:t>
            </a:r>
            <a:endParaRPr lang="en-US" sz="2400" dirty="0"/>
          </a:p>
        </p:txBody>
      </p:sp>
      <p:sp>
        <p:nvSpPr>
          <p:cNvPr id="19" name="Text 17"/>
          <p:cNvSpPr/>
          <p:nvPr/>
        </p:nvSpPr>
        <p:spPr>
          <a:xfrm>
            <a:off x="1508760" y="4773168"/>
            <a:ext cx="4206240" cy="365760"/>
          </a:xfrm>
          <a:prstGeom prst="rect">
            <a:avLst/>
          </a:prstGeom>
          <a:noFill/>
          <a:ln/>
        </p:spPr>
        <p:txBody>
          <a:bodyPr wrap="square" lIns="0" tIns="0" rIns="0" bIns="0" rtlCol="0" anchor="ctr"/>
          <a:lstStyle/>
          <a:p>
            <a:pPr indent="0" marL="0">
              <a:buNone/>
            </a:pPr>
            <a:r>
              <a:rPr lang="en-US" sz="1700" b="1" dirty="0">
                <a:solidFill>
                  <a:srgbClr val="10202E"/>
                </a:solidFill>
                <a:latin typeface="Arial" pitchFamily="34" charset="0"/>
                <a:ea typeface="Arial" pitchFamily="34" charset="-122"/>
                <a:cs typeface="Arial" pitchFamily="34" charset="-120"/>
              </a:rPr>
              <a:t>Faculty bandwidth</a:t>
            </a:r>
            <a:endParaRPr lang="en-US" sz="1700" dirty="0"/>
          </a:p>
        </p:txBody>
      </p:sp>
      <p:sp>
        <p:nvSpPr>
          <p:cNvPr id="20" name="Text 18"/>
          <p:cNvSpPr/>
          <p:nvPr/>
        </p:nvSpPr>
        <p:spPr>
          <a:xfrm>
            <a:off x="5897880" y="4809744"/>
            <a:ext cx="5623560" cy="365760"/>
          </a:xfrm>
          <a:prstGeom prst="rect">
            <a:avLst/>
          </a:prstGeom>
          <a:noFill/>
          <a:ln/>
        </p:spPr>
        <p:txBody>
          <a:bodyPr wrap="square" lIns="0" tIns="0" rIns="0" bIns="0" rtlCol="0" anchor="ctr"/>
          <a:lstStyle/>
          <a:p>
            <a:pPr indent="0" marL="0">
              <a:buNone/>
            </a:pPr>
            <a:r>
              <a:rPr lang="en-US" sz="1300" dirty="0">
                <a:solidFill>
                  <a:srgbClr val="5B6B7B"/>
                </a:solidFill>
                <a:latin typeface="Arial" pitchFamily="34" charset="0"/>
                <a:ea typeface="Arial" pitchFamily="34" charset="-122"/>
                <a:cs typeface="Arial" pitchFamily="34" charset="-120"/>
              </a:rPr>
              <a:t>No internal capacity to build or run an AI-native curriculum.</a:t>
            </a:r>
            <a:endParaRPr lang="en-US" sz="1300" dirty="0"/>
          </a:p>
        </p:txBody>
      </p:sp>
      <p:sp>
        <p:nvSpPr>
          <p:cNvPr id="21" name="Shape 19"/>
          <p:cNvSpPr/>
          <p:nvPr/>
        </p:nvSpPr>
        <p:spPr>
          <a:xfrm>
            <a:off x="640080" y="5358384"/>
            <a:ext cx="10911535" cy="0"/>
          </a:xfrm>
          <a:prstGeom prst="line">
            <a:avLst/>
          </a:prstGeom>
          <a:noFill/>
          <a:ln w="12700">
            <a:solidFill>
              <a:srgbClr val="CDD7DF"/>
            </a:solidFill>
            <a:prstDash val="solid"/>
          </a:ln>
        </p:spPr>
      </p:sp>
      <p:sp>
        <p:nvSpPr>
          <p:cNvPr id="22" name="Text 20"/>
          <p:cNvSpPr/>
          <p:nvPr/>
        </p:nvSpPr>
        <p:spPr>
          <a:xfrm>
            <a:off x="640080" y="5504688"/>
            <a:ext cx="731520" cy="457200"/>
          </a:xfrm>
          <a:prstGeom prst="rect">
            <a:avLst/>
          </a:prstGeom>
          <a:noFill/>
          <a:ln/>
        </p:spPr>
        <p:txBody>
          <a:bodyPr wrap="square" lIns="0" tIns="0" rIns="0" bIns="0" rtlCol="0" anchor="ctr"/>
          <a:lstStyle/>
          <a:p>
            <a:pPr indent="0" marL="0">
              <a:buNone/>
            </a:pPr>
            <a:r>
              <a:rPr lang="en-US" sz="2400" b="1" dirty="0">
                <a:solidFill>
                  <a:srgbClr val="0A8F77"/>
                </a:solidFill>
                <a:latin typeface="Arial" pitchFamily="34" charset="0"/>
                <a:ea typeface="Arial" pitchFamily="34" charset="-122"/>
                <a:cs typeface="Arial" pitchFamily="34" charset="-120"/>
              </a:rPr>
              <a:t>05</a:t>
            </a:r>
            <a:endParaRPr lang="en-US" sz="2400" dirty="0"/>
          </a:p>
        </p:txBody>
      </p:sp>
      <p:sp>
        <p:nvSpPr>
          <p:cNvPr id="23" name="Text 21"/>
          <p:cNvSpPr/>
          <p:nvPr/>
        </p:nvSpPr>
        <p:spPr>
          <a:xfrm>
            <a:off x="1508760" y="5541264"/>
            <a:ext cx="4206240" cy="365760"/>
          </a:xfrm>
          <a:prstGeom prst="rect">
            <a:avLst/>
          </a:prstGeom>
          <a:noFill/>
          <a:ln/>
        </p:spPr>
        <p:txBody>
          <a:bodyPr wrap="square" lIns="0" tIns="0" rIns="0" bIns="0" rtlCol="0" anchor="ctr"/>
          <a:lstStyle/>
          <a:p>
            <a:pPr indent="0" marL="0">
              <a:buNone/>
            </a:pPr>
            <a:r>
              <a:rPr lang="en-US" sz="1700" b="1" dirty="0">
                <a:solidFill>
                  <a:srgbClr val="10202E"/>
                </a:solidFill>
                <a:latin typeface="Arial" pitchFamily="34" charset="0"/>
                <a:ea typeface="Arial" pitchFamily="34" charset="-122"/>
                <a:cs typeface="Arial" pitchFamily="34" charset="-120"/>
              </a:rPr>
              <a:t>Admissions differentiation</a:t>
            </a:r>
            <a:endParaRPr lang="en-US" sz="1700" dirty="0"/>
          </a:p>
        </p:txBody>
      </p:sp>
      <p:sp>
        <p:nvSpPr>
          <p:cNvPr id="24" name="Text 22"/>
          <p:cNvSpPr/>
          <p:nvPr/>
        </p:nvSpPr>
        <p:spPr>
          <a:xfrm>
            <a:off x="5897880" y="5577840"/>
            <a:ext cx="5623560" cy="365760"/>
          </a:xfrm>
          <a:prstGeom prst="rect">
            <a:avLst/>
          </a:prstGeom>
          <a:noFill/>
          <a:ln/>
        </p:spPr>
        <p:txBody>
          <a:bodyPr wrap="square" lIns="0" tIns="0" rIns="0" bIns="0" rtlCol="0" anchor="ctr"/>
          <a:lstStyle/>
          <a:p>
            <a:pPr indent="0" marL="0">
              <a:buNone/>
            </a:pPr>
            <a:r>
              <a:rPr lang="en-US" sz="1300" dirty="0">
                <a:solidFill>
                  <a:srgbClr val="5B6B7B"/>
                </a:solidFill>
                <a:latin typeface="Arial" pitchFamily="34" charset="0"/>
                <a:ea typeface="Arial" pitchFamily="34" charset="-122"/>
                <a:cs typeface="Arial" pitchFamily="34" charset="-120"/>
              </a:rPr>
              <a:t>Private colleges compete on marketing in every admission cycle.</a:t>
            </a:r>
            <a:endParaRPr lang="en-US" sz="1300" dirty="0"/>
          </a:p>
        </p:txBody>
      </p:sp>
      <p:sp>
        <p:nvSpPr>
          <p:cNvPr id="25" name="Shape 23"/>
          <p:cNvSpPr/>
          <p:nvPr/>
        </p:nvSpPr>
        <p:spPr>
          <a:xfrm>
            <a:off x="640080" y="6327648"/>
            <a:ext cx="10911535" cy="0"/>
          </a:xfrm>
          <a:prstGeom prst="line">
            <a:avLst/>
          </a:prstGeom>
          <a:noFill/>
          <a:ln w="12700">
            <a:solidFill>
              <a:srgbClr val="CDD7DF"/>
            </a:solidFill>
            <a:prstDash val="solid"/>
          </a:ln>
        </p:spPr>
      </p:sp>
      <p:sp>
        <p:nvSpPr>
          <p:cNvPr id="26" name="Text 24"/>
          <p:cNvSpPr/>
          <p:nvPr/>
        </p:nvSpPr>
        <p:spPr>
          <a:xfrm>
            <a:off x="640080" y="6400800"/>
            <a:ext cx="6400800" cy="274320"/>
          </a:xfrm>
          <a:prstGeom prst="rect">
            <a:avLst/>
          </a:prstGeom>
          <a:noFill/>
          <a:ln/>
        </p:spPr>
        <p:txBody>
          <a:bodyPr wrap="square" lIns="0" tIns="0" rIns="0" bIns="0" rtlCol="0" anchor="ctr"/>
          <a:lstStyle/>
          <a:p>
            <a:pPr indent="0" marL="0">
              <a:buNone/>
            </a:pPr>
            <a:r>
              <a:rPr lang="en-US" sz="1000" b="1" spc="200" kern="0" dirty="0">
                <a:solidFill>
                  <a:srgbClr val="5B6B7B"/>
                </a:solidFill>
                <a:latin typeface="Arial" pitchFamily="34" charset="0"/>
                <a:ea typeface="Arial" pitchFamily="34" charset="-122"/>
                <a:cs typeface="Arial" pitchFamily="34" charset="-120"/>
              </a:rPr>
              <a:t>BuildAI  /  Why for Colleges</a:t>
            </a:r>
            <a:endParaRPr lang="en-US" sz="1000" dirty="0"/>
          </a:p>
        </p:txBody>
      </p:sp>
      <p:sp>
        <p:nvSpPr>
          <p:cNvPr id="27" name="Shape 25"/>
          <p:cNvSpPr/>
          <p:nvPr/>
        </p:nvSpPr>
        <p:spPr>
          <a:xfrm>
            <a:off x="10725912" y="6391656"/>
            <a:ext cx="822960" cy="310896"/>
          </a:xfrm>
          <a:prstGeom prst="rect">
            <a:avLst/>
          </a:prstGeom>
          <a:solidFill>
            <a:srgbClr val="0A2540"/>
          </a:solidFill>
          <a:ln/>
        </p:spPr>
      </p:sp>
      <p:sp>
        <p:nvSpPr>
          <p:cNvPr id="28" name="Text 26"/>
          <p:cNvSpPr/>
          <p:nvPr/>
        </p:nvSpPr>
        <p:spPr>
          <a:xfrm>
            <a:off x="10725912" y="6391656"/>
            <a:ext cx="8229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03 / 21</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966960" y="0"/>
            <a:ext cx="2221992" cy="1325880"/>
          </a:xfrm>
          <a:prstGeom prst="rect">
            <a:avLst/>
          </a:prstGeom>
          <a:solidFill>
            <a:srgbClr val="0A2540"/>
          </a:solidFill>
          <a:ln/>
        </p:spPr>
      </p:sp>
      <p:sp>
        <p:nvSpPr>
          <p:cNvPr id="3" name="Text 1"/>
          <p:cNvSpPr/>
          <p:nvPr/>
        </p:nvSpPr>
        <p:spPr>
          <a:xfrm>
            <a:off x="640080" y="347472"/>
            <a:ext cx="8229600" cy="292608"/>
          </a:xfrm>
          <a:prstGeom prst="rect">
            <a:avLst/>
          </a:prstGeom>
          <a:noFill/>
          <a:ln/>
        </p:spPr>
        <p:txBody>
          <a:bodyPr wrap="square" lIns="0" tIns="0" rIns="0" bIns="0" rtlCol="0" anchor="ctr"/>
          <a:lstStyle/>
          <a:p>
            <a:pPr indent="0" marL="0">
              <a:buNone/>
            </a:pPr>
            <a:r>
              <a:rPr lang="en-US" sz="1100" b="1" spc="300" kern="0" dirty="0">
                <a:solidFill>
                  <a:srgbClr val="0A8F77"/>
                </a:solidFill>
                <a:latin typeface="Arial" pitchFamily="34" charset="0"/>
                <a:ea typeface="Arial" pitchFamily="34" charset="-122"/>
                <a:cs typeface="Arial" pitchFamily="34" charset="-120"/>
              </a:rPr>
              <a:t>04 / 21</a:t>
            </a:r>
            <a:pPr indent="0" marL="0">
              <a:buNone/>
            </a:pPr>
            <a:r>
              <a:rPr lang="en-US" sz="1100" b="1" spc="300" kern="0" dirty="0">
                <a:solidFill>
                  <a:srgbClr val="5B6B7B"/>
                </a:solidFill>
                <a:latin typeface="Arial" pitchFamily="34" charset="0"/>
                <a:ea typeface="Arial" pitchFamily="34" charset="-122"/>
                <a:cs typeface="Arial" pitchFamily="34" charset="-120"/>
              </a:rPr>
              <a:t>   TRACK RECORD</a:t>
            </a:r>
            <a:endParaRPr lang="en-US" sz="1100" dirty="0"/>
          </a:p>
        </p:txBody>
      </p:sp>
      <p:sp>
        <p:nvSpPr>
          <p:cNvPr id="4" name="Text 2"/>
          <p:cNvSpPr/>
          <p:nvPr/>
        </p:nvSpPr>
        <p:spPr>
          <a:xfrm>
            <a:off x="621792" y="841248"/>
            <a:ext cx="10241280" cy="640080"/>
          </a:xfrm>
          <a:prstGeom prst="rect">
            <a:avLst/>
          </a:prstGeom>
          <a:noFill/>
          <a:ln/>
        </p:spPr>
        <p:txBody>
          <a:bodyPr wrap="square" lIns="0" tIns="0" rIns="0" bIns="0" rtlCol="0" anchor="ctr"/>
          <a:lstStyle/>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We have run this playbook before.</a:t>
            </a:r>
            <a:endParaRPr lang="en-US" sz="3300" dirty="0"/>
          </a:p>
        </p:txBody>
      </p:sp>
      <p:sp>
        <p:nvSpPr>
          <p:cNvPr id="5" name="Text 3"/>
          <p:cNvSpPr/>
          <p:nvPr/>
        </p:nvSpPr>
        <p:spPr>
          <a:xfrm>
            <a:off x="640080" y="1572768"/>
            <a:ext cx="10058400" cy="365760"/>
          </a:xfrm>
          <a:prstGeom prst="rect">
            <a:avLst/>
          </a:prstGeom>
          <a:noFill/>
          <a:ln/>
        </p:spPr>
        <p:txBody>
          <a:bodyPr wrap="square" lIns="0" tIns="0" rIns="0" bIns="0" rtlCol="0" anchor="ctr"/>
          <a:lstStyle/>
          <a:p>
            <a:pPr indent="0" marL="0">
              <a:buNone/>
            </a:pPr>
            <a:r>
              <a:rPr lang="en-US" sz="1400" i="1" dirty="0">
                <a:solidFill>
                  <a:srgbClr val="5B6B7B"/>
                </a:solidFill>
                <a:latin typeface="Arial" pitchFamily="34" charset="0"/>
                <a:ea typeface="Arial" pitchFamily="34" charset="-122"/>
                <a:cs typeface="Arial" pitchFamily="34" charset="-120"/>
              </a:rPr>
              <a:t>Build sprints and apprenticeship-style programmes already delivered with students at:</a:t>
            </a:r>
            <a:endParaRPr lang="en-US" sz="1400" dirty="0"/>
          </a:p>
        </p:txBody>
      </p:sp>
      <p:sp>
        <p:nvSpPr>
          <p:cNvPr id="6" name="Shape 4"/>
          <p:cNvSpPr/>
          <p:nvPr/>
        </p:nvSpPr>
        <p:spPr>
          <a:xfrm>
            <a:off x="640080" y="2240280"/>
            <a:ext cx="2606040" cy="3383280"/>
          </a:xfrm>
          <a:prstGeom prst="rect">
            <a:avLst/>
          </a:prstGeom>
          <a:solidFill>
            <a:srgbClr val="F4F8FA"/>
          </a:solidFill>
          <a:ln w="12700">
            <a:solidFill>
              <a:srgbClr val="CDD7DF"/>
            </a:solidFill>
            <a:prstDash val="solid"/>
          </a:ln>
        </p:spPr>
      </p:sp>
      <p:sp>
        <p:nvSpPr>
          <p:cNvPr id="7" name="Shape 5"/>
          <p:cNvSpPr/>
          <p:nvPr/>
        </p:nvSpPr>
        <p:spPr>
          <a:xfrm>
            <a:off x="640080" y="2240280"/>
            <a:ext cx="2606040" cy="82296"/>
          </a:xfrm>
          <a:prstGeom prst="rect">
            <a:avLst/>
          </a:prstGeom>
          <a:solidFill>
            <a:srgbClr val="0A2540"/>
          </a:solidFill>
          <a:ln/>
        </p:spPr>
      </p:sp>
      <p:sp>
        <p:nvSpPr>
          <p:cNvPr id="8" name="Shape 6"/>
          <p:cNvSpPr/>
          <p:nvPr/>
        </p:nvSpPr>
        <p:spPr>
          <a:xfrm>
            <a:off x="868680" y="2560320"/>
            <a:ext cx="2148840" cy="1691640"/>
          </a:xfrm>
          <a:prstGeom prst="rect">
            <a:avLst/>
          </a:prstGeom>
          <a:solidFill>
            <a:srgbClr val="E2E9EE"/>
          </a:solidFill>
          <a:ln w="12700">
            <a:solidFill>
              <a:srgbClr val="AEBFC9"/>
            </a:solidFill>
            <a:prstDash val="dash"/>
          </a:ln>
        </p:spPr>
      </p:sp>
      <p:sp>
        <p:nvSpPr>
          <p:cNvPr id="9" name="Text 7"/>
          <p:cNvSpPr/>
          <p:nvPr/>
        </p:nvSpPr>
        <p:spPr>
          <a:xfrm>
            <a:off x="868680" y="3154680"/>
            <a:ext cx="2148840" cy="365760"/>
          </a:xfrm>
          <a:prstGeom prst="rect">
            <a:avLst/>
          </a:prstGeom>
          <a:noFill/>
          <a:ln/>
        </p:spPr>
        <p:txBody>
          <a:bodyPr wrap="square" lIns="0" tIns="0" rIns="0" bIns="0" rtlCol="0" anchor="ctr"/>
          <a:lstStyle/>
          <a:p>
            <a:pPr algn="ctr" indent="0" marL="0">
              <a:buNone/>
            </a:pPr>
            <a:r>
              <a:rPr lang="en-US" sz="1300" b="1" dirty="0">
                <a:solidFill>
                  <a:srgbClr val="5B6B7B"/>
                </a:solidFill>
                <a:latin typeface="Arial" pitchFamily="34" charset="0"/>
                <a:ea typeface="Arial" pitchFamily="34" charset="-122"/>
                <a:cs typeface="Arial" pitchFamily="34" charset="-120"/>
              </a:rPr>
              <a:t>[ PHOTO ]</a:t>
            </a:r>
            <a:endParaRPr lang="en-US" sz="1300" dirty="0"/>
          </a:p>
        </p:txBody>
      </p:sp>
      <p:sp>
        <p:nvSpPr>
          <p:cNvPr id="10" name="Text 8"/>
          <p:cNvSpPr/>
          <p:nvPr/>
        </p:nvSpPr>
        <p:spPr>
          <a:xfrm>
            <a:off x="868680" y="3520440"/>
            <a:ext cx="2148840" cy="274320"/>
          </a:xfrm>
          <a:prstGeom prst="rect">
            <a:avLst/>
          </a:prstGeom>
          <a:noFill/>
          <a:ln/>
        </p:spPr>
        <p:txBody>
          <a:bodyPr wrap="square" lIns="0" tIns="0" rIns="0" bIns="0" rtlCol="0" anchor="ctr"/>
          <a:lstStyle/>
          <a:p>
            <a:pPr algn="ctr" indent="0" marL="0">
              <a:buNone/>
            </a:pPr>
            <a:r>
              <a:rPr lang="en-US" sz="950" i="1" dirty="0">
                <a:solidFill>
                  <a:srgbClr val="5B6B7B"/>
                </a:solidFill>
                <a:latin typeface="Arial" pitchFamily="34" charset="0"/>
                <a:ea typeface="Arial" pitchFamily="34" charset="-122"/>
                <a:cs typeface="Arial" pitchFamily="34" charset="-120"/>
              </a:rPr>
              <a:t>cohort / demo day</a:t>
            </a:r>
            <a:endParaRPr lang="en-US" sz="950" dirty="0"/>
          </a:p>
        </p:txBody>
      </p:sp>
      <p:sp>
        <p:nvSpPr>
          <p:cNvPr id="11" name="Text 9"/>
          <p:cNvSpPr/>
          <p:nvPr/>
        </p:nvSpPr>
        <p:spPr>
          <a:xfrm>
            <a:off x="868680" y="4480560"/>
            <a:ext cx="2148840" cy="320040"/>
          </a:xfrm>
          <a:prstGeom prst="rect">
            <a:avLst/>
          </a:prstGeom>
          <a:noFill/>
          <a:ln/>
        </p:spPr>
        <p:txBody>
          <a:bodyPr wrap="square" lIns="0" tIns="0" rIns="0" bIns="0" rtlCol="0" anchor="ctr"/>
          <a:lstStyle/>
          <a:p>
            <a:pPr indent="0" marL="0">
              <a:buNone/>
            </a:pPr>
            <a:r>
              <a:rPr lang="en-US" sz="1650" b="1" dirty="0">
                <a:solidFill>
                  <a:srgbClr val="10202E"/>
                </a:solidFill>
                <a:latin typeface="Arial" pitchFamily="34" charset="0"/>
                <a:ea typeface="Arial" pitchFamily="34" charset="-122"/>
                <a:cs typeface="Arial" pitchFamily="34" charset="-120"/>
              </a:rPr>
              <a:t>IIT Bombay</a:t>
            </a:r>
            <a:endParaRPr lang="en-US" sz="1650" dirty="0"/>
          </a:p>
        </p:txBody>
      </p:sp>
      <p:sp>
        <p:nvSpPr>
          <p:cNvPr id="12" name="Text 10"/>
          <p:cNvSpPr/>
          <p:nvPr/>
        </p:nvSpPr>
        <p:spPr>
          <a:xfrm>
            <a:off x="868680" y="4892040"/>
            <a:ext cx="2148840" cy="274320"/>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Build sprint cohort · [year]</a:t>
            </a:r>
            <a:endParaRPr lang="en-US" sz="1050" dirty="0"/>
          </a:p>
        </p:txBody>
      </p:sp>
      <p:sp>
        <p:nvSpPr>
          <p:cNvPr id="13" name="Shape 11"/>
          <p:cNvSpPr/>
          <p:nvPr/>
        </p:nvSpPr>
        <p:spPr>
          <a:xfrm>
            <a:off x="3410712" y="2240280"/>
            <a:ext cx="2606040" cy="3383280"/>
          </a:xfrm>
          <a:prstGeom prst="rect">
            <a:avLst/>
          </a:prstGeom>
          <a:solidFill>
            <a:srgbClr val="F4F8FA"/>
          </a:solidFill>
          <a:ln w="12700">
            <a:solidFill>
              <a:srgbClr val="CDD7DF"/>
            </a:solidFill>
            <a:prstDash val="solid"/>
          </a:ln>
        </p:spPr>
      </p:sp>
      <p:sp>
        <p:nvSpPr>
          <p:cNvPr id="14" name="Shape 12"/>
          <p:cNvSpPr/>
          <p:nvPr/>
        </p:nvSpPr>
        <p:spPr>
          <a:xfrm>
            <a:off x="3410712" y="2240280"/>
            <a:ext cx="2606040" cy="82296"/>
          </a:xfrm>
          <a:prstGeom prst="rect">
            <a:avLst/>
          </a:prstGeom>
          <a:solidFill>
            <a:srgbClr val="00D4AA"/>
          </a:solidFill>
          <a:ln/>
        </p:spPr>
      </p:sp>
      <p:sp>
        <p:nvSpPr>
          <p:cNvPr id="15" name="Shape 13"/>
          <p:cNvSpPr/>
          <p:nvPr/>
        </p:nvSpPr>
        <p:spPr>
          <a:xfrm>
            <a:off x="3639312" y="2560320"/>
            <a:ext cx="2148840" cy="1691640"/>
          </a:xfrm>
          <a:prstGeom prst="rect">
            <a:avLst/>
          </a:prstGeom>
          <a:solidFill>
            <a:srgbClr val="E2E9EE"/>
          </a:solidFill>
          <a:ln w="12700">
            <a:solidFill>
              <a:srgbClr val="AEBFC9"/>
            </a:solidFill>
            <a:prstDash val="dash"/>
          </a:ln>
        </p:spPr>
      </p:sp>
      <p:sp>
        <p:nvSpPr>
          <p:cNvPr id="16" name="Text 14"/>
          <p:cNvSpPr/>
          <p:nvPr/>
        </p:nvSpPr>
        <p:spPr>
          <a:xfrm>
            <a:off x="3639312" y="3154680"/>
            <a:ext cx="2148840" cy="365760"/>
          </a:xfrm>
          <a:prstGeom prst="rect">
            <a:avLst/>
          </a:prstGeom>
          <a:noFill/>
          <a:ln/>
        </p:spPr>
        <p:txBody>
          <a:bodyPr wrap="square" lIns="0" tIns="0" rIns="0" bIns="0" rtlCol="0" anchor="ctr"/>
          <a:lstStyle/>
          <a:p>
            <a:pPr algn="ctr" indent="0" marL="0">
              <a:buNone/>
            </a:pPr>
            <a:r>
              <a:rPr lang="en-US" sz="1300" b="1" dirty="0">
                <a:solidFill>
                  <a:srgbClr val="5B6B7B"/>
                </a:solidFill>
                <a:latin typeface="Arial" pitchFamily="34" charset="0"/>
                <a:ea typeface="Arial" pitchFamily="34" charset="-122"/>
                <a:cs typeface="Arial" pitchFamily="34" charset="-120"/>
              </a:rPr>
              <a:t>[ PHOTO ]</a:t>
            </a:r>
            <a:endParaRPr lang="en-US" sz="1300" dirty="0"/>
          </a:p>
        </p:txBody>
      </p:sp>
      <p:sp>
        <p:nvSpPr>
          <p:cNvPr id="17" name="Text 15"/>
          <p:cNvSpPr/>
          <p:nvPr/>
        </p:nvSpPr>
        <p:spPr>
          <a:xfrm>
            <a:off x="3639312" y="3520440"/>
            <a:ext cx="2148840" cy="274320"/>
          </a:xfrm>
          <a:prstGeom prst="rect">
            <a:avLst/>
          </a:prstGeom>
          <a:noFill/>
          <a:ln/>
        </p:spPr>
        <p:txBody>
          <a:bodyPr wrap="square" lIns="0" tIns="0" rIns="0" bIns="0" rtlCol="0" anchor="ctr"/>
          <a:lstStyle/>
          <a:p>
            <a:pPr algn="ctr" indent="0" marL="0">
              <a:buNone/>
            </a:pPr>
            <a:r>
              <a:rPr lang="en-US" sz="950" i="1" dirty="0">
                <a:solidFill>
                  <a:srgbClr val="5B6B7B"/>
                </a:solidFill>
                <a:latin typeface="Arial" pitchFamily="34" charset="0"/>
                <a:ea typeface="Arial" pitchFamily="34" charset="-122"/>
                <a:cs typeface="Arial" pitchFamily="34" charset="-120"/>
              </a:rPr>
              <a:t>cohort / demo day</a:t>
            </a:r>
            <a:endParaRPr lang="en-US" sz="950" dirty="0"/>
          </a:p>
        </p:txBody>
      </p:sp>
      <p:sp>
        <p:nvSpPr>
          <p:cNvPr id="18" name="Text 16"/>
          <p:cNvSpPr/>
          <p:nvPr/>
        </p:nvSpPr>
        <p:spPr>
          <a:xfrm>
            <a:off x="3639312" y="4480560"/>
            <a:ext cx="2148840" cy="320040"/>
          </a:xfrm>
          <a:prstGeom prst="rect">
            <a:avLst/>
          </a:prstGeom>
          <a:noFill/>
          <a:ln/>
        </p:spPr>
        <p:txBody>
          <a:bodyPr wrap="square" lIns="0" tIns="0" rIns="0" bIns="0" rtlCol="0" anchor="ctr"/>
          <a:lstStyle/>
          <a:p>
            <a:pPr indent="0" marL="0">
              <a:buNone/>
            </a:pPr>
            <a:r>
              <a:rPr lang="en-US" sz="1650" b="1" dirty="0">
                <a:solidFill>
                  <a:srgbClr val="10202E"/>
                </a:solidFill>
                <a:latin typeface="Arial" pitchFamily="34" charset="0"/>
                <a:ea typeface="Arial" pitchFamily="34" charset="-122"/>
                <a:cs typeface="Arial" pitchFamily="34" charset="-120"/>
              </a:rPr>
              <a:t>IIT Gandhinagar</a:t>
            </a:r>
            <a:endParaRPr lang="en-US" sz="1650" dirty="0"/>
          </a:p>
        </p:txBody>
      </p:sp>
      <p:sp>
        <p:nvSpPr>
          <p:cNvPr id="19" name="Text 17"/>
          <p:cNvSpPr/>
          <p:nvPr/>
        </p:nvSpPr>
        <p:spPr>
          <a:xfrm>
            <a:off x="3639312" y="4892040"/>
            <a:ext cx="2148840" cy="274320"/>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Build sprint cohort · [year]</a:t>
            </a:r>
            <a:endParaRPr lang="en-US" sz="1050" dirty="0"/>
          </a:p>
        </p:txBody>
      </p:sp>
      <p:sp>
        <p:nvSpPr>
          <p:cNvPr id="20" name="Shape 18"/>
          <p:cNvSpPr/>
          <p:nvPr/>
        </p:nvSpPr>
        <p:spPr>
          <a:xfrm>
            <a:off x="6181344" y="2240280"/>
            <a:ext cx="2606040" cy="3383280"/>
          </a:xfrm>
          <a:prstGeom prst="rect">
            <a:avLst/>
          </a:prstGeom>
          <a:solidFill>
            <a:srgbClr val="F4F8FA"/>
          </a:solidFill>
          <a:ln w="12700">
            <a:solidFill>
              <a:srgbClr val="CDD7DF"/>
            </a:solidFill>
            <a:prstDash val="solid"/>
          </a:ln>
        </p:spPr>
      </p:sp>
      <p:sp>
        <p:nvSpPr>
          <p:cNvPr id="21" name="Shape 19"/>
          <p:cNvSpPr/>
          <p:nvPr/>
        </p:nvSpPr>
        <p:spPr>
          <a:xfrm>
            <a:off x="6181344" y="2240280"/>
            <a:ext cx="2606040" cy="82296"/>
          </a:xfrm>
          <a:prstGeom prst="rect">
            <a:avLst/>
          </a:prstGeom>
          <a:solidFill>
            <a:srgbClr val="0A2540"/>
          </a:solidFill>
          <a:ln/>
        </p:spPr>
      </p:sp>
      <p:sp>
        <p:nvSpPr>
          <p:cNvPr id="22" name="Shape 20"/>
          <p:cNvSpPr/>
          <p:nvPr/>
        </p:nvSpPr>
        <p:spPr>
          <a:xfrm>
            <a:off x="6409944" y="2560320"/>
            <a:ext cx="2148840" cy="1691640"/>
          </a:xfrm>
          <a:prstGeom prst="rect">
            <a:avLst/>
          </a:prstGeom>
          <a:solidFill>
            <a:srgbClr val="E2E9EE"/>
          </a:solidFill>
          <a:ln w="12700">
            <a:solidFill>
              <a:srgbClr val="AEBFC9"/>
            </a:solidFill>
            <a:prstDash val="dash"/>
          </a:ln>
        </p:spPr>
      </p:sp>
      <p:sp>
        <p:nvSpPr>
          <p:cNvPr id="23" name="Text 21"/>
          <p:cNvSpPr/>
          <p:nvPr/>
        </p:nvSpPr>
        <p:spPr>
          <a:xfrm>
            <a:off x="6409944" y="3154680"/>
            <a:ext cx="2148840" cy="365760"/>
          </a:xfrm>
          <a:prstGeom prst="rect">
            <a:avLst/>
          </a:prstGeom>
          <a:noFill/>
          <a:ln/>
        </p:spPr>
        <p:txBody>
          <a:bodyPr wrap="square" lIns="0" tIns="0" rIns="0" bIns="0" rtlCol="0" anchor="ctr"/>
          <a:lstStyle/>
          <a:p>
            <a:pPr algn="ctr" indent="0" marL="0">
              <a:buNone/>
            </a:pPr>
            <a:r>
              <a:rPr lang="en-US" sz="1300" b="1" dirty="0">
                <a:solidFill>
                  <a:srgbClr val="5B6B7B"/>
                </a:solidFill>
                <a:latin typeface="Arial" pitchFamily="34" charset="0"/>
                <a:ea typeface="Arial" pitchFamily="34" charset="-122"/>
                <a:cs typeface="Arial" pitchFamily="34" charset="-120"/>
              </a:rPr>
              <a:t>[ PHOTO ]</a:t>
            </a:r>
            <a:endParaRPr lang="en-US" sz="1300" dirty="0"/>
          </a:p>
        </p:txBody>
      </p:sp>
      <p:sp>
        <p:nvSpPr>
          <p:cNvPr id="24" name="Text 22"/>
          <p:cNvSpPr/>
          <p:nvPr/>
        </p:nvSpPr>
        <p:spPr>
          <a:xfrm>
            <a:off x="6409944" y="3520440"/>
            <a:ext cx="2148840" cy="274320"/>
          </a:xfrm>
          <a:prstGeom prst="rect">
            <a:avLst/>
          </a:prstGeom>
          <a:noFill/>
          <a:ln/>
        </p:spPr>
        <p:txBody>
          <a:bodyPr wrap="square" lIns="0" tIns="0" rIns="0" bIns="0" rtlCol="0" anchor="ctr"/>
          <a:lstStyle/>
          <a:p>
            <a:pPr algn="ctr" indent="0" marL="0">
              <a:buNone/>
            </a:pPr>
            <a:r>
              <a:rPr lang="en-US" sz="950" i="1" dirty="0">
                <a:solidFill>
                  <a:srgbClr val="5B6B7B"/>
                </a:solidFill>
                <a:latin typeface="Arial" pitchFamily="34" charset="0"/>
                <a:ea typeface="Arial" pitchFamily="34" charset="-122"/>
                <a:cs typeface="Arial" pitchFamily="34" charset="-120"/>
              </a:rPr>
              <a:t>cohort / demo day</a:t>
            </a:r>
            <a:endParaRPr lang="en-US" sz="950" dirty="0"/>
          </a:p>
        </p:txBody>
      </p:sp>
      <p:sp>
        <p:nvSpPr>
          <p:cNvPr id="25" name="Text 23"/>
          <p:cNvSpPr/>
          <p:nvPr/>
        </p:nvSpPr>
        <p:spPr>
          <a:xfrm>
            <a:off x="6409944" y="4480560"/>
            <a:ext cx="2148840" cy="320040"/>
          </a:xfrm>
          <a:prstGeom prst="rect">
            <a:avLst/>
          </a:prstGeom>
          <a:noFill/>
          <a:ln/>
        </p:spPr>
        <p:txBody>
          <a:bodyPr wrap="square" lIns="0" tIns="0" rIns="0" bIns="0" rtlCol="0" anchor="ctr"/>
          <a:lstStyle/>
          <a:p>
            <a:pPr indent="0" marL="0">
              <a:buNone/>
            </a:pPr>
            <a:r>
              <a:rPr lang="en-US" sz="1650" b="1" dirty="0">
                <a:solidFill>
                  <a:srgbClr val="10202E"/>
                </a:solidFill>
                <a:latin typeface="Arial" pitchFamily="34" charset="0"/>
                <a:ea typeface="Arial" pitchFamily="34" charset="-122"/>
                <a:cs typeface="Arial" pitchFamily="34" charset="-120"/>
              </a:rPr>
              <a:t>IIT Madras</a:t>
            </a:r>
            <a:endParaRPr lang="en-US" sz="1650" dirty="0"/>
          </a:p>
        </p:txBody>
      </p:sp>
      <p:sp>
        <p:nvSpPr>
          <p:cNvPr id="26" name="Text 24"/>
          <p:cNvSpPr/>
          <p:nvPr/>
        </p:nvSpPr>
        <p:spPr>
          <a:xfrm>
            <a:off x="6409944" y="4892040"/>
            <a:ext cx="2148840" cy="274320"/>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Build sprint cohort · [year]</a:t>
            </a:r>
            <a:endParaRPr lang="en-US" sz="1050" dirty="0"/>
          </a:p>
        </p:txBody>
      </p:sp>
      <p:sp>
        <p:nvSpPr>
          <p:cNvPr id="27" name="Shape 25"/>
          <p:cNvSpPr/>
          <p:nvPr/>
        </p:nvSpPr>
        <p:spPr>
          <a:xfrm>
            <a:off x="8951976" y="2240280"/>
            <a:ext cx="2606040" cy="3383280"/>
          </a:xfrm>
          <a:prstGeom prst="rect">
            <a:avLst/>
          </a:prstGeom>
          <a:solidFill>
            <a:srgbClr val="F4F8FA"/>
          </a:solidFill>
          <a:ln w="12700">
            <a:solidFill>
              <a:srgbClr val="CDD7DF"/>
            </a:solidFill>
            <a:prstDash val="solid"/>
          </a:ln>
        </p:spPr>
      </p:sp>
      <p:sp>
        <p:nvSpPr>
          <p:cNvPr id="28" name="Shape 26"/>
          <p:cNvSpPr/>
          <p:nvPr/>
        </p:nvSpPr>
        <p:spPr>
          <a:xfrm>
            <a:off x="8951976" y="2240280"/>
            <a:ext cx="2606040" cy="82296"/>
          </a:xfrm>
          <a:prstGeom prst="rect">
            <a:avLst/>
          </a:prstGeom>
          <a:solidFill>
            <a:srgbClr val="00D4AA"/>
          </a:solidFill>
          <a:ln/>
        </p:spPr>
      </p:sp>
      <p:sp>
        <p:nvSpPr>
          <p:cNvPr id="29" name="Shape 27"/>
          <p:cNvSpPr/>
          <p:nvPr/>
        </p:nvSpPr>
        <p:spPr>
          <a:xfrm>
            <a:off x="9180576" y="2560320"/>
            <a:ext cx="2148840" cy="1691640"/>
          </a:xfrm>
          <a:prstGeom prst="rect">
            <a:avLst/>
          </a:prstGeom>
          <a:solidFill>
            <a:srgbClr val="E2E9EE"/>
          </a:solidFill>
          <a:ln w="12700">
            <a:solidFill>
              <a:srgbClr val="AEBFC9"/>
            </a:solidFill>
            <a:prstDash val="dash"/>
          </a:ln>
        </p:spPr>
      </p:sp>
      <p:sp>
        <p:nvSpPr>
          <p:cNvPr id="30" name="Text 28"/>
          <p:cNvSpPr/>
          <p:nvPr/>
        </p:nvSpPr>
        <p:spPr>
          <a:xfrm>
            <a:off x="9180576" y="3154680"/>
            <a:ext cx="2148840" cy="365760"/>
          </a:xfrm>
          <a:prstGeom prst="rect">
            <a:avLst/>
          </a:prstGeom>
          <a:noFill/>
          <a:ln/>
        </p:spPr>
        <p:txBody>
          <a:bodyPr wrap="square" lIns="0" tIns="0" rIns="0" bIns="0" rtlCol="0" anchor="ctr"/>
          <a:lstStyle/>
          <a:p>
            <a:pPr algn="ctr" indent="0" marL="0">
              <a:buNone/>
            </a:pPr>
            <a:r>
              <a:rPr lang="en-US" sz="1300" b="1" dirty="0">
                <a:solidFill>
                  <a:srgbClr val="5B6B7B"/>
                </a:solidFill>
                <a:latin typeface="Arial" pitchFamily="34" charset="0"/>
                <a:ea typeface="Arial" pitchFamily="34" charset="-122"/>
                <a:cs typeface="Arial" pitchFamily="34" charset="-120"/>
              </a:rPr>
              <a:t>[ PHOTO ]</a:t>
            </a:r>
            <a:endParaRPr lang="en-US" sz="1300" dirty="0"/>
          </a:p>
        </p:txBody>
      </p:sp>
      <p:sp>
        <p:nvSpPr>
          <p:cNvPr id="31" name="Text 29"/>
          <p:cNvSpPr/>
          <p:nvPr/>
        </p:nvSpPr>
        <p:spPr>
          <a:xfrm>
            <a:off x="9180576" y="3520440"/>
            <a:ext cx="2148840" cy="274320"/>
          </a:xfrm>
          <a:prstGeom prst="rect">
            <a:avLst/>
          </a:prstGeom>
          <a:noFill/>
          <a:ln/>
        </p:spPr>
        <p:txBody>
          <a:bodyPr wrap="square" lIns="0" tIns="0" rIns="0" bIns="0" rtlCol="0" anchor="ctr"/>
          <a:lstStyle/>
          <a:p>
            <a:pPr algn="ctr" indent="0" marL="0">
              <a:buNone/>
            </a:pPr>
            <a:r>
              <a:rPr lang="en-US" sz="950" i="1" dirty="0">
                <a:solidFill>
                  <a:srgbClr val="5B6B7B"/>
                </a:solidFill>
                <a:latin typeface="Arial" pitchFamily="34" charset="0"/>
                <a:ea typeface="Arial" pitchFamily="34" charset="-122"/>
                <a:cs typeface="Arial" pitchFamily="34" charset="-120"/>
              </a:rPr>
              <a:t>cohort / demo day</a:t>
            </a:r>
            <a:endParaRPr lang="en-US" sz="950" dirty="0"/>
          </a:p>
        </p:txBody>
      </p:sp>
      <p:sp>
        <p:nvSpPr>
          <p:cNvPr id="32" name="Text 30"/>
          <p:cNvSpPr/>
          <p:nvPr/>
        </p:nvSpPr>
        <p:spPr>
          <a:xfrm>
            <a:off x="9180576" y="4480560"/>
            <a:ext cx="2148840" cy="320040"/>
          </a:xfrm>
          <a:prstGeom prst="rect">
            <a:avLst/>
          </a:prstGeom>
          <a:noFill/>
          <a:ln/>
        </p:spPr>
        <p:txBody>
          <a:bodyPr wrap="square" lIns="0" tIns="0" rIns="0" bIns="0" rtlCol="0" anchor="ctr"/>
          <a:lstStyle/>
          <a:p>
            <a:pPr indent="0" marL="0">
              <a:buNone/>
            </a:pPr>
            <a:r>
              <a:rPr lang="en-US" sz="1650" b="1" dirty="0">
                <a:solidFill>
                  <a:srgbClr val="10202E"/>
                </a:solidFill>
                <a:latin typeface="Arial" pitchFamily="34" charset="0"/>
                <a:ea typeface="Arial" pitchFamily="34" charset="-122"/>
                <a:cs typeface="Arial" pitchFamily="34" charset="-120"/>
              </a:rPr>
              <a:t>IISc Bangalore</a:t>
            </a:r>
            <a:endParaRPr lang="en-US" sz="1650" dirty="0"/>
          </a:p>
        </p:txBody>
      </p:sp>
      <p:sp>
        <p:nvSpPr>
          <p:cNvPr id="33" name="Text 31"/>
          <p:cNvSpPr/>
          <p:nvPr/>
        </p:nvSpPr>
        <p:spPr>
          <a:xfrm>
            <a:off x="9180576" y="4892040"/>
            <a:ext cx="2148840" cy="274320"/>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Build sprint cohort · [year]</a:t>
            </a:r>
            <a:endParaRPr lang="en-US" sz="1050" dirty="0"/>
          </a:p>
        </p:txBody>
      </p:sp>
      <p:sp>
        <p:nvSpPr>
          <p:cNvPr id="34" name="Text 32"/>
          <p:cNvSpPr/>
          <p:nvPr/>
        </p:nvSpPr>
        <p:spPr>
          <a:xfrm>
            <a:off x="640080" y="5806440"/>
            <a:ext cx="10881360" cy="320040"/>
          </a:xfrm>
          <a:prstGeom prst="rect">
            <a:avLst/>
          </a:prstGeom>
          <a:noFill/>
          <a:ln/>
        </p:spPr>
        <p:txBody>
          <a:bodyPr wrap="square" lIns="0" tIns="0" rIns="0" bIns="0" rtlCol="0" anchor="ctr"/>
          <a:lstStyle/>
          <a:p>
            <a:pPr indent="0" marL="0">
              <a:buNone/>
            </a:pPr>
            <a:r>
              <a:rPr lang="en-US" sz="1300" b="1" dirty="0">
                <a:solidFill>
                  <a:srgbClr val="10202E"/>
                </a:solidFill>
                <a:latin typeface="Arial" pitchFamily="34" charset="0"/>
                <a:ea typeface="Arial" pitchFamily="34" charset="-122"/>
                <a:cs typeface="Arial" pitchFamily="34" charset="-120"/>
              </a:rPr>
              <a:t>Now bringing the same programme to forward-looking tier-2 engineering colleges.</a:t>
            </a:r>
            <a:endParaRPr lang="en-US" sz="1300" dirty="0"/>
          </a:p>
        </p:txBody>
      </p:sp>
      <p:sp>
        <p:nvSpPr>
          <p:cNvPr id="35" name="Shape 33"/>
          <p:cNvSpPr/>
          <p:nvPr/>
        </p:nvSpPr>
        <p:spPr>
          <a:xfrm>
            <a:off x="640080" y="6327648"/>
            <a:ext cx="10911535" cy="0"/>
          </a:xfrm>
          <a:prstGeom prst="line">
            <a:avLst/>
          </a:prstGeom>
          <a:noFill/>
          <a:ln w="12700">
            <a:solidFill>
              <a:srgbClr val="CDD7DF"/>
            </a:solidFill>
            <a:prstDash val="solid"/>
          </a:ln>
        </p:spPr>
      </p:sp>
      <p:sp>
        <p:nvSpPr>
          <p:cNvPr id="36" name="Text 34"/>
          <p:cNvSpPr/>
          <p:nvPr/>
        </p:nvSpPr>
        <p:spPr>
          <a:xfrm>
            <a:off x="640080" y="6400800"/>
            <a:ext cx="6400800" cy="274320"/>
          </a:xfrm>
          <a:prstGeom prst="rect">
            <a:avLst/>
          </a:prstGeom>
          <a:noFill/>
          <a:ln/>
        </p:spPr>
        <p:txBody>
          <a:bodyPr wrap="square" lIns="0" tIns="0" rIns="0" bIns="0" rtlCol="0" anchor="ctr"/>
          <a:lstStyle/>
          <a:p>
            <a:pPr indent="0" marL="0">
              <a:buNone/>
            </a:pPr>
            <a:r>
              <a:rPr lang="en-US" sz="1000" b="1" spc="200" kern="0" dirty="0">
                <a:solidFill>
                  <a:srgbClr val="5B6B7B"/>
                </a:solidFill>
                <a:latin typeface="Arial" pitchFamily="34" charset="0"/>
                <a:ea typeface="Arial" pitchFamily="34" charset="-122"/>
                <a:cs typeface="Arial" pitchFamily="34" charset="-120"/>
              </a:rPr>
              <a:t>BuildAI  /  Track Record</a:t>
            </a:r>
            <a:endParaRPr lang="en-US" sz="1000" dirty="0"/>
          </a:p>
        </p:txBody>
      </p:sp>
      <p:sp>
        <p:nvSpPr>
          <p:cNvPr id="37" name="Shape 35"/>
          <p:cNvSpPr/>
          <p:nvPr/>
        </p:nvSpPr>
        <p:spPr>
          <a:xfrm>
            <a:off x="10725912" y="6391656"/>
            <a:ext cx="822960" cy="310896"/>
          </a:xfrm>
          <a:prstGeom prst="rect">
            <a:avLst/>
          </a:prstGeom>
          <a:solidFill>
            <a:srgbClr val="0A2540"/>
          </a:solidFill>
          <a:ln/>
        </p:spPr>
      </p:sp>
      <p:sp>
        <p:nvSpPr>
          <p:cNvPr id="38" name="Text 36"/>
          <p:cNvSpPr/>
          <p:nvPr/>
        </p:nvSpPr>
        <p:spPr>
          <a:xfrm>
            <a:off x="10725912" y="6391656"/>
            <a:ext cx="8229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04 / 21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515600" y="0"/>
            <a:ext cx="1673352" cy="1325880"/>
          </a:xfrm>
          <a:prstGeom prst="rect">
            <a:avLst/>
          </a:prstGeom>
          <a:solidFill>
            <a:srgbClr val="00D4AA"/>
          </a:solidFill>
          <a:ln/>
        </p:spPr>
      </p:sp>
      <p:sp>
        <p:nvSpPr>
          <p:cNvPr id="3" name="Text 1"/>
          <p:cNvSpPr/>
          <p:nvPr/>
        </p:nvSpPr>
        <p:spPr>
          <a:xfrm>
            <a:off x="640080" y="347472"/>
            <a:ext cx="8229600" cy="292608"/>
          </a:xfrm>
          <a:prstGeom prst="rect">
            <a:avLst/>
          </a:prstGeom>
          <a:noFill/>
          <a:ln/>
        </p:spPr>
        <p:txBody>
          <a:bodyPr wrap="square" lIns="0" tIns="0" rIns="0" bIns="0" rtlCol="0" anchor="ctr"/>
          <a:lstStyle/>
          <a:p>
            <a:pPr indent="0" marL="0">
              <a:buNone/>
            </a:pPr>
            <a:r>
              <a:rPr lang="en-US" sz="1100" b="1" spc="300" kern="0" dirty="0">
                <a:solidFill>
                  <a:srgbClr val="0A8F77"/>
                </a:solidFill>
                <a:latin typeface="Arial" pitchFamily="34" charset="0"/>
                <a:ea typeface="Arial" pitchFamily="34" charset="-122"/>
                <a:cs typeface="Arial" pitchFamily="34" charset="-120"/>
              </a:rPr>
              <a:t>05 / 21</a:t>
            </a:r>
            <a:pPr indent="0" marL="0">
              <a:buNone/>
            </a:pPr>
            <a:r>
              <a:rPr lang="en-US" sz="1100" b="1" spc="300" kern="0" dirty="0">
                <a:solidFill>
                  <a:srgbClr val="5B6B7B"/>
                </a:solidFill>
                <a:latin typeface="Arial" pitchFamily="34" charset="0"/>
                <a:ea typeface="Arial" pitchFamily="34" charset="-122"/>
                <a:cs typeface="Arial" pitchFamily="34" charset="-120"/>
              </a:rPr>
              <a:t>   ON THE GROUND</a:t>
            </a:r>
            <a:endParaRPr lang="en-US" sz="1100" dirty="0"/>
          </a:p>
        </p:txBody>
      </p:sp>
      <p:sp>
        <p:nvSpPr>
          <p:cNvPr id="4" name="Text 2"/>
          <p:cNvSpPr/>
          <p:nvPr/>
        </p:nvSpPr>
        <p:spPr>
          <a:xfrm>
            <a:off x="621792" y="841248"/>
            <a:ext cx="10241280" cy="640080"/>
          </a:xfrm>
          <a:prstGeom prst="rect">
            <a:avLst/>
          </a:prstGeom>
          <a:noFill/>
          <a:ln/>
        </p:spPr>
        <p:txBody>
          <a:bodyPr wrap="square" lIns="0" tIns="0" rIns="0" bIns="0" rtlCol="0" anchor="ctr"/>
          <a:lstStyle/>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What building actually looks like.</a:t>
            </a:r>
            <a:endParaRPr lang="en-US" sz="3300" dirty="0"/>
          </a:p>
        </p:txBody>
      </p:sp>
      <p:sp>
        <p:nvSpPr>
          <p:cNvPr id="5" name="Text 3"/>
          <p:cNvSpPr/>
          <p:nvPr/>
        </p:nvSpPr>
        <p:spPr>
          <a:xfrm>
            <a:off x="640080" y="1572768"/>
            <a:ext cx="10058400" cy="365760"/>
          </a:xfrm>
          <a:prstGeom prst="rect">
            <a:avLst/>
          </a:prstGeom>
          <a:noFill/>
          <a:ln/>
        </p:spPr>
        <p:txBody>
          <a:bodyPr wrap="square" lIns="0" tIns="0" rIns="0" bIns="0" rtlCol="0" anchor="ctr"/>
          <a:lstStyle/>
          <a:p>
            <a:pPr indent="0" marL="0">
              <a:buNone/>
            </a:pPr>
            <a:r>
              <a:rPr lang="en-US" sz="1400" i="1" dirty="0">
                <a:solidFill>
                  <a:srgbClr val="5B6B7B"/>
                </a:solidFill>
                <a:latin typeface="Arial" pitchFamily="34" charset="0"/>
                <a:ea typeface="Arial" pitchFamily="34" charset="-122"/>
                <a:cs typeface="Arial" pitchFamily="34" charset="-120"/>
              </a:rPr>
              <a:t>Students shipping — not sitting through slides.</a:t>
            </a:r>
            <a:endParaRPr lang="en-US" sz="1400" dirty="0"/>
          </a:p>
        </p:txBody>
      </p:sp>
      <p:sp>
        <p:nvSpPr>
          <p:cNvPr id="6" name="Shape 4"/>
          <p:cNvSpPr/>
          <p:nvPr/>
        </p:nvSpPr>
        <p:spPr>
          <a:xfrm>
            <a:off x="640080" y="2240280"/>
            <a:ext cx="5394960" cy="3749040"/>
          </a:xfrm>
          <a:prstGeom prst="rect">
            <a:avLst/>
          </a:prstGeom>
          <a:solidFill>
            <a:srgbClr val="E2E9EE"/>
          </a:solidFill>
          <a:ln w="12700">
            <a:solidFill>
              <a:srgbClr val="AEBFC9"/>
            </a:solidFill>
            <a:prstDash val="dash"/>
          </a:ln>
        </p:spPr>
      </p:sp>
      <p:sp>
        <p:nvSpPr>
          <p:cNvPr id="7" name="Text 5"/>
          <p:cNvSpPr/>
          <p:nvPr/>
        </p:nvSpPr>
        <p:spPr>
          <a:xfrm>
            <a:off x="640080" y="3794760"/>
            <a:ext cx="5394960" cy="365760"/>
          </a:xfrm>
          <a:prstGeom prst="rect">
            <a:avLst/>
          </a:prstGeom>
          <a:noFill/>
          <a:ln/>
        </p:spPr>
        <p:txBody>
          <a:bodyPr wrap="square" lIns="0" tIns="0" rIns="0" bIns="0" rtlCol="0" anchor="ctr"/>
          <a:lstStyle/>
          <a:p>
            <a:pPr algn="ctr" indent="0" marL="0">
              <a:buNone/>
            </a:pPr>
            <a:r>
              <a:rPr lang="en-US" sz="1300" b="1" dirty="0">
                <a:solidFill>
                  <a:srgbClr val="5B6B7B"/>
                </a:solidFill>
                <a:latin typeface="Arial" pitchFamily="34" charset="0"/>
                <a:ea typeface="Arial" pitchFamily="34" charset="-122"/>
                <a:cs typeface="Arial" pitchFamily="34" charset="-120"/>
              </a:rPr>
              <a:t>[ PHOTO ]</a:t>
            </a:r>
            <a:endParaRPr lang="en-US" sz="1300" dirty="0"/>
          </a:p>
        </p:txBody>
      </p:sp>
      <p:sp>
        <p:nvSpPr>
          <p:cNvPr id="8" name="Text 6"/>
          <p:cNvSpPr/>
          <p:nvPr/>
        </p:nvSpPr>
        <p:spPr>
          <a:xfrm>
            <a:off x="777240" y="4160520"/>
            <a:ext cx="5120640" cy="320040"/>
          </a:xfrm>
          <a:prstGeom prst="rect">
            <a:avLst/>
          </a:prstGeom>
          <a:noFill/>
          <a:ln/>
        </p:spPr>
        <p:txBody>
          <a:bodyPr wrap="square" lIns="0" tIns="0" rIns="0" bIns="0" rtlCol="0" anchor="ctr"/>
          <a:lstStyle/>
          <a:p>
            <a:pPr algn="ctr" indent="0" marL="0">
              <a:buNone/>
            </a:pPr>
            <a:r>
              <a:rPr lang="en-US" sz="950" i="1" dirty="0">
                <a:solidFill>
                  <a:srgbClr val="5B6B7B"/>
                </a:solidFill>
                <a:latin typeface="Arial" pitchFamily="34" charset="0"/>
                <a:ea typeface="Arial" pitchFamily="34" charset="-122"/>
                <a:cs typeface="Arial" pitchFamily="34" charset="-120"/>
              </a:rPr>
              <a:t>demo day — students presenting shipped products</a:t>
            </a:r>
            <a:endParaRPr lang="en-US" sz="950" dirty="0"/>
          </a:p>
        </p:txBody>
      </p:sp>
      <p:sp>
        <p:nvSpPr>
          <p:cNvPr id="9" name="Shape 7"/>
          <p:cNvSpPr/>
          <p:nvPr/>
        </p:nvSpPr>
        <p:spPr>
          <a:xfrm>
            <a:off x="6199632" y="2240280"/>
            <a:ext cx="2606040" cy="1783080"/>
          </a:xfrm>
          <a:prstGeom prst="rect">
            <a:avLst/>
          </a:prstGeom>
          <a:solidFill>
            <a:srgbClr val="E2E9EE"/>
          </a:solidFill>
          <a:ln w="12700">
            <a:solidFill>
              <a:srgbClr val="AEBFC9"/>
            </a:solidFill>
            <a:prstDash val="dash"/>
          </a:ln>
        </p:spPr>
      </p:sp>
      <p:sp>
        <p:nvSpPr>
          <p:cNvPr id="10" name="Text 8"/>
          <p:cNvSpPr/>
          <p:nvPr/>
        </p:nvSpPr>
        <p:spPr>
          <a:xfrm>
            <a:off x="6199632" y="2811780"/>
            <a:ext cx="2606040" cy="365760"/>
          </a:xfrm>
          <a:prstGeom prst="rect">
            <a:avLst/>
          </a:prstGeom>
          <a:noFill/>
          <a:ln/>
        </p:spPr>
        <p:txBody>
          <a:bodyPr wrap="square" lIns="0" tIns="0" rIns="0" bIns="0" rtlCol="0" anchor="ctr"/>
          <a:lstStyle/>
          <a:p>
            <a:pPr algn="ctr" indent="0" marL="0">
              <a:buNone/>
            </a:pPr>
            <a:r>
              <a:rPr lang="en-US" sz="1300" b="1" dirty="0">
                <a:solidFill>
                  <a:srgbClr val="5B6B7B"/>
                </a:solidFill>
                <a:latin typeface="Arial" pitchFamily="34" charset="0"/>
                <a:ea typeface="Arial" pitchFamily="34" charset="-122"/>
                <a:cs typeface="Arial" pitchFamily="34" charset="-120"/>
              </a:rPr>
              <a:t>[ PHOTO ]</a:t>
            </a:r>
            <a:endParaRPr lang="en-US" sz="1300" dirty="0"/>
          </a:p>
        </p:txBody>
      </p:sp>
      <p:sp>
        <p:nvSpPr>
          <p:cNvPr id="11" name="Text 9"/>
          <p:cNvSpPr/>
          <p:nvPr/>
        </p:nvSpPr>
        <p:spPr>
          <a:xfrm>
            <a:off x="6336792" y="3177540"/>
            <a:ext cx="2331720" cy="320040"/>
          </a:xfrm>
          <a:prstGeom prst="rect">
            <a:avLst/>
          </a:prstGeom>
          <a:noFill/>
          <a:ln/>
        </p:spPr>
        <p:txBody>
          <a:bodyPr wrap="square" lIns="0" tIns="0" rIns="0" bIns="0" rtlCol="0" anchor="ctr"/>
          <a:lstStyle/>
          <a:p>
            <a:pPr algn="ctr" indent="0" marL="0">
              <a:buNone/>
            </a:pPr>
            <a:r>
              <a:rPr lang="en-US" sz="950" i="1" dirty="0">
                <a:solidFill>
                  <a:srgbClr val="5B6B7B"/>
                </a:solidFill>
                <a:latin typeface="Arial" pitchFamily="34" charset="0"/>
                <a:ea typeface="Arial" pitchFamily="34" charset="-122"/>
                <a:cs typeface="Arial" pitchFamily="34" charset="-120"/>
              </a:rPr>
              <a:t>pair-building with Cursor</a:t>
            </a:r>
            <a:endParaRPr lang="en-US" sz="950" dirty="0"/>
          </a:p>
        </p:txBody>
      </p:sp>
      <p:sp>
        <p:nvSpPr>
          <p:cNvPr id="12" name="Shape 10"/>
          <p:cNvSpPr/>
          <p:nvPr/>
        </p:nvSpPr>
        <p:spPr>
          <a:xfrm>
            <a:off x="8942832" y="2240280"/>
            <a:ext cx="2606040" cy="1783080"/>
          </a:xfrm>
          <a:prstGeom prst="rect">
            <a:avLst/>
          </a:prstGeom>
          <a:solidFill>
            <a:srgbClr val="E2E9EE"/>
          </a:solidFill>
          <a:ln w="12700">
            <a:solidFill>
              <a:srgbClr val="AEBFC9"/>
            </a:solidFill>
            <a:prstDash val="dash"/>
          </a:ln>
        </p:spPr>
      </p:sp>
      <p:sp>
        <p:nvSpPr>
          <p:cNvPr id="13" name="Text 11"/>
          <p:cNvSpPr/>
          <p:nvPr/>
        </p:nvSpPr>
        <p:spPr>
          <a:xfrm>
            <a:off x="8942832" y="2811780"/>
            <a:ext cx="2606040" cy="365760"/>
          </a:xfrm>
          <a:prstGeom prst="rect">
            <a:avLst/>
          </a:prstGeom>
          <a:noFill/>
          <a:ln/>
        </p:spPr>
        <p:txBody>
          <a:bodyPr wrap="square" lIns="0" tIns="0" rIns="0" bIns="0" rtlCol="0" anchor="ctr"/>
          <a:lstStyle/>
          <a:p>
            <a:pPr algn="ctr" indent="0" marL="0">
              <a:buNone/>
            </a:pPr>
            <a:r>
              <a:rPr lang="en-US" sz="1300" b="1" dirty="0">
                <a:solidFill>
                  <a:srgbClr val="5B6B7B"/>
                </a:solidFill>
                <a:latin typeface="Arial" pitchFamily="34" charset="0"/>
                <a:ea typeface="Arial" pitchFamily="34" charset="-122"/>
                <a:cs typeface="Arial" pitchFamily="34" charset="-120"/>
              </a:rPr>
              <a:t>[ PHOTO ]</a:t>
            </a:r>
            <a:endParaRPr lang="en-US" sz="1300" dirty="0"/>
          </a:p>
        </p:txBody>
      </p:sp>
      <p:sp>
        <p:nvSpPr>
          <p:cNvPr id="14" name="Text 12"/>
          <p:cNvSpPr/>
          <p:nvPr/>
        </p:nvSpPr>
        <p:spPr>
          <a:xfrm>
            <a:off x="9079992" y="3177540"/>
            <a:ext cx="2331720" cy="320040"/>
          </a:xfrm>
          <a:prstGeom prst="rect">
            <a:avLst/>
          </a:prstGeom>
          <a:noFill/>
          <a:ln/>
        </p:spPr>
        <p:txBody>
          <a:bodyPr wrap="square" lIns="0" tIns="0" rIns="0" bIns="0" rtlCol="0" anchor="ctr"/>
          <a:lstStyle/>
          <a:p>
            <a:pPr algn="ctr" indent="0" marL="0">
              <a:buNone/>
            </a:pPr>
            <a:r>
              <a:rPr lang="en-US" sz="950" i="1" dirty="0">
                <a:solidFill>
                  <a:srgbClr val="5B6B7B"/>
                </a:solidFill>
                <a:latin typeface="Arial" pitchFamily="34" charset="0"/>
                <a:ea typeface="Arial" pitchFamily="34" charset="-122"/>
                <a:cs typeface="Arial" pitchFamily="34" charset="-120"/>
              </a:rPr>
              <a:t>mentor code review</a:t>
            </a:r>
            <a:endParaRPr lang="en-US" sz="950" dirty="0"/>
          </a:p>
        </p:txBody>
      </p:sp>
      <p:sp>
        <p:nvSpPr>
          <p:cNvPr id="15" name="Shape 13"/>
          <p:cNvSpPr/>
          <p:nvPr/>
        </p:nvSpPr>
        <p:spPr>
          <a:xfrm>
            <a:off x="6199632" y="4206240"/>
            <a:ext cx="2606040" cy="1783080"/>
          </a:xfrm>
          <a:prstGeom prst="rect">
            <a:avLst/>
          </a:prstGeom>
          <a:solidFill>
            <a:srgbClr val="E2E9EE"/>
          </a:solidFill>
          <a:ln w="12700">
            <a:solidFill>
              <a:srgbClr val="AEBFC9"/>
            </a:solidFill>
            <a:prstDash val="dash"/>
          </a:ln>
        </p:spPr>
      </p:sp>
      <p:sp>
        <p:nvSpPr>
          <p:cNvPr id="16" name="Text 14"/>
          <p:cNvSpPr/>
          <p:nvPr/>
        </p:nvSpPr>
        <p:spPr>
          <a:xfrm>
            <a:off x="6199632" y="4777740"/>
            <a:ext cx="2606040" cy="365760"/>
          </a:xfrm>
          <a:prstGeom prst="rect">
            <a:avLst/>
          </a:prstGeom>
          <a:noFill/>
          <a:ln/>
        </p:spPr>
        <p:txBody>
          <a:bodyPr wrap="square" lIns="0" tIns="0" rIns="0" bIns="0" rtlCol="0" anchor="ctr"/>
          <a:lstStyle/>
          <a:p>
            <a:pPr algn="ctr" indent="0" marL="0">
              <a:buNone/>
            </a:pPr>
            <a:r>
              <a:rPr lang="en-US" sz="1300" b="1" dirty="0">
                <a:solidFill>
                  <a:srgbClr val="5B6B7B"/>
                </a:solidFill>
                <a:latin typeface="Arial" pitchFamily="34" charset="0"/>
                <a:ea typeface="Arial" pitchFamily="34" charset="-122"/>
                <a:cs typeface="Arial" pitchFamily="34" charset="-120"/>
              </a:rPr>
              <a:t>[ PHOTO ]</a:t>
            </a:r>
            <a:endParaRPr lang="en-US" sz="1300" dirty="0"/>
          </a:p>
        </p:txBody>
      </p:sp>
      <p:sp>
        <p:nvSpPr>
          <p:cNvPr id="17" name="Text 15"/>
          <p:cNvSpPr/>
          <p:nvPr/>
        </p:nvSpPr>
        <p:spPr>
          <a:xfrm>
            <a:off x="6336792" y="5143500"/>
            <a:ext cx="2331720" cy="320040"/>
          </a:xfrm>
          <a:prstGeom prst="rect">
            <a:avLst/>
          </a:prstGeom>
          <a:noFill/>
          <a:ln/>
        </p:spPr>
        <p:txBody>
          <a:bodyPr wrap="square" lIns="0" tIns="0" rIns="0" bIns="0" rtlCol="0" anchor="ctr"/>
          <a:lstStyle/>
          <a:p>
            <a:pPr algn="ctr" indent="0" marL="0">
              <a:buNone/>
            </a:pPr>
            <a:r>
              <a:rPr lang="en-US" sz="950" i="1" dirty="0">
                <a:solidFill>
                  <a:srgbClr val="5B6B7B"/>
                </a:solidFill>
                <a:latin typeface="Arial" pitchFamily="34" charset="0"/>
                <a:ea typeface="Arial" pitchFamily="34" charset="-122"/>
                <a:cs typeface="Arial" pitchFamily="34" charset="-120"/>
              </a:rPr>
              <a:t>whiteboard architecture session</a:t>
            </a:r>
            <a:endParaRPr lang="en-US" sz="950" dirty="0"/>
          </a:p>
        </p:txBody>
      </p:sp>
      <p:sp>
        <p:nvSpPr>
          <p:cNvPr id="18" name="Shape 16"/>
          <p:cNvSpPr/>
          <p:nvPr/>
        </p:nvSpPr>
        <p:spPr>
          <a:xfrm>
            <a:off x="8942832" y="4206240"/>
            <a:ext cx="2606040" cy="1783080"/>
          </a:xfrm>
          <a:prstGeom prst="rect">
            <a:avLst/>
          </a:prstGeom>
          <a:solidFill>
            <a:srgbClr val="0A2540"/>
          </a:solidFill>
          <a:ln/>
        </p:spPr>
      </p:sp>
      <p:sp>
        <p:nvSpPr>
          <p:cNvPr id="19" name="Text 17"/>
          <p:cNvSpPr/>
          <p:nvPr/>
        </p:nvSpPr>
        <p:spPr>
          <a:xfrm>
            <a:off x="9189720" y="4572000"/>
            <a:ext cx="2148840" cy="1097280"/>
          </a:xfrm>
          <a:prstGeom prst="rect">
            <a:avLst/>
          </a:prstGeom>
          <a:noFill/>
          <a:ln/>
        </p:spPr>
        <p:txBody>
          <a:bodyPr wrap="square" lIns="0" tIns="0" rIns="0" bIns="0" rtlCol="0" anchor="ctr"/>
          <a:lstStyle/>
          <a:p>
            <a:pPr indent="0" marL="0">
              <a:lnSpc>
                <a:spcPct val="125000"/>
              </a:lnSpc>
              <a:buNone/>
            </a:pPr>
            <a:r>
              <a:rPr lang="en-US" sz="1350" b="1" dirty="0">
                <a:solidFill>
                  <a:srgbClr val="FFFFFF"/>
                </a:solidFill>
                <a:latin typeface="Arial" pitchFamily="34" charset="0"/>
                <a:ea typeface="Arial" pitchFamily="34" charset="-122"/>
                <a:cs typeface="Arial" pitchFamily="34" charset="-120"/>
              </a:rPr>
              <a:t>Every photo from a cohort we have run. No stock photos.</a:t>
            </a:r>
            <a:endParaRPr lang="en-US" sz="1350" dirty="0"/>
          </a:p>
        </p:txBody>
      </p:sp>
      <p:sp>
        <p:nvSpPr>
          <p:cNvPr id="20" name="Shape 18"/>
          <p:cNvSpPr/>
          <p:nvPr/>
        </p:nvSpPr>
        <p:spPr>
          <a:xfrm>
            <a:off x="9189720" y="4434840"/>
            <a:ext cx="457200" cy="45720"/>
          </a:xfrm>
          <a:prstGeom prst="rect">
            <a:avLst/>
          </a:prstGeom>
          <a:solidFill>
            <a:srgbClr val="00D4AA"/>
          </a:solidFill>
          <a:ln/>
        </p:spPr>
      </p:sp>
      <p:sp>
        <p:nvSpPr>
          <p:cNvPr id="21" name="Shape 19"/>
          <p:cNvSpPr/>
          <p:nvPr/>
        </p:nvSpPr>
        <p:spPr>
          <a:xfrm>
            <a:off x="640080" y="6327648"/>
            <a:ext cx="10911535" cy="0"/>
          </a:xfrm>
          <a:prstGeom prst="line">
            <a:avLst/>
          </a:prstGeom>
          <a:noFill/>
          <a:ln w="12700">
            <a:solidFill>
              <a:srgbClr val="CDD7DF"/>
            </a:solidFill>
            <a:prstDash val="solid"/>
          </a:ln>
        </p:spPr>
      </p:sp>
      <p:sp>
        <p:nvSpPr>
          <p:cNvPr id="22" name="Text 20"/>
          <p:cNvSpPr/>
          <p:nvPr/>
        </p:nvSpPr>
        <p:spPr>
          <a:xfrm>
            <a:off x="640080" y="6400800"/>
            <a:ext cx="6400800" cy="274320"/>
          </a:xfrm>
          <a:prstGeom prst="rect">
            <a:avLst/>
          </a:prstGeom>
          <a:noFill/>
          <a:ln/>
        </p:spPr>
        <p:txBody>
          <a:bodyPr wrap="square" lIns="0" tIns="0" rIns="0" bIns="0" rtlCol="0" anchor="ctr"/>
          <a:lstStyle/>
          <a:p>
            <a:pPr indent="0" marL="0">
              <a:buNone/>
            </a:pPr>
            <a:r>
              <a:rPr lang="en-US" sz="1000" b="1" spc="200" kern="0" dirty="0">
                <a:solidFill>
                  <a:srgbClr val="5B6B7B"/>
                </a:solidFill>
                <a:latin typeface="Arial" pitchFamily="34" charset="0"/>
                <a:ea typeface="Arial" pitchFamily="34" charset="-122"/>
                <a:cs typeface="Arial" pitchFamily="34" charset="-120"/>
              </a:rPr>
              <a:t>BuildAI  /  On the Ground</a:t>
            </a:r>
            <a:endParaRPr lang="en-US" sz="1000" dirty="0"/>
          </a:p>
        </p:txBody>
      </p:sp>
      <p:sp>
        <p:nvSpPr>
          <p:cNvPr id="23" name="Shape 21"/>
          <p:cNvSpPr/>
          <p:nvPr/>
        </p:nvSpPr>
        <p:spPr>
          <a:xfrm>
            <a:off x="10725912" y="6391656"/>
            <a:ext cx="822960" cy="310896"/>
          </a:xfrm>
          <a:prstGeom prst="rect">
            <a:avLst/>
          </a:prstGeom>
          <a:solidFill>
            <a:srgbClr val="0A2540"/>
          </a:solidFill>
          <a:ln/>
        </p:spPr>
      </p:sp>
      <p:sp>
        <p:nvSpPr>
          <p:cNvPr id="24" name="Text 22"/>
          <p:cNvSpPr/>
          <p:nvPr/>
        </p:nvSpPr>
        <p:spPr>
          <a:xfrm>
            <a:off x="10725912" y="6391656"/>
            <a:ext cx="8229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05 / 21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8229600" cy="292608"/>
          </a:xfrm>
          <a:prstGeom prst="rect">
            <a:avLst/>
          </a:prstGeom>
          <a:noFill/>
          <a:ln/>
        </p:spPr>
        <p:txBody>
          <a:bodyPr wrap="square" lIns="0" tIns="0" rIns="0" bIns="0" rtlCol="0" anchor="ctr"/>
          <a:lstStyle/>
          <a:p>
            <a:pPr indent="0" marL="0">
              <a:buNone/>
            </a:pPr>
            <a:r>
              <a:rPr lang="en-US" sz="1100" b="1" spc="300" kern="0" dirty="0">
                <a:solidFill>
                  <a:srgbClr val="0A8F77"/>
                </a:solidFill>
                <a:latin typeface="Arial" pitchFamily="34" charset="0"/>
                <a:ea typeface="Arial" pitchFamily="34" charset="-122"/>
                <a:cs typeface="Arial" pitchFamily="34" charset="-120"/>
              </a:rPr>
              <a:t>06 / 21</a:t>
            </a:r>
            <a:pPr indent="0" marL="0">
              <a:buNone/>
            </a:pPr>
            <a:r>
              <a:rPr lang="en-US" sz="1100" b="1" spc="300" kern="0" dirty="0">
                <a:solidFill>
                  <a:srgbClr val="5B6B7B"/>
                </a:solidFill>
                <a:latin typeface="Arial" pitchFamily="34" charset="0"/>
                <a:ea typeface="Arial" pitchFamily="34" charset="-122"/>
                <a:cs typeface="Arial" pitchFamily="34" charset="-120"/>
              </a:rPr>
              <a:t>   THE PROGRAMME</a:t>
            </a:r>
            <a:endParaRPr lang="en-US" sz="1100" dirty="0"/>
          </a:p>
        </p:txBody>
      </p:sp>
      <p:sp>
        <p:nvSpPr>
          <p:cNvPr id="3" name="Shape 1"/>
          <p:cNvSpPr/>
          <p:nvPr/>
        </p:nvSpPr>
        <p:spPr>
          <a:xfrm>
            <a:off x="8229600" y="868680"/>
            <a:ext cx="3319272" cy="2286000"/>
          </a:xfrm>
          <a:prstGeom prst="rect">
            <a:avLst/>
          </a:prstGeom>
          <a:solidFill>
            <a:srgbClr val="0A2540"/>
          </a:solidFill>
          <a:ln/>
        </p:spPr>
      </p:sp>
      <p:sp>
        <p:nvSpPr>
          <p:cNvPr id="4" name="Text 2"/>
          <p:cNvSpPr/>
          <p:nvPr/>
        </p:nvSpPr>
        <p:spPr>
          <a:xfrm>
            <a:off x="8549640" y="1417320"/>
            <a:ext cx="2743200" cy="1188720"/>
          </a:xfrm>
          <a:prstGeom prst="rect">
            <a:avLst/>
          </a:prstGeom>
          <a:noFill/>
          <a:ln/>
        </p:spPr>
        <p:txBody>
          <a:bodyPr wrap="square" lIns="0" tIns="0" rIns="0" bIns="0" rtlCol="0" anchor="ctr"/>
          <a:lstStyle/>
          <a:p>
            <a:pPr indent="0" marL="0">
              <a:buNone/>
            </a:pPr>
            <a:r>
              <a:rPr lang="en-US" sz="2600" b="1" dirty="0">
                <a:solidFill>
                  <a:srgbClr val="00D4AA"/>
                </a:solidFill>
                <a:latin typeface="Arial" pitchFamily="34" charset="0"/>
                <a:ea typeface="Arial" pitchFamily="34" charset="-122"/>
                <a:cs typeface="Arial" pitchFamily="34" charset="-120"/>
              </a:rPr>
              <a:t>Earned,</a:t>
            </a:r>
            <a:endParaRPr lang="en-US" sz="2600" dirty="0"/>
          </a:p>
          <a:p>
            <a:pPr indent="0" marL="0">
              <a:buNone/>
            </a:pPr>
            <a:r>
              <a:rPr lang="en-US" sz="2600" b="1" dirty="0">
                <a:solidFill>
                  <a:srgbClr val="00D4AA"/>
                </a:solidFill>
                <a:latin typeface="Arial" pitchFamily="34" charset="0"/>
                <a:ea typeface="Arial" pitchFamily="34" charset="-122"/>
                <a:cs typeface="Arial" pitchFamily="34" charset="-120"/>
              </a:rPr>
              <a:t>not granted.</a:t>
            </a:r>
            <a:endParaRPr lang="en-US" sz="2600" dirty="0"/>
          </a:p>
        </p:txBody>
      </p:sp>
      <p:sp>
        <p:nvSpPr>
          <p:cNvPr id="5" name="Text 3"/>
          <p:cNvSpPr/>
          <p:nvPr/>
        </p:nvSpPr>
        <p:spPr>
          <a:xfrm>
            <a:off x="8549640" y="1078992"/>
            <a:ext cx="2286000" cy="274320"/>
          </a:xfrm>
          <a:prstGeom prst="rect">
            <a:avLst/>
          </a:prstGeom>
          <a:noFill/>
          <a:ln/>
        </p:spPr>
        <p:txBody>
          <a:bodyPr wrap="square" lIns="0" tIns="0" rIns="0" bIns="0" rtlCol="0" anchor="ctr"/>
          <a:lstStyle/>
          <a:p>
            <a:pPr indent="0" marL="0">
              <a:buNone/>
            </a:pPr>
            <a:r>
              <a:rPr lang="en-US" sz="1100" b="1" spc="300" kern="0" dirty="0">
                <a:solidFill>
                  <a:srgbClr val="BFD3E0"/>
                </a:solidFill>
                <a:latin typeface="Arial" pitchFamily="34" charset="0"/>
                <a:ea typeface="Arial" pitchFamily="34" charset="-122"/>
                <a:cs typeface="Arial" pitchFamily="34" charset="-120"/>
              </a:rPr>
              <a:t>COHORT 01</a:t>
            </a:r>
            <a:endParaRPr lang="en-US" sz="1100" dirty="0"/>
          </a:p>
        </p:txBody>
      </p:sp>
      <p:sp>
        <p:nvSpPr>
          <p:cNvPr id="6" name="Text 4"/>
          <p:cNvSpPr/>
          <p:nvPr/>
        </p:nvSpPr>
        <p:spPr>
          <a:xfrm>
            <a:off x="640080" y="960120"/>
            <a:ext cx="7498080" cy="1737360"/>
          </a:xfrm>
          <a:prstGeom prst="rect">
            <a:avLst/>
          </a:prstGeom>
          <a:noFill/>
          <a:ln/>
        </p:spPr>
        <p:txBody>
          <a:bodyPr wrap="square" lIns="0" tIns="0" rIns="0" bIns="0" rtlCol="0" anchor="ctr"/>
          <a:lstStyle/>
          <a:p>
            <a:pPr indent="0" marL="0">
              <a:lnSpc>
                <a:spcPct val="105000"/>
              </a:lnSpc>
              <a:buNone/>
            </a:pPr>
            <a:r>
              <a:rPr lang="en-US" sz="4100" b="1" dirty="0">
                <a:solidFill>
                  <a:srgbClr val="10202E"/>
                </a:solidFill>
                <a:latin typeface="Arial" pitchFamily="34" charset="0"/>
                <a:ea typeface="Arial" pitchFamily="34" charset="-122"/>
                <a:cs typeface="Arial" pitchFamily="34" charset="-120"/>
              </a:rPr>
              <a:t>A 13-week </a:t>
            </a:r>
            <a:pPr indent="0" marL="0">
              <a:lnSpc>
                <a:spcPct val="105000"/>
              </a:lnSpc>
              <a:buNone/>
            </a:pPr>
            <a:r>
              <a:rPr lang="en-US" sz="4100" b="1" dirty="0">
                <a:solidFill>
                  <a:srgbClr val="0A8F77"/>
                </a:solidFill>
                <a:latin typeface="Arial" pitchFamily="34" charset="0"/>
                <a:ea typeface="Arial" pitchFamily="34" charset="-122"/>
                <a:cs typeface="Arial" pitchFamily="34" charset="-120"/>
              </a:rPr>
              <a:t>apprenticeship.</a:t>
            </a:r>
            <a:endParaRPr lang="en-US" sz="4100" dirty="0"/>
          </a:p>
          <a:p>
            <a:pPr indent="0" marL="0">
              <a:lnSpc>
                <a:spcPct val="105000"/>
              </a:lnSpc>
              <a:buNone/>
            </a:pPr>
            <a:r>
              <a:rPr lang="en-US" sz="4100" b="1" dirty="0">
                <a:solidFill>
                  <a:srgbClr val="10202E"/>
                </a:solidFill>
                <a:latin typeface="Arial" pitchFamily="34" charset="0"/>
                <a:ea typeface="Arial" pitchFamily="34" charset="-122"/>
                <a:cs typeface="Arial" pitchFamily="34" charset="-120"/>
              </a:rPr>
              <a:t>Not a course.</a:t>
            </a:r>
            <a:endParaRPr lang="en-US" sz="4100" dirty="0"/>
          </a:p>
        </p:txBody>
      </p:sp>
      <p:sp>
        <p:nvSpPr>
          <p:cNvPr id="7" name="Text 5"/>
          <p:cNvSpPr/>
          <p:nvPr/>
        </p:nvSpPr>
        <p:spPr>
          <a:xfrm>
            <a:off x="640080" y="2971800"/>
            <a:ext cx="7315200" cy="777240"/>
          </a:xfrm>
          <a:prstGeom prst="rect">
            <a:avLst/>
          </a:prstGeom>
          <a:noFill/>
          <a:ln/>
        </p:spPr>
        <p:txBody>
          <a:bodyPr wrap="square" lIns="0" tIns="0" rIns="0" bIns="0" rtlCol="0" anchor="ctr"/>
          <a:lstStyle/>
          <a:p>
            <a:pPr indent="0" marL="0">
              <a:lnSpc>
                <a:spcPct val="130000"/>
              </a:lnSpc>
              <a:buNone/>
            </a:pPr>
            <a:r>
              <a:rPr lang="en-US" sz="1500" dirty="0">
                <a:solidFill>
                  <a:srgbClr val="5B6B7B"/>
                </a:solidFill>
                <a:latin typeface="Arial" pitchFamily="34" charset="0"/>
                <a:ea typeface="Arial" pitchFamily="34" charset="-122"/>
                <a:cs typeface="Arial" pitchFamily="34" charset="-120"/>
              </a:rPr>
              <a:t>Built for engineering students. Integrated with tier-2 engineering colleges.</a:t>
            </a:r>
            <a:endParaRPr lang="en-US" sz="1500" dirty="0"/>
          </a:p>
          <a:p>
            <a:pPr indent="0" marL="0">
              <a:lnSpc>
                <a:spcPct val="130000"/>
              </a:lnSpc>
              <a:buNone/>
            </a:pPr>
            <a:r>
              <a:rPr lang="en-US" sz="1500" dirty="0">
                <a:solidFill>
                  <a:srgbClr val="5B6B7B"/>
                </a:solidFill>
                <a:latin typeface="Arial" pitchFamily="34" charset="0"/>
                <a:ea typeface="Arial" pitchFamily="34" charset="-122"/>
                <a:cs typeface="Arial" pitchFamily="34" charset="-120"/>
              </a:rPr>
              <a:t>Designed around shipping, not sitting through slides.</a:t>
            </a:r>
            <a:endParaRPr lang="en-US" sz="1500" dirty="0"/>
          </a:p>
        </p:txBody>
      </p:sp>
      <p:sp>
        <p:nvSpPr>
          <p:cNvPr id="8" name="Shape 6"/>
          <p:cNvSpPr/>
          <p:nvPr/>
        </p:nvSpPr>
        <p:spPr>
          <a:xfrm>
            <a:off x="640080" y="4069080"/>
            <a:ext cx="10911535" cy="0"/>
          </a:xfrm>
          <a:prstGeom prst="line">
            <a:avLst/>
          </a:prstGeom>
          <a:noFill/>
          <a:ln w="19050">
            <a:solidFill>
              <a:srgbClr val="10202E"/>
            </a:solidFill>
            <a:prstDash val="solid"/>
          </a:ln>
        </p:spPr>
      </p:sp>
      <p:sp>
        <p:nvSpPr>
          <p:cNvPr id="9" name="Text 7"/>
          <p:cNvSpPr/>
          <p:nvPr/>
        </p:nvSpPr>
        <p:spPr>
          <a:xfrm>
            <a:off x="640080" y="4297680"/>
            <a:ext cx="2926080" cy="914400"/>
          </a:xfrm>
          <a:prstGeom prst="rect">
            <a:avLst/>
          </a:prstGeom>
          <a:noFill/>
          <a:ln/>
        </p:spPr>
        <p:txBody>
          <a:bodyPr wrap="square" lIns="0" tIns="0" rIns="0" bIns="0" rtlCol="0" anchor="ctr"/>
          <a:lstStyle/>
          <a:p>
            <a:pPr indent="0" marL="0">
              <a:buNone/>
            </a:pPr>
            <a:r>
              <a:rPr lang="en-US" sz="6000" b="1" dirty="0">
                <a:solidFill>
                  <a:srgbClr val="10202E"/>
                </a:solidFill>
                <a:latin typeface="Arial" pitchFamily="34" charset="0"/>
                <a:ea typeface="Arial" pitchFamily="34" charset="-122"/>
                <a:cs typeface="Arial" pitchFamily="34" charset="-120"/>
              </a:rPr>
              <a:t>13</a:t>
            </a:r>
            <a:endParaRPr lang="en-US" sz="6000" dirty="0"/>
          </a:p>
        </p:txBody>
      </p:sp>
      <p:sp>
        <p:nvSpPr>
          <p:cNvPr id="10" name="Text 8"/>
          <p:cNvSpPr/>
          <p:nvPr/>
        </p:nvSpPr>
        <p:spPr>
          <a:xfrm>
            <a:off x="640080" y="5257800"/>
            <a:ext cx="3108960" cy="274320"/>
          </a:xfrm>
          <a:prstGeom prst="rect">
            <a:avLst/>
          </a:prstGeom>
          <a:noFill/>
          <a:ln/>
        </p:spPr>
        <p:txBody>
          <a:bodyPr wrap="square" lIns="0" tIns="0" rIns="0" bIns="0" rtlCol="0" anchor="ctr"/>
          <a:lstStyle/>
          <a:p>
            <a:pPr indent="0" marL="0">
              <a:buNone/>
            </a:pPr>
            <a:r>
              <a:rPr lang="en-US" sz="1150" b="1" spc="300" kern="0" dirty="0">
                <a:solidFill>
                  <a:srgbClr val="10202E"/>
                </a:solidFill>
                <a:latin typeface="Arial" pitchFamily="34" charset="0"/>
                <a:ea typeface="Arial" pitchFamily="34" charset="-122"/>
                <a:cs typeface="Arial" pitchFamily="34" charset="-120"/>
              </a:rPr>
              <a:t>WEEKS</a:t>
            </a:r>
            <a:endParaRPr lang="en-US" sz="1150" dirty="0"/>
          </a:p>
        </p:txBody>
      </p:sp>
      <p:sp>
        <p:nvSpPr>
          <p:cNvPr id="11" name="Text 9"/>
          <p:cNvSpPr/>
          <p:nvPr/>
        </p:nvSpPr>
        <p:spPr>
          <a:xfrm>
            <a:off x="640080" y="5577840"/>
            <a:ext cx="3108960" cy="274320"/>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Aligned to semester windows</a:t>
            </a:r>
            <a:endParaRPr lang="en-US" sz="1150" dirty="0"/>
          </a:p>
        </p:txBody>
      </p:sp>
      <p:sp>
        <p:nvSpPr>
          <p:cNvPr id="12" name="Shape 10"/>
          <p:cNvSpPr/>
          <p:nvPr/>
        </p:nvSpPr>
        <p:spPr>
          <a:xfrm>
            <a:off x="3977640" y="4389120"/>
            <a:ext cx="0" cy="1554480"/>
          </a:xfrm>
          <a:prstGeom prst="line">
            <a:avLst/>
          </a:prstGeom>
          <a:noFill/>
          <a:ln w="12700">
            <a:solidFill>
              <a:srgbClr val="CDD7DF"/>
            </a:solidFill>
            <a:prstDash val="solid"/>
          </a:ln>
        </p:spPr>
      </p:sp>
      <p:sp>
        <p:nvSpPr>
          <p:cNvPr id="13" name="Text 11"/>
          <p:cNvSpPr/>
          <p:nvPr/>
        </p:nvSpPr>
        <p:spPr>
          <a:xfrm>
            <a:off x="4297680" y="4297680"/>
            <a:ext cx="2926080" cy="914400"/>
          </a:xfrm>
          <a:prstGeom prst="rect">
            <a:avLst/>
          </a:prstGeom>
          <a:noFill/>
          <a:ln/>
        </p:spPr>
        <p:txBody>
          <a:bodyPr wrap="square" lIns="0" tIns="0" rIns="0" bIns="0" rtlCol="0" anchor="ctr"/>
          <a:lstStyle/>
          <a:p>
            <a:pPr indent="0" marL="0">
              <a:buNone/>
            </a:pPr>
            <a:r>
              <a:rPr lang="en-US" sz="6000" b="1" dirty="0">
                <a:solidFill>
                  <a:srgbClr val="0A8F77"/>
                </a:solidFill>
                <a:latin typeface="Arial" pitchFamily="34" charset="0"/>
                <a:ea typeface="Arial" pitchFamily="34" charset="-122"/>
                <a:cs typeface="Arial" pitchFamily="34" charset="-120"/>
              </a:rPr>
              <a:t>100</a:t>
            </a:r>
            <a:endParaRPr lang="en-US" sz="6000" dirty="0"/>
          </a:p>
        </p:txBody>
      </p:sp>
      <p:sp>
        <p:nvSpPr>
          <p:cNvPr id="14" name="Text 12"/>
          <p:cNvSpPr/>
          <p:nvPr/>
        </p:nvSpPr>
        <p:spPr>
          <a:xfrm>
            <a:off x="4297680" y="5257800"/>
            <a:ext cx="3108960" cy="274320"/>
          </a:xfrm>
          <a:prstGeom prst="rect">
            <a:avLst/>
          </a:prstGeom>
          <a:noFill/>
          <a:ln/>
        </p:spPr>
        <p:txBody>
          <a:bodyPr wrap="square" lIns="0" tIns="0" rIns="0" bIns="0" rtlCol="0" anchor="ctr"/>
          <a:lstStyle/>
          <a:p>
            <a:pPr indent="0" marL="0">
              <a:buNone/>
            </a:pPr>
            <a:r>
              <a:rPr lang="en-US" sz="1150" b="1" spc="300" kern="0" dirty="0">
                <a:solidFill>
                  <a:srgbClr val="10202E"/>
                </a:solidFill>
                <a:latin typeface="Arial" pitchFamily="34" charset="0"/>
                <a:ea typeface="Arial" pitchFamily="34" charset="-122"/>
                <a:cs typeface="Arial" pitchFamily="34" charset="-120"/>
              </a:rPr>
              <a:t>STUDENTS PER COHORT</a:t>
            </a:r>
            <a:endParaRPr lang="en-US" sz="1150" dirty="0"/>
          </a:p>
        </p:txBody>
      </p:sp>
      <p:sp>
        <p:nvSpPr>
          <p:cNvPr id="15" name="Text 13"/>
          <p:cNvSpPr/>
          <p:nvPr/>
        </p:nvSpPr>
        <p:spPr>
          <a:xfrm>
            <a:off x="4297680" y="5577840"/>
            <a:ext cx="3108960" cy="274320"/>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In pods of 8–12, one mentor each</a:t>
            </a:r>
            <a:endParaRPr lang="en-US" sz="1150" dirty="0"/>
          </a:p>
        </p:txBody>
      </p:sp>
      <p:sp>
        <p:nvSpPr>
          <p:cNvPr id="16" name="Shape 14"/>
          <p:cNvSpPr/>
          <p:nvPr/>
        </p:nvSpPr>
        <p:spPr>
          <a:xfrm>
            <a:off x="7635240" y="4389120"/>
            <a:ext cx="0" cy="1554480"/>
          </a:xfrm>
          <a:prstGeom prst="line">
            <a:avLst/>
          </a:prstGeom>
          <a:noFill/>
          <a:ln w="12700">
            <a:solidFill>
              <a:srgbClr val="CDD7DF"/>
            </a:solidFill>
            <a:prstDash val="solid"/>
          </a:ln>
        </p:spPr>
      </p:sp>
      <p:sp>
        <p:nvSpPr>
          <p:cNvPr id="17" name="Text 15"/>
          <p:cNvSpPr/>
          <p:nvPr/>
        </p:nvSpPr>
        <p:spPr>
          <a:xfrm>
            <a:off x="7955280" y="4297680"/>
            <a:ext cx="2926080" cy="914400"/>
          </a:xfrm>
          <a:prstGeom prst="rect">
            <a:avLst/>
          </a:prstGeom>
          <a:noFill/>
          <a:ln/>
        </p:spPr>
        <p:txBody>
          <a:bodyPr wrap="square" lIns="0" tIns="0" rIns="0" bIns="0" rtlCol="0" anchor="ctr"/>
          <a:lstStyle/>
          <a:p>
            <a:pPr indent="0" marL="0">
              <a:buNone/>
            </a:pPr>
            <a:r>
              <a:rPr lang="en-US" sz="6000" b="1" dirty="0">
                <a:solidFill>
                  <a:srgbClr val="10202E"/>
                </a:solidFill>
                <a:latin typeface="Arial" pitchFamily="34" charset="0"/>
                <a:ea typeface="Arial" pitchFamily="34" charset="-122"/>
                <a:cs typeface="Arial" pitchFamily="34" charset="-120"/>
              </a:rPr>
              <a:t>0</a:t>
            </a:r>
            <a:endParaRPr lang="en-US" sz="6000" dirty="0"/>
          </a:p>
        </p:txBody>
      </p:sp>
      <p:sp>
        <p:nvSpPr>
          <p:cNvPr id="18" name="Text 16"/>
          <p:cNvSpPr/>
          <p:nvPr/>
        </p:nvSpPr>
        <p:spPr>
          <a:xfrm>
            <a:off x="7955280" y="5257800"/>
            <a:ext cx="3108960" cy="274320"/>
          </a:xfrm>
          <a:prstGeom prst="rect">
            <a:avLst/>
          </a:prstGeom>
          <a:noFill/>
          <a:ln/>
        </p:spPr>
        <p:txBody>
          <a:bodyPr wrap="square" lIns="0" tIns="0" rIns="0" bIns="0" rtlCol="0" anchor="ctr"/>
          <a:lstStyle/>
          <a:p>
            <a:pPr indent="0" marL="0">
              <a:buNone/>
            </a:pPr>
            <a:r>
              <a:rPr lang="en-US" sz="1150" b="1" spc="300" kern="0" dirty="0">
                <a:solidFill>
                  <a:srgbClr val="10202E"/>
                </a:solidFill>
                <a:latin typeface="Arial" pitchFamily="34" charset="0"/>
                <a:ea typeface="Arial" pitchFamily="34" charset="-122"/>
                <a:cs typeface="Arial" pitchFamily="34" charset="-120"/>
              </a:rPr>
              <a:t>LECTURES</a:t>
            </a:r>
            <a:endParaRPr lang="en-US" sz="1150" dirty="0"/>
          </a:p>
        </p:txBody>
      </p:sp>
      <p:sp>
        <p:nvSpPr>
          <p:cNvPr id="19" name="Text 17"/>
          <p:cNvSpPr/>
          <p:nvPr/>
        </p:nvSpPr>
        <p:spPr>
          <a:xfrm>
            <a:off x="7955280" y="5577840"/>
            <a:ext cx="3108960" cy="274320"/>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Students ship from week one</a:t>
            </a:r>
            <a:endParaRPr lang="en-US" sz="1150" dirty="0"/>
          </a:p>
        </p:txBody>
      </p:sp>
      <p:sp>
        <p:nvSpPr>
          <p:cNvPr id="20" name="Shape 18"/>
          <p:cNvSpPr/>
          <p:nvPr/>
        </p:nvSpPr>
        <p:spPr>
          <a:xfrm>
            <a:off x="640080" y="6327648"/>
            <a:ext cx="10911535" cy="0"/>
          </a:xfrm>
          <a:prstGeom prst="line">
            <a:avLst/>
          </a:prstGeom>
          <a:noFill/>
          <a:ln w="12700">
            <a:solidFill>
              <a:srgbClr val="CDD7DF"/>
            </a:solidFill>
            <a:prstDash val="solid"/>
          </a:ln>
        </p:spPr>
      </p:sp>
      <p:sp>
        <p:nvSpPr>
          <p:cNvPr id="21" name="Text 19"/>
          <p:cNvSpPr/>
          <p:nvPr/>
        </p:nvSpPr>
        <p:spPr>
          <a:xfrm>
            <a:off x="640080" y="6400800"/>
            <a:ext cx="6400800" cy="274320"/>
          </a:xfrm>
          <a:prstGeom prst="rect">
            <a:avLst/>
          </a:prstGeom>
          <a:noFill/>
          <a:ln/>
        </p:spPr>
        <p:txBody>
          <a:bodyPr wrap="square" lIns="0" tIns="0" rIns="0" bIns="0" rtlCol="0" anchor="ctr"/>
          <a:lstStyle/>
          <a:p>
            <a:pPr indent="0" marL="0">
              <a:buNone/>
            </a:pPr>
            <a:r>
              <a:rPr lang="en-US" sz="1000" b="1" spc="200" kern="0" dirty="0">
                <a:solidFill>
                  <a:srgbClr val="5B6B7B"/>
                </a:solidFill>
                <a:latin typeface="Arial" pitchFamily="34" charset="0"/>
                <a:ea typeface="Arial" pitchFamily="34" charset="-122"/>
                <a:cs typeface="Arial" pitchFamily="34" charset="-120"/>
              </a:rPr>
              <a:t>BuildAI  /  The Programme</a:t>
            </a:r>
            <a:endParaRPr lang="en-US" sz="1000" dirty="0"/>
          </a:p>
        </p:txBody>
      </p:sp>
      <p:sp>
        <p:nvSpPr>
          <p:cNvPr id="22" name="Shape 20"/>
          <p:cNvSpPr/>
          <p:nvPr/>
        </p:nvSpPr>
        <p:spPr>
          <a:xfrm>
            <a:off x="10725912" y="6391656"/>
            <a:ext cx="822960" cy="310896"/>
          </a:xfrm>
          <a:prstGeom prst="rect">
            <a:avLst/>
          </a:prstGeom>
          <a:solidFill>
            <a:srgbClr val="0A2540"/>
          </a:solidFill>
          <a:ln/>
        </p:spPr>
      </p:sp>
      <p:sp>
        <p:nvSpPr>
          <p:cNvPr id="23" name="Text 21"/>
          <p:cNvSpPr/>
          <p:nvPr/>
        </p:nvSpPr>
        <p:spPr>
          <a:xfrm>
            <a:off x="10725912" y="6391656"/>
            <a:ext cx="8229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06 / 21</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728655" y="0"/>
            <a:ext cx="1463040" cy="1463040"/>
          </a:xfrm>
          <a:prstGeom prst="rect">
            <a:avLst/>
          </a:prstGeom>
          <a:solidFill>
            <a:srgbClr val="0A2540"/>
          </a:solidFill>
          <a:ln/>
        </p:spPr>
      </p:sp>
      <p:sp>
        <p:nvSpPr>
          <p:cNvPr id="3" name="Text 1"/>
          <p:cNvSpPr/>
          <p:nvPr/>
        </p:nvSpPr>
        <p:spPr>
          <a:xfrm>
            <a:off x="640080" y="347472"/>
            <a:ext cx="8229600" cy="292608"/>
          </a:xfrm>
          <a:prstGeom prst="rect">
            <a:avLst/>
          </a:prstGeom>
          <a:noFill/>
          <a:ln/>
        </p:spPr>
        <p:txBody>
          <a:bodyPr wrap="square" lIns="0" tIns="0" rIns="0" bIns="0" rtlCol="0" anchor="ctr"/>
          <a:lstStyle/>
          <a:p>
            <a:pPr indent="0" marL="0">
              <a:buNone/>
            </a:pPr>
            <a:r>
              <a:rPr lang="en-US" sz="1100" b="1" spc="300" kern="0" dirty="0">
                <a:solidFill>
                  <a:srgbClr val="0A8F77"/>
                </a:solidFill>
                <a:latin typeface="Arial" pitchFamily="34" charset="0"/>
                <a:ea typeface="Arial" pitchFamily="34" charset="-122"/>
                <a:cs typeface="Arial" pitchFamily="34" charset="-120"/>
              </a:rPr>
              <a:t>07 / 21</a:t>
            </a:r>
            <a:pPr indent="0" marL="0">
              <a:buNone/>
            </a:pPr>
            <a:r>
              <a:rPr lang="en-US" sz="1100" b="1" spc="300" kern="0" dirty="0">
                <a:solidFill>
                  <a:srgbClr val="5B6B7B"/>
                </a:solidFill>
                <a:latin typeface="Arial" pitchFamily="34" charset="0"/>
                <a:ea typeface="Arial" pitchFamily="34" charset="-122"/>
                <a:cs typeface="Arial" pitchFamily="34" charset="-120"/>
              </a:rPr>
              <a:t>   HOW IT WORKS</a:t>
            </a:r>
            <a:endParaRPr lang="en-US" sz="1100" dirty="0"/>
          </a:p>
        </p:txBody>
      </p:sp>
      <p:sp>
        <p:nvSpPr>
          <p:cNvPr id="4" name="Text 2"/>
          <p:cNvSpPr/>
          <p:nvPr/>
        </p:nvSpPr>
        <p:spPr>
          <a:xfrm>
            <a:off x="621792" y="841248"/>
            <a:ext cx="10241280" cy="1371600"/>
          </a:xfrm>
          <a:prstGeom prst="rect">
            <a:avLst/>
          </a:prstGeom>
          <a:noFill/>
          <a:ln/>
        </p:spPr>
        <p:txBody>
          <a:bodyPr wrap="square" lIns="0" tIns="0" rIns="0" bIns="0" rtlCol="0" anchor="ctr"/>
          <a:lstStyle/>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A week inside BuildAI looks</a:t>
            </a:r>
            <a:endParaRPr lang="en-US" sz="3300" dirty="0"/>
          </a:p>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like a week inside an AI startup.</a:t>
            </a:r>
            <a:endParaRPr lang="en-US" sz="3300" dirty="0"/>
          </a:p>
        </p:txBody>
      </p:sp>
      <p:sp>
        <p:nvSpPr>
          <p:cNvPr id="5" name="Shape 3"/>
          <p:cNvSpPr/>
          <p:nvPr/>
        </p:nvSpPr>
        <p:spPr>
          <a:xfrm>
            <a:off x="640080" y="2377440"/>
            <a:ext cx="10911535" cy="0"/>
          </a:xfrm>
          <a:prstGeom prst="line">
            <a:avLst/>
          </a:prstGeom>
          <a:noFill/>
          <a:ln w="19050">
            <a:solidFill>
              <a:srgbClr val="10202E"/>
            </a:solidFill>
            <a:prstDash val="solid"/>
          </a:ln>
        </p:spPr>
      </p:sp>
      <p:sp>
        <p:nvSpPr>
          <p:cNvPr id="6" name="Text 4"/>
          <p:cNvSpPr/>
          <p:nvPr/>
        </p:nvSpPr>
        <p:spPr>
          <a:xfrm>
            <a:off x="640080" y="2615184"/>
            <a:ext cx="1828800" cy="320040"/>
          </a:xfrm>
          <a:prstGeom prst="rect">
            <a:avLst/>
          </a:prstGeom>
          <a:noFill/>
          <a:ln/>
        </p:spPr>
        <p:txBody>
          <a:bodyPr wrap="square" lIns="0" tIns="0" rIns="0" bIns="0" rtlCol="0" anchor="ctr"/>
          <a:lstStyle/>
          <a:p>
            <a:pPr indent="0" marL="0">
              <a:buNone/>
            </a:pPr>
            <a:r>
              <a:rPr lang="en-US" sz="1400" b="1" spc="200" kern="0" dirty="0">
                <a:solidFill>
                  <a:srgbClr val="0A8F77"/>
                </a:solidFill>
                <a:latin typeface="Arial" pitchFamily="34" charset="0"/>
                <a:ea typeface="Arial" pitchFamily="34" charset="-122"/>
                <a:cs typeface="Arial" pitchFamily="34" charset="-120"/>
              </a:rPr>
              <a:t>MON</a:t>
            </a:r>
            <a:endParaRPr lang="en-US" sz="1400" dirty="0"/>
          </a:p>
        </p:txBody>
      </p:sp>
      <p:sp>
        <p:nvSpPr>
          <p:cNvPr id="7" name="Text 5"/>
          <p:cNvSpPr/>
          <p:nvPr/>
        </p:nvSpPr>
        <p:spPr>
          <a:xfrm>
            <a:off x="2697480" y="2578608"/>
            <a:ext cx="3383280" cy="365760"/>
          </a:xfrm>
          <a:prstGeom prst="rect">
            <a:avLst/>
          </a:prstGeom>
          <a:noFill/>
          <a:ln/>
        </p:spPr>
        <p:txBody>
          <a:bodyPr wrap="square" lIns="0" tIns="0" rIns="0" bIns="0" rtlCol="0" anchor="ctr"/>
          <a:lstStyle/>
          <a:p>
            <a:pPr indent="0" marL="0">
              <a:buNone/>
            </a:pPr>
            <a:r>
              <a:rPr lang="en-US" sz="1700" b="1" dirty="0">
                <a:solidFill>
                  <a:srgbClr val="10202E"/>
                </a:solidFill>
                <a:latin typeface="Arial" pitchFamily="34" charset="0"/>
                <a:ea typeface="Arial" pitchFamily="34" charset="-122"/>
                <a:cs typeface="Arial" pitchFamily="34" charset="-120"/>
              </a:rPr>
              <a:t>Sprint Kickoff</a:t>
            </a:r>
            <a:endParaRPr lang="en-US" sz="1700" dirty="0"/>
          </a:p>
        </p:txBody>
      </p:sp>
      <p:sp>
        <p:nvSpPr>
          <p:cNvPr id="8" name="Text 6"/>
          <p:cNvSpPr/>
          <p:nvPr/>
        </p:nvSpPr>
        <p:spPr>
          <a:xfrm>
            <a:off x="6263640" y="2615184"/>
            <a:ext cx="5257800" cy="365760"/>
          </a:xfrm>
          <a:prstGeom prst="rect">
            <a:avLst/>
          </a:prstGeom>
          <a:noFill/>
          <a:ln/>
        </p:spPr>
        <p:txBody>
          <a:bodyPr wrap="square" lIns="0" tIns="0" rIns="0" bIns="0" rtlCol="0" anchor="ctr"/>
          <a:lstStyle/>
          <a:p>
            <a:pPr indent="0" marL="0">
              <a:buNone/>
            </a:pPr>
            <a:r>
              <a:rPr lang="en-US" sz="1300" dirty="0">
                <a:solidFill>
                  <a:srgbClr val="5B6B7B"/>
                </a:solidFill>
                <a:latin typeface="Arial" pitchFamily="34" charset="0"/>
                <a:ea typeface="Arial" pitchFamily="34" charset="-122"/>
                <a:cs typeface="Arial" pitchFamily="34" charset="-120"/>
              </a:rPr>
              <a:t>Week plan posted async. Students commit work in Linear.</a:t>
            </a:r>
            <a:endParaRPr lang="en-US" sz="1300" dirty="0"/>
          </a:p>
        </p:txBody>
      </p:sp>
      <p:sp>
        <p:nvSpPr>
          <p:cNvPr id="9" name="Shape 7"/>
          <p:cNvSpPr/>
          <p:nvPr/>
        </p:nvSpPr>
        <p:spPr>
          <a:xfrm>
            <a:off x="640080" y="3127248"/>
            <a:ext cx="10911535" cy="0"/>
          </a:xfrm>
          <a:prstGeom prst="line">
            <a:avLst/>
          </a:prstGeom>
          <a:noFill/>
          <a:ln w="12700">
            <a:solidFill>
              <a:srgbClr val="CDD7DF"/>
            </a:solidFill>
            <a:prstDash val="solid"/>
          </a:ln>
        </p:spPr>
      </p:sp>
      <p:sp>
        <p:nvSpPr>
          <p:cNvPr id="10" name="Text 8"/>
          <p:cNvSpPr/>
          <p:nvPr/>
        </p:nvSpPr>
        <p:spPr>
          <a:xfrm>
            <a:off x="640080" y="3364992"/>
            <a:ext cx="1828800" cy="320040"/>
          </a:xfrm>
          <a:prstGeom prst="rect">
            <a:avLst/>
          </a:prstGeom>
          <a:noFill/>
          <a:ln/>
        </p:spPr>
        <p:txBody>
          <a:bodyPr wrap="square" lIns="0" tIns="0" rIns="0" bIns="0" rtlCol="0" anchor="ctr"/>
          <a:lstStyle/>
          <a:p>
            <a:pPr indent="0" marL="0">
              <a:buNone/>
            </a:pPr>
            <a:r>
              <a:rPr lang="en-US" sz="1400" b="1" spc="200" kern="0" dirty="0">
                <a:solidFill>
                  <a:srgbClr val="0A8F77"/>
                </a:solidFill>
                <a:latin typeface="Arial" pitchFamily="34" charset="0"/>
                <a:ea typeface="Arial" pitchFamily="34" charset="-122"/>
                <a:cs typeface="Arial" pitchFamily="34" charset="-120"/>
              </a:rPr>
              <a:t>TUE — THU</a:t>
            </a:r>
            <a:endParaRPr lang="en-US" sz="1400" dirty="0"/>
          </a:p>
        </p:txBody>
      </p:sp>
      <p:sp>
        <p:nvSpPr>
          <p:cNvPr id="11" name="Text 9"/>
          <p:cNvSpPr/>
          <p:nvPr/>
        </p:nvSpPr>
        <p:spPr>
          <a:xfrm>
            <a:off x="2697480" y="3328416"/>
            <a:ext cx="3383280" cy="365760"/>
          </a:xfrm>
          <a:prstGeom prst="rect">
            <a:avLst/>
          </a:prstGeom>
          <a:noFill/>
          <a:ln/>
        </p:spPr>
        <p:txBody>
          <a:bodyPr wrap="square" lIns="0" tIns="0" rIns="0" bIns="0" rtlCol="0" anchor="ctr"/>
          <a:lstStyle/>
          <a:p>
            <a:pPr indent="0" marL="0">
              <a:buNone/>
            </a:pPr>
            <a:r>
              <a:rPr lang="en-US" sz="1700" b="1" dirty="0">
                <a:solidFill>
                  <a:srgbClr val="10202E"/>
                </a:solidFill>
                <a:latin typeface="Arial" pitchFamily="34" charset="0"/>
                <a:ea typeface="Arial" pitchFamily="34" charset="-122"/>
                <a:cs typeface="Arial" pitchFamily="34" charset="-120"/>
              </a:rPr>
              <a:t>Build Days</a:t>
            </a:r>
            <a:endParaRPr lang="en-US" sz="1700" dirty="0"/>
          </a:p>
        </p:txBody>
      </p:sp>
      <p:sp>
        <p:nvSpPr>
          <p:cNvPr id="12" name="Text 10"/>
          <p:cNvSpPr/>
          <p:nvPr/>
        </p:nvSpPr>
        <p:spPr>
          <a:xfrm>
            <a:off x="6263640" y="3364992"/>
            <a:ext cx="5257800" cy="365760"/>
          </a:xfrm>
          <a:prstGeom prst="rect">
            <a:avLst/>
          </a:prstGeom>
          <a:noFill/>
          <a:ln/>
        </p:spPr>
        <p:txBody>
          <a:bodyPr wrap="square" lIns="0" tIns="0" rIns="0" bIns="0" rtlCol="0" anchor="ctr"/>
          <a:lstStyle/>
          <a:p>
            <a:pPr indent="0" marL="0">
              <a:buNone/>
            </a:pPr>
            <a:r>
              <a:rPr lang="en-US" sz="1300" dirty="0">
                <a:solidFill>
                  <a:srgbClr val="5B6B7B"/>
                </a:solidFill>
                <a:latin typeface="Arial" pitchFamily="34" charset="0"/>
                <a:ea typeface="Arial" pitchFamily="34" charset="-122"/>
                <a:cs typeface="Arial" pitchFamily="34" charset="-120"/>
              </a:rPr>
              <a:t>AI-assisted implementation. PRs opened. Peer code reviews.</a:t>
            </a:r>
            <a:endParaRPr lang="en-US" sz="1300" dirty="0"/>
          </a:p>
        </p:txBody>
      </p:sp>
      <p:sp>
        <p:nvSpPr>
          <p:cNvPr id="13" name="Shape 11"/>
          <p:cNvSpPr/>
          <p:nvPr/>
        </p:nvSpPr>
        <p:spPr>
          <a:xfrm>
            <a:off x="640080" y="3877056"/>
            <a:ext cx="10911535" cy="0"/>
          </a:xfrm>
          <a:prstGeom prst="line">
            <a:avLst/>
          </a:prstGeom>
          <a:noFill/>
          <a:ln w="12700">
            <a:solidFill>
              <a:srgbClr val="CDD7DF"/>
            </a:solidFill>
            <a:prstDash val="solid"/>
          </a:ln>
        </p:spPr>
      </p:sp>
      <p:sp>
        <p:nvSpPr>
          <p:cNvPr id="14" name="Text 12"/>
          <p:cNvSpPr/>
          <p:nvPr/>
        </p:nvSpPr>
        <p:spPr>
          <a:xfrm>
            <a:off x="640080" y="4114800"/>
            <a:ext cx="1828800" cy="320040"/>
          </a:xfrm>
          <a:prstGeom prst="rect">
            <a:avLst/>
          </a:prstGeom>
          <a:noFill/>
          <a:ln/>
        </p:spPr>
        <p:txBody>
          <a:bodyPr wrap="square" lIns="0" tIns="0" rIns="0" bIns="0" rtlCol="0" anchor="ctr"/>
          <a:lstStyle/>
          <a:p>
            <a:pPr indent="0" marL="0">
              <a:buNone/>
            </a:pPr>
            <a:r>
              <a:rPr lang="en-US" sz="1400" b="1" spc="200" kern="0" dirty="0">
                <a:solidFill>
                  <a:srgbClr val="0A8F77"/>
                </a:solidFill>
                <a:latin typeface="Arial" pitchFamily="34" charset="0"/>
                <a:ea typeface="Arial" pitchFamily="34" charset="-122"/>
                <a:cs typeface="Arial" pitchFamily="34" charset="-120"/>
              </a:rPr>
              <a:t>FRI</a:t>
            </a:r>
            <a:endParaRPr lang="en-US" sz="1400" dirty="0"/>
          </a:p>
        </p:txBody>
      </p:sp>
      <p:sp>
        <p:nvSpPr>
          <p:cNvPr id="15" name="Text 13"/>
          <p:cNvSpPr/>
          <p:nvPr/>
        </p:nvSpPr>
        <p:spPr>
          <a:xfrm>
            <a:off x="2697480" y="4078224"/>
            <a:ext cx="3383280" cy="365760"/>
          </a:xfrm>
          <a:prstGeom prst="rect">
            <a:avLst/>
          </a:prstGeom>
          <a:noFill/>
          <a:ln/>
        </p:spPr>
        <p:txBody>
          <a:bodyPr wrap="square" lIns="0" tIns="0" rIns="0" bIns="0" rtlCol="0" anchor="ctr"/>
          <a:lstStyle/>
          <a:p>
            <a:pPr indent="0" marL="0">
              <a:buNone/>
            </a:pPr>
            <a:r>
              <a:rPr lang="en-US" sz="1700" b="1" dirty="0">
                <a:solidFill>
                  <a:srgbClr val="10202E"/>
                </a:solidFill>
                <a:latin typeface="Arial" pitchFamily="34" charset="0"/>
                <a:ea typeface="Arial" pitchFamily="34" charset="-122"/>
                <a:cs typeface="Arial" pitchFamily="34" charset="-120"/>
              </a:rPr>
              <a:t>Demo Day</a:t>
            </a:r>
            <a:endParaRPr lang="en-US" sz="1700" dirty="0"/>
          </a:p>
        </p:txBody>
      </p:sp>
      <p:sp>
        <p:nvSpPr>
          <p:cNvPr id="16" name="Text 14"/>
          <p:cNvSpPr/>
          <p:nvPr/>
        </p:nvSpPr>
        <p:spPr>
          <a:xfrm>
            <a:off x="6263640" y="4114800"/>
            <a:ext cx="5257800" cy="365760"/>
          </a:xfrm>
          <a:prstGeom prst="rect">
            <a:avLst/>
          </a:prstGeom>
          <a:noFill/>
          <a:ln/>
        </p:spPr>
        <p:txBody>
          <a:bodyPr wrap="square" lIns="0" tIns="0" rIns="0" bIns="0" rtlCol="0" anchor="ctr"/>
          <a:lstStyle/>
          <a:p>
            <a:pPr indent="0" marL="0">
              <a:buNone/>
            </a:pPr>
            <a:r>
              <a:rPr lang="en-US" sz="1300" dirty="0">
                <a:solidFill>
                  <a:srgbClr val="5B6B7B"/>
                </a:solidFill>
                <a:latin typeface="Arial" pitchFamily="34" charset="0"/>
                <a:ea typeface="Arial" pitchFamily="34" charset="-122"/>
                <a:cs typeface="Arial" pitchFamily="34" charset="-120"/>
              </a:rPr>
              <a:t>Async video demo from every student. Public archive.</a:t>
            </a:r>
            <a:endParaRPr lang="en-US" sz="1300" dirty="0"/>
          </a:p>
        </p:txBody>
      </p:sp>
      <p:sp>
        <p:nvSpPr>
          <p:cNvPr id="17" name="Shape 15"/>
          <p:cNvSpPr/>
          <p:nvPr/>
        </p:nvSpPr>
        <p:spPr>
          <a:xfrm>
            <a:off x="640080" y="4626864"/>
            <a:ext cx="10911535" cy="0"/>
          </a:xfrm>
          <a:prstGeom prst="line">
            <a:avLst/>
          </a:prstGeom>
          <a:noFill/>
          <a:ln w="12700">
            <a:solidFill>
              <a:srgbClr val="CDD7DF"/>
            </a:solidFill>
            <a:prstDash val="solid"/>
          </a:ln>
        </p:spPr>
      </p:sp>
      <p:sp>
        <p:nvSpPr>
          <p:cNvPr id="18" name="Text 16"/>
          <p:cNvSpPr/>
          <p:nvPr/>
        </p:nvSpPr>
        <p:spPr>
          <a:xfrm>
            <a:off x="640080" y="4864608"/>
            <a:ext cx="1828800" cy="320040"/>
          </a:xfrm>
          <a:prstGeom prst="rect">
            <a:avLst/>
          </a:prstGeom>
          <a:noFill/>
          <a:ln/>
        </p:spPr>
        <p:txBody>
          <a:bodyPr wrap="square" lIns="0" tIns="0" rIns="0" bIns="0" rtlCol="0" anchor="ctr"/>
          <a:lstStyle/>
          <a:p>
            <a:pPr indent="0" marL="0">
              <a:buNone/>
            </a:pPr>
            <a:r>
              <a:rPr lang="en-US" sz="1400" b="1" spc="200" kern="0" dirty="0">
                <a:solidFill>
                  <a:srgbClr val="0A8F77"/>
                </a:solidFill>
                <a:latin typeface="Arial" pitchFamily="34" charset="0"/>
                <a:ea typeface="Arial" pitchFamily="34" charset="-122"/>
                <a:cs typeface="Arial" pitchFamily="34" charset="-120"/>
              </a:rPr>
              <a:t>SAT</a:t>
            </a:r>
            <a:endParaRPr lang="en-US" sz="1400" dirty="0"/>
          </a:p>
        </p:txBody>
      </p:sp>
      <p:sp>
        <p:nvSpPr>
          <p:cNvPr id="19" name="Text 17"/>
          <p:cNvSpPr/>
          <p:nvPr/>
        </p:nvSpPr>
        <p:spPr>
          <a:xfrm>
            <a:off x="2697480" y="4828032"/>
            <a:ext cx="3383280" cy="365760"/>
          </a:xfrm>
          <a:prstGeom prst="rect">
            <a:avLst/>
          </a:prstGeom>
          <a:noFill/>
          <a:ln/>
        </p:spPr>
        <p:txBody>
          <a:bodyPr wrap="square" lIns="0" tIns="0" rIns="0" bIns="0" rtlCol="0" anchor="ctr"/>
          <a:lstStyle/>
          <a:p>
            <a:pPr indent="0" marL="0">
              <a:buNone/>
            </a:pPr>
            <a:r>
              <a:rPr lang="en-US" sz="1700" b="1" dirty="0">
                <a:solidFill>
                  <a:srgbClr val="10202E"/>
                </a:solidFill>
                <a:latin typeface="Arial" pitchFamily="34" charset="0"/>
                <a:ea typeface="Arial" pitchFamily="34" charset="-122"/>
                <a:cs typeface="Arial" pitchFamily="34" charset="-120"/>
              </a:rPr>
              <a:t>Live Mentor Session</a:t>
            </a:r>
            <a:endParaRPr lang="en-US" sz="1700" dirty="0"/>
          </a:p>
        </p:txBody>
      </p:sp>
      <p:sp>
        <p:nvSpPr>
          <p:cNvPr id="20" name="Text 18"/>
          <p:cNvSpPr/>
          <p:nvPr/>
        </p:nvSpPr>
        <p:spPr>
          <a:xfrm>
            <a:off x="6263640" y="4864608"/>
            <a:ext cx="5257800" cy="365760"/>
          </a:xfrm>
          <a:prstGeom prst="rect">
            <a:avLst/>
          </a:prstGeom>
          <a:noFill/>
          <a:ln/>
        </p:spPr>
        <p:txBody>
          <a:bodyPr wrap="square" lIns="0" tIns="0" rIns="0" bIns="0" rtlCol="0" anchor="ctr"/>
          <a:lstStyle/>
          <a:p>
            <a:pPr indent="0" marL="0">
              <a:buNone/>
            </a:pPr>
            <a:r>
              <a:rPr lang="en-US" sz="1300" dirty="0">
                <a:solidFill>
                  <a:srgbClr val="5B6B7B"/>
                </a:solidFill>
                <a:latin typeface="Arial" pitchFamily="34" charset="0"/>
                <a:ea typeface="Arial" pitchFamily="34" charset="-122"/>
                <a:cs typeface="Arial" pitchFamily="34" charset="-120"/>
              </a:rPr>
              <a:t>90-min architecture review, debugging, Q&amp;A.</a:t>
            </a:r>
            <a:endParaRPr lang="en-US" sz="1300" dirty="0"/>
          </a:p>
        </p:txBody>
      </p:sp>
      <p:sp>
        <p:nvSpPr>
          <p:cNvPr id="21" name="Shape 19"/>
          <p:cNvSpPr/>
          <p:nvPr/>
        </p:nvSpPr>
        <p:spPr>
          <a:xfrm>
            <a:off x="640080" y="5376672"/>
            <a:ext cx="10911535" cy="0"/>
          </a:xfrm>
          <a:prstGeom prst="line">
            <a:avLst/>
          </a:prstGeom>
          <a:noFill/>
          <a:ln w="12700">
            <a:solidFill>
              <a:srgbClr val="CDD7DF"/>
            </a:solidFill>
            <a:prstDash val="solid"/>
          </a:ln>
        </p:spPr>
      </p:sp>
      <p:sp>
        <p:nvSpPr>
          <p:cNvPr id="22" name="Text 20"/>
          <p:cNvSpPr/>
          <p:nvPr/>
        </p:nvSpPr>
        <p:spPr>
          <a:xfrm>
            <a:off x="640080" y="5614416"/>
            <a:ext cx="1828800" cy="320040"/>
          </a:xfrm>
          <a:prstGeom prst="rect">
            <a:avLst/>
          </a:prstGeom>
          <a:noFill/>
          <a:ln/>
        </p:spPr>
        <p:txBody>
          <a:bodyPr wrap="square" lIns="0" tIns="0" rIns="0" bIns="0" rtlCol="0" anchor="ctr"/>
          <a:lstStyle/>
          <a:p>
            <a:pPr indent="0" marL="0">
              <a:buNone/>
            </a:pPr>
            <a:r>
              <a:rPr lang="en-US" sz="1400" b="1" spc="200" kern="0" dirty="0">
                <a:solidFill>
                  <a:srgbClr val="0A8F77"/>
                </a:solidFill>
                <a:latin typeface="Arial" pitchFamily="34" charset="0"/>
                <a:ea typeface="Arial" pitchFamily="34" charset="-122"/>
                <a:cs typeface="Arial" pitchFamily="34" charset="-120"/>
              </a:rPr>
              <a:t>SUN</a:t>
            </a:r>
            <a:endParaRPr lang="en-US" sz="1400" dirty="0"/>
          </a:p>
        </p:txBody>
      </p:sp>
      <p:sp>
        <p:nvSpPr>
          <p:cNvPr id="23" name="Text 21"/>
          <p:cNvSpPr/>
          <p:nvPr/>
        </p:nvSpPr>
        <p:spPr>
          <a:xfrm>
            <a:off x="2697480" y="5577840"/>
            <a:ext cx="3383280" cy="365760"/>
          </a:xfrm>
          <a:prstGeom prst="rect">
            <a:avLst/>
          </a:prstGeom>
          <a:noFill/>
          <a:ln/>
        </p:spPr>
        <p:txBody>
          <a:bodyPr wrap="square" lIns="0" tIns="0" rIns="0" bIns="0" rtlCol="0" anchor="ctr"/>
          <a:lstStyle/>
          <a:p>
            <a:pPr indent="0" marL="0">
              <a:buNone/>
            </a:pPr>
            <a:r>
              <a:rPr lang="en-US" sz="1700" b="1" dirty="0">
                <a:solidFill>
                  <a:srgbClr val="10202E"/>
                </a:solidFill>
                <a:latin typeface="Arial" pitchFamily="34" charset="0"/>
                <a:ea typeface="Arial" pitchFamily="34" charset="-122"/>
                <a:cs typeface="Arial" pitchFamily="34" charset="-120"/>
              </a:rPr>
              <a:t>Peer Review</a:t>
            </a:r>
            <a:endParaRPr lang="en-US" sz="1700" dirty="0"/>
          </a:p>
        </p:txBody>
      </p:sp>
      <p:sp>
        <p:nvSpPr>
          <p:cNvPr id="24" name="Text 22"/>
          <p:cNvSpPr/>
          <p:nvPr/>
        </p:nvSpPr>
        <p:spPr>
          <a:xfrm>
            <a:off x="6263640" y="5614416"/>
            <a:ext cx="5257800" cy="365760"/>
          </a:xfrm>
          <a:prstGeom prst="rect">
            <a:avLst/>
          </a:prstGeom>
          <a:noFill/>
          <a:ln/>
        </p:spPr>
        <p:txBody>
          <a:bodyPr wrap="square" lIns="0" tIns="0" rIns="0" bIns="0" rtlCol="0" anchor="ctr"/>
          <a:lstStyle/>
          <a:p>
            <a:pPr indent="0" marL="0">
              <a:buNone/>
            </a:pPr>
            <a:r>
              <a:rPr lang="en-US" sz="1300" dirty="0">
                <a:solidFill>
                  <a:srgbClr val="5B6B7B"/>
                </a:solidFill>
                <a:latin typeface="Arial" pitchFamily="34" charset="0"/>
                <a:ea typeface="Arial" pitchFamily="34" charset="-122"/>
                <a:cs typeface="Arial" pitchFamily="34" charset="-120"/>
              </a:rPr>
              <a:t>Cross-pod portfolio reviews. Reading group reflections.</a:t>
            </a:r>
            <a:endParaRPr lang="en-US" sz="1300" dirty="0"/>
          </a:p>
        </p:txBody>
      </p:sp>
      <p:sp>
        <p:nvSpPr>
          <p:cNvPr id="25" name="Shape 23"/>
          <p:cNvSpPr/>
          <p:nvPr/>
        </p:nvSpPr>
        <p:spPr>
          <a:xfrm>
            <a:off x="640080" y="6327648"/>
            <a:ext cx="10911535" cy="0"/>
          </a:xfrm>
          <a:prstGeom prst="line">
            <a:avLst/>
          </a:prstGeom>
          <a:noFill/>
          <a:ln w="12700">
            <a:solidFill>
              <a:srgbClr val="CDD7DF"/>
            </a:solidFill>
            <a:prstDash val="solid"/>
          </a:ln>
        </p:spPr>
      </p:sp>
      <p:sp>
        <p:nvSpPr>
          <p:cNvPr id="26" name="Text 24"/>
          <p:cNvSpPr/>
          <p:nvPr/>
        </p:nvSpPr>
        <p:spPr>
          <a:xfrm>
            <a:off x="640080" y="6400800"/>
            <a:ext cx="6400800" cy="274320"/>
          </a:xfrm>
          <a:prstGeom prst="rect">
            <a:avLst/>
          </a:prstGeom>
          <a:noFill/>
          <a:ln/>
        </p:spPr>
        <p:txBody>
          <a:bodyPr wrap="square" lIns="0" tIns="0" rIns="0" bIns="0" rtlCol="0" anchor="ctr"/>
          <a:lstStyle/>
          <a:p>
            <a:pPr indent="0" marL="0">
              <a:buNone/>
            </a:pPr>
            <a:r>
              <a:rPr lang="en-US" sz="1000" b="1" spc="200" kern="0" dirty="0">
                <a:solidFill>
                  <a:srgbClr val="5B6B7B"/>
                </a:solidFill>
                <a:latin typeface="Arial" pitchFamily="34" charset="0"/>
                <a:ea typeface="Arial" pitchFamily="34" charset="-122"/>
                <a:cs typeface="Arial" pitchFamily="34" charset="-120"/>
              </a:rPr>
              <a:t>BuildAI  /  How It Works</a:t>
            </a:r>
            <a:endParaRPr lang="en-US" sz="1000" dirty="0"/>
          </a:p>
        </p:txBody>
      </p:sp>
      <p:sp>
        <p:nvSpPr>
          <p:cNvPr id="27" name="Shape 25"/>
          <p:cNvSpPr/>
          <p:nvPr/>
        </p:nvSpPr>
        <p:spPr>
          <a:xfrm>
            <a:off x="10725912" y="6391656"/>
            <a:ext cx="822960" cy="310896"/>
          </a:xfrm>
          <a:prstGeom prst="rect">
            <a:avLst/>
          </a:prstGeom>
          <a:solidFill>
            <a:srgbClr val="0A2540"/>
          </a:solidFill>
          <a:ln/>
        </p:spPr>
      </p:sp>
      <p:sp>
        <p:nvSpPr>
          <p:cNvPr id="28" name="Text 26"/>
          <p:cNvSpPr/>
          <p:nvPr/>
        </p:nvSpPr>
        <p:spPr>
          <a:xfrm>
            <a:off x="10725912" y="6391656"/>
            <a:ext cx="8229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07 / 21</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326880" y="0"/>
            <a:ext cx="2862072" cy="502920"/>
          </a:xfrm>
          <a:prstGeom prst="rect">
            <a:avLst/>
          </a:prstGeom>
          <a:solidFill>
            <a:srgbClr val="00D4AA"/>
          </a:solidFill>
          <a:ln/>
        </p:spPr>
      </p:sp>
      <p:sp>
        <p:nvSpPr>
          <p:cNvPr id="3" name="Text 1"/>
          <p:cNvSpPr/>
          <p:nvPr/>
        </p:nvSpPr>
        <p:spPr>
          <a:xfrm>
            <a:off x="640080" y="347472"/>
            <a:ext cx="8229600" cy="292608"/>
          </a:xfrm>
          <a:prstGeom prst="rect">
            <a:avLst/>
          </a:prstGeom>
          <a:noFill/>
          <a:ln/>
        </p:spPr>
        <p:txBody>
          <a:bodyPr wrap="square" lIns="0" tIns="0" rIns="0" bIns="0" rtlCol="0" anchor="ctr"/>
          <a:lstStyle/>
          <a:p>
            <a:pPr indent="0" marL="0">
              <a:buNone/>
            </a:pPr>
            <a:r>
              <a:rPr lang="en-US" sz="1100" b="1" spc="300" kern="0" dirty="0">
                <a:solidFill>
                  <a:srgbClr val="0A8F77"/>
                </a:solidFill>
                <a:latin typeface="Arial" pitchFamily="34" charset="0"/>
                <a:ea typeface="Arial" pitchFamily="34" charset="-122"/>
                <a:cs typeface="Arial" pitchFamily="34" charset="-120"/>
              </a:rPr>
              <a:t>08 / 21</a:t>
            </a:r>
            <a:pPr indent="0" marL="0">
              <a:buNone/>
            </a:pPr>
            <a:r>
              <a:rPr lang="en-US" sz="1100" b="1" spc="300" kern="0" dirty="0">
                <a:solidFill>
                  <a:srgbClr val="5B6B7B"/>
                </a:solidFill>
                <a:latin typeface="Arial" pitchFamily="34" charset="0"/>
                <a:ea typeface="Arial" pitchFamily="34" charset="-122"/>
                <a:cs typeface="Arial" pitchFamily="34" charset="-120"/>
              </a:rPr>
              <a:t>   DAY IN THE LIFE</a:t>
            </a:r>
            <a:endParaRPr lang="en-US" sz="1100" dirty="0"/>
          </a:p>
        </p:txBody>
      </p:sp>
      <p:sp>
        <p:nvSpPr>
          <p:cNvPr id="4" name="Text 2"/>
          <p:cNvSpPr/>
          <p:nvPr/>
        </p:nvSpPr>
        <p:spPr>
          <a:xfrm>
            <a:off x="621792" y="841248"/>
            <a:ext cx="10241280" cy="1371600"/>
          </a:xfrm>
          <a:prstGeom prst="rect">
            <a:avLst/>
          </a:prstGeom>
          <a:noFill/>
          <a:ln/>
        </p:spPr>
        <p:txBody>
          <a:bodyPr wrap="square" lIns="0" tIns="0" rIns="0" bIns="0" rtlCol="0" anchor="ctr"/>
          <a:lstStyle/>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A Wednesday in Week 6</a:t>
            </a:r>
            <a:endParaRPr lang="en-US" sz="3300" dirty="0"/>
          </a:p>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of a BuildAI cohort.</a:t>
            </a:r>
            <a:endParaRPr lang="en-US" sz="3300" dirty="0"/>
          </a:p>
        </p:txBody>
      </p:sp>
      <p:sp>
        <p:nvSpPr>
          <p:cNvPr id="5" name="Text 3"/>
          <p:cNvSpPr/>
          <p:nvPr/>
        </p:nvSpPr>
        <p:spPr>
          <a:xfrm>
            <a:off x="640080" y="2139696"/>
            <a:ext cx="10515600" cy="320040"/>
          </a:xfrm>
          <a:prstGeom prst="rect">
            <a:avLst/>
          </a:prstGeom>
          <a:noFill/>
          <a:ln/>
        </p:spPr>
        <p:txBody>
          <a:bodyPr wrap="square" lIns="0" tIns="0" rIns="0" bIns="0" rtlCol="0" anchor="ctr"/>
          <a:lstStyle/>
          <a:p>
            <a:pPr indent="0" marL="0">
              <a:buNone/>
            </a:pPr>
            <a:r>
              <a:rPr lang="en-US" sz="1350" i="1" dirty="0">
                <a:solidFill>
                  <a:srgbClr val="5B6B7B"/>
                </a:solidFill>
                <a:latin typeface="Arial" pitchFamily="34" charset="0"/>
                <a:ea typeface="Arial" pitchFamily="34" charset="-122"/>
                <a:cs typeface="Arial" pitchFamily="34" charset="-120"/>
              </a:rPr>
              <a:t>Not a class schedule. The rhythm of a working AI startup, built into every cohort day.</a:t>
            </a:r>
            <a:endParaRPr lang="en-US" sz="1350" dirty="0"/>
          </a:p>
        </p:txBody>
      </p:sp>
      <p:sp>
        <p:nvSpPr>
          <p:cNvPr id="6" name="Shape 4"/>
          <p:cNvSpPr/>
          <p:nvPr/>
        </p:nvSpPr>
        <p:spPr>
          <a:xfrm>
            <a:off x="640080" y="2606040"/>
            <a:ext cx="3529584" cy="1627632"/>
          </a:xfrm>
          <a:prstGeom prst="rect">
            <a:avLst/>
          </a:prstGeom>
          <a:solidFill>
            <a:srgbClr val="F4F8FA"/>
          </a:solidFill>
          <a:ln w="12700">
            <a:solidFill>
              <a:srgbClr val="CDD7DF"/>
            </a:solidFill>
            <a:prstDash val="solid"/>
          </a:ln>
        </p:spPr>
      </p:sp>
      <p:sp>
        <p:nvSpPr>
          <p:cNvPr id="7" name="Shape 5"/>
          <p:cNvSpPr/>
          <p:nvPr/>
        </p:nvSpPr>
        <p:spPr>
          <a:xfrm>
            <a:off x="640080" y="2606040"/>
            <a:ext cx="3529584" cy="82296"/>
          </a:xfrm>
          <a:prstGeom prst="rect">
            <a:avLst/>
          </a:prstGeom>
          <a:solidFill>
            <a:srgbClr val="00D4AA"/>
          </a:solidFill>
          <a:ln/>
        </p:spPr>
      </p:sp>
      <p:sp>
        <p:nvSpPr>
          <p:cNvPr id="8" name="Text 6"/>
          <p:cNvSpPr/>
          <p:nvPr/>
        </p:nvSpPr>
        <p:spPr>
          <a:xfrm>
            <a:off x="868680" y="2825496"/>
            <a:ext cx="2743200" cy="256032"/>
          </a:xfrm>
          <a:prstGeom prst="rect">
            <a:avLst/>
          </a:prstGeom>
          <a:noFill/>
          <a:ln/>
        </p:spPr>
        <p:txBody>
          <a:bodyPr wrap="square" lIns="0" tIns="0" rIns="0" bIns="0" rtlCol="0" anchor="ctr"/>
          <a:lstStyle/>
          <a:p>
            <a:pPr indent="0" marL="0">
              <a:buNone/>
            </a:pPr>
            <a:r>
              <a:rPr lang="en-US" sz="1100" b="1" spc="300" kern="0" dirty="0">
                <a:solidFill>
                  <a:srgbClr val="0A8F77"/>
                </a:solidFill>
                <a:latin typeface="Arial" pitchFamily="34" charset="0"/>
                <a:ea typeface="Arial" pitchFamily="34" charset="-122"/>
                <a:cs typeface="Arial" pitchFamily="34" charset="-120"/>
              </a:rPr>
              <a:t>09:00 AM</a:t>
            </a:r>
            <a:endParaRPr lang="en-US" sz="1100" dirty="0"/>
          </a:p>
        </p:txBody>
      </p:sp>
      <p:sp>
        <p:nvSpPr>
          <p:cNvPr id="9" name="Text 7"/>
          <p:cNvSpPr/>
          <p:nvPr/>
        </p:nvSpPr>
        <p:spPr>
          <a:xfrm>
            <a:off x="868680" y="3099816"/>
            <a:ext cx="3108960" cy="292608"/>
          </a:xfrm>
          <a:prstGeom prst="rect">
            <a:avLst/>
          </a:prstGeom>
          <a:noFill/>
          <a:ln/>
        </p:spPr>
        <p:txBody>
          <a:bodyPr wrap="square" lIns="0" tIns="0" rIns="0" bIns="0" rtlCol="0" anchor="ctr"/>
          <a:lstStyle/>
          <a:p>
            <a:pPr indent="0" marL="0">
              <a:buNone/>
            </a:pPr>
            <a:r>
              <a:rPr lang="en-US" sz="1450" b="1" dirty="0">
                <a:solidFill>
                  <a:srgbClr val="10202E"/>
                </a:solidFill>
                <a:latin typeface="Arial" pitchFamily="34" charset="0"/>
                <a:ea typeface="Arial" pitchFamily="34" charset="-122"/>
                <a:cs typeface="Arial" pitchFamily="34" charset="-120"/>
              </a:rPr>
              <a:t>Review PR comments</a:t>
            </a:r>
            <a:endParaRPr lang="en-US" sz="1450" dirty="0"/>
          </a:p>
        </p:txBody>
      </p:sp>
      <p:sp>
        <p:nvSpPr>
          <p:cNvPr id="10" name="Text 8"/>
          <p:cNvSpPr/>
          <p:nvPr/>
        </p:nvSpPr>
        <p:spPr>
          <a:xfrm>
            <a:off x="868680" y="3447288"/>
            <a:ext cx="3108960" cy="685800"/>
          </a:xfrm>
          <a:prstGeom prst="rect">
            <a:avLst/>
          </a:prstGeom>
          <a:noFill/>
          <a:ln/>
        </p:spPr>
        <p:txBody>
          <a:bodyPr wrap="square" lIns="0" tIns="0" rIns="0" bIns="0" rtlCol="0" anchor="ctr"/>
          <a:lstStyle/>
          <a:p>
            <a:pPr indent="0" marL="0">
              <a:lnSpc>
                <a:spcPct val="120000"/>
              </a:lnSpc>
              <a:buNone/>
            </a:pPr>
            <a:r>
              <a:rPr lang="en-US" sz="1050" dirty="0">
                <a:solidFill>
                  <a:srgbClr val="5B6B7B"/>
                </a:solidFill>
                <a:latin typeface="Arial" pitchFamily="34" charset="0"/>
                <a:ea typeface="Arial" pitchFamily="34" charset="-122"/>
                <a:cs typeface="Arial" pitchFamily="34" charset="-120"/>
              </a:rPr>
              <a:t>Mentor left feedback overnight. Student replies, pushes a fix, requests re-review.</a:t>
            </a:r>
            <a:endParaRPr lang="en-US" sz="1050" dirty="0"/>
          </a:p>
        </p:txBody>
      </p:sp>
      <p:sp>
        <p:nvSpPr>
          <p:cNvPr id="11" name="Shape 9"/>
          <p:cNvSpPr/>
          <p:nvPr/>
        </p:nvSpPr>
        <p:spPr>
          <a:xfrm>
            <a:off x="4325112" y="2606040"/>
            <a:ext cx="3529584" cy="1627632"/>
          </a:xfrm>
          <a:prstGeom prst="rect">
            <a:avLst/>
          </a:prstGeom>
          <a:solidFill>
            <a:srgbClr val="F4F8FA"/>
          </a:solidFill>
          <a:ln w="12700">
            <a:solidFill>
              <a:srgbClr val="CDD7DF"/>
            </a:solidFill>
            <a:prstDash val="solid"/>
          </a:ln>
        </p:spPr>
      </p:sp>
      <p:sp>
        <p:nvSpPr>
          <p:cNvPr id="12" name="Shape 10"/>
          <p:cNvSpPr/>
          <p:nvPr/>
        </p:nvSpPr>
        <p:spPr>
          <a:xfrm>
            <a:off x="4325112" y="2606040"/>
            <a:ext cx="3529584" cy="82296"/>
          </a:xfrm>
          <a:prstGeom prst="rect">
            <a:avLst/>
          </a:prstGeom>
          <a:solidFill>
            <a:srgbClr val="00D4AA"/>
          </a:solidFill>
          <a:ln/>
        </p:spPr>
      </p:sp>
      <p:sp>
        <p:nvSpPr>
          <p:cNvPr id="13" name="Text 11"/>
          <p:cNvSpPr/>
          <p:nvPr/>
        </p:nvSpPr>
        <p:spPr>
          <a:xfrm>
            <a:off x="4553712" y="2825496"/>
            <a:ext cx="2743200" cy="256032"/>
          </a:xfrm>
          <a:prstGeom prst="rect">
            <a:avLst/>
          </a:prstGeom>
          <a:noFill/>
          <a:ln/>
        </p:spPr>
        <p:txBody>
          <a:bodyPr wrap="square" lIns="0" tIns="0" rIns="0" bIns="0" rtlCol="0" anchor="ctr"/>
          <a:lstStyle/>
          <a:p>
            <a:pPr indent="0" marL="0">
              <a:buNone/>
            </a:pPr>
            <a:r>
              <a:rPr lang="en-US" sz="1100" b="1" spc="300" kern="0" dirty="0">
                <a:solidFill>
                  <a:srgbClr val="0A8F77"/>
                </a:solidFill>
                <a:latin typeface="Arial" pitchFamily="34" charset="0"/>
                <a:ea typeface="Arial" pitchFamily="34" charset="-122"/>
                <a:cs typeface="Arial" pitchFamily="34" charset="-120"/>
              </a:rPr>
              <a:t>10:30 AM</a:t>
            </a:r>
            <a:endParaRPr lang="en-US" sz="1100" dirty="0"/>
          </a:p>
        </p:txBody>
      </p:sp>
      <p:sp>
        <p:nvSpPr>
          <p:cNvPr id="14" name="Text 12"/>
          <p:cNvSpPr/>
          <p:nvPr/>
        </p:nvSpPr>
        <p:spPr>
          <a:xfrm>
            <a:off x="4553712" y="3099816"/>
            <a:ext cx="3108960" cy="292608"/>
          </a:xfrm>
          <a:prstGeom prst="rect">
            <a:avLst/>
          </a:prstGeom>
          <a:noFill/>
          <a:ln/>
        </p:spPr>
        <p:txBody>
          <a:bodyPr wrap="square" lIns="0" tIns="0" rIns="0" bIns="0" rtlCol="0" anchor="ctr"/>
          <a:lstStyle/>
          <a:p>
            <a:pPr indent="0" marL="0">
              <a:buNone/>
            </a:pPr>
            <a:r>
              <a:rPr lang="en-US" sz="1450" b="1" dirty="0">
                <a:solidFill>
                  <a:srgbClr val="10202E"/>
                </a:solidFill>
                <a:latin typeface="Arial" pitchFamily="34" charset="0"/>
                <a:ea typeface="Arial" pitchFamily="34" charset="-122"/>
                <a:cs typeface="Arial" pitchFamily="34" charset="-120"/>
              </a:rPr>
              <a:t>Open GitHub issue</a:t>
            </a:r>
            <a:endParaRPr lang="en-US" sz="1450" dirty="0"/>
          </a:p>
        </p:txBody>
      </p:sp>
      <p:sp>
        <p:nvSpPr>
          <p:cNvPr id="15" name="Text 13"/>
          <p:cNvSpPr/>
          <p:nvPr/>
        </p:nvSpPr>
        <p:spPr>
          <a:xfrm>
            <a:off x="4553712" y="3447288"/>
            <a:ext cx="3108960" cy="685800"/>
          </a:xfrm>
          <a:prstGeom prst="rect">
            <a:avLst/>
          </a:prstGeom>
          <a:noFill/>
          <a:ln/>
        </p:spPr>
        <p:txBody>
          <a:bodyPr wrap="square" lIns="0" tIns="0" rIns="0" bIns="0" rtlCol="0" anchor="ctr"/>
          <a:lstStyle/>
          <a:p>
            <a:pPr indent="0" marL="0">
              <a:lnSpc>
                <a:spcPct val="120000"/>
              </a:lnSpc>
              <a:buNone/>
            </a:pPr>
            <a:r>
              <a:rPr lang="en-US" sz="1050" dirty="0">
                <a:solidFill>
                  <a:srgbClr val="5B6B7B"/>
                </a:solidFill>
                <a:latin typeface="Arial" pitchFamily="34" charset="0"/>
                <a:ea typeface="Arial" pitchFamily="34" charset="-122"/>
                <a:cs typeface="Arial" pitchFamily="34" charset="-120"/>
              </a:rPr>
              <a:t>Linear ticket for a new feature. A 3-sentence design note before touching code.</a:t>
            </a:r>
            <a:endParaRPr lang="en-US" sz="1050" dirty="0"/>
          </a:p>
        </p:txBody>
      </p:sp>
      <p:sp>
        <p:nvSpPr>
          <p:cNvPr id="16" name="Shape 14"/>
          <p:cNvSpPr/>
          <p:nvPr/>
        </p:nvSpPr>
        <p:spPr>
          <a:xfrm>
            <a:off x="8010144" y="2606040"/>
            <a:ext cx="3529584" cy="1627632"/>
          </a:xfrm>
          <a:prstGeom prst="rect">
            <a:avLst/>
          </a:prstGeom>
          <a:solidFill>
            <a:srgbClr val="F4F8FA"/>
          </a:solidFill>
          <a:ln w="12700">
            <a:solidFill>
              <a:srgbClr val="CDD7DF"/>
            </a:solidFill>
            <a:prstDash val="solid"/>
          </a:ln>
        </p:spPr>
      </p:sp>
      <p:sp>
        <p:nvSpPr>
          <p:cNvPr id="17" name="Shape 15"/>
          <p:cNvSpPr/>
          <p:nvPr/>
        </p:nvSpPr>
        <p:spPr>
          <a:xfrm>
            <a:off x="8010144" y="2606040"/>
            <a:ext cx="3529584" cy="82296"/>
          </a:xfrm>
          <a:prstGeom prst="rect">
            <a:avLst/>
          </a:prstGeom>
          <a:solidFill>
            <a:srgbClr val="00D4AA"/>
          </a:solidFill>
          <a:ln/>
        </p:spPr>
      </p:sp>
      <p:sp>
        <p:nvSpPr>
          <p:cNvPr id="18" name="Text 16"/>
          <p:cNvSpPr/>
          <p:nvPr/>
        </p:nvSpPr>
        <p:spPr>
          <a:xfrm>
            <a:off x="8238744" y="2825496"/>
            <a:ext cx="2743200" cy="256032"/>
          </a:xfrm>
          <a:prstGeom prst="rect">
            <a:avLst/>
          </a:prstGeom>
          <a:noFill/>
          <a:ln/>
        </p:spPr>
        <p:txBody>
          <a:bodyPr wrap="square" lIns="0" tIns="0" rIns="0" bIns="0" rtlCol="0" anchor="ctr"/>
          <a:lstStyle/>
          <a:p>
            <a:pPr indent="0" marL="0">
              <a:buNone/>
            </a:pPr>
            <a:r>
              <a:rPr lang="en-US" sz="1100" b="1" spc="300" kern="0" dirty="0">
                <a:solidFill>
                  <a:srgbClr val="0A8F77"/>
                </a:solidFill>
                <a:latin typeface="Arial" pitchFamily="34" charset="0"/>
                <a:ea typeface="Arial" pitchFamily="34" charset="-122"/>
                <a:cs typeface="Arial" pitchFamily="34" charset="-120"/>
              </a:rPr>
              <a:t>12:00 PM</a:t>
            </a:r>
            <a:endParaRPr lang="en-US" sz="1100" dirty="0"/>
          </a:p>
        </p:txBody>
      </p:sp>
      <p:sp>
        <p:nvSpPr>
          <p:cNvPr id="19" name="Text 17"/>
          <p:cNvSpPr/>
          <p:nvPr/>
        </p:nvSpPr>
        <p:spPr>
          <a:xfrm>
            <a:off x="8238744" y="3099816"/>
            <a:ext cx="3108960" cy="292608"/>
          </a:xfrm>
          <a:prstGeom prst="rect">
            <a:avLst/>
          </a:prstGeom>
          <a:noFill/>
          <a:ln/>
        </p:spPr>
        <p:txBody>
          <a:bodyPr wrap="square" lIns="0" tIns="0" rIns="0" bIns="0" rtlCol="0" anchor="ctr"/>
          <a:lstStyle/>
          <a:p>
            <a:pPr indent="0" marL="0">
              <a:buNone/>
            </a:pPr>
            <a:r>
              <a:rPr lang="en-US" sz="1450" b="1" dirty="0">
                <a:solidFill>
                  <a:srgbClr val="10202E"/>
                </a:solidFill>
                <a:latin typeface="Arial" pitchFamily="34" charset="0"/>
                <a:ea typeface="Arial" pitchFamily="34" charset="-122"/>
                <a:cs typeface="Arial" pitchFamily="34" charset="-120"/>
              </a:rPr>
              <a:t>Build with Cursor</a:t>
            </a:r>
            <a:endParaRPr lang="en-US" sz="1450" dirty="0"/>
          </a:p>
        </p:txBody>
      </p:sp>
      <p:sp>
        <p:nvSpPr>
          <p:cNvPr id="20" name="Text 18"/>
          <p:cNvSpPr/>
          <p:nvPr/>
        </p:nvSpPr>
        <p:spPr>
          <a:xfrm>
            <a:off x="8238744" y="3447288"/>
            <a:ext cx="3108960" cy="685800"/>
          </a:xfrm>
          <a:prstGeom prst="rect">
            <a:avLst/>
          </a:prstGeom>
          <a:noFill/>
          <a:ln/>
        </p:spPr>
        <p:txBody>
          <a:bodyPr wrap="square" lIns="0" tIns="0" rIns="0" bIns="0" rtlCol="0" anchor="ctr"/>
          <a:lstStyle/>
          <a:p>
            <a:pPr indent="0" marL="0">
              <a:lnSpc>
                <a:spcPct val="120000"/>
              </a:lnSpc>
              <a:buNone/>
            </a:pPr>
            <a:r>
              <a:rPr lang="en-US" sz="1050" dirty="0">
                <a:solidFill>
                  <a:srgbClr val="5B6B7B"/>
                </a:solidFill>
                <a:latin typeface="Arial" pitchFamily="34" charset="0"/>
                <a:ea typeface="Arial" pitchFamily="34" charset="-122"/>
                <a:cs typeface="Arial" pitchFamily="34" charset="-120"/>
              </a:rPr>
              <a:t>AI-assisted implementation. Half the code is generated; the student reviews every line.</a:t>
            </a:r>
            <a:endParaRPr lang="en-US" sz="1050" dirty="0"/>
          </a:p>
        </p:txBody>
      </p:sp>
      <p:sp>
        <p:nvSpPr>
          <p:cNvPr id="21" name="Shape 19"/>
          <p:cNvSpPr/>
          <p:nvPr/>
        </p:nvSpPr>
        <p:spPr>
          <a:xfrm>
            <a:off x="640080" y="4434840"/>
            <a:ext cx="3529584" cy="1627632"/>
          </a:xfrm>
          <a:prstGeom prst="rect">
            <a:avLst/>
          </a:prstGeom>
          <a:solidFill>
            <a:srgbClr val="F4F8FA"/>
          </a:solidFill>
          <a:ln w="12700">
            <a:solidFill>
              <a:srgbClr val="CDD7DF"/>
            </a:solidFill>
            <a:prstDash val="solid"/>
          </a:ln>
        </p:spPr>
      </p:sp>
      <p:sp>
        <p:nvSpPr>
          <p:cNvPr id="22" name="Shape 20"/>
          <p:cNvSpPr/>
          <p:nvPr/>
        </p:nvSpPr>
        <p:spPr>
          <a:xfrm>
            <a:off x="640080" y="4434840"/>
            <a:ext cx="3529584" cy="82296"/>
          </a:xfrm>
          <a:prstGeom prst="rect">
            <a:avLst/>
          </a:prstGeom>
          <a:solidFill>
            <a:srgbClr val="00D4AA"/>
          </a:solidFill>
          <a:ln/>
        </p:spPr>
      </p:sp>
      <p:sp>
        <p:nvSpPr>
          <p:cNvPr id="23" name="Text 21"/>
          <p:cNvSpPr/>
          <p:nvPr/>
        </p:nvSpPr>
        <p:spPr>
          <a:xfrm>
            <a:off x="868680" y="4654296"/>
            <a:ext cx="2743200" cy="256032"/>
          </a:xfrm>
          <a:prstGeom prst="rect">
            <a:avLst/>
          </a:prstGeom>
          <a:noFill/>
          <a:ln/>
        </p:spPr>
        <p:txBody>
          <a:bodyPr wrap="square" lIns="0" tIns="0" rIns="0" bIns="0" rtlCol="0" anchor="ctr"/>
          <a:lstStyle/>
          <a:p>
            <a:pPr indent="0" marL="0">
              <a:buNone/>
            </a:pPr>
            <a:r>
              <a:rPr lang="en-US" sz="1100" b="1" spc="300" kern="0" dirty="0">
                <a:solidFill>
                  <a:srgbClr val="0A8F77"/>
                </a:solidFill>
                <a:latin typeface="Arial" pitchFamily="34" charset="0"/>
                <a:ea typeface="Arial" pitchFamily="34" charset="-122"/>
                <a:cs typeface="Arial" pitchFamily="34" charset="-120"/>
              </a:rPr>
              <a:t>03:00 PM</a:t>
            </a:r>
            <a:endParaRPr lang="en-US" sz="1100" dirty="0"/>
          </a:p>
        </p:txBody>
      </p:sp>
      <p:sp>
        <p:nvSpPr>
          <p:cNvPr id="24" name="Text 22"/>
          <p:cNvSpPr/>
          <p:nvPr/>
        </p:nvSpPr>
        <p:spPr>
          <a:xfrm>
            <a:off x="868680" y="4928616"/>
            <a:ext cx="3108960" cy="292608"/>
          </a:xfrm>
          <a:prstGeom prst="rect">
            <a:avLst/>
          </a:prstGeom>
          <a:noFill/>
          <a:ln/>
        </p:spPr>
        <p:txBody>
          <a:bodyPr wrap="square" lIns="0" tIns="0" rIns="0" bIns="0" rtlCol="0" anchor="ctr"/>
          <a:lstStyle/>
          <a:p>
            <a:pPr indent="0" marL="0">
              <a:buNone/>
            </a:pPr>
            <a:r>
              <a:rPr lang="en-US" sz="1450" b="1" dirty="0">
                <a:solidFill>
                  <a:srgbClr val="10202E"/>
                </a:solidFill>
                <a:latin typeface="Arial" pitchFamily="34" charset="0"/>
                <a:ea typeface="Arial" pitchFamily="34" charset="-122"/>
                <a:cs typeface="Arial" pitchFamily="34" charset="-120"/>
              </a:rPr>
              <a:t>Debugging session</a:t>
            </a:r>
            <a:endParaRPr lang="en-US" sz="1450" dirty="0"/>
          </a:p>
        </p:txBody>
      </p:sp>
      <p:sp>
        <p:nvSpPr>
          <p:cNvPr id="25" name="Text 23"/>
          <p:cNvSpPr/>
          <p:nvPr/>
        </p:nvSpPr>
        <p:spPr>
          <a:xfrm>
            <a:off x="868680" y="5276088"/>
            <a:ext cx="3108960" cy="685800"/>
          </a:xfrm>
          <a:prstGeom prst="rect">
            <a:avLst/>
          </a:prstGeom>
          <a:noFill/>
          <a:ln/>
        </p:spPr>
        <p:txBody>
          <a:bodyPr wrap="square" lIns="0" tIns="0" rIns="0" bIns="0" rtlCol="0" anchor="ctr"/>
          <a:lstStyle/>
          <a:p>
            <a:pPr indent="0" marL="0">
              <a:lnSpc>
                <a:spcPct val="120000"/>
              </a:lnSpc>
              <a:buNone/>
            </a:pPr>
            <a:r>
              <a:rPr lang="en-US" sz="1050" dirty="0">
                <a:solidFill>
                  <a:srgbClr val="5B6B7B"/>
                </a:solidFill>
                <a:latin typeface="Arial" pitchFamily="34" charset="0"/>
                <a:ea typeface="Arial" pitchFamily="34" charset="-122"/>
                <a:cs typeface="Arial" pitchFamily="34" charset="-120"/>
              </a:rPr>
              <a:t>Hallucinated API response in production. Trace logs, write a regression eval, ship the fix.</a:t>
            </a:r>
            <a:endParaRPr lang="en-US" sz="1050" dirty="0"/>
          </a:p>
        </p:txBody>
      </p:sp>
      <p:sp>
        <p:nvSpPr>
          <p:cNvPr id="26" name="Shape 24"/>
          <p:cNvSpPr/>
          <p:nvPr/>
        </p:nvSpPr>
        <p:spPr>
          <a:xfrm>
            <a:off x="4325112" y="4434840"/>
            <a:ext cx="3529584" cy="1627632"/>
          </a:xfrm>
          <a:prstGeom prst="rect">
            <a:avLst/>
          </a:prstGeom>
          <a:solidFill>
            <a:srgbClr val="F4F8FA"/>
          </a:solidFill>
          <a:ln w="12700">
            <a:solidFill>
              <a:srgbClr val="CDD7DF"/>
            </a:solidFill>
            <a:prstDash val="solid"/>
          </a:ln>
        </p:spPr>
      </p:sp>
      <p:sp>
        <p:nvSpPr>
          <p:cNvPr id="27" name="Shape 25"/>
          <p:cNvSpPr/>
          <p:nvPr/>
        </p:nvSpPr>
        <p:spPr>
          <a:xfrm>
            <a:off x="4325112" y="4434840"/>
            <a:ext cx="3529584" cy="82296"/>
          </a:xfrm>
          <a:prstGeom prst="rect">
            <a:avLst/>
          </a:prstGeom>
          <a:solidFill>
            <a:srgbClr val="00D4AA"/>
          </a:solidFill>
          <a:ln/>
        </p:spPr>
      </p:sp>
      <p:sp>
        <p:nvSpPr>
          <p:cNvPr id="28" name="Text 26"/>
          <p:cNvSpPr/>
          <p:nvPr/>
        </p:nvSpPr>
        <p:spPr>
          <a:xfrm>
            <a:off x="4553712" y="4654296"/>
            <a:ext cx="2743200" cy="256032"/>
          </a:xfrm>
          <a:prstGeom prst="rect">
            <a:avLst/>
          </a:prstGeom>
          <a:noFill/>
          <a:ln/>
        </p:spPr>
        <p:txBody>
          <a:bodyPr wrap="square" lIns="0" tIns="0" rIns="0" bIns="0" rtlCol="0" anchor="ctr"/>
          <a:lstStyle/>
          <a:p>
            <a:pPr indent="0" marL="0">
              <a:buNone/>
            </a:pPr>
            <a:r>
              <a:rPr lang="en-US" sz="1100" b="1" spc="300" kern="0" dirty="0">
                <a:solidFill>
                  <a:srgbClr val="0A8F77"/>
                </a:solidFill>
                <a:latin typeface="Arial" pitchFamily="34" charset="0"/>
                <a:ea typeface="Arial" pitchFamily="34" charset="-122"/>
                <a:cs typeface="Arial" pitchFamily="34" charset="-120"/>
              </a:rPr>
              <a:t>05:00 PM</a:t>
            </a:r>
            <a:endParaRPr lang="en-US" sz="1100" dirty="0"/>
          </a:p>
        </p:txBody>
      </p:sp>
      <p:sp>
        <p:nvSpPr>
          <p:cNvPr id="29" name="Text 27"/>
          <p:cNvSpPr/>
          <p:nvPr/>
        </p:nvSpPr>
        <p:spPr>
          <a:xfrm>
            <a:off x="4553712" y="4928616"/>
            <a:ext cx="3108960" cy="292608"/>
          </a:xfrm>
          <a:prstGeom prst="rect">
            <a:avLst/>
          </a:prstGeom>
          <a:noFill/>
          <a:ln/>
        </p:spPr>
        <p:txBody>
          <a:bodyPr wrap="square" lIns="0" tIns="0" rIns="0" bIns="0" rtlCol="0" anchor="ctr"/>
          <a:lstStyle/>
          <a:p>
            <a:pPr indent="0" marL="0">
              <a:buNone/>
            </a:pPr>
            <a:r>
              <a:rPr lang="en-US" sz="1450" b="1" dirty="0">
                <a:solidFill>
                  <a:srgbClr val="10202E"/>
                </a:solidFill>
                <a:latin typeface="Arial" pitchFamily="34" charset="0"/>
                <a:ea typeface="Arial" pitchFamily="34" charset="-122"/>
                <a:cs typeface="Arial" pitchFamily="34" charset="-120"/>
              </a:rPr>
              <a:t>Review a peer's PR</a:t>
            </a:r>
            <a:endParaRPr lang="en-US" sz="1450" dirty="0"/>
          </a:p>
        </p:txBody>
      </p:sp>
      <p:sp>
        <p:nvSpPr>
          <p:cNvPr id="30" name="Text 28"/>
          <p:cNvSpPr/>
          <p:nvPr/>
        </p:nvSpPr>
        <p:spPr>
          <a:xfrm>
            <a:off x="4553712" y="5276088"/>
            <a:ext cx="3108960" cy="685800"/>
          </a:xfrm>
          <a:prstGeom prst="rect">
            <a:avLst/>
          </a:prstGeom>
          <a:noFill/>
          <a:ln/>
        </p:spPr>
        <p:txBody>
          <a:bodyPr wrap="square" lIns="0" tIns="0" rIns="0" bIns="0" rtlCol="0" anchor="ctr"/>
          <a:lstStyle/>
          <a:p>
            <a:pPr indent="0" marL="0">
              <a:lnSpc>
                <a:spcPct val="120000"/>
              </a:lnSpc>
              <a:buNone/>
            </a:pPr>
            <a:r>
              <a:rPr lang="en-US" sz="1050" dirty="0">
                <a:solidFill>
                  <a:srgbClr val="5B6B7B"/>
                </a:solidFill>
                <a:latin typeface="Arial" pitchFamily="34" charset="0"/>
                <a:ea typeface="Arial" pitchFamily="34" charset="-122"/>
                <a:cs typeface="Arial" pitchFamily="34" charset="-120"/>
              </a:rPr>
              <a:t>Cross-pod review. Four substantive comments on another student's submission.</a:t>
            </a:r>
            <a:endParaRPr lang="en-US" sz="1050" dirty="0"/>
          </a:p>
        </p:txBody>
      </p:sp>
      <p:sp>
        <p:nvSpPr>
          <p:cNvPr id="31" name="Shape 29"/>
          <p:cNvSpPr/>
          <p:nvPr/>
        </p:nvSpPr>
        <p:spPr>
          <a:xfrm>
            <a:off x="8010144" y="4434840"/>
            <a:ext cx="3529584" cy="1627632"/>
          </a:xfrm>
          <a:prstGeom prst="rect">
            <a:avLst/>
          </a:prstGeom>
          <a:solidFill>
            <a:srgbClr val="F4F8FA"/>
          </a:solidFill>
          <a:ln w="12700">
            <a:solidFill>
              <a:srgbClr val="CDD7DF"/>
            </a:solidFill>
            <a:prstDash val="solid"/>
          </a:ln>
        </p:spPr>
      </p:sp>
      <p:sp>
        <p:nvSpPr>
          <p:cNvPr id="32" name="Shape 30"/>
          <p:cNvSpPr/>
          <p:nvPr/>
        </p:nvSpPr>
        <p:spPr>
          <a:xfrm>
            <a:off x="8010144" y="4434840"/>
            <a:ext cx="3529584" cy="82296"/>
          </a:xfrm>
          <a:prstGeom prst="rect">
            <a:avLst/>
          </a:prstGeom>
          <a:solidFill>
            <a:srgbClr val="00D4AA"/>
          </a:solidFill>
          <a:ln/>
        </p:spPr>
      </p:sp>
      <p:sp>
        <p:nvSpPr>
          <p:cNvPr id="33" name="Text 31"/>
          <p:cNvSpPr/>
          <p:nvPr/>
        </p:nvSpPr>
        <p:spPr>
          <a:xfrm>
            <a:off x="8238744" y="4654296"/>
            <a:ext cx="2743200" cy="256032"/>
          </a:xfrm>
          <a:prstGeom prst="rect">
            <a:avLst/>
          </a:prstGeom>
          <a:noFill/>
          <a:ln/>
        </p:spPr>
        <p:txBody>
          <a:bodyPr wrap="square" lIns="0" tIns="0" rIns="0" bIns="0" rtlCol="0" anchor="ctr"/>
          <a:lstStyle/>
          <a:p>
            <a:pPr indent="0" marL="0">
              <a:buNone/>
            </a:pPr>
            <a:r>
              <a:rPr lang="en-US" sz="1100" b="1" spc="300" kern="0" dirty="0">
                <a:solidFill>
                  <a:srgbClr val="0A8F77"/>
                </a:solidFill>
                <a:latin typeface="Arial" pitchFamily="34" charset="0"/>
                <a:ea typeface="Arial" pitchFamily="34" charset="-122"/>
                <a:cs typeface="Arial" pitchFamily="34" charset="-120"/>
              </a:rPr>
              <a:t>07:00 PM</a:t>
            </a:r>
            <a:endParaRPr lang="en-US" sz="1100" dirty="0"/>
          </a:p>
        </p:txBody>
      </p:sp>
      <p:sp>
        <p:nvSpPr>
          <p:cNvPr id="34" name="Text 32"/>
          <p:cNvSpPr/>
          <p:nvPr/>
        </p:nvSpPr>
        <p:spPr>
          <a:xfrm>
            <a:off x="8238744" y="4928616"/>
            <a:ext cx="3108960" cy="292608"/>
          </a:xfrm>
          <a:prstGeom prst="rect">
            <a:avLst/>
          </a:prstGeom>
          <a:noFill/>
          <a:ln/>
        </p:spPr>
        <p:txBody>
          <a:bodyPr wrap="square" lIns="0" tIns="0" rIns="0" bIns="0" rtlCol="0" anchor="ctr"/>
          <a:lstStyle/>
          <a:p>
            <a:pPr indent="0" marL="0">
              <a:buNone/>
            </a:pPr>
            <a:r>
              <a:rPr lang="en-US" sz="1450" b="1" dirty="0">
                <a:solidFill>
                  <a:srgbClr val="10202E"/>
                </a:solidFill>
                <a:latin typeface="Arial" pitchFamily="34" charset="0"/>
                <a:ea typeface="Arial" pitchFamily="34" charset="-122"/>
                <a:cs typeface="Arial" pitchFamily="34" charset="-120"/>
              </a:rPr>
              <a:t>Record demo video</a:t>
            </a:r>
            <a:endParaRPr lang="en-US" sz="1450" dirty="0"/>
          </a:p>
        </p:txBody>
      </p:sp>
      <p:sp>
        <p:nvSpPr>
          <p:cNvPr id="35" name="Text 33"/>
          <p:cNvSpPr/>
          <p:nvPr/>
        </p:nvSpPr>
        <p:spPr>
          <a:xfrm>
            <a:off x="8238744" y="5276088"/>
            <a:ext cx="3108960" cy="685800"/>
          </a:xfrm>
          <a:prstGeom prst="rect">
            <a:avLst/>
          </a:prstGeom>
          <a:noFill/>
          <a:ln/>
        </p:spPr>
        <p:txBody>
          <a:bodyPr wrap="square" lIns="0" tIns="0" rIns="0" bIns="0" rtlCol="0" anchor="ctr"/>
          <a:lstStyle/>
          <a:p>
            <a:pPr indent="0" marL="0">
              <a:lnSpc>
                <a:spcPct val="120000"/>
              </a:lnSpc>
              <a:buNone/>
            </a:pPr>
            <a:r>
              <a:rPr lang="en-US" sz="1050" dirty="0">
                <a:solidFill>
                  <a:srgbClr val="5B6B7B"/>
                </a:solidFill>
                <a:latin typeface="Arial" pitchFamily="34" charset="0"/>
                <a:ea typeface="Arial" pitchFamily="34" charset="-122"/>
                <a:cs typeface="Arial" pitchFamily="34" charset="-120"/>
              </a:rPr>
              <a:t>3-minute walkthrough of what shipped today. Posted to the public Demo Day archive.</a:t>
            </a:r>
            <a:endParaRPr lang="en-US" sz="1050" dirty="0"/>
          </a:p>
        </p:txBody>
      </p:sp>
      <p:sp>
        <p:nvSpPr>
          <p:cNvPr id="36" name="Shape 34"/>
          <p:cNvSpPr/>
          <p:nvPr/>
        </p:nvSpPr>
        <p:spPr>
          <a:xfrm>
            <a:off x="640080" y="6327648"/>
            <a:ext cx="10911535" cy="0"/>
          </a:xfrm>
          <a:prstGeom prst="line">
            <a:avLst/>
          </a:prstGeom>
          <a:noFill/>
          <a:ln w="12700">
            <a:solidFill>
              <a:srgbClr val="CDD7DF"/>
            </a:solidFill>
            <a:prstDash val="solid"/>
          </a:ln>
        </p:spPr>
      </p:sp>
      <p:sp>
        <p:nvSpPr>
          <p:cNvPr id="37" name="Text 35"/>
          <p:cNvSpPr/>
          <p:nvPr/>
        </p:nvSpPr>
        <p:spPr>
          <a:xfrm>
            <a:off x="640080" y="6400800"/>
            <a:ext cx="6400800" cy="274320"/>
          </a:xfrm>
          <a:prstGeom prst="rect">
            <a:avLst/>
          </a:prstGeom>
          <a:noFill/>
          <a:ln/>
        </p:spPr>
        <p:txBody>
          <a:bodyPr wrap="square" lIns="0" tIns="0" rIns="0" bIns="0" rtlCol="0" anchor="ctr"/>
          <a:lstStyle/>
          <a:p>
            <a:pPr indent="0" marL="0">
              <a:buNone/>
            </a:pPr>
            <a:r>
              <a:rPr lang="en-US" sz="1000" b="1" spc="200" kern="0" dirty="0">
                <a:solidFill>
                  <a:srgbClr val="5B6B7B"/>
                </a:solidFill>
                <a:latin typeface="Arial" pitchFamily="34" charset="0"/>
                <a:ea typeface="Arial" pitchFamily="34" charset="-122"/>
                <a:cs typeface="Arial" pitchFamily="34" charset="-120"/>
              </a:rPr>
              <a:t>BuildAI  /  Day in the Life</a:t>
            </a:r>
            <a:endParaRPr lang="en-US" sz="1000" dirty="0"/>
          </a:p>
        </p:txBody>
      </p:sp>
      <p:sp>
        <p:nvSpPr>
          <p:cNvPr id="38" name="Shape 36"/>
          <p:cNvSpPr/>
          <p:nvPr/>
        </p:nvSpPr>
        <p:spPr>
          <a:xfrm>
            <a:off x="10725912" y="6391656"/>
            <a:ext cx="822960" cy="310896"/>
          </a:xfrm>
          <a:prstGeom prst="rect">
            <a:avLst/>
          </a:prstGeom>
          <a:solidFill>
            <a:srgbClr val="0A2540"/>
          </a:solidFill>
          <a:ln/>
        </p:spPr>
      </p:sp>
      <p:sp>
        <p:nvSpPr>
          <p:cNvPr id="39" name="Text 37"/>
          <p:cNvSpPr/>
          <p:nvPr/>
        </p:nvSpPr>
        <p:spPr>
          <a:xfrm>
            <a:off x="10725912" y="6391656"/>
            <a:ext cx="8229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08 / 21</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332720" y="0"/>
            <a:ext cx="1856232" cy="1371600"/>
          </a:xfrm>
          <a:prstGeom prst="rect">
            <a:avLst/>
          </a:prstGeom>
          <a:solidFill>
            <a:srgbClr val="0A2540"/>
          </a:solidFill>
          <a:ln/>
        </p:spPr>
      </p:sp>
      <p:sp>
        <p:nvSpPr>
          <p:cNvPr id="3" name="Text 1"/>
          <p:cNvSpPr/>
          <p:nvPr/>
        </p:nvSpPr>
        <p:spPr>
          <a:xfrm>
            <a:off x="640080" y="347472"/>
            <a:ext cx="8229600" cy="292608"/>
          </a:xfrm>
          <a:prstGeom prst="rect">
            <a:avLst/>
          </a:prstGeom>
          <a:noFill/>
          <a:ln/>
        </p:spPr>
        <p:txBody>
          <a:bodyPr wrap="square" lIns="0" tIns="0" rIns="0" bIns="0" rtlCol="0" anchor="ctr"/>
          <a:lstStyle/>
          <a:p>
            <a:pPr indent="0" marL="0">
              <a:buNone/>
            </a:pPr>
            <a:r>
              <a:rPr lang="en-US" sz="1100" b="1" spc="300" kern="0" dirty="0">
                <a:solidFill>
                  <a:srgbClr val="0A8F77"/>
                </a:solidFill>
                <a:latin typeface="Arial" pitchFamily="34" charset="0"/>
                <a:ea typeface="Arial" pitchFamily="34" charset="-122"/>
                <a:cs typeface="Arial" pitchFamily="34" charset="-120"/>
              </a:rPr>
              <a:t>09 / 21</a:t>
            </a:r>
            <a:pPr indent="0" marL="0">
              <a:buNone/>
            </a:pPr>
            <a:r>
              <a:rPr lang="en-US" sz="1100" b="1" spc="300" kern="0" dirty="0">
                <a:solidFill>
                  <a:srgbClr val="5B6B7B"/>
                </a:solidFill>
                <a:latin typeface="Arial" pitchFamily="34" charset="0"/>
                <a:ea typeface="Arial" pitchFamily="34" charset="-122"/>
                <a:cs typeface="Arial" pitchFamily="34" charset="-120"/>
              </a:rPr>
              <a:t>   CURRICULUM</a:t>
            </a:r>
            <a:endParaRPr lang="en-US" sz="1100" dirty="0"/>
          </a:p>
        </p:txBody>
      </p:sp>
      <p:sp>
        <p:nvSpPr>
          <p:cNvPr id="4" name="Text 2"/>
          <p:cNvSpPr/>
          <p:nvPr/>
        </p:nvSpPr>
        <p:spPr>
          <a:xfrm>
            <a:off x="621792" y="841248"/>
            <a:ext cx="10241280" cy="1371600"/>
          </a:xfrm>
          <a:prstGeom prst="rect">
            <a:avLst/>
          </a:prstGeom>
          <a:noFill/>
          <a:ln/>
        </p:spPr>
        <p:txBody>
          <a:bodyPr wrap="square" lIns="0" tIns="0" rIns="0" bIns="0" rtlCol="0" anchor="ctr"/>
          <a:lstStyle/>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Six modules, organised around</a:t>
            </a:r>
            <a:endParaRPr lang="en-US" sz="3300" dirty="0"/>
          </a:p>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capabilities startups hire for.</a:t>
            </a:r>
            <a:endParaRPr lang="en-US" sz="3300" dirty="0"/>
          </a:p>
        </p:txBody>
      </p:sp>
      <p:sp>
        <p:nvSpPr>
          <p:cNvPr id="5" name="Shape 3"/>
          <p:cNvSpPr/>
          <p:nvPr/>
        </p:nvSpPr>
        <p:spPr>
          <a:xfrm>
            <a:off x="640080" y="2395728"/>
            <a:ext cx="3529584" cy="1664208"/>
          </a:xfrm>
          <a:prstGeom prst="rect">
            <a:avLst/>
          </a:prstGeom>
          <a:solidFill>
            <a:srgbClr val="FFFFFF"/>
          </a:solidFill>
          <a:ln w="12700">
            <a:solidFill>
              <a:srgbClr val="CDD7DF"/>
            </a:solidFill>
            <a:prstDash val="solid"/>
          </a:ln>
        </p:spPr>
      </p:sp>
      <p:sp>
        <p:nvSpPr>
          <p:cNvPr id="6" name="Shape 4"/>
          <p:cNvSpPr/>
          <p:nvPr/>
        </p:nvSpPr>
        <p:spPr>
          <a:xfrm>
            <a:off x="640080" y="2395728"/>
            <a:ext cx="82296" cy="1664208"/>
          </a:xfrm>
          <a:prstGeom prst="rect">
            <a:avLst/>
          </a:prstGeom>
          <a:solidFill>
            <a:srgbClr val="0A2540"/>
          </a:solidFill>
          <a:ln/>
        </p:spPr>
      </p:sp>
      <p:sp>
        <p:nvSpPr>
          <p:cNvPr id="7" name="Text 5"/>
          <p:cNvSpPr/>
          <p:nvPr/>
        </p:nvSpPr>
        <p:spPr>
          <a:xfrm>
            <a:off x="914400" y="2578608"/>
            <a:ext cx="1097280" cy="411480"/>
          </a:xfrm>
          <a:prstGeom prst="rect">
            <a:avLst/>
          </a:prstGeom>
          <a:noFill/>
          <a:ln/>
        </p:spPr>
        <p:txBody>
          <a:bodyPr wrap="square" lIns="0" tIns="0" rIns="0" bIns="0" rtlCol="0" anchor="ctr"/>
          <a:lstStyle/>
          <a:p>
            <a:pPr indent="0" marL="0">
              <a:buNone/>
            </a:pPr>
            <a:r>
              <a:rPr lang="en-US" sz="2200" b="1" dirty="0">
                <a:solidFill>
                  <a:srgbClr val="0A2540"/>
                </a:solidFill>
                <a:latin typeface="Arial" pitchFamily="34" charset="0"/>
                <a:ea typeface="Arial" pitchFamily="34" charset="-122"/>
                <a:cs typeface="Arial" pitchFamily="34" charset="-120"/>
              </a:rPr>
              <a:t>M0</a:t>
            </a:r>
            <a:endParaRPr lang="en-US" sz="2200" dirty="0"/>
          </a:p>
        </p:txBody>
      </p:sp>
      <p:sp>
        <p:nvSpPr>
          <p:cNvPr id="8" name="Text 6"/>
          <p:cNvSpPr/>
          <p:nvPr/>
        </p:nvSpPr>
        <p:spPr>
          <a:xfrm>
            <a:off x="1828800" y="2697480"/>
            <a:ext cx="2194560" cy="274320"/>
          </a:xfrm>
          <a:prstGeom prst="rect">
            <a:avLst/>
          </a:prstGeom>
          <a:noFill/>
          <a:ln/>
        </p:spPr>
        <p:txBody>
          <a:bodyPr wrap="square" lIns="0" tIns="0" rIns="0" bIns="0" rtlCol="0" anchor="ctr"/>
          <a:lstStyle/>
          <a:p>
            <a:pPr algn="r" indent="0" marL="0">
              <a:buNone/>
            </a:pPr>
            <a:r>
              <a:rPr lang="en-US" sz="1000" b="1" spc="250" kern="0" dirty="0">
                <a:solidFill>
                  <a:srgbClr val="5B6B7B"/>
                </a:solidFill>
                <a:latin typeface="Arial" pitchFamily="34" charset="0"/>
                <a:ea typeface="Arial" pitchFamily="34" charset="-122"/>
                <a:cs typeface="Arial" pitchFamily="34" charset="-120"/>
              </a:rPr>
              <a:t>WEEK 1</a:t>
            </a:r>
            <a:endParaRPr lang="en-US" sz="1000" dirty="0"/>
          </a:p>
        </p:txBody>
      </p:sp>
      <p:sp>
        <p:nvSpPr>
          <p:cNvPr id="9" name="Text 7"/>
          <p:cNvSpPr/>
          <p:nvPr/>
        </p:nvSpPr>
        <p:spPr>
          <a:xfrm>
            <a:off x="914400" y="3054096"/>
            <a:ext cx="3108960" cy="292608"/>
          </a:xfrm>
          <a:prstGeom prst="rect">
            <a:avLst/>
          </a:prstGeom>
          <a:noFill/>
          <a:ln/>
        </p:spPr>
        <p:txBody>
          <a:bodyPr wrap="square" lIns="0" tIns="0" rIns="0" bIns="0" rtlCol="0" anchor="ctr"/>
          <a:lstStyle/>
          <a:p>
            <a:pPr indent="0" marL="0">
              <a:buNone/>
            </a:pPr>
            <a:r>
              <a:rPr lang="en-US" sz="1500" b="1" dirty="0">
                <a:solidFill>
                  <a:srgbClr val="10202E"/>
                </a:solidFill>
                <a:latin typeface="Arial" pitchFamily="34" charset="0"/>
                <a:ea typeface="Arial" pitchFamily="34" charset="-122"/>
                <a:cs typeface="Arial" pitchFamily="34" charset="-120"/>
              </a:rPr>
              <a:t>AI-Native OS</a:t>
            </a:r>
            <a:endParaRPr lang="en-US" sz="1500" dirty="0"/>
          </a:p>
        </p:txBody>
      </p:sp>
      <p:sp>
        <p:nvSpPr>
          <p:cNvPr id="10" name="Text 8"/>
          <p:cNvSpPr/>
          <p:nvPr/>
        </p:nvSpPr>
        <p:spPr>
          <a:xfrm>
            <a:off x="914400" y="3401568"/>
            <a:ext cx="3063240" cy="548640"/>
          </a:xfrm>
          <a:prstGeom prst="rect">
            <a:avLst/>
          </a:prstGeom>
          <a:noFill/>
          <a:ln/>
        </p:spPr>
        <p:txBody>
          <a:bodyPr wrap="square" lIns="0" tIns="0" rIns="0" bIns="0" rtlCol="0" anchor="ctr"/>
          <a:lstStyle/>
          <a:p>
            <a:pPr indent="0" marL="0">
              <a:lnSpc>
                <a:spcPct val="120000"/>
              </a:lnSpc>
              <a:buNone/>
            </a:pPr>
            <a:r>
              <a:rPr lang="en-US" sz="1050" dirty="0">
                <a:solidFill>
                  <a:srgbClr val="5B6B7B"/>
                </a:solidFill>
                <a:latin typeface="Arial" pitchFamily="34" charset="0"/>
                <a:ea typeface="Arial" pitchFamily="34" charset="-122"/>
                <a:cs typeface="Arial" pitchFamily="34" charset="-120"/>
              </a:rPr>
              <a:t>Cursor, Claude Code, context engineering. Ship one app by end of week 1.</a:t>
            </a:r>
            <a:endParaRPr lang="en-US" sz="1050" dirty="0"/>
          </a:p>
        </p:txBody>
      </p:sp>
      <p:sp>
        <p:nvSpPr>
          <p:cNvPr id="11" name="Shape 9"/>
          <p:cNvSpPr/>
          <p:nvPr/>
        </p:nvSpPr>
        <p:spPr>
          <a:xfrm>
            <a:off x="4325112" y="2395728"/>
            <a:ext cx="3529584" cy="1664208"/>
          </a:xfrm>
          <a:prstGeom prst="rect">
            <a:avLst/>
          </a:prstGeom>
          <a:solidFill>
            <a:srgbClr val="FFFFFF"/>
          </a:solidFill>
          <a:ln w="12700">
            <a:solidFill>
              <a:srgbClr val="CDD7DF"/>
            </a:solidFill>
            <a:prstDash val="solid"/>
          </a:ln>
        </p:spPr>
      </p:sp>
      <p:sp>
        <p:nvSpPr>
          <p:cNvPr id="12" name="Shape 10"/>
          <p:cNvSpPr/>
          <p:nvPr/>
        </p:nvSpPr>
        <p:spPr>
          <a:xfrm>
            <a:off x="4325112" y="2395728"/>
            <a:ext cx="82296" cy="1664208"/>
          </a:xfrm>
          <a:prstGeom prst="rect">
            <a:avLst/>
          </a:prstGeom>
          <a:solidFill>
            <a:srgbClr val="0A2540"/>
          </a:solidFill>
          <a:ln/>
        </p:spPr>
      </p:sp>
      <p:sp>
        <p:nvSpPr>
          <p:cNvPr id="13" name="Text 11"/>
          <p:cNvSpPr/>
          <p:nvPr/>
        </p:nvSpPr>
        <p:spPr>
          <a:xfrm>
            <a:off x="4599432" y="2578608"/>
            <a:ext cx="1097280" cy="411480"/>
          </a:xfrm>
          <a:prstGeom prst="rect">
            <a:avLst/>
          </a:prstGeom>
          <a:noFill/>
          <a:ln/>
        </p:spPr>
        <p:txBody>
          <a:bodyPr wrap="square" lIns="0" tIns="0" rIns="0" bIns="0" rtlCol="0" anchor="ctr"/>
          <a:lstStyle/>
          <a:p>
            <a:pPr indent="0" marL="0">
              <a:buNone/>
            </a:pPr>
            <a:r>
              <a:rPr lang="en-US" sz="2200" b="1" dirty="0">
                <a:solidFill>
                  <a:srgbClr val="0A2540"/>
                </a:solidFill>
                <a:latin typeface="Arial" pitchFamily="34" charset="0"/>
                <a:ea typeface="Arial" pitchFamily="34" charset="-122"/>
                <a:cs typeface="Arial" pitchFamily="34" charset="-120"/>
              </a:rPr>
              <a:t>M1</a:t>
            </a:r>
            <a:endParaRPr lang="en-US" sz="2200" dirty="0"/>
          </a:p>
        </p:txBody>
      </p:sp>
      <p:sp>
        <p:nvSpPr>
          <p:cNvPr id="14" name="Text 12"/>
          <p:cNvSpPr/>
          <p:nvPr/>
        </p:nvSpPr>
        <p:spPr>
          <a:xfrm>
            <a:off x="5513832" y="2697480"/>
            <a:ext cx="2194560" cy="274320"/>
          </a:xfrm>
          <a:prstGeom prst="rect">
            <a:avLst/>
          </a:prstGeom>
          <a:noFill/>
          <a:ln/>
        </p:spPr>
        <p:txBody>
          <a:bodyPr wrap="square" lIns="0" tIns="0" rIns="0" bIns="0" rtlCol="0" anchor="ctr"/>
          <a:lstStyle/>
          <a:p>
            <a:pPr algn="r" indent="0" marL="0">
              <a:buNone/>
            </a:pPr>
            <a:r>
              <a:rPr lang="en-US" sz="1000" b="1" spc="250" kern="0" dirty="0">
                <a:solidFill>
                  <a:srgbClr val="5B6B7B"/>
                </a:solidFill>
                <a:latin typeface="Arial" pitchFamily="34" charset="0"/>
                <a:ea typeface="Arial" pitchFamily="34" charset="-122"/>
                <a:cs typeface="Arial" pitchFamily="34" charset="-120"/>
              </a:rPr>
              <a:t>WEEKS 2–4</a:t>
            </a:r>
            <a:endParaRPr lang="en-US" sz="1000" dirty="0"/>
          </a:p>
        </p:txBody>
      </p:sp>
      <p:sp>
        <p:nvSpPr>
          <p:cNvPr id="15" name="Text 13"/>
          <p:cNvSpPr/>
          <p:nvPr/>
        </p:nvSpPr>
        <p:spPr>
          <a:xfrm>
            <a:off x="4599432" y="3054096"/>
            <a:ext cx="3108960" cy="292608"/>
          </a:xfrm>
          <a:prstGeom prst="rect">
            <a:avLst/>
          </a:prstGeom>
          <a:noFill/>
          <a:ln/>
        </p:spPr>
        <p:txBody>
          <a:bodyPr wrap="square" lIns="0" tIns="0" rIns="0" bIns="0" rtlCol="0" anchor="ctr"/>
          <a:lstStyle/>
          <a:p>
            <a:pPr indent="0" marL="0">
              <a:buNone/>
            </a:pPr>
            <a:r>
              <a:rPr lang="en-US" sz="1500" b="1" dirty="0">
                <a:solidFill>
                  <a:srgbClr val="10202E"/>
                </a:solidFill>
                <a:latin typeface="Arial" pitchFamily="34" charset="0"/>
                <a:ea typeface="Arial" pitchFamily="34" charset="-122"/>
                <a:cs typeface="Arial" pitchFamily="34" charset="-120"/>
              </a:rPr>
              <a:t>Product Engineering</a:t>
            </a:r>
            <a:endParaRPr lang="en-US" sz="1500" dirty="0"/>
          </a:p>
        </p:txBody>
      </p:sp>
      <p:sp>
        <p:nvSpPr>
          <p:cNvPr id="16" name="Text 14"/>
          <p:cNvSpPr/>
          <p:nvPr/>
        </p:nvSpPr>
        <p:spPr>
          <a:xfrm>
            <a:off x="4599432" y="3401568"/>
            <a:ext cx="3063240" cy="548640"/>
          </a:xfrm>
          <a:prstGeom prst="rect">
            <a:avLst/>
          </a:prstGeom>
          <a:noFill/>
          <a:ln/>
        </p:spPr>
        <p:txBody>
          <a:bodyPr wrap="square" lIns="0" tIns="0" rIns="0" bIns="0" rtlCol="0" anchor="ctr"/>
          <a:lstStyle/>
          <a:p>
            <a:pPr indent="0" marL="0">
              <a:lnSpc>
                <a:spcPct val="120000"/>
              </a:lnSpc>
              <a:buNone/>
            </a:pPr>
            <a:r>
              <a:rPr lang="en-US" sz="1050" dirty="0">
                <a:solidFill>
                  <a:srgbClr val="5B6B7B"/>
                </a:solidFill>
                <a:latin typeface="Arial" pitchFamily="34" charset="0"/>
                <a:ea typeface="Arial" pitchFamily="34" charset="-122"/>
                <a:cs typeface="Arial" pitchFamily="34" charset="-120"/>
              </a:rPr>
              <a:t>Next.js, Postgres, auth, deploys. Two live apps with real users.</a:t>
            </a:r>
            <a:endParaRPr lang="en-US" sz="1050" dirty="0"/>
          </a:p>
        </p:txBody>
      </p:sp>
      <p:sp>
        <p:nvSpPr>
          <p:cNvPr id="17" name="Shape 15"/>
          <p:cNvSpPr/>
          <p:nvPr/>
        </p:nvSpPr>
        <p:spPr>
          <a:xfrm>
            <a:off x="8010144" y="2395728"/>
            <a:ext cx="3529584" cy="1664208"/>
          </a:xfrm>
          <a:prstGeom prst="rect">
            <a:avLst/>
          </a:prstGeom>
          <a:solidFill>
            <a:srgbClr val="FFFFFF"/>
          </a:solidFill>
          <a:ln w="12700">
            <a:solidFill>
              <a:srgbClr val="CDD7DF"/>
            </a:solidFill>
            <a:prstDash val="solid"/>
          </a:ln>
        </p:spPr>
      </p:sp>
      <p:sp>
        <p:nvSpPr>
          <p:cNvPr id="18" name="Shape 16"/>
          <p:cNvSpPr/>
          <p:nvPr/>
        </p:nvSpPr>
        <p:spPr>
          <a:xfrm>
            <a:off x="8010144" y="2395728"/>
            <a:ext cx="82296" cy="1664208"/>
          </a:xfrm>
          <a:prstGeom prst="rect">
            <a:avLst/>
          </a:prstGeom>
          <a:solidFill>
            <a:srgbClr val="00D4AA"/>
          </a:solidFill>
          <a:ln/>
        </p:spPr>
      </p:sp>
      <p:sp>
        <p:nvSpPr>
          <p:cNvPr id="19" name="Text 17"/>
          <p:cNvSpPr/>
          <p:nvPr/>
        </p:nvSpPr>
        <p:spPr>
          <a:xfrm>
            <a:off x="8284464" y="2578608"/>
            <a:ext cx="1097280" cy="411480"/>
          </a:xfrm>
          <a:prstGeom prst="rect">
            <a:avLst/>
          </a:prstGeom>
          <a:noFill/>
          <a:ln/>
        </p:spPr>
        <p:txBody>
          <a:bodyPr wrap="square" lIns="0" tIns="0" rIns="0" bIns="0" rtlCol="0" anchor="ctr"/>
          <a:lstStyle/>
          <a:p>
            <a:pPr indent="0" marL="0">
              <a:buNone/>
            </a:pPr>
            <a:r>
              <a:rPr lang="en-US" sz="2200" b="1" dirty="0">
                <a:solidFill>
                  <a:srgbClr val="0A8F77"/>
                </a:solidFill>
                <a:latin typeface="Arial" pitchFamily="34" charset="0"/>
                <a:ea typeface="Arial" pitchFamily="34" charset="-122"/>
                <a:cs typeface="Arial" pitchFamily="34" charset="-120"/>
              </a:rPr>
              <a:t>M2</a:t>
            </a:r>
            <a:endParaRPr lang="en-US" sz="2200" dirty="0"/>
          </a:p>
        </p:txBody>
      </p:sp>
      <p:sp>
        <p:nvSpPr>
          <p:cNvPr id="20" name="Text 18"/>
          <p:cNvSpPr/>
          <p:nvPr/>
        </p:nvSpPr>
        <p:spPr>
          <a:xfrm>
            <a:off x="9198864" y="2697480"/>
            <a:ext cx="2194560" cy="274320"/>
          </a:xfrm>
          <a:prstGeom prst="rect">
            <a:avLst/>
          </a:prstGeom>
          <a:noFill/>
          <a:ln/>
        </p:spPr>
        <p:txBody>
          <a:bodyPr wrap="square" lIns="0" tIns="0" rIns="0" bIns="0" rtlCol="0" anchor="ctr"/>
          <a:lstStyle/>
          <a:p>
            <a:pPr algn="r" indent="0" marL="0">
              <a:buNone/>
            </a:pPr>
            <a:r>
              <a:rPr lang="en-US" sz="1000" b="1" spc="250" kern="0" dirty="0">
                <a:solidFill>
                  <a:srgbClr val="5B6B7B"/>
                </a:solidFill>
                <a:latin typeface="Arial" pitchFamily="34" charset="0"/>
                <a:ea typeface="Arial" pitchFamily="34" charset="-122"/>
                <a:cs typeface="Arial" pitchFamily="34" charset="-120"/>
              </a:rPr>
              <a:t>WEEKS 5–7</a:t>
            </a:r>
            <a:endParaRPr lang="en-US" sz="1000" dirty="0"/>
          </a:p>
        </p:txBody>
      </p:sp>
      <p:sp>
        <p:nvSpPr>
          <p:cNvPr id="21" name="Text 19"/>
          <p:cNvSpPr/>
          <p:nvPr/>
        </p:nvSpPr>
        <p:spPr>
          <a:xfrm>
            <a:off x="8284464" y="3054096"/>
            <a:ext cx="3108960" cy="292608"/>
          </a:xfrm>
          <a:prstGeom prst="rect">
            <a:avLst/>
          </a:prstGeom>
          <a:noFill/>
          <a:ln/>
        </p:spPr>
        <p:txBody>
          <a:bodyPr wrap="square" lIns="0" tIns="0" rIns="0" bIns="0" rtlCol="0" anchor="ctr"/>
          <a:lstStyle/>
          <a:p>
            <a:pPr indent="0" marL="0">
              <a:buNone/>
            </a:pPr>
            <a:r>
              <a:rPr lang="en-US" sz="1500" b="1" dirty="0">
                <a:solidFill>
                  <a:srgbClr val="10202E"/>
                </a:solidFill>
                <a:latin typeface="Arial" pitchFamily="34" charset="0"/>
                <a:ea typeface="Arial" pitchFamily="34" charset="-122"/>
                <a:cs typeface="Arial" pitchFamily="34" charset="-120"/>
              </a:rPr>
              <a:t>AI Product Patterns</a:t>
            </a:r>
            <a:endParaRPr lang="en-US" sz="1500" dirty="0"/>
          </a:p>
        </p:txBody>
      </p:sp>
      <p:sp>
        <p:nvSpPr>
          <p:cNvPr id="22" name="Text 20"/>
          <p:cNvSpPr/>
          <p:nvPr/>
        </p:nvSpPr>
        <p:spPr>
          <a:xfrm>
            <a:off x="8284464" y="3401568"/>
            <a:ext cx="3063240" cy="548640"/>
          </a:xfrm>
          <a:prstGeom prst="rect">
            <a:avLst/>
          </a:prstGeom>
          <a:noFill/>
          <a:ln/>
        </p:spPr>
        <p:txBody>
          <a:bodyPr wrap="square" lIns="0" tIns="0" rIns="0" bIns="0" rtlCol="0" anchor="ctr"/>
          <a:lstStyle/>
          <a:p>
            <a:pPr indent="0" marL="0">
              <a:lnSpc>
                <a:spcPct val="120000"/>
              </a:lnSpc>
              <a:buNone/>
            </a:pPr>
            <a:r>
              <a:rPr lang="en-US" sz="1050" dirty="0">
                <a:solidFill>
                  <a:srgbClr val="5B6B7B"/>
                </a:solidFill>
                <a:latin typeface="Arial" pitchFamily="34" charset="0"/>
                <a:ea typeface="Arial" pitchFamily="34" charset="-122"/>
                <a:cs typeface="Arial" pitchFamily="34" charset="-120"/>
              </a:rPr>
              <a:t>LLM APIs, RAG, agents. One real AI-powered product.</a:t>
            </a:r>
            <a:endParaRPr lang="en-US" sz="1050" dirty="0"/>
          </a:p>
        </p:txBody>
      </p:sp>
      <p:sp>
        <p:nvSpPr>
          <p:cNvPr id="23" name="Shape 21"/>
          <p:cNvSpPr/>
          <p:nvPr/>
        </p:nvSpPr>
        <p:spPr>
          <a:xfrm>
            <a:off x="640080" y="4261104"/>
            <a:ext cx="3529584" cy="1664208"/>
          </a:xfrm>
          <a:prstGeom prst="rect">
            <a:avLst/>
          </a:prstGeom>
          <a:solidFill>
            <a:srgbClr val="FFFFFF"/>
          </a:solidFill>
          <a:ln w="12700">
            <a:solidFill>
              <a:srgbClr val="CDD7DF"/>
            </a:solidFill>
            <a:prstDash val="solid"/>
          </a:ln>
        </p:spPr>
      </p:sp>
      <p:sp>
        <p:nvSpPr>
          <p:cNvPr id="24" name="Shape 22"/>
          <p:cNvSpPr/>
          <p:nvPr/>
        </p:nvSpPr>
        <p:spPr>
          <a:xfrm>
            <a:off x="640080" y="4261104"/>
            <a:ext cx="82296" cy="1664208"/>
          </a:xfrm>
          <a:prstGeom prst="rect">
            <a:avLst/>
          </a:prstGeom>
          <a:solidFill>
            <a:srgbClr val="0A2540"/>
          </a:solidFill>
          <a:ln/>
        </p:spPr>
      </p:sp>
      <p:sp>
        <p:nvSpPr>
          <p:cNvPr id="25" name="Text 23"/>
          <p:cNvSpPr/>
          <p:nvPr/>
        </p:nvSpPr>
        <p:spPr>
          <a:xfrm>
            <a:off x="914400" y="4443984"/>
            <a:ext cx="1097280" cy="411480"/>
          </a:xfrm>
          <a:prstGeom prst="rect">
            <a:avLst/>
          </a:prstGeom>
          <a:noFill/>
          <a:ln/>
        </p:spPr>
        <p:txBody>
          <a:bodyPr wrap="square" lIns="0" tIns="0" rIns="0" bIns="0" rtlCol="0" anchor="ctr"/>
          <a:lstStyle/>
          <a:p>
            <a:pPr indent="0" marL="0">
              <a:buNone/>
            </a:pPr>
            <a:r>
              <a:rPr lang="en-US" sz="2200" b="1" dirty="0">
                <a:solidFill>
                  <a:srgbClr val="0A2540"/>
                </a:solidFill>
                <a:latin typeface="Arial" pitchFamily="34" charset="0"/>
                <a:ea typeface="Arial" pitchFamily="34" charset="-122"/>
                <a:cs typeface="Arial" pitchFamily="34" charset="-120"/>
              </a:rPr>
              <a:t>M3</a:t>
            </a:r>
            <a:endParaRPr lang="en-US" sz="2200" dirty="0"/>
          </a:p>
        </p:txBody>
      </p:sp>
      <p:sp>
        <p:nvSpPr>
          <p:cNvPr id="26" name="Text 24"/>
          <p:cNvSpPr/>
          <p:nvPr/>
        </p:nvSpPr>
        <p:spPr>
          <a:xfrm>
            <a:off x="1828800" y="4562856"/>
            <a:ext cx="2194560" cy="274320"/>
          </a:xfrm>
          <a:prstGeom prst="rect">
            <a:avLst/>
          </a:prstGeom>
          <a:noFill/>
          <a:ln/>
        </p:spPr>
        <p:txBody>
          <a:bodyPr wrap="square" lIns="0" tIns="0" rIns="0" bIns="0" rtlCol="0" anchor="ctr"/>
          <a:lstStyle/>
          <a:p>
            <a:pPr algn="r" indent="0" marL="0">
              <a:buNone/>
            </a:pPr>
            <a:r>
              <a:rPr lang="en-US" sz="1000" b="1" spc="250" kern="0" dirty="0">
                <a:solidFill>
                  <a:srgbClr val="5B6B7B"/>
                </a:solidFill>
                <a:latin typeface="Arial" pitchFamily="34" charset="0"/>
                <a:ea typeface="Arial" pitchFamily="34" charset="-122"/>
                <a:cs typeface="Arial" pitchFamily="34" charset="-120"/>
              </a:rPr>
              <a:t>WEEK 8</a:t>
            </a:r>
            <a:endParaRPr lang="en-US" sz="1000" dirty="0"/>
          </a:p>
        </p:txBody>
      </p:sp>
      <p:sp>
        <p:nvSpPr>
          <p:cNvPr id="27" name="Text 25"/>
          <p:cNvSpPr/>
          <p:nvPr/>
        </p:nvSpPr>
        <p:spPr>
          <a:xfrm>
            <a:off x="914400" y="4919472"/>
            <a:ext cx="3108960" cy="292608"/>
          </a:xfrm>
          <a:prstGeom prst="rect">
            <a:avLst/>
          </a:prstGeom>
          <a:noFill/>
          <a:ln/>
        </p:spPr>
        <p:txBody>
          <a:bodyPr wrap="square" lIns="0" tIns="0" rIns="0" bIns="0" rtlCol="0" anchor="ctr"/>
          <a:lstStyle/>
          <a:p>
            <a:pPr indent="0" marL="0">
              <a:buNone/>
            </a:pPr>
            <a:r>
              <a:rPr lang="en-US" sz="1500" b="1" dirty="0">
                <a:solidFill>
                  <a:srgbClr val="10202E"/>
                </a:solidFill>
                <a:latin typeface="Arial" pitchFamily="34" charset="0"/>
                <a:ea typeface="Arial" pitchFamily="34" charset="-122"/>
                <a:cs typeface="Arial" pitchFamily="34" charset="-120"/>
              </a:rPr>
              <a:t>Eval &amp; Reliability</a:t>
            </a:r>
            <a:endParaRPr lang="en-US" sz="1500" dirty="0"/>
          </a:p>
        </p:txBody>
      </p:sp>
      <p:sp>
        <p:nvSpPr>
          <p:cNvPr id="28" name="Text 26"/>
          <p:cNvSpPr/>
          <p:nvPr/>
        </p:nvSpPr>
        <p:spPr>
          <a:xfrm>
            <a:off x="914400" y="5266944"/>
            <a:ext cx="3063240" cy="548640"/>
          </a:xfrm>
          <a:prstGeom prst="rect">
            <a:avLst/>
          </a:prstGeom>
          <a:noFill/>
          <a:ln/>
        </p:spPr>
        <p:txBody>
          <a:bodyPr wrap="square" lIns="0" tIns="0" rIns="0" bIns="0" rtlCol="0" anchor="ctr"/>
          <a:lstStyle/>
          <a:p>
            <a:pPr indent="0" marL="0">
              <a:lnSpc>
                <a:spcPct val="120000"/>
              </a:lnSpc>
              <a:buNone/>
            </a:pPr>
            <a:r>
              <a:rPr lang="en-US" sz="1050" dirty="0">
                <a:solidFill>
                  <a:srgbClr val="5B6B7B"/>
                </a:solidFill>
                <a:latin typeface="Arial" pitchFamily="34" charset="0"/>
                <a:ea typeface="Arial" pitchFamily="34" charset="-122"/>
                <a:cs typeface="Arial" pitchFamily="34" charset="-120"/>
              </a:rPr>
              <a:t>Eval-driven development. A suite that catches regressions.</a:t>
            </a:r>
            <a:endParaRPr lang="en-US" sz="1050" dirty="0"/>
          </a:p>
        </p:txBody>
      </p:sp>
      <p:sp>
        <p:nvSpPr>
          <p:cNvPr id="29" name="Shape 27"/>
          <p:cNvSpPr/>
          <p:nvPr/>
        </p:nvSpPr>
        <p:spPr>
          <a:xfrm>
            <a:off x="4325112" y="4261104"/>
            <a:ext cx="3529584" cy="1664208"/>
          </a:xfrm>
          <a:prstGeom prst="rect">
            <a:avLst/>
          </a:prstGeom>
          <a:solidFill>
            <a:srgbClr val="FFFFFF"/>
          </a:solidFill>
          <a:ln w="12700">
            <a:solidFill>
              <a:srgbClr val="CDD7DF"/>
            </a:solidFill>
            <a:prstDash val="solid"/>
          </a:ln>
        </p:spPr>
      </p:sp>
      <p:sp>
        <p:nvSpPr>
          <p:cNvPr id="30" name="Shape 28"/>
          <p:cNvSpPr/>
          <p:nvPr/>
        </p:nvSpPr>
        <p:spPr>
          <a:xfrm>
            <a:off x="4325112" y="4261104"/>
            <a:ext cx="82296" cy="1664208"/>
          </a:xfrm>
          <a:prstGeom prst="rect">
            <a:avLst/>
          </a:prstGeom>
          <a:solidFill>
            <a:srgbClr val="0A2540"/>
          </a:solidFill>
          <a:ln/>
        </p:spPr>
      </p:sp>
      <p:sp>
        <p:nvSpPr>
          <p:cNvPr id="31" name="Text 29"/>
          <p:cNvSpPr/>
          <p:nvPr/>
        </p:nvSpPr>
        <p:spPr>
          <a:xfrm>
            <a:off x="4599432" y="4443984"/>
            <a:ext cx="1097280" cy="411480"/>
          </a:xfrm>
          <a:prstGeom prst="rect">
            <a:avLst/>
          </a:prstGeom>
          <a:noFill/>
          <a:ln/>
        </p:spPr>
        <p:txBody>
          <a:bodyPr wrap="square" lIns="0" tIns="0" rIns="0" bIns="0" rtlCol="0" anchor="ctr"/>
          <a:lstStyle/>
          <a:p>
            <a:pPr indent="0" marL="0">
              <a:buNone/>
            </a:pPr>
            <a:r>
              <a:rPr lang="en-US" sz="2200" b="1" dirty="0">
                <a:solidFill>
                  <a:srgbClr val="0A2540"/>
                </a:solidFill>
                <a:latin typeface="Arial" pitchFamily="34" charset="0"/>
                <a:ea typeface="Arial" pitchFamily="34" charset="-122"/>
                <a:cs typeface="Arial" pitchFamily="34" charset="-120"/>
              </a:rPr>
              <a:t>M4</a:t>
            </a:r>
            <a:endParaRPr lang="en-US" sz="2200" dirty="0"/>
          </a:p>
        </p:txBody>
      </p:sp>
      <p:sp>
        <p:nvSpPr>
          <p:cNvPr id="32" name="Text 30"/>
          <p:cNvSpPr/>
          <p:nvPr/>
        </p:nvSpPr>
        <p:spPr>
          <a:xfrm>
            <a:off x="5513832" y="4562856"/>
            <a:ext cx="2194560" cy="274320"/>
          </a:xfrm>
          <a:prstGeom prst="rect">
            <a:avLst/>
          </a:prstGeom>
          <a:noFill/>
          <a:ln/>
        </p:spPr>
        <p:txBody>
          <a:bodyPr wrap="square" lIns="0" tIns="0" rIns="0" bIns="0" rtlCol="0" anchor="ctr"/>
          <a:lstStyle/>
          <a:p>
            <a:pPr algn="r" indent="0" marL="0">
              <a:buNone/>
            </a:pPr>
            <a:r>
              <a:rPr lang="en-US" sz="1000" b="1" spc="250" kern="0" dirty="0">
                <a:solidFill>
                  <a:srgbClr val="5B6B7B"/>
                </a:solidFill>
                <a:latin typeface="Arial" pitchFamily="34" charset="0"/>
                <a:ea typeface="Arial" pitchFamily="34" charset="-122"/>
                <a:cs typeface="Arial" pitchFamily="34" charset="-120"/>
              </a:rPr>
              <a:t>WEEKS 9–10</a:t>
            </a:r>
            <a:endParaRPr lang="en-US" sz="1000" dirty="0"/>
          </a:p>
        </p:txBody>
      </p:sp>
      <p:sp>
        <p:nvSpPr>
          <p:cNvPr id="33" name="Text 31"/>
          <p:cNvSpPr/>
          <p:nvPr/>
        </p:nvSpPr>
        <p:spPr>
          <a:xfrm>
            <a:off x="4599432" y="4919472"/>
            <a:ext cx="3108960" cy="292608"/>
          </a:xfrm>
          <a:prstGeom prst="rect">
            <a:avLst/>
          </a:prstGeom>
          <a:noFill/>
          <a:ln/>
        </p:spPr>
        <p:txBody>
          <a:bodyPr wrap="square" lIns="0" tIns="0" rIns="0" bIns="0" rtlCol="0" anchor="ctr"/>
          <a:lstStyle/>
          <a:p>
            <a:pPr indent="0" marL="0">
              <a:buNone/>
            </a:pPr>
            <a:r>
              <a:rPr lang="en-US" sz="1500" b="1" dirty="0">
                <a:solidFill>
                  <a:srgbClr val="10202E"/>
                </a:solidFill>
                <a:latin typeface="Arial" pitchFamily="34" charset="0"/>
                <a:ea typeface="Arial" pitchFamily="34" charset="-122"/>
                <a:cs typeface="Arial" pitchFamily="34" charset="-120"/>
              </a:rPr>
              <a:t>Shipping in a Startup</a:t>
            </a:r>
            <a:endParaRPr lang="en-US" sz="1500" dirty="0"/>
          </a:p>
        </p:txBody>
      </p:sp>
      <p:sp>
        <p:nvSpPr>
          <p:cNvPr id="34" name="Text 32"/>
          <p:cNvSpPr/>
          <p:nvPr/>
        </p:nvSpPr>
        <p:spPr>
          <a:xfrm>
            <a:off x="4599432" y="5266944"/>
            <a:ext cx="3063240" cy="548640"/>
          </a:xfrm>
          <a:prstGeom prst="rect">
            <a:avLst/>
          </a:prstGeom>
          <a:noFill/>
          <a:ln/>
        </p:spPr>
        <p:txBody>
          <a:bodyPr wrap="square" lIns="0" tIns="0" rIns="0" bIns="0" rtlCol="0" anchor="ctr"/>
          <a:lstStyle/>
          <a:p>
            <a:pPr indent="0" marL="0">
              <a:lnSpc>
                <a:spcPct val="120000"/>
              </a:lnSpc>
              <a:buNone/>
            </a:pPr>
            <a:r>
              <a:rPr lang="en-US" sz="1050" dirty="0">
                <a:solidFill>
                  <a:srgbClr val="5B6B7B"/>
                </a:solidFill>
                <a:latin typeface="Arial" pitchFamily="34" charset="0"/>
                <a:ea typeface="Arial" pitchFamily="34" charset="-122"/>
                <a:cs typeface="Arial" pitchFamily="34" charset="-120"/>
              </a:rPr>
              <a:t>Teams of 3–4. Linear, PRs, sprint rituals, code review.</a:t>
            </a:r>
            <a:endParaRPr lang="en-US" sz="1050" dirty="0"/>
          </a:p>
        </p:txBody>
      </p:sp>
      <p:sp>
        <p:nvSpPr>
          <p:cNvPr id="35" name="Shape 33"/>
          <p:cNvSpPr/>
          <p:nvPr/>
        </p:nvSpPr>
        <p:spPr>
          <a:xfrm>
            <a:off x="8010144" y="4261104"/>
            <a:ext cx="3529584" cy="1664208"/>
          </a:xfrm>
          <a:prstGeom prst="rect">
            <a:avLst/>
          </a:prstGeom>
          <a:solidFill>
            <a:srgbClr val="FFFFFF"/>
          </a:solidFill>
          <a:ln w="12700">
            <a:solidFill>
              <a:srgbClr val="CDD7DF"/>
            </a:solidFill>
            <a:prstDash val="solid"/>
          </a:ln>
        </p:spPr>
      </p:sp>
      <p:sp>
        <p:nvSpPr>
          <p:cNvPr id="36" name="Shape 34"/>
          <p:cNvSpPr/>
          <p:nvPr/>
        </p:nvSpPr>
        <p:spPr>
          <a:xfrm>
            <a:off x="8010144" y="4261104"/>
            <a:ext cx="82296" cy="1664208"/>
          </a:xfrm>
          <a:prstGeom prst="rect">
            <a:avLst/>
          </a:prstGeom>
          <a:solidFill>
            <a:srgbClr val="00D4AA"/>
          </a:solidFill>
          <a:ln/>
        </p:spPr>
      </p:sp>
      <p:sp>
        <p:nvSpPr>
          <p:cNvPr id="37" name="Text 35"/>
          <p:cNvSpPr/>
          <p:nvPr/>
        </p:nvSpPr>
        <p:spPr>
          <a:xfrm>
            <a:off x="8284464" y="4443984"/>
            <a:ext cx="1097280" cy="411480"/>
          </a:xfrm>
          <a:prstGeom prst="rect">
            <a:avLst/>
          </a:prstGeom>
          <a:noFill/>
          <a:ln/>
        </p:spPr>
        <p:txBody>
          <a:bodyPr wrap="square" lIns="0" tIns="0" rIns="0" bIns="0" rtlCol="0" anchor="ctr"/>
          <a:lstStyle/>
          <a:p>
            <a:pPr indent="0" marL="0">
              <a:buNone/>
            </a:pPr>
            <a:r>
              <a:rPr lang="en-US" sz="2200" b="1" dirty="0">
                <a:solidFill>
                  <a:srgbClr val="0A8F77"/>
                </a:solidFill>
                <a:latin typeface="Arial" pitchFamily="34" charset="0"/>
                <a:ea typeface="Arial" pitchFamily="34" charset="-122"/>
                <a:cs typeface="Arial" pitchFamily="34" charset="-120"/>
              </a:rPr>
              <a:t>M5</a:t>
            </a:r>
            <a:endParaRPr lang="en-US" sz="2200" dirty="0"/>
          </a:p>
        </p:txBody>
      </p:sp>
      <p:sp>
        <p:nvSpPr>
          <p:cNvPr id="38" name="Text 36"/>
          <p:cNvSpPr/>
          <p:nvPr/>
        </p:nvSpPr>
        <p:spPr>
          <a:xfrm>
            <a:off x="9198864" y="4562856"/>
            <a:ext cx="2194560" cy="274320"/>
          </a:xfrm>
          <a:prstGeom prst="rect">
            <a:avLst/>
          </a:prstGeom>
          <a:noFill/>
          <a:ln/>
        </p:spPr>
        <p:txBody>
          <a:bodyPr wrap="square" lIns="0" tIns="0" rIns="0" bIns="0" rtlCol="0" anchor="ctr"/>
          <a:lstStyle/>
          <a:p>
            <a:pPr algn="r" indent="0" marL="0">
              <a:buNone/>
            </a:pPr>
            <a:r>
              <a:rPr lang="en-US" sz="1000" b="1" spc="250" kern="0" dirty="0">
                <a:solidFill>
                  <a:srgbClr val="5B6B7B"/>
                </a:solidFill>
                <a:latin typeface="Arial" pitchFamily="34" charset="0"/>
                <a:ea typeface="Arial" pitchFamily="34" charset="-122"/>
                <a:cs typeface="Arial" pitchFamily="34" charset="-120"/>
              </a:rPr>
              <a:t>WEEKS 11–13</a:t>
            </a:r>
            <a:endParaRPr lang="en-US" sz="1000" dirty="0"/>
          </a:p>
        </p:txBody>
      </p:sp>
      <p:sp>
        <p:nvSpPr>
          <p:cNvPr id="39" name="Text 37"/>
          <p:cNvSpPr/>
          <p:nvPr/>
        </p:nvSpPr>
        <p:spPr>
          <a:xfrm>
            <a:off x="8284464" y="4919472"/>
            <a:ext cx="3108960" cy="292608"/>
          </a:xfrm>
          <a:prstGeom prst="rect">
            <a:avLst/>
          </a:prstGeom>
          <a:noFill/>
          <a:ln/>
        </p:spPr>
        <p:txBody>
          <a:bodyPr wrap="square" lIns="0" tIns="0" rIns="0" bIns="0" rtlCol="0" anchor="ctr"/>
          <a:lstStyle/>
          <a:p>
            <a:pPr indent="0" marL="0">
              <a:buNone/>
            </a:pPr>
            <a:r>
              <a:rPr lang="en-US" sz="1500" b="1" dirty="0">
                <a:solidFill>
                  <a:srgbClr val="10202E"/>
                </a:solidFill>
                <a:latin typeface="Arial" pitchFamily="34" charset="0"/>
                <a:ea typeface="Arial" pitchFamily="34" charset="-122"/>
                <a:cs typeface="Arial" pitchFamily="34" charset="-120"/>
              </a:rPr>
              <a:t>Capstone</a:t>
            </a:r>
            <a:endParaRPr lang="en-US" sz="1500" dirty="0"/>
          </a:p>
        </p:txBody>
      </p:sp>
      <p:sp>
        <p:nvSpPr>
          <p:cNvPr id="40" name="Text 38"/>
          <p:cNvSpPr/>
          <p:nvPr/>
        </p:nvSpPr>
        <p:spPr>
          <a:xfrm>
            <a:off x="8284464" y="5266944"/>
            <a:ext cx="3063240" cy="548640"/>
          </a:xfrm>
          <a:prstGeom prst="rect">
            <a:avLst/>
          </a:prstGeom>
          <a:noFill/>
          <a:ln/>
        </p:spPr>
        <p:txBody>
          <a:bodyPr wrap="square" lIns="0" tIns="0" rIns="0" bIns="0" rtlCol="0" anchor="ctr"/>
          <a:lstStyle/>
          <a:p>
            <a:pPr indent="0" marL="0">
              <a:lnSpc>
                <a:spcPct val="120000"/>
              </a:lnSpc>
              <a:buNone/>
            </a:pPr>
            <a:r>
              <a:rPr lang="en-US" sz="1050" dirty="0">
                <a:solidFill>
                  <a:srgbClr val="5B6B7B"/>
                </a:solidFill>
                <a:latin typeface="Arial" pitchFamily="34" charset="0"/>
                <a:ea typeface="Arial" pitchFamily="34" charset="-122"/>
                <a:cs typeface="Arial" pitchFamily="34" charset="-120"/>
              </a:rPr>
              <a:t>Public launch, real users — reviewed by an external AI-startup engineer.</a:t>
            </a:r>
            <a:endParaRPr lang="en-US" sz="1050" dirty="0"/>
          </a:p>
        </p:txBody>
      </p:sp>
      <p:sp>
        <p:nvSpPr>
          <p:cNvPr id="41" name="Shape 39"/>
          <p:cNvSpPr/>
          <p:nvPr/>
        </p:nvSpPr>
        <p:spPr>
          <a:xfrm>
            <a:off x="640080" y="6327648"/>
            <a:ext cx="10911535" cy="0"/>
          </a:xfrm>
          <a:prstGeom prst="line">
            <a:avLst/>
          </a:prstGeom>
          <a:noFill/>
          <a:ln w="12700">
            <a:solidFill>
              <a:srgbClr val="CDD7DF"/>
            </a:solidFill>
            <a:prstDash val="solid"/>
          </a:ln>
        </p:spPr>
      </p:sp>
      <p:sp>
        <p:nvSpPr>
          <p:cNvPr id="42" name="Text 40"/>
          <p:cNvSpPr/>
          <p:nvPr/>
        </p:nvSpPr>
        <p:spPr>
          <a:xfrm>
            <a:off x="640080" y="6400800"/>
            <a:ext cx="6400800" cy="274320"/>
          </a:xfrm>
          <a:prstGeom prst="rect">
            <a:avLst/>
          </a:prstGeom>
          <a:noFill/>
          <a:ln/>
        </p:spPr>
        <p:txBody>
          <a:bodyPr wrap="square" lIns="0" tIns="0" rIns="0" bIns="0" rtlCol="0" anchor="ctr"/>
          <a:lstStyle/>
          <a:p>
            <a:pPr indent="0" marL="0">
              <a:buNone/>
            </a:pPr>
            <a:r>
              <a:rPr lang="en-US" sz="1000" b="1" spc="200" kern="0" dirty="0">
                <a:solidFill>
                  <a:srgbClr val="5B6B7B"/>
                </a:solidFill>
                <a:latin typeface="Arial" pitchFamily="34" charset="0"/>
                <a:ea typeface="Arial" pitchFamily="34" charset="-122"/>
                <a:cs typeface="Arial" pitchFamily="34" charset="-120"/>
              </a:rPr>
              <a:t>BuildAI  /  Curriculum</a:t>
            </a:r>
            <a:endParaRPr lang="en-US" sz="1000" dirty="0"/>
          </a:p>
        </p:txBody>
      </p:sp>
      <p:sp>
        <p:nvSpPr>
          <p:cNvPr id="43" name="Shape 41"/>
          <p:cNvSpPr/>
          <p:nvPr/>
        </p:nvSpPr>
        <p:spPr>
          <a:xfrm>
            <a:off x="10725912" y="6391656"/>
            <a:ext cx="822960" cy="310896"/>
          </a:xfrm>
          <a:prstGeom prst="rect">
            <a:avLst/>
          </a:prstGeom>
          <a:solidFill>
            <a:srgbClr val="0A2540"/>
          </a:solidFill>
          <a:ln/>
        </p:spPr>
      </p:sp>
      <p:sp>
        <p:nvSpPr>
          <p:cNvPr id="44" name="Text 42"/>
          <p:cNvSpPr/>
          <p:nvPr/>
        </p:nvSpPr>
        <p:spPr>
          <a:xfrm>
            <a:off x="10725912" y="6391656"/>
            <a:ext cx="8229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09 / 21</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8229600" cy="292608"/>
          </a:xfrm>
          <a:prstGeom prst="rect">
            <a:avLst/>
          </a:prstGeom>
          <a:noFill/>
          <a:ln/>
        </p:spPr>
        <p:txBody>
          <a:bodyPr wrap="square" lIns="0" tIns="0" rIns="0" bIns="0" rtlCol="0" anchor="ctr"/>
          <a:lstStyle/>
          <a:p>
            <a:pPr indent="0" marL="0">
              <a:buNone/>
            </a:pPr>
            <a:r>
              <a:rPr lang="en-US" sz="1100" b="1" spc="300" kern="0" dirty="0">
                <a:solidFill>
                  <a:srgbClr val="0A8F77"/>
                </a:solidFill>
                <a:latin typeface="Arial" pitchFamily="34" charset="0"/>
                <a:ea typeface="Arial" pitchFamily="34" charset="-122"/>
                <a:cs typeface="Arial" pitchFamily="34" charset="-120"/>
              </a:rPr>
              <a:t>10 / 21</a:t>
            </a:r>
            <a:pPr indent="0" marL="0">
              <a:buNone/>
            </a:pPr>
            <a:r>
              <a:rPr lang="en-US" sz="1100" b="1" spc="300" kern="0" dirty="0">
                <a:solidFill>
                  <a:srgbClr val="5B6B7B"/>
                </a:solidFill>
                <a:latin typeface="Arial" pitchFamily="34" charset="0"/>
                <a:ea typeface="Arial" pitchFamily="34" charset="-122"/>
                <a:cs typeface="Arial" pitchFamily="34" charset="-120"/>
              </a:rPr>
              <a:t>   MENTORS</a:t>
            </a:r>
            <a:endParaRPr lang="en-US" sz="1100" dirty="0"/>
          </a:p>
        </p:txBody>
      </p:sp>
      <p:sp>
        <p:nvSpPr>
          <p:cNvPr id="3" name="Text 1"/>
          <p:cNvSpPr/>
          <p:nvPr/>
        </p:nvSpPr>
        <p:spPr>
          <a:xfrm>
            <a:off x="621792" y="841248"/>
            <a:ext cx="10241280" cy="1371600"/>
          </a:xfrm>
          <a:prstGeom prst="rect">
            <a:avLst/>
          </a:prstGeom>
          <a:noFill/>
          <a:ln/>
        </p:spPr>
        <p:txBody>
          <a:bodyPr wrap="square" lIns="0" tIns="0" rIns="0" bIns="0" rtlCol="0" anchor="ctr"/>
          <a:lstStyle/>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Mentored by working engineers.</a:t>
            </a:r>
            <a:endParaRPr lang="en-US" sz="3300" dirty="0"/>
          </a:p>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Not by teaching assistants.</a:t>
            </a:r>
            <a:endParaRPr lang="en-US" sz="3300" dirty="0"/>
          </a:p>
        </p:txBody>
      </p:sp>
      <p:sp>
        <p:nvSpPr>
          <p:cNvPr id="4" name="Text 2"/>
          <p:cNvSpPr/>
          <p:nvPr/>
        </p:nvSpPr>
        <p:spPr>
          <a:xfrm>
            <a:off x="640080" y="2468880"/>
            <a:ext cx="2194560" cy="548640"/>
          </a:xfrm>
          <a:prstGeom prst="rect">
            <a:avLst/>
          </a:prstGeom>
          <a:noFill/>
          <a:ln/>
        </p:spPr>
        <p:txBody>
          <a:bodyPr wrap="square" lIns="0" tIns="0" rIns="0" bIns="0" rtlCol="0" anchor="ctr"/>
          <a:lstStyle/>
          <a:p>
            <a:pPr indent="0" marL="0">
              <a:buNone/>
            </a:pPr>
            <a:r>
              <a:rPr lang="en-US" sz="3000" b="1" dirty="0">
                <a:solidFill>
                  <a:srgbClr val="0A8F77"/>
                </a:solidFill>
                <a:latin typeface="Arial" pitchFamily="34" charset="0"/>
                <a:ea typeface="Arial" pitchFamily="34" charset="-122"/>
                <a:cs typeface="Arial" pitchFamily="34" charset="-120"/>
              </a:rPr>
              <a:t>1 : 8–12</a:t>
            </a:r>
            <a:endParaRPr lang="en-US" sz="3000" dirty="0"/>
          </a:p>
        </p:txBody>
      </p:sp>
      <p:sp>
        <p:nvSpPr>
          <p:cNvPr id="5" name="Text 3"/>
          <p:cNvSpPr/>
          <p:nvPr/>
        </p:nvSpPr>
        <p:spPr>
          <a:xfrm>
            <a:off x="2926080" y="2505456"/>
            <a:ext cx="3657600" cy="320040"/>
          </a:xfrm>
          <a:prstGeom prst="rect">
            <a:avLst/>
          </a:prstGeom>
          <a:noFill/>
          <a:ln/>
        </p:spPr>
        <p:txBody>
          <a:bodyPr wrap="square" lIns="0" tIns="0" rIns="0" bIns="0" rtlCol="0" anchor="ctr"/>
          <a:lstStyle/>
          <a:p>
            <a:pPr indent="0" marL="0">
              <a:buNone/>
            </a:pPr>
            <a:r>
              <a:rPr lang="en-US" sz="1500" b="1" dirty="0">
                <a:solidFill>
                  <a:srgbClr val="10202E"/>
                </a:solidFill>
                <a:latin typeface="Arial" pitchFamily="34" charset="0"/>
                <a:ea typeface="Arial" pitchFamily="34" charset="-122"/>
                <a:cs typeface="Arial" pitchFamily="34" charset="-120"/>
              </a:rPr>
              <a:t>Mentor-to-student ratio</a:t>
            </a:r>
            <a:endParaRPr lang="en-US" sz="1500" dirty="0"/>
          </a:p>
        </p:txBody>
      </p:sp>
      <p:sp>
        <p:nvSpPr>
          <p:cNvPr id="6" name="Text 4"/>
          <p:cNvSpPr/>
          <p:nvPr/>
        </p:nvSpPr>
        <p:spPr>
          <a:xfrm>
            <a:off x="2926080" y="2852928"/>
            <a:ext cx="3840480" cy="548640"/>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One lead mentor per pod. Every student's code gets senior eyes weekly.</a:t>
            </a:r>
            <a:endParaRPr lang="en-US" sz="1150" dirty="0"/>
          </a:p>
        </p:txBody>
      </p:sp>
      <p:sp>
        <p:nvSpPr>
          <p:cNvPr id="7" name="Shape 5"/>
          <p:cNvSpPr/>
          <p:nvPr/>
        </p:nvSpPr>
        <p:spPr>
          <a:xfrm>
            <a:off x="640080" y="3410712"/>
            <a:ext cx="6309360" cy="0"/>
          </a:xfrm>
          <a:prstGeom prst="line">
            <a:avLst/>
          </a:prstGeom>
          <a:noFill/>
          <a:ln w="12700">
            <a:solidFill>
              <a:srgbClr val="CDD7DF"/>
            </a:solidFill>
            <a:prstDash val="solid"/>
          </a:ln>
        </p:spPr>
      </p:sp>
      <p:sp>
        <p:nvSpPr>
          <p:cNvPr id="8" name="Text 6"/>
          <p:cNvSpPr/>
          <p:nvPr/>
        </p:nvSpPr>
        <p:spPr>
          <a:xfrm>
            <a:off x="640080" y="3611880"/>
            <a:ext cx="2194560" cy="548640"/>
          </a:xfrm>
          <a:prstGeom prst="rect">
            <a:avLst/>
          </a:prstGeom>
          <a:noFill/>
          <a:ln/>
        </p:spPr>
        <p:txBody>
          <a:bodyPr wrap="square" lIns="0" tIns="0" rIns="0" bIns="0" rtlCol="0" anchor="ctr"/>
          <a:lstStyle/>
          <a:p>
            <a:pPr indent="0" marL="0">
              <a:buNone/>
            </a:pPr>
            <a:r>
              <a:rPr lang="en-US" sz="3000" b="1" dirty="0">
                <a:solidFill>
                  <a:srgbClr val="0A8F77"/>
                </a:solidFill>
                <a:latin typeface="Arial" pitchFamily="34" charset="0"/>
                <a:ea typeface="Arial" pitchFamily="34" charset="-122"/>
                <a:cs typeface="Arial" pitchFamily="34" charset="-120"/>
              </a:rPr>
              <a:t>4–6 hrs</a:t>
            </a:r>
            <a:endParaRPr lang="en-US" sz="3000" dirty="0"/>
          </a:p>
        </p:txBody>
      </p:sp>
      <p:sp>
        <p:nvSpPr>
          <p:cNvPr id="9" name="Text 7"/>
          <p:cNvSpPr/>
          <p:nvPr/>
        </p:nvSpPr>
        <p:spPr>
          <a:xfrm>
            <a:off x="2926080" y="3648456"/>
            <a:ext cx="3657600" cy="320040"/>
          </a:xfrm>
          <a:prstGeom prst="rect">
            <a:avLst/>
          </a:prstGeom>
          <a:noFill/>
          <a:ln/>
        </p:spPr>
        <p:txBody>
          <a:bodyPr wrap="square" lIns="0" tIns="0" rIns="0" bIns="0" rtlCol="0" anchor="ctr"/>
          <a:lstStyle/>
          <a:p>
            <a:pPr indent="0" marL="0">
              <a:buNone/>
            </a:pPr>
            <a:r>
              <a:rPr lang="en-US" sz="1500" b="1" dirty="0">
                <a:solidFill>
                  <a:srgbClr val="10202E"/>
                </a:solidFill>
                <a:latin typeface="Arial" pitchFamily="34" charset="0"/>
                <a:ea typeface="Arial" pitchFamily="34" charset="-122"/>
                <a:cs typeface="Arial" pitchFamily="34" charset="-120"/>
              </a:rPr>
              <a:t>Mentor hours per pod, per week</a:t>
            </a:r>
            <a:endParaRPr lang="en-US" sz="1500" dirty="0"/>
          </a:p>
        </p:txBody>
      </p:sp>
      <p:sp>
        <p:nvSpPr>
          <p:cNvPr id="10" name="Text 8"/>
          <p:cNvSpPr/>
          <p:nvPr/>
        </p:nvSpPr>
        <p:spPr>
          <a:xfrm>
            <a:off x="2926080" y="3995928"/>
            <a:ext cx="3840480" cy="548640"/>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Async PR reviews through the week plus the live Saturday session.</a:t>
            </a:r>
            <a:endParaRPr lang="en-US" sz="1150" dirty="0"/>
          </a:p>
        </p:txBody>
      </p:sp>
      <p:sp>
        <p:nvSpPr>
          <p:cNvPr id="11" name="Shape 9"/>
          <p:cNvSpPr/>
          <p:nvPr/>
        </p:nvSpPr>
        <p:spPr>
          <a:xfrm>
            <a:off x="640080" y="4553712"/>
            <a:ext cx="6309360" cy="0"/>
          </a:xfrm>
          <a:prstGeom prst="line">
            <a:avLst/>
          </a:prstGeom>
          <a:noFill/>
          <a:ln w="12700">
            <a:solidFill>
              <a:srgbClr val="CDD7DF"/>
            </a:solidFill>
            <a:prstDash val="solid"/>
          </a:ln>
        </p:spPr>
      </p:sp>
      <p:sp>
        <p:nvSpPr>
          <p:cNvPr id="12" name="Text 10"/>
          <p:cNvSpPr/>
          <p:nvPr/>
        </p:nvSpPr>
        <p:spPr>
          <a:xfrm>
            <a:off x="640080" y="4754880"/>
            <a:ext cx="2194560" cy="548640"/>
          </a:xfrm>
          <a:prstGeom prst="rect">
            <a:avLst/>
          </a:prstGeom>
          <a:noFill/>
          <a:ln/>
        </p:spPr>
        <p:txBody>
          <a:bodyPr wrap="square" lIns="0" tIns="0" rIns="0" bIns="0" rtlCol="0" anchor="ctr"/>
          <a:lstStyle/>
          <a:p>
            <a:pPr indent="0" marL="0">
              <a:buNone/>
            </a:pPr>
            <a:r>
              <a:rPr lang="en-US" sz="3000" b="1" dirty="0">
                <a:solidFill>
                  <a:srgbClr val="0A8F77"/>
                </a:solidFill>
                <a:latin typeface="Arial" pitchFamily="34" charset="0"/>
                <a:ea typeface="Arial" pitchFamily="34" charset="-122"/>
                <a:cs typeface="Arial" pitchFamily="34" charset="-120"/>
              </a:rPr>
              <a:t>100%</a:t>
            </a:r>
            <a:endParaRPr lang="en-US" sz="3000" dirty="0"/>
          </a:p>
        </p:txBody>
      </p:sp>
      <p:sp>
        <p:nvSpPr>
          <p:cNvPr id="13" name="Text 11"/>
          <p:cNvSpPr/>
          <p:nvPr/>
        </p:nvSpPr>
        <p:spPr>
          <a:xfrm>
            <a:off x="2926080" y="4791456"/>
            <a:ext cx="3657600" cy="320040"/>
          </a:xfrm>
          <a:prstGeom prst="rect">
            <a:avLst/>
          </a:prstGeom>
          <a:noFill/>
          <a:ln/>
        </p:spPr>
        <p:txBody>
          <a:bodyPr wrap="square" lIns="0" tIns="0" rIns="0" bIns="0" rtlCol="0" anchor="ctr"/>
          <a:lstStyle/>
          <a:p>
            <a:pPr indent="0" marL="0">
              <a:buNone/>
            </a:pPr>
            <a:r>
              <a:rPr lang="en-US" sz="1500" b="1" dirty="0">
                <a:solidFill>
                  <a:srgbClr val="10202E"/>
                </a:solidFill>
                <a:latin typeface="Arial" pitchFamily="34" charset="0"/>
                <a:ea typeface="Arial" pitchFamily="34" charset="-122"/>
                <a:cs typeface="Arial" pitchFamily="34" charset="-120"/>
              </a:rPr>
              <a:t>Of mentors actively shipping</a:t>
            </a:r>
            <a:endParaRPr lang="en-US" sz="1500" dirty="0"/>
          </a:p>
        </p:txBody>
      </p:sp>
      <p:sp>
        <p:nvSpPr>
          <p:cNvPr id="14" name="Text 12"/>
          <p:cNvSpPr/>
          <p:nvPr/>
        </p:nvSpPr>
        <p:spPr>
          <a:xfrm>
            <a:off x="2926080" y="5138928"/>
            <a:ext cx="3840480" cy="548640"/>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Every mentor writes production code at an AI-first company today.</a:t>
            </a:r>
            <a:endParaRPr lang="en-US" sz="1150" dirty="0"/>
          </a:p>
        </p:txBody>
      </p:sp>
      <p:sp>
        <p:nvSpPr>
          <p:cNvPr id="15" name="Shape 13"/>
          <p:cNvSpPr/>
          <p:nvPr/>
        </p:nvSpPr>
        <p:spPr>
          <a:xfrm>
            <a:off x="7406640" y="2331720"/>
            <a:ext cx="4142232" cy="3611880"/>
          </a:xfrm>
          <a:prstGeom prst="rect">
            <a:avLst/>
          </a:prstGeom>
          <a:solidFill>
            <a:srgbClr val="0A2540"/>
          </a:solidFill>
          <a:ln/>
        </p:spPr>
      </p:sp>
      <p:sp>
        <p:nvSpPr>
          <p:cNvPr id="16" name="Text 14"/>
          <p:cNvSpPr/>
          <p:nvPr/>
        </p:nvSpPr>
        <p:spPr>
          <a:xfrm>
            <a:off x="7818120" y="2697480"/>
            <a:ext cx="3291840" cy="274320"/>
          </a:xfrm>
          <a:prstGeom prst="rect">
            <a:avLst/>
          </a:prstGeom>
          <a:noFill/>
          <a:ln/>
        </p:spPr>
        <p:txBody>
          <a:bodyPr wrap="square" lIns="0" tIns="0" rIns="0" bIns="0" rtlCol="0" anchor="ctr"/>
          <a:lstStyle/>
          <a:p>
            <a:pPr indent="0" marL="0">
              <a:buNone/>
            </a:pPr>
            <a:r>
              <a:rPr lang="en-US" sz="1200" b="1" spc="300" kern="0" dirty="0">
                <a:solidFill>
                  <a:srgbClr val="00D4AA"/>
                </a:solidFill>
                <a:latin typeface="Arial" pitchFamily="34" charset="0"/>
                <a:ea typeface="Arial" pitchFamily="34" charset="-122"/>
                <a:cs typeface="Arial" pitchFamily="34" charset="-120"/>
              </a:rPr>
              <a:t>THE BENCH</a:t>
            </a:r>
            <a:endParaRPr lang="en-US" sz="1200" dirty="0"/>
          </a:p>
        </p:txBody>
      </p:sp>
      <p:sp>
        <p:nvSpPr>
          <p:cNvPr id="17" name="Text 15"/>
          <p:cNvSpPr/>
          <p:nvPr/>
        </p:nvSpPr>
        <p:spPr>
          <a:xfrm>
            <a:off x="7818120" y="3154680"/>
            <a:ext cx="3337560" cy="1188720"/>
          </a:xfrm>
          <a:prstGeom prst="rect">
            <a:avLst/>
          </a:prstGeom>
          <a:noFill/>
          <a:ln/>
        </p:spPr>
        <p:txBody>
          <a:bodyPr wrap="square" lIns="0" tIns="0" rIns="0" bIns="0" rtlCol="0" anchor="ctr"/>
          <a:lstStyle/>
          <a:p>
            <a:pPr indent="0" marL="0">
              <a:lnSpc>
                <a:spcPct val="125000"/>
              </a:lnSpc>
              <a:buNone/>
            </a:pPr>
            <a:r>
              <a:rPr lang="en-US" sz="1450" b="1" dirty="0">
                <a:solidFill>
                  <a:srgbClr val="FFFFFF"/>
                </a:solidFill>
                <a:latin typeface="Arial" pitchFamily="34" charset="0"/>
                <a:ea typeface="Arial" pitchFamily="34" charset="-122"/>
                <a:cs typeface="Arial" pitchFamily="34" charset="-120"/>
              </a:rPr>
              <a:t>Recruited from engineers at AI-first startups and product companies — top AI labs, fintech leaders, and YC-backed AI startups.</a:t>
            </a:r>
            <a:endParaRPr lang="en-US" sz="1450" dirty="0"/>
          </a:p>
        </p:txBody>
      </p:sp>
      <p:sp>
        <p:nvSpPr>
          <p:cNvPr id="18" name="Text 16"/>
          <p:cNvSpPr/>
          <p:nvPr/>
        </p:nvSpPr>
        <p:spPr>
          <a:xfrm>
            <a:off x="7818120" y="4617720"/>
            <a:ext cx="3337560" cy="1097280"/>
          </a:xfrm>
          <a:prstGeom prst="rect">
            <a:avLst/>
          </a:prstGeom>
          <a:noFill/>
          <a:ln/>
        </p:spPr>
        <p:txBody>
          <a:bodyPr wrap="square" lIns="0" tIns="0" rIns="0" bIns="0" rtlCol="0" anchor="ctr"/>
          <a:lstStyle/>
          <a:p>
            <a:pPr indent="0" marL="0">
              <a:lnSpc>
                <a:spcPct val="125000"/>
              </a:lnSpc>
              <a:buNone/>
            </a:pPr>
            <a:r>
              <a:rPr lang="en-US" sz="1150" i="1" dirty="0">
                <a:solidFill>
                  <a:srgbClr val="BFD3E0"/>
                </a:solidFill>
                <a:latin typeface="Arial" pitchFamily="34" charset="0"/>
                <a:ea typeface="Arial" pitchFamily="34" charset="-122"/>
                <a:cs typeface="Arial" pitchFamily="34" charset="-120"/>
              </a:rPr>
              <a:t>Mentors review code, run architecture sessions, and grade the rubric — the same engineers who later interview your students.</a:t>
            </a:r>
            <a:endParaRPr lang="en-US" sz="1150" dirty="0"/>
          </a:p>
        </p:txBody>
      </p:sp>
      <p:sp>
        <p:nvSpPr>
          <p:cNvPr id="19" name="Shape 17"/>
          <p:cNvSpPr/>
          <p:nvPr/>
        </p:nvSpPr>
        <p:spPr>
          <a:xfrm>
            <a:off x="640080" y="6327648"/>
            <a:ext cx="10911535" cy="0"/>
          </a:xfrm>
          <a:prstGeom prst="line">
            <a:avLst/>
          </a:prstGeom>
          <a:noFill/>
          <a:ln w="12700">
            <a:solidFill>
              <a:srgbClr val="CDD7DF"/>
            </a:solidFill>
            <a:prstDash val="solid"/>
          </a:ln>
        </p:spPr>
      </p:sp>
      <p:sp>
        <p:nvSpPr>
          <p:cNvPr id="20" name="Text 18"/>
          <p:cNvSpPr/>
          <p:nvPr/>
        </p:nvSpPr>
        <p:spPr>
          <a:xfrm>
            <a:off x="640080" y="6400800"/>
            <a:ext cx="6400800" cy="274320"/>
          </a:xfrm>
          <a:prstGeom prst="rect">
            <a:avLst/>
          </a:prstGeom>
          <a:noFill/>
          <a:ln/>
        </p:spPr>
        <p:txBody>
          <a:bodyPr wrap="square" lIns="0" tIns="0" rIns="0" bIns="0" rtlCol="0" anchor="ctr"/>
          <a:lstStyle/>
          <a:p>
            <a:pPr indent="0" marL="0">
              <a:buNone/>
            </a:pPr>
            <a:r>
              <a:rPr lang="en-US" sz="1000" b="1" spc="200" kern="0" dirty="0">
                <a:solidFill>
                  <a:srgbClr val="5B6B7B"/>
                </a:solidFill>
                <a:latin typeface="Arial" pitchFamily="34" charset="0"/>
                <a:ea typeface="Arial" pitchFamily="34" charset="-122"/>
                <a:cs typeface="Arial" pitchFamily="34" charset="-120"/>
              </a:rPr>
              <a:t>BuildAI  /  Mentors</a:t>
            </a:r>
            <a:endParaRPr lang="en-US" sz="1000" dirty="0"/>
          </a:p>
        </p:txBody>
      </p:sp>
      <p:sp>
        <p:nvSpPr>
          <p:cNvPr id="21" name="Shape 19"/>
          <p:cNvSpPr/>
          <p:nvPr/>
        </p:nvSpPr>
        <p:spPr>
          <a:xfrm>
            <a:off x="10725912" y="6391656"/>
            <a:ext cx="822960" cy="310896"/>
          </a:xfrm>
          <a:prstGeom prst="rect">
            <a:avLst/>
          </a:prstGeom>
          <a:solidFill>
            <a:srgbClr val="0A2540"/>
          </a:solidFill>
          <a:ln/>
        </p:spPr>
      </p:sp>
      <p:sp>
        <p:nvSpPr>
          <p:cNvPr id="22" name="Text 20"/>
          <p:cNvSpPr/>
          <p:nvPr/>
        </p:nvSpPr>
        <p:spPr>
          <a:xfrm>
            <a:off x="10725912" y="6391656"/>
            <a:ext cx="8229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10 / 21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0A2540"/>
          </a:solidFill>
          <a:ln/>
        </p:spPr>
      </p:sp>
      <p:sp>
        <p:nvSpPr>
          <p:cNvPr id="3" name="Text 1"/>
          <p:cNvSpPr/>
          <p:nvPr/>
        </p:nvSpPr>
        <p:spPr>
          <a:xfrm>
            <a:off x="640080" y="347472"/>
            <a:ext cx="8229600" cy="292608"/>
          </a:xfrm>
          <a:prstGeom prst="rect">
            <a:avLst/>
          </a:prstGeom>
          <a:noFill/>
          <a:ln/>
        </p:spPr>
        <p:txBody>
          <a:bodyPr wrap="square" lIns="0" tIns="0" rIns="0" bIns="0" rtlCol="0" anchor="ctr"/>
          <a:lstStyle/>
          <a:p>
            <a:pPr indent="0" marL="0">
              <a:buNone/>
            </a:pPr>
            <a:r>
              <a:rPr lang="en-US" sz="1100" b="1" spc="300" kern="0" dirty="0">
                <a:solidFill>
                  <a:srgbClr val="0A8F77"/>
                </a:solidFill>
                <a:latin typeface="Arial" pitchFamily="34" charset="0"/>
                <a:ea typeface="Arial" pitchFamily="34" charset="-122"/>
                <a:cs typeface="Arial" pitchFamily="34" charset="-120"/>
              </a:rPr>
              <a:t>11 / 21</a:t>
            </a:r>
            <a:pPr indent="0" marL="0">
              <a:buNone/>
            </a:pPr>
            <a:r>
              <a:rPr lang="en-US" sz="1100" b="1" spc="300" kern="0" dirty="0">
                <a:solidFill>
                  <a:srgbClr val="5B6B7B"/>
                </a:solidFill>
                <a:latin typeface="Arial" pitchFamily="34" charset="0"/>
                <a:ea typeface="Arial" pitchFamily="34" charset="-122"/>
                <a:cs typeface="Arial" pitchFamily="34" charset="-120"/>
              </a:rPr>
              <a:t>   EVALUATION</a:t>
            </a:r>
            <a:endParaRPr lang="en-US" sz="1100" dirty="0"/>
          </a:p>
        </p:txBody>
      </p:sp>
      <p:sp>
        <p:nvSpPr>
          <p:cNvPr id="4" name="Text 2"/>
          <p:cNvSpPr/>
          <p:nvPr/>
        </p:nvSpPr>
        <p:spPr>
          <a:xfrm>
            <a:off x="731520" y="841248"/>
            <a:ext cx="10241280" cy="1371600"/>
          </a:xfrm>
          <a:prstGeom prst="rect">
            <a:avLst/>
          </a:prstGeom>
          <a:noFill/>
          <a:ln/>
        </p:spPr>
        <p:txBody>
          <a:bodyPr wrap="square" lIns="0" tIns="0" rIns="0" bIns="0" rtlCol="0" anchor="ctr"/>
          <a:lstStyle/>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Seven dimensions. Two reviewers.</a:t>
            </a:r>
            <a:endParaRPr lang="en-US" sz="3300" dirty="0"/>
          </a:p>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External industry validation.</a:t>
            </a:r>
            <a:endParaRPr lang="en-US" sz="3300" dirty="0"/>
          </a:p>
        </p:txBody>
      </p:sp>
      <p:sp>
        <p:nvSpPr>
          <p:cNvPr id="5" name="Text 3"/>
          <p:cNvSpPr/>
          <p:nvPr/>
        </p:nvSpPr>
        <p:spPr>
          <a:xfrm>
            <a:off x="868680" y="2468880"/>
            <a:ext cx="457200" cy="274320"/>
          </a:xfrm>
          <a:prstGeom prst="rect">
            <a:avLst/>
          </a:prstGeom>
          <a:noFill/>
          <a:ln/>
        </p:spPr>
        <p:txBody>
          <a:bodyPr wrap="square" lIns="0" tIns="0" rIns="0" bIns="0" rtlCol="0" anchor="ctr"/>
          <a:lstStyle/>
          <a:p>
            <a:pPr indent="0" marL="0">
              <a:buNone/>
            </a:pPr>
            <a:r>
              <a:rPr lang="en-US" sz="1100" b="1" dirty="0">
                <a:solidFill>
                  <a:srgbClr val="0A8F77"/>
                </a:solidFill>
                <a:latin typeface="Arial" pitchFamily="34" charset="0"/>
                <a:ea typeface="Arial" pitchFamily="34" charset="-122"/>
                <a:cs typeface="Arial" pitchFamily="34" charset="-120"/>
              </a:rPr>
              <a:t>01</a:t>
            </a:r>
            <a:endParaRPr lang="en-US" sz="1100" dirty="0"/>
          </a:p>
        </p:txBody>
      </p:sp>
      <p:sp>
        <p:nvSpPr>
          <p:cNvPr id="6" name="Text 4"/>
          <p:cNvSpPr/>
          <p:nvPr/>
        </p:nvSpPr>
        <p:spPr>
          <a:xfrm>
            <a:off x="1371600" y="2414016"/>
            <a:ext cx="3657600" cy="347472"/>
          </a:xfrm>
          <a:prstGeom prst="rect">
            <a:avLst/>
          </a:prstGeom>
          <a:noFill/>
          <a:ln/>
        </p:spPr>
        <p:txBody>
          <a:bodyPr wrap="square" lIns="0" tIns="0" rIns="0" bIns="0" rtlCol="0" anchor="ctr"/>
          <a:lstStyle/>
          <a:p>
            <a:pPr indent="0" marL="0">
              <a:buNone/>
            </a:pPr>
            <a:r>
              <a:rPr lang="en-US" sz="1600" b="1" dirty="0">
                <a:solidFill>
                  <a:srgbClr val="10202E"/>
                </a:solidFill>
                <a:latin typeface="Arial" pitchFamily="34" charset="0"/>
                <a:ea typeface="Arial" pitchFamily="34" charset="-122"/>
                <a:cs typeface="Arial" pitchFamily="34" charset="-120"/>
              </a:rPr>
              <a:t>Shipping velocity</a:t>
            </a:r>
            <a:endParaRPr lang="en-US" sz="1600" dirty="0"/>
          </a:p>
        </p:txBody>
      </p:sp>
      <p:sp>
        <p:nvSpPr>
          <p:cNvPr id="7" name="Text 5"/>
          <p:cNvSpPr/>
          <p:nvPr/>
        </p:nvSpPr>
        <p:spPr>
          <a:xfrm>
            <a:off x="5029200" y="2487168"/>
            <a:ext cx="1463040" cy="256032"/>
          </a:xfrm>
          <a:prstGeom prst="rect">
            <a:avLst/>
          </a:prstGeom>
          <a:noFill/>
          <a:ln/>
        </p:spPr>
        <p:txBody>
          <a:bodyPr wrap="square" lIns="0" tIns="0" rIns="0" bIns="0" rtlCol="0" anchor="ctr"/>
          <a:lstStyle/>
          <a:p>
            <a:pPr algn="r" indent="0" marL="0">
              <a:buNone/>
            </a:pPr>
            <a:r>
              <a:rPr lang="en-US" sz="950" b="1" spc="200" kern="0" dirty="0">
                <a:solidFill>
                  <a:srgbClr val="5B6B7B"/>
                </a:solidFill>
                <a:latin typeface="Arial" pitchFamily="34" charset="0"/>
                <a:ea typeface="Arial" pitchFamily="34" charset="-122"/>
                <a:cs typeface="Arial" pitchFamily="34" charset="-120"/>
              </a:rPr>
              <a:t>SCORED 1–5</a:t>
            </a:r>
            <a:endParaRPr lang="en-US" sz="950" dirty="0"/>
          </a:p>
        </p:txBody>
      </p:sp>
      <p:sp>
        <p:nvSpPr>
          <p:cNvPr id="8" name="Shape 6"/>
          <p:cNvSpPr/>
          <p:nvPr/>
        </p:nvSpPr>
        <p:spPr>
          <a:xfrm>
            <a:off x="868680" y="2889504"/>
            <a:ext cx="5623560" cy="0"/>
          </a:xfrm>
          <a:prstGeom prst="line">
            <a:avLst/>
          </a:prstGeom>
          <a:noFill/>
          <a:ln w="12700">
            <a:solidFill>
              <a:srgbClr val="CDD7DF"/>
            </a:solidFill>
            <a:prstDash val="solid"/>
          </a:ln>
        </p:spPr>
      </p:sp>
      <p:sp>
        <p:nvSpPr>
          <p:cNvPr id="9" name="Text 7"/>
          <p:cNvSpPr/>
          <p:nvPr/>
        </p:nvSpPr>
        <p:spPr>
          <a:xfrm>
            <a:off x="868680" y="2980944"/>
            <a:ext cx="457200" cy="274320"/>
          </a:xfrm>
          <a:prstGeom prst="rect">
            <a:avLst/>
          </a:prstGeom>
          <a:noFill/>
          <a:ln/>
        </p:spPr>
        <p:txBody>
          <a:bodyPr wrap="square" lIns="0" tIns="0" rIns="0" bIns="0" rtlCol="0" anchor="ctr"/>
          <a:lstStyle/>
          <a:p>
            <a:pPr indent="0" marL="0">
              <a:buNone/>
            </a:pPr>
            <a:r>
              <a:rPr lang="en-US" sz="1100" b="1" dirty="0">
                <a:solidFill>
                  <a:srgbClr val="0A8F77"/>
                </a:solidFill>
                <a:latin typeface="Arial" pitchFamily="34" charset="0"/>
                <a:ea typeface="Arial" pitchFamily="34" charset="-122"/>
                <a:cs typeface="Arial" pitchFamily="34" charset="-120"/>
              </a:rPr>
              <a:t>02</a:t>
            </a:r>
            <a:endParaRPr lang="en-US" sz="1100" dirty="0"/>
          </a:p>
        </p:txBody>
      </p:sp>
      <p:sp>
        <p:nvSpPr>
          <p:cNvPr id="10" name="Text 8"/>
          <p:cNvSpPr/>
          <p:nvPr/>
        </p:nvSpPr>
        <p:spPr>
          <a:xfrm>
            <a:off x="1371600" y="2926080"/>
            <a:ext cx="3657600" cy="347472"/>
          </a:xfrm>
          <a:prstGeom prst="rect">
            <a:avLst/>
          </a:prstGeom>
          <a:noFill/>
          <a:ln/>
        </p:spPr>
        <p:txBody>
          <a:bodyPr wrap="square" lIns="0" tIns="0" rIns="0" bIns="0" rtlCol="0" anchor="ctr"/>
          <a:lstStyle/>
          <a:p>
            <a:pPr indent="0" marL="0">
              <a:buNone/>
            </a:pPr>
            <a:r>
              <a:rPr lang="en-US" sz="1600" b="1" dirty="0">
                <a:solidFill>
                  <a:srgbClr val="10202E"/>
                </a:solidFill>
                <a:latin typeface="Arial" pitchFamily="34" charset="0"/>
                <a:ea typeface="Arial" pitchFamily="34" charset="-122"/>
                <a:cs typeface="Arial" pitchFamily="34" charset="-120"/>
              </a:rPr>
              <a:t>Engineering judgment</a:t>
            </a:r>
            <a:endParaRPr lang="en-US" sz="1600" dirty="0"/>
          </a:p>
        </p:txBody>
      </p:sp>
      <p:sp>
        <p:nvSpPr>
          <p:cNvPr id="11" name="Text 9"/>
          <p:cNvSpPr/>
          <p:nvPr/>
        </p:nvSpPr>
        <p:spPr>
          <a:xfrm>
            <a:off x="5029200" y="2999232"/>
            <a:ext cx="1463040" cy="256032"/>
          </a:xfrm>
          <a:prstGeom prst="rect">
            <a:avLst/>
          </a:prstGeom>
          <a:noFill/>
          <a:ln/>
        </p:spPr>
        <p:txBody>
          <a:bodyPr wrap="square" lIns="0" tIns="0" rIns="0" bIns="0" rtlCol="0" anchor="ctr"/>
          <a:lstStyle/>
          <a:p>
            <a:pPr algn="r" indent="0" marL="0">
              <a:buNone/>
            </a:pPr>
            <a:r>
              <a:rPr lang="en-US" sz="950" b="1" spc="200" kern="0" dirty="0">
                <a:solidFill>
                  <a:srgbClr val="5B6B7B"/>
                </a:solidFill>
                <a:latin typeface="Arial" pitchFamily="34" charset="0"/>
                <a:ea typeface="Arial" pitchFamily="34" charset="-122"/>
                <a:cs typeface="Arial" pitchFamily="34" charset="-120"/>
              </a:rPr>
              <a:t>SCORED 1–5</a:t>
            </a:r>
            <a:endParaRPr lang="en-US" sz="950" dirty="0"/>
          </a:p>
        </p:txBody>
      </p:sp>
      <p:sp>
        <p:nvSpPr>
          <p:cNvPr id="12" name="Shape 10"/>
          <p:cNvSpPr/>
          <p:nvPr/>
        </p:nvSpPr>
        <p:spPr>
          <a:xfrm>
            <a:off x="868680" y="3401568"/>
            <a:ext cx="5623560" cy="0"/>
          </a:xfrm>
          <a:prstGeom prst="line">
            <a:avLst/>
          </a:prstGeom>
          <a:noFill/>
          <a:ln w="12700">
            <a:solidFill>
              <a:srgbClr val="CDD7DF"/>
            </a:solidFill>
            <a:prstDash val="solid"/>
          </a:ln>
        </p:spPr>
      </p:sp>
      <p:sp>
        <p:nvSpPr>
          <p:cNvPr id="13" name="Text 11"/>
          <p:cNvSpPr/>
          <p:nvPr/>
        </p:nvSpPr>
        <p:spPr>
          <a:xfrm>
            <a:off x="868680" y="3493008"/>
            <a:ext cx="457200" cy="274320"/>
          </a:xfrm>
          <a:prstGeom prst="rect">
            <a:avLst/>
          </a:prstGeom>
          <a:noFill/>
          <a:ln/>
        </p:spPr>
        <p:txBody>
          <a:bodyPr wrap="square" lIns="0" tIns="0" rIns="0" bIns="0" rtlCol="0" anchor="ctr"/>
          <a:lstStyle/>
          <a:p>
            <a:pPr indent="0" marL="0">
              <a:buNone/>
            </a:pPr>
            <a:r>
              <a:rPr lang="en-US" sz="1100" b="1" dirty="0">
                <a:solidFill>
                  <a:srgbClr val="0A8F77"/>
                </a:solidFill>
                <a:latin typeface="Arial" pitchFamily="34" charset="0"/>
                <a:ea typeface="Arial" pitchFamily="34" charset="-122"/>
                <a:cs typeface="Arial" pitchFamily="34" charset="-120"/>
              </a:rPr>
              <a:t>03</a:t>
            </a:r>
            <a:endParaRPr lang="en-US" sz="1100" dirty="0"/>
          </a:p>
        </p:txBody>
      </p:sp>
      <p:sp>
        <p:nvSpPr>
          <p:cNvPr id="14" name="Text 12"/>
          <p:cNvSpPr/>
          <p:nvPr/>
        </p:nvSpPr>
        <p:spPr>
          <a:xfrm>
            <a:off x="1371600" y="3438144"/>
            <a:ext cx="3657600" cy="347472"/>
          </a:xfrm>
          <a:prstGeom prst="rect">
            <a:avLst/>
          </a:prstGeom>
          <a:noFill/>
          <a:ln/>
        </p:spPr>
        <p:txBody>
          <a:bodyPr wrap="square" lIns="0" tIns="0" rIns="0" bIns="0" rtlCol="0" anchor="ctr"/>
          <a:lstStyle/>
          <a:p>
            <a:pPr indent="0" marL="0">
              <a:buNone/>
            </a:pPr>
            <a:r>
              <a:rPr lang="en-US" sz="1600" b="1" dirty="0">
                <a:solidFill>
                  <a:srgbClr val="10202E"/>
                </a:solidFill>
                <a:latin typeface="Arial" pitchFamily="34" charset="0"/>
                <a:ea typeface="Arial" pitchFamily="34" charset="-122"/>
                <a:cs typeface="Arial" pitchFamily="34" charset="-120"/>
              </a:rPr>
              <a:t>Product thinking</a:t>
            </a:r>
            <a:endParaRPr lang="en-US" sz="1600" dirty="0"/>
          </a:p>
        </p:txBody>
      </p:sp>
      <p:sp>
        <p:nvSpPr>
          <p:cNvPr id="15" name="Text 13"/>
          <p:cNvSpPr/>
          <p:nvPr/>
        </p:nvSpPr>
        <p:spPr>
          <a:xfrm>
            <a:off x="5029200" y="3511296"/>
            <a:ext cx="1463040" cy="256032"/>
          </a:xfrm>
          <a:prstGeom prst="rect">
            <a:avLst/>
          </a:prstGeom>
          <a:noFill/>
          <a:ln/>
        </p:spPr>
        <p:txBody>
          <a:bodyPr wrap="square" lIns="0" tIns="0" rIns="0" bIns="0" rtlCol="0" anchor="ctr"/>
          <a:lstStyle/>
          <a:p>
            <a:pPr algn="r" indent="0" marL="0">
              <a:buNone/>
            </a:pPr>
            <a:r>
              <a:rPr lang="en-US" sz="950" b="1" spc="200" kern="0" dirty="0">
                <a:solidFill>
                  <a:srgbClr val="5B6B7B"/>
                </a:solidFill>
                <a:latin typeface="Arial" pitchFamily="34" charset="0"/>
                <a:ea typeface="Arial" pitchFamily="34" charset="-122"/>
                <a:cs typeface="Arial" pitchFamily="34" charset="-120"/>
              </a:rPr>
              <a:t>SCORED 1–5</a:t>
            </a:r>
            <a:endParaRPr lang="en-US" sz="950" dirty="0"/>
          </a:p>
        </p:txBody>
      </p:sp>
      <p:sp>
        <p:nvSpPr>
          <p:cNvPr id="16" name="Shape 14"/>
          <p:cNvSpPr/>
          <p:nvPr/>
        </p:nvSpPr>
        <p:spPr>
          <a:xfrm>
            <a:off x="868680" y="3913632"/>
            <a:ext cx="5623560" cy="0"/>
          </a:xfrm>
          <a:prstGeom prst="line">
            <a:avLst/>
          </a:prstGeom>
          <a:noFill/>
          <a:ln w="12700">
            <a:solidFill>
              <a:srgbClr val="CDD7DF"/>
            </a:solidFill>
            <a:prstDash val="solid"/>
          </a:ln>
        </p:spPr>
      </p:sp>
      <p:sp>
        <p:nvSpPr>
          <p:cNvPr id="17" name="Text 15"/>
          <p:cNvSpPr/>
          <p:nvPr/>
        </p:nvSpPr>
        <p:spPr>
          <a:xfrm>
            <a:off x="868680" y="4005072"/>
            <a:ext cx="457200" cy="274320"/>
          </a:xfrm>
          <a:prstGeom prst="rect">
            <a:avLst/>
          </a:prstGeom>
          <a:noFill/>
          <a:ln/>
        </p:spPr>
        <p:txBody>
          <a:bodyPr wrap="square" lIns="0" tIns="0" rIns="0" bIns="0" rtlCol="0" anchor="ctr"/>
          <a:lstStyle/>
          <a:p>
            <a:pPr indent="0" marL="0">
              <a:buNone/>
            </a:pPr>
            <a:r>
              <a:rPr lang="en-US" sz="1100" b="1" dirty="0">
                <a:solidFill>
                  <a:srgbClr val="0A8F77"/>
                </a:solidFill>
                <a:latin typeface="Arial" pitchFamily="34" charset="0"/>
                <a:ea typeface="Arial" pitchFamily="34" charset="-122"/>
                <a:cs typeface="Arial" pitchFamily="34" charset="-120"/>
              </a:rPr>
              <a:t>04</a:t>
            </a:r>
            <a:endParaRPr lang="en-US" sz="1100" dirty="0"/>
          </a:p>
        </p:txBody>
      </p:sp>
      <p:sp>
        <p:nvSpPr>
          <p:cNvPr id="18" name="Text 16"/>
          <p:cNvSpPr/>
          <p:nvPr/>
        </p:nvSpPr>
        <p:spPr>
          <a:xfrm>
            <a:off x="1371600" y="3950208"/>
            <a:ext cx="3657600" cy="347472"/>
          </a:xfrm>
          <a:prstGeom prst="rect">
            <a:avLst/>
          </a:prstGeom>
          <a:noFill/>
          <a:ln/>
        </p:spPr>
        <p:txBody>
          <a:bodyPr wrap="square" lIns="0" tIns="0" rIns="0" bIns="0" rtlCol="0" anchor="ctr"/>
          <a:lstStyle/>
          <a:p>
            <a:pPr indent="0" marL="0">
              <a:buNone/>
            </a:pPr>
            <a:r>
              <a:rPr lang="en-US" sz="1600" b="1" dirty="0">
                <a:solidFill>
                  <a:srgbClr val="10202E"/>
                </a:solidFill>
                <a:latin typeface="Arial" pitchFamily="34" charset="0"/>
                <a:ea typeface="Arial" pitchFamily="34" charset="-122"/>
                <a:cs typeface="Arial" pitchFamily="34" charset="-120"/>
              </a:rPr>
              <a:t>AI fluency</a:t>
            </a:r>
            <a:endParaRPr lang="en-US" sz="1600" dirty="0"/>
          </a:p>
        </p:txBody>
      </p:sp>
      <p:sp>
        <p:nvSpPr>
          <p:cNvPr id="19" name="Text 17"/>
          <p:cNvSpPr/>
          <p:nvPr/>
        </p:nvSpPr>
        <p:spPr>
          <a:xfrm>
            <a:off x="5029200" y="4023360"/>
            <a:ext cx="1463040" cy="256032"/>
          </a:xfrm>
          <a:prstGeom prst="rect">
            <a:avLst/>
          </a:prstGeom>
          <a:noFill/>
          <a:ln/>
        </p:spPr>
        <p:txBody>
          <a:bodyPr wrap="square" lIns="0" tIns="0" rIns="0" bIns="0" rtlCol="0" anchor="ctr"/>
          <a:lstStyle/>
          <a:p>
            <a:pPr algn="r" indent="0" marL="0">
              <a:buNone/>
            </a:pPr>
            <a:r>
              <a:rPr lang="en-US" sz="950" b="1" spc="200" kern="0" dirty="0">
                <a:solidFill>
                  <a:srgbClr val="5B6B7B"/>
                </a:solidFill>
                <a:latin typeface="Arial" pitchFamily="34" charset="0"/>
                <a:ea typeface="Arial" pitchFamily="34" charset="-122"/>
                <a:cs typeface="Arial" pitchFamily="34" charset="-120"/>
              </a:rPr>
              <a:t>SCORED 1–5</a:t>
            </a:r>
            <a:endParaRPr lang="en-US" sz="950" dirty="0"/>
          </a:p>
        </p:txBody>
      </p:sp>
      <p:sp>
        <p:nvSpPr>
          <p:cNvPr id="20" name="Shape 18"/>
          <p:cNvSpPr/>
          <p:nvPr/>
        </p:nvSpPr>
        <p:spPr>
          <a:xfrm>
            <a:off x="868680" y="4425696"/>
            <a:ext cx="5623560" cy="0"/>
          </a:xfrm>
          <a:prstGeom prst="line">
            <a:avLst/>
          </a:prstGeom>
          <a:noFill/>
          <a:ln w="12700">
            <a:solidFill>
              <a:srgbClr val="CDD7DF"/>
            </a:solidFill>
            <a:prstDash val="solid"/>
          </a:ln>
        </p:spPr>
      </p:sp>
      <p:sp>
        <p:nvSpPr>
          <p:cNvPr id="21" name="Text 19"/>
          <p:cNvSpPr/>
          <p:nvPr/>
        </p:nvSpPr>
        <p:spPr>
          <a:xfrm>
            <a:off x="868680" y="4517136"/>
            <a:ext cx="457200" cy="274320"/>
          </a:xfrm>
          <a:prstGeom prst="rect">
            <a:avLst/>
          </a:prstGeom>
          <a:noFill/>
          <a:ln/>
        </p:spPr>
        <p:txBody>
          <a:bodyPr wrap="square" lIns="0" tIns="0" rIns="0" bIns="0" rtlCol="0" anchor="ctr"/>
          <a:lstStyle/>
          <a:p>
            <a:pPr indent="0" marL="0">
              <a:buNone/>
            </a:pPr>
            <a:r>
              <a:rPr lang="en-US" sz="1100" b="1" dirty="0">
                <a:solidFill>
                  <a:srgbClr val="0A8F77"/>
                </a:solidFill>
                <a:latin typeface="Arial" pitchFamily="34" charset="0"/>
                <a:ea typeface="Arial" pitchFamily="34" charset="-122"/>
                <a:cs typeface="Arial" pitchFamily="34" charset="-120"/>
              </a:rPr>
              <a:t>05</a:t>
            </a:r>
            <a:endParaRPr lang="en-US" sz="1100" dirty="0"/>
          </a:p>
        </p:txBody>
      </p:sp>
      <p:sp>
        <p:nvSpPr>
          <p:cNvPr id="22" name="Text 20"/>
          <p:cNvSpPr/>
          <p:nvPr/>
        </p:nvSpPr>
        <p:spPr>
          <a:xfrm>
            <a:off x="1371600" y="4462272"/>
            <a:ext cx="3657600" cy="347472"/>
          </a:xfrm>
          <a:prstGeom prst="rect">
            <a:avLst/>
          </a:prstGeom>
          <a:noFill/>
          <a:ln/>
        </p:spPr>
        <p:txBody>
          <a:bodyPr wrap="square" lIns="0" tIns="0" rIns="0" bIns="0" rtlCol="0" anchor="ctr"/>
          <a:lstStyle/>
          <a:p>
            <a:pPr indent="0" marL="0">
              <a:buNone/>
            </a:pPr>
            <a:r>
              <a:rPr lang="en-US" sz="1600" b="1" dirty="0">
                <a:solidFill>
                  <a:srgbClr val="10202E"/>
                </a:solidFill>
                <a:latin typeface="Arial" pitchFamily="34" charset="0"/>
                <a:ea typeface="Arial" pitchFamily="34" charset="-122"/>
                <a:cs typeface="Arial" pitchFamily="34" charset="-120"/>
              </a:rPr>
              <a:t>Collaboration</a:t>
            </a:r>
            <a:endParaRPr lang="en-US" sz="1600" dirty="0"/>
          </a:p>
        </p:txBody>
      </p:sp>
      <p:sp>
        <p:nvSpPr>
          <p:cNvPr id="23" name="Text 21"/>
          <p:cNvSpPr/>
          <p:nvPr/>
        </p:nvSpPr>
        <p:spPr>
          <a:xfrm>
            <a:off x="5029200" y="4535424"/>
            <a:ext cx="1463040" cy="256032"/>
          </a:xfrm>
          <a:prstGeom prst="rect">
            <a:avLst/>
          </a:prstGeom>
          <a:noFill/>
          <a:ln/>
        </p:spPr>
        <p:txBody>
          <a:bodyPr wrap="square" lIns="0" tIns="0" rIns="0" bIns="0" rtlCol="0" anchor="ctr"/>
          <a:lstStyle/>
          <a:p>
            <a:pPr algn="r" indent="0" marL="0">
              <a:buNone/>
            </a:pPr>
            <a:r>
              <a:rPr lang="en-US" sz="950" b="1" spc="200" kern="0" dirty="0">
                <a:solidFill>
                  <a:srgbClr val="5B6B7B"/>
                </a:solidFill>
                <a:latin typeface="Arial" pitchFamily="34" charset="0"/>
                <a:ea typeface="Arial" pitchFamily="34" charset="-122"/>
                <a:cs typeface="Arial" pitchFamily="34" charset="-120"/>
              </a:rPr>
              <a:t>SCORED 1–5</a:t>
            </a:r>
            <a:endParaRPr lang="en-US" sz="950" dirty="0"/>
          </a:p>
        </p:txBody>
      </p:sp>
      <p:sp>
        <p:nvSpPr>
          <p:cNvPr id="24" name="Shape 22"/>
          <p:cNvSpPr/>
          <p:nvPr/>
        </p:nvSpPr>
        <p:spPr>
          <a:xfrm>
            <a:off x="868680" y="4937760"/>
            <a:ext cx="5623560" cy="0"/>
          </a:xfrm>
          <a:prstGeom prst="line">
            <a:avLst/>
          </a:prstGeom>
          <a:noFill/>
          <a:ln w="12700">
            <a:solidFill>
              <a:srgbClr val="CDD7DF"/>
            </a:solidFill>
            <a:prstDash val="solid"/>
          </a:ln>
        </p:spPr>
      </p:sp>
      <p:sp>
        <p:nvSpPr>
          <p:cNvPr id="25" name="Text 23"/>
          <p:cNvSpPr/>
          <p:nvPr/>
        </p:nvSpPr>
        <p:spPr>
          <a:xfrm>
            <a:off x="868680" y="5029200"/>
            <a:ext cx="457200" cy="274320"/>
          </a:xfrm>
          <a:prstGeom prst="rect">
            <a:avLst/>
          </a:prstGeom>
          <a:noFill/>
          <a:ln/>
        </p:spPr>
        <p:txBody>
          <a:bodyPr wrap="square" lIns="0" tIns="0" rIns="0" bIns="0" rtlCol="0" anchor="ctr"/>
          <a:lstStyle/>
          <a:p>
            <a:pPr indent="0" marL="0">
              <a:buNone/>
            </a:pPr>
            <a:r>
              <a:rPr lang="en-US" sz="1100" b="1" dirty="0">
                <a:solidFill>
                  <a:srgbClr val="0A8F77"/>
                </a:solidFill>
                <a:latin typeface="Arial" pitchFamily="34" charset="0"/>
                <a:ea typeface="Arial" pitchFamily="34" charset="-122"/>
                <a:cs typeface="Arial" pitchFamily="34" charset="-120"/>
              </a:rPr>
              <a:t>06</a:t>
            </a:r>
            <a:endParaRPr lang="en-US" sz="1100" dirty="0"/>
          </a:p>
        </p:txBody>
      </p:sp>
      <p:sp>
        <p:nvSpPr>
          <p:cNvPr id="26" name="Text 24"/>
          <p:cNvSpPr/>
          <p:nvPr/>
        </p:nvSpPr>
        <p:spPr>
          <a:xfrm>
            <a:off x="1371600" y="4974336"/>
            <a:ext cx="3657600" cy="347472"/>
          </a:xfrm>
          <a:prstGeom prst="rect">
            <a:avLst/>
          </a:prstGeom>
          <a:noFill/>
          <a:ln/>
        </p:spPr>
        <p:txBody>
          <a:bodyPr wrap="square" lIns="0" tIns="0" rIns="0" bIns="0" rtlCol="0" anchor="ctr"/>
          <a:lstStyle/>
          <a:p>
            <a:pPr indent="0" marL="0">
              <a:buNone/>
            </a:pPr>
            <a:r>
              <a:rPr lang="en-US" sz="1600" b="1" dirty="0">
                <a:solidFill>
                  <a:srgbClr val="10202E"/>
                </a:solidFill>
                <a:latin typeface="Arial" pitchFamily="34" charset="0"/>
                <a:ea typeface="Arial" pitchFamily="34" charset="-122"/>
                <a:cs typeface="Arial" pitchFamily="34" charset="-120"/>
              </a:rPr>
              <a:t>Debugging</a:t>
            </a:r>
            <a:endParaRPr lang="en-US" sz="1600" dirty="0"/>
          </a:p>
        </p:txBody>
      </p:sp>
      <p:sp>
        <p:nvSpPr>
          <p:cNvPr id="27" name="Text 25"/>
          <p:cNvSpPr/>
          <p:nvPr/>
        </p:nvSpPr>
        <p:spPr>
          <a:xfrm>
            <a:off x="5029200" y="5047488"/>
            <a:ext cx="1463040" cy="256032"/>
          </a:xfrm>
          <a:prstGeom prst="rect">
            <a:avLst/>
          </a:prstGeom>
          <a:noFill/>
          <a:ln/>
        </p:spPr>
        <p:txBody>
          <a:bodyPr wrap="square" lIns="0" tIns="0" rIns="0" bIns="0" rtlCol="0" anchor="ctr"/>
          <a:lstStyle/>
          <a:p>
            <a:pPr algn="r" indent="0" marL="0">
              <a:buNone/>
            </a:pPr>
            <a:r>
              <a:rPr lang="en-US" sz="950" b="1" spc="200" kern="0" dirty="0">
                <a:solidFill>
                  <a:srgbClr val="5B6B7B"/>
                </a:solidFill>
                <a:latin typeface="Arial" pitchFamily="34" charset="0"/>
                <a:ea typeface="Arial" pitchFamily="34" charset="-122"/>
                <a:cs typeface="Arial" pitchFamily="34" charset="-120"/>
              </a:rPr>
              <a:t>SCORED 1–5</a:t>
            </a:r>
            <a:endParaRPr lang="en-US" sz="950" dirty="0"/>
          </a:p>
        </p:txBody>
      </p:sp>
      <p:sp>
        <p:nvSpPr>
          <p:cNvPr id="28" name="Shape 26"/>
          <p:cNvSpPr/>
          <p:nvPr/>
        </p:nvSpPr>
        <p:spPr>
          <a:xfrm>
            <a:off x="868680" y="5449824"/>
            <a:ext cx="5623560" cy="0"/>
          </a:xfrm>
          <a:prstGeom prst="line">
            <a:avLst/>
          </a:prstGeom>
          <a:noFill/>
          <a:ln w="12700">
            <a:solidFill>
              <a:srgbClr val="CDD7DF"/>
            </a:solidFill>
            <a:prstDash val="solid"/>
          </a:ln>
        </p:spPr>
      </p:sp>
      <p:sp>
        <p:nvSpPr>
          <p:cNvPr id="29" name="Text 27"/>
          <p:cNvSpPr/>
          <p:nvPr/>
        </p:nvSpPr>
        <p:spPr>
          <a:xfrm>
            <a:off x="868680" y="5541264"/>
            <a:ext cx="457200" cy="274320"/>
          </a:xfrm>
          <a:prstGeom prst="rect">
            <a:avLst/>
          </a:prstGeom>
          <a:noFill/>
          <a:ln/>
        </p:spPr>
        <p:txBody>
          <a:bodyPr wrap="square" lIns="0" tIns="0" rIns="0" bIns="0" rtlCol="0" anchor="ctr"/>
          <a:lstStyle/>
          <a:p>
            <a:pPr indent="0" marL="0">
              <a:buNone/>
            </a:pPr>
            <a:r>
              <a:rPr lang="en-US" sz="1100" b="1" dirty="0">
                <a:solidFill>
                  <a:srgbClr val="0A8F77"/>
                </a:solidFill>
                <a:latin typeface="Arial" pitchFamily="34" charset="0"/>
                <a:ea typeface="Arial" pitchFamily="34" charset="-122"/>
                <a:cs typeface="Arial" pitchFamily="34" charset="-120"/>
              </a:rPr>
              <a:t>07</a:t>
            </a:r>
            <a:endParaRPr lang="en-US" sz="1100" dirty="0"/>
          </a:p>
        </p:txBody>
      </p:sp>
      <p:sp>
        <p:nvSpPr>
          <p:cNvPr id="30" name="Text 28"/>
          <p:cNvSpPr/>
          <p:nvPr/>
        </p:nvSpPr>
        <p:spPr>
          <a:xfrm>
            <a:off x="1371600" y="5486400"/>
            <a:ext cx="3657600" cy="347472"/>
          </a:xfrm>
          <a:prstGeom prst="rect">
            <a:avLst/>
          </a:prstGeom>
          <a:noFill/>
          <a:ln/>
        </p:spPr>
        <p:txBody>
          <a:bodyPr wrap="square" lIns="0" tIns="0" rIns="0" bIns="0" rtlCol="0" anchor="ctr"/>
          <a:lstStyle/>
          <a:p>
            <a:pPr indent="0" marL="0">
              <a:buNone/>
            </a:pPr>
            <a:r>
              <a:rPr lang="en-US" sz="1600" b="1" dirty="0">
                <a:solidFill>
                  <a:srgbClr val="10202E"/>
                </a:solidFill>
                <a:latin typeface="Arial" pitchFamily="34" charset="0"/>
                <a:ea typeface="Arial" pitchFamily="34" charset="-122"/>
                <a:cs typeface="Arial" pitchFamily="34" charset="-120"/>
              </a:rPr>
              <a:t>Communication</a:t>
            </a:r>
            <a:endParaRPr lang="en-US" sz="1600" dirty="0"/>
          </a:p>
        </p:txBody>
      </p:sp>
      <p:sp>
        <p:nvSpPr>
          <p:cNvPr id="31" name="Text 29"/>
          <p:cNvSpPr/>
          <p:nvPr/>
        </p:nvSpPr>
        <p:spPr>
          <a:xfrm>
            <a:off x="5029200" y="5559552"/>
            <a:ext cx="1463040" cy="256032"/>
          </a:xfrm>
          <a:prstGeom prst="rect">
            <a:avLst/>
          </a:prstGeom>
          <a:noFill/>
          <a:ln/>
        </p:spPr>
        <p:txBody>
          <a:bodyPr wrap="square" lIns="0" tIns="0" rIns="0" bIns="0" rtlCol="0" anchor="ctr"/>
          <a:lstStyle/>
          <a:p>
            <a:pPr algn="r" indent="0" marL="0">
              <a:buNone/>
            </a:pPr>
            <a:r>
              <a:rPr lang="en-US" sz="950" b="1" spc="200" kern="0" dirty="0">
                <a:solidFill>
                  <a:srgbClr val="5B6B7B"/>
                </a:solidFill>
                <a:latin typeface="Arial" pitchFamily="34" charset="0"/>
                <a:ea typeface="Arial" pitchFamily="34" charset="-122"/>
                <a:cs typeface="Arial" pitchFamily="34" charset="-120"/>
              </a:rPr>
              <a:t>SCORED 1–5</a:t>
            </a:r>
            <a:endParaRPr lang="en-US" sz="950" dirty="0"/>
          </a:p>
        </p:txBody>
      </p:sp>
      <p:sp>
        <p:nvSpPr>
          <p:cNvPr id="32" name="Shape 30"/>
          <p:cNvSpPr/>
          <p:nvPr/>
        </p:nvSpPr>
        <p:spPr>
          <a:xfrm>
            <a:off x="868680" y="5961888"/>
            <a:ext cx="5623560" cy="0"/>
          </a:xfrm>
          <a:prstGeom prst="line">
            <a:avLst/>
          </a:prstGeom>
          <a:noFill/>
          <a:ln w="12700">
            <a:solidFill>
              <a:srgbClr val="CDD7DF"/>
            </a:solidFill>
            <a:prstDash val="solid"/>
          </a:ln>
        </p:spPr>
      </p:sp>
      <p:sp>
        <p:nvSpPr>
          <p:cNvPr id="33" name="Shape 31"/>
          <p:cNvSpPr/>
          <p:nvPr/>
        </p:nvSpPr>
        <p:spPr>
          <a:xfrm>
            <a:off x="7178040" y="2331720"/>
            <a:ext cx="4370832" cy="3520440"/>
          </a:xfrm>
          <a:prstGeom prst="rect">
            <a:avLst/>
          </a:prstGeom>
          <a:solidFill>
            <a:srgbClr val="00D4AA"/>
          </a:solidFill>
          <a:ln/>
        </p:spPr>
      </p:sp>
      <p:sp>
        <p:nvSpPr>
          <p:cNvPr id="34" name="Text 32"/>
          <p:cNvSpPr/>
          <p:nvPr/>
        </p:nvSpPr>
        <p:spPr>
          <a:xfrm>
            <a:off x="7589520" y="2697480"/>
            <a:ext cx="3566160" cy="274320"/>
          </a:xfrm>
          <a:prstGeom prst="rect">
            <a:avLst/>
          </a:prstGeom>
          <a:noFill/>
          <a:ln/>
        </p:spPr>
        <p:txBody>
          <a:bodyPr wrap="square" lIns="0" tIns="0" rIns="0" bIns="0" rtlCol="0" anchor="ctr"/>
          <a:lstStyle/>
          <a:p>
            <a:pPr indent="0" marL="0">
              <a:buNone/>
            </a:pPr>
            <a:r>
              <a:rPr lang="en-US" sz="1200" b="1" spc="300" kern="0" dirty="0">
                <a:solidFill>
                  <a:srgbClr val="0A2540"/>
                </a:solidFill>
                <a:latin typeface="Arial" pitchFamily="34" charset="0"/>
                <a:ea typeface="Arial" pitchFamily="34" charset="-122"/>
                <a:cs typeface="Arial" pitchFamily="34" charset="-120"/>
              </a:rPr>
              <a:t>EXTERNAL VALIDATION</a:t>
            </a:r>
            <a:endParaRPr lang="en-US" sz="1200" dirty="0"/>
          </a:p>
        </p:txBody>
      </p:sp>
      <p:sp>
        <p:nvSpPr>
          <p:cNvPr id="35" name="Text 33"/>
          <p:cNvSpPr/>
          <p:nvPr/>
        </p:nvSpPr>
        <p:spPr>
          <a:xfrm>
            <a:off x="7589520" y="3200400"/>
            <a:ext cx="3566160" cy="1097280"/>
          </a:xfrm>
          <a:prstGeom prst="rect">
            <a:avLst/>
          </a:prstGeom>
          <a:noFill/>
          <a:ln/>
        </p:spPr>
        <p:txBody>
          <a:bodyPr wrap="square" lIns="0" tIns="0" rIns="0" bIns="0" rtlCol="0" anchor="ctr"/>
          <a:lstStyle/>
          <a:p>
            <a:pPr indent="0" marL="0">
              <a:lnSpc>
                <a:spcPct val="125000"/>
              </a:lnSpc>
              <a:buNone/>
            </a:pPr>
            <a:r>
              <a:rPr lang="en-US" sz="1600" b="1" dirty="0">
                <a:solidFill>
                  <a:srgbClr val="0A2540"/>
                </a:solidFill>
                <a:latin typeface="Arial" pitchFamily="34" charset="0"/>
                <a:ea typeface="Arial" pitchFamily="34" charset="-122"/>
                <a:cs typeface="Arial" pitchFamily="34" charset="-120"/>
              </a:rPr>
              <a:t>At Week 13, working engineers from real AI-first startups review top portfolios independently.</a:t>
            </a:r>
            <a:endParaRPr lang="en-US" sz="1600" dirty="0"/>
          </a:p>
        </p:txBody>
      </p:sp>
      <p:sp>
        <p:nvSpPr>
          <p:cNvPr id="36" name="Text 34"/>
          <p:cNvSpPr/>
          <p:nvPr/>
        </p:nvSpPr>
        <p:spPr>
          <a:xfrm>
            <a:off x="7589520" y="4572000"/>
            <a:ext cx="3566160" cy="822960"/>
          </a:xfrm>
          <a:prstGeom prst="rect">
            <a:avLst/>
          </a:prstGeom>
          <a:noFill/>
          <a:ln/>
        </p:spPr>
        <p:txBody>
          <a:bodyPr wrap="square" lIns="0" tIns="0" rIns="0" bIns="0" rtlCol="0" anchor="ctr"/>
          <a:lstStyle/>
          <a:p>
            <a:pPr indent="0" marL="0">
              <a:lnSpc>
                <a:spcPct val="125000"/>
              </a:lnSpc>
              <a:buNone/>
            </a:pPr>
            <a:r>
              <a:rPr lang="en-US" sz="1300" i="1" dirty="0">
                <a:solidFill>
                  <a:srgbClr val="0A2540"/>
                </a:solidFill>
                <a:latin typeface="Arial" pitchFamily="34" charset="0"/>
                <a:ea typeface="Arial" pitchFamily="34" charset="-122"/>
                <a:cs typeface="Arial" pitchFamily="34" charset="-120"/>
              </a:rPr>
              <a:t>Their feedback enters the final score — and they become the hiring pipeline.</a:t>
            </a:r>
            <a:endParaRPr lang="en-US" sz="1300" dirty="0"/>
          </a:p>
        </p:txBody>
      </p:sp>
      <p:sp>
        <p:nvSpPr>
          <p:cNvPr id="37" name="Shape 35"/>
          <p:cNvSpPr/>
          <p:nvPr/>
        </p:nvSpPr>
        <p:spPr>
          <a:xfrm>
            <a:off x="640080" y="6327648"/>
            <a:ext cx="10911535" cy="0"/>
          </a:xfrm>
          <a:prstGeom prst="line">
            <a:avLst/>
          </a:prstGeom>
          <a:noFill/>
          <a:ln w="12700">
            <a:solidFill>
              <a:srgbClr val="CDD7DF"/>
            </a:solidFill>
            <a:prstDash val="solid"/>
          </a:ln>
        </p:spPr>
      </p:sp>
      <p:sp>
        <p:nvSpPr>
          <p:cNvPr id="38" name="Text 36"/>
          <p:cNvSpPr/>
          <p:nvPr/>
        </p:nvSpPr>
        <p:spPr>
          <a:xfrm>
            <a:off x="640080" y="6400800"/>
            <a:ext cx="6400800" cy="274320"/>
          </a:xfrm>
          <a:prstGeom prst="rect">
            <a:avLst/>
          </a:prstGeom>
          <a:noFill/>
          <a:ln/>
        </p:spPr>
        <p:txBody>
          <a:bodyPr wrap="square" lIns="0" tIns="0" rIns="0" bIns="0" rtlCol="0" anchor="ctr"/>
          <a:lstStyle/>
          <a:p>
            <a:pPr indent="0" marL="0">
              <a:buNone/>
            </a:pPr>
            <a:r>
              <a:rPr lang="en-US" sz="1000" b="1" spc="200" kern="0" dirty="0">
                <a:solidFill>
                  <a:srgbClr val="5B6B7B"/>
                </a:solidFill>
                <a:latin typeface="Arial" pitchFamily="34" charset="0"/>
                <a:ea typeface="Arial" pitchFamily="34" charset="-122"/>
                <a:cs typeface="Arial" pitchFamily="34" charset="-120"/>
              </a:rPr>
              <a:t>BuildAI  /  Evaluation</a:t>
            </a:r>
            <a:endParaRPr lang="en-US" sz="1000" dirty="0"/>
          </a:p>
        </p:txBody>
      </p:sp>
      <p:sp>
        <p:nvSpPr>
          <p:cNvPr id="39" name="Shape 37"/>
          <p:cNvSpPr/>
          <p:nvPr/>
        </p:nvSpPr>
        <p:spPr>
          <a:xfrm>
            <a:off x="10725912" y="6391656"/>
            <a:ext cx="822960" cy="310896"/>
          </a:xfrm>
          <a:prstGeom prst="rect">
            <a:avLst/>
          </a:prstGeom>
          <a:solidFill>
            <a:srgbClr val="0A2540"/>
          </a:solidFill>
          <a:ln/>
        </p:spPr>
      </p:sp>
      <p:sp>
        <p:nvSpPr>
          <p:cNvPr id="40" name="Text 38"/>
          <p:cNvSpPr/>
          <p:nvPr/>
        </p:nvSpPr>
        <p:spPr>
          <a:xfrm>
            <a:off x="10725912" y="6391656"/>
            <a:ext cx="8229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11 / 21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92640" y="0"/>
            <a:ext cx="2496312" cy="502920"/>
          </a:xfrm>
          <a:prstGeom prst="rect">
            <a:avLst/>
          </a:prstGeom>
          <a:solidFill>
            <a:srgbClr val="00D4AA"/>
          </a:solidFill>
          <a:ln/>
        </p:spPr>
      </p:sp>
      <p:sp>
        <p:nvSpPr>
          <p:cNvPr id="3" name="Text 1"/>
          <p:cNvSpPr/>
          <p:nvPr/>
        </p:nvSpPr>
        <p:spPr>
          <a:xfrm>
            <a:off x="640080" y="347472"/>
            <a:ext cx="8229600" cy="292608"/>
          </a:xfrm>
          <a:prstGeom prst="rect">
            <a:avLst/>
          </a:prstGeom>
          <a:noFill/>
          <a:ln/>
        </p:spPr>
        <p:txBody>
          <a:bodyPr wrap="square" lIns="0" tIns="0" rIns="0" bIns="0" rtlCol="0" anchor="ctr"/>
          <a:lstStyle/>
          <a:p>
            <a:pPr indent="0" marL="0">
              <a:buNone/>
            </a:pPr>
            <a:r>
              <a:rPr lang="en-US" sz="1100" b="1" spc="300" kern="0" dirty="0">
                <a:solidFill>
                  <a:srgbClr val="0A8F77"/>
                </a:solidFill>
                <a:latin typeface="Arial" pitchFamily="34" charset="0"/>
                <a:ea typeface="Arial" pitchFamily="34" charset="-122"/>
                <a:cs typeface="Arial" pitchFamily="34" charset="-120"/>
              </a:rPr>
              <a:t>12 / 21</a:t>
            </a:r>
            <a:pPr indent="0" marL="0">
              <a:buNone/>
            </a:pPr>
            <a:r>
              <a:rPr lang="en-US" sz="1100" b="1" spc="300" kern="0" dirty="0">
                <a:solidFill>
                  <a:srgbClr val="5B6B7B"/>
                </a:solidFill>
                <a:latin typeface="Arial" pitchFamily="34" charset="0"/>
                <a:ea typeface="Arial" pitchFamily="34" charset="-122"/>
                <a:cs typeface="Arial" pitchFamily="34" charset="-120"/>
              </a:rPr>
              <a:t>   CERTIFICATION</a:t>
            </a:r>
            <a:endParaRPr lang="en-US" sz="1100" dirty="0"/>
          </a:p>
        </p:txBody>
      </p:sp>
      <p:sp>
        <p:nvSpPr>
          <p:cNvPr id="4" name="Text 2"/>
          <p:cNvSpPr/>
          <p:nvPr/>
        </p:nvSpPr>
        <p:spPr>
          <a:xfrm>
            <a:off x="621792" y="841248"/>
            <a:ext cx="10241280" cy="1371600"/>
          </a:xfrm>
          <a:prstGeom prst="rect">
            <a:avLst/>
          </a:prstGeom>
          <a:noFill/>
          <a:ln/>
        </p:spPr>
        <p:txBody>
          <a:bodyPr wrap="square" lIns="0" tIns="0" rIns="0" bIns="0" rtlCol="0" anchor="ctr"/>
          <a:lstStyle/>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Three tiers.</a:t>
            </a:r>
            <a:endParaRPr lang="en-US" sz="3300" dirty="0"/>
          </a:p>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Earned, not granted.</a:t>
            </a:r>
            <a:endParaRPr lang="en-US" sz="3300" dirty="0"/>
          </a:p>
        </p:txBody>
      </p:sp>
      <p:sp>
        <p:nvSpPr>
          <p:cNvPr id="5" name="Text 3"/>
          <p:cNvSpPr/>
          <p:nvPr/>
        </p:nvSpPr>
        <p:spPr>
          <a:xfrm>
            <a:off x="640080" y="2139696"/>
            <a:ext cx="10058400" cy="320040"/>
          </a:xfrm>
          <a:prstGeom prst="rect">
            <a:avLst/>
          </a:prstGeom>
          <a:noFill/>
          <a:ln/>
        </p:spPr>
        <p:txBody>
          <a:bodyPr wrap="square" lIns="0" tIns="0" rIns="0" bIns="0" rtlCol="0" anchor="ctr"/>
          <a:lstStyle/>
          <a:p>
            <a:pPr indent="0" marL="0">
              <a:buNone/>
            </a:pPr>
            <a:r>
              <a:rPr lang="en-US" sz="1350" i="1" dirty="0">
                <a:solidFill>
                  <a:srgbClr val="5B6B7B"/>
                </a:solidFill>
                <a:latin typeface="Arial" pitchFamily="34" charset="0"/>
                <a:ea typeface="Arial" pitchFamily="34" charset="-122"/>
                <a:cs typeface="Arial" pitchFamily="34" charset="-120"/>
              </a:rPr>
              <a:t>Only ~30% of every cohort earns Apprentice Certified or above. Scarcity is what creates startup trust.</a:t>
            </a:r>
            <a:endParaRPr lang="en-US" sz="1350" dirty="0"/>
          </a:p>
        </p:txBody>
      </p:sp>
      <p:sp>
        <p:nvSpPr>
          <p:cNvPr id="6" name="Text 4"/>
          <p:cNvSpPr/>
          <p:nvPr/>
        </p:nvSpPr>
        <p:spPr>
          <a:xfrm>
            <a:off x="640080" y="2697480"/>
            <a:ext cx="3291840" cy="1051560"/>
          </a:xfrm>
          <a:prstGeom prst="rect">
            <a:avLst/>
          </a:prstGeom>
          <a:noFill/>
          <a:ln/>
        </p:spPr>
        <p:txBody>
          <a:bodyPr wrap="square" lIns="0" tIns="0" rIns="0" bIns="0" rtlCol="0" anchor="ctr"/>
          <a:lstStyle/>
          <a:p>
            <a:pPr indent="0" marL="0">
              <a:buNone/>
            </a:pPr>
            <a:r>
              <a:rPr lang="en-US" sz="6400" b="1" dirty="0">
                <a:solidFill>
                  <a:srgbClr val="10202E"/>
                </a:solidFill>
                <a:latin typeface="Arial" pitchFamily="34" charset="0"/>
                <a:ea typeface="Arial" pitchFamily="34" charset="-122"/>
                <a:cs typeface="Arial" pitchFamily="34" charset="-120"/>
              </a:rPr>
              <a:t>~70%</a:t>
            </a:r>
            <a:endParaRPr lang="en-US" sz="6400" dirty="0"/>
          </a:p>
        </p:txBody>
      </p:sp>
      <p:sp>
        <p:nvSpPr>
          <p:cNvPr id="7" name="Shape 5"/>
          <p:cNvSpPr/>
          <p:nvPr/>
        </p:nvSpPr>
        <p:spPr>
          <a:xfrm>
            <a:off x="640080" y="3886200"/>
            <a:ext cx="3017520" cy="45720"/>
          </a:xfrm>
          <a:prstGeom prst="rect">
            <a:avLst/>
          </a:prstGeom>
          <a:solidFill>
            <a:srgbClr val="10202E"/>
          </a:solidFill>
          <a:ln/>
        </p:spPr>
      </p:sp>
      <p:sp>
        <p:nvSpPr>
          <p:cNvPr id="8" name="Text 6"/>
          <p:cNvSpPr/>
          <p:nvPr/>
        </p:nvSpPr>
        <p:spPr>
          <a:xfrm>
            <a:off x="640080" y="4069080"/>
            <a:ext cx="3200400" cy="274320"/>
          </a:xfrm>
          <a:prstGeom prst="rect">
            <a:avLst/>
          </a:prstGeom>
          <a:noFill/>
          <a:ln/>
        </p:spPr>
        <p:txBody>
          <a:bodyPr wrap="square" lIns="0" tIns="0" rIns="0" bIns="0" rtlCol="0" anchor="ctr"/>
          <a:lstStyle/>
          <a:p>
            <a:pPr indent="0" marL="0">
              <a:buNone/>
            </a:pPr>
            <a:r>
              <a:rPr lang="en-US" sz="1250" b="1" spc="250" kern="0" dirty="0">
                <a:solidFill>
                  <a:srgbClr val="10202E"/>
                </a:solidFill>
                <a:latin typeface="Arial" pitchFamily="34" charset="0"/>
                <a:ea typeface="Arial" pitchFamily="34" charset="-122"/>
                <a:cs typeface="Arial" pitchFamily="34" charset="-120"/>
              </a:rPr>
              <a:t>PARTICIPATED</a:t>
            </a:r>
            <a:endParaRPr lang="en-US" sz="1250" dirty="0"/>
          </a:p>
        </p:txBody>
      </p:sp>
      <p:sp>
        <p:nvSpPr>
          <p:cNvPr id="9" name="Text 7"/>
          <p:cNvSpPr/>
          <p:nvPr/>
        </p:nvSpPr>
        <p:spPr>
          <a:xfrm>
            <a:off x="640080" y="4434840"/>
            <a:ext cx="3154680" cy="822960"/>
          </a:xfrm>
          <a:prstGeom prst="rect">
            <a:avLst/>
          </a:prstGeom>
          <a:noFill/>
          <a:ln/>
        </p:spPr>
        <p:txBody>
          <a:bodyPr wrap="square" lIns="0" tIns="0" rIns="0" bIns="0" rtlCol="0" anchor="t"/>
          <a:lstStyle/>
          <a:p>
            <a:pPr indent="0" marL="0">
              <a:lnSpc>
                <a:spcPct val="125000"/>
              </a:lnSpc>
              <a:buNone/>
            </a:pPr>
            <a:r>
              <a:rPr lang="en-US" sz="1200" dirty="0">
                <a:solidFill>
                  <a:srgbClr val="5B6B7B"/>
                </a:solidFill>
                <a:latin typeface="Arial" pitchFamily="34" charset="0"/>
                <a:ea typeface="Arial" pitchFamily="34" charset="-122"/>
                <a:cs typeface="Arial" pitchFamily="34" charset="-120"/>
              </a:rPr>
              <a:t>Finished the programme, completed all assignments.</a:t>
            </a:r>
            <a:endParaRPr lang="en-US" sz="1200" dirty="0"/>
          </a:p>
        </p:txBody>
      </p:sp>
      <p:sp>
        <p:nvSpPr>
          <p:cNvPr id="10" name="Text 8"/>
          <p:cNvSpPr/>
          <p:nvPr/>
        </p:nvSpPr>
        <p:spPr>
          <a:xfrm>
            <a:off x="4297680" y="2697480"/>
            <a:ext cx="3291840" cy="1051560"/>
          </a:xfrm>
          <a:prstGeom prst="rect">
            <a:avLst/>
          </a:prstGeom>
          <a:noFill/>
          <a:ln/>
        </p:spPr>
        <p:txBody>
          <a:bodyPr wrap="square" lIns="0" tIns="0" rIns="0" bIns="0" rtlCol="0" anchor="ctr"/>
          <a:lstStyle/>
          <a:p>
            <a:pPr indent="0" marL="0">
              <a:buNone/>
            </a:pPr>
            <a:r>
              <a:rPr lang="en-US" sz="6400" b="1" dirty="0">
                <a:solidFill>
                  <a:srgbClr val="10202E"/>
                </a:solidFill>
                <a:latin typeface="Arial" pitchFamily="34" charset="0"/>
                <a:ea typeface="Arial" pitchFamily="34" charset="-122"/>
                <a:cs typeface="Arial" pitchFamily="34" charset="-120"/>
              </a:rPr>
              <a:t>~20%</a:t>
            </a:r>
            <a:endParaRPr lang="en-US" sz="6400" dirty="0"/>
          </a:p>
        </p:txBody>
      </p:sp>
      <p:sp>
        <p:nvSpPr>
          <p:cNvPr id="11" name="Shape 9"/>
          <p:cNvSpPr/>
          <p:nvPr/>
        </p:nvSpPr>
        <p:spPr>
          <a:xfrm>
            <a:off x="4297680" y="3886200"/>
            <a:ext cx="3017520" cy="45720"/>
          </a:xfrm>
          <a:prstGeom prst="rect">
            <a:avLst/>
          </a:prstGeom>
          <a:solidFill>
            <a:srgbClr val="10202E"/>
          </a:solidFill>
          <a:ln/>
        </p:spPr>
      </p:sp>
      <p:sp>
        <p:nvSpPr>
          <p:cNvPr id="12" name="Text 10"/>
          <p:cNvSpPr/>
          <p:nvPr/>
        </p:nvSpPr>
        <p:spPr>
          <a:xfrm>
            <a:off x="4297680" y="4069080"/>
            <a:ext cx="3200400" cy="274320"/>
          </a:xfrm>
          <a:prstGeom prst="rect">
            <a:avLst/>
          </a:prstGeom>
          <a:noFill/>
          <a:ln/>
        </p:spPr>
        <p:txBody>
          <a:bodyPr wrap="square" lIns="0" tIns="0" rIns="0" bIns="0" rtlCol="0" anchor="ctr"/>
          <a:lstStyle/>
          <a:p>
            <a:pPr indent="0" marL="0">
              <a:buNone/>
            </a:pPr>
            <a:r>
              <a:rPr lang="en-US" sz="1250" b="1" spc="250" kern="0" dirty="0">
                <a:solidFill>
                  <a:srgbClr val="10202E"/>
                </a:solidFill>
                <a:latin typeface="Arial" pitchFamily="34" charset="0"/>
                <a:ea typeface="Arial" pitchFamily="34" charset="-122"/>
                <a:cs typeface="Arial" pitchFamily="34" charset="-120"/>
              </a:rPr>
              <a:t>APPRENTICE CERTIFIED</a:t>
            </a:r>
            <a:endParaRPr lang="en-US" sz="1250" dirty="0"/>
          </a:p>
        </p:txBody>
      </p:sp>
      <p:sp>
        <p:nvSpPr>
          <p:cNvPr id="13" name="Text 11"/>
          <p:cNvSpPr/>
          <p:nvPr/>
        </p:nvSpPr>
        <p:spPr>
          <a:xfrm>
            <a:off x="4297680" y="4434840"/>
            <a:ext cx="3154680" cy="822960"/>
          </a:xfrm>
          <a:prstGeom prst="rect">
            <a:avLst/>
          </a:prstGeom>
          <a:noFill/>
          <a:ln/>
        </p:spPr>
        <p:txBody>
          <a:bodyPr wrap="square" lIns="0" tIns="0" rIns="0" bIns="0" rtlCol="0" anchor="t"/>
          <a:lstStyle/>
          <a:p>
            <a:pPr indent="0" marL="0">
              <a:lnSpc>
                <a:spcPct val="125000"/>
              </a:lnSpc>
              <a:buNone/>
            </a:pPr>
            <a:r>
              <a:rPr lang="en-US" sz="1200" dirty="0">
                <a:solidFill>
                  <a:srgbClr val="5B6B7B"/>
                </a:solidFill>
                <a:latin typeface="Arial" pitchFamily="34" charset="0"/>
                <a:ea typeface="Arial" pitchFamily="34" charset="-122"/>
                <a:cs typeface="Arial" pitchFamily="34" charset="-120"/>
              </a:rPr>
              <a:t>All 7 rubric dimensions scored 3 or higher.</a:t>
            </a:r>
            <a:endParaRPr lang="en-US" sz="1200" dirty="0"/>
          </a:p>
        </p:txBody>
      </p:sp>
      <p:sp>
        <p:nvSpPr>
          <p:cNvPr id="14" name="Text 12"/>
          <p:cNvSpPr/>
          <p:nvPr/>
        </p:nvSpPr>
        <p:spPr>
          <a:xfrm>
            <a:off x="7955280" y="2697480"/>
            <a:ext cx="3291840" cy="1051560"/>
          </a:xfrm>
          <a:prstGeom prst="rect">
            <a:avLst/>
          </a:prstGeom>
          <a:noFill/>
          <a:ln/>
        </p:spPr>
        <p:txBody>
          <a:bodyPr wrap="square" lIns="0" tIns="0" rIns="0" bIns="0" rtlCol="0" anchor="ctr"/>
          <a:lstStyle/>
          <a:p>
            <a:pPr indent="0" marL="0">
              <a:buNone/>
            </a:pPr>
            <a:r>
              <a:rPr lang="en-US" sz="6400" b="1" dirty="0">
                <a:solidFill>
                  <a:srgbClr val="0A8F77"/>
                </a:solidFill>
                <a:latin typeface="Arial" pitchFamily="34" charset="0"/>
                <a:ea typeface="Arial" pitchFamily="34" charset="-122"/>
                <a:cs typeface="Arial" pitchFamily="34" charset="-120"/>
              </a:rPr>
              <a:t>~10%</a:t>
            </a:r>
            <a:endParaRPr lang="en-US" sz="6400" dirty="0"/>
          </a:p>
        </p:txBody>
      </p:sp>
      <p:sp>
        <p:nvSpPr>
          <p:cNvPr id="15" name="Shape 13"/>
          <p:cNvSpPr/>
          <p:nvPr/>
        </p:nvSpPr>
        <p:spPr>
          <a:xfrm>
            <a:off x="7955280" y="3886200"/>
            <a:ext cx="3017520" cy="45720"/>
          </a:xfrm>
          <a:prstGeom prst="rect">
            <a:avLst/>
          </a:prstGeom>
          <a:solidFill>
            <a:srgbClr val="00D4AA"/>
          </a:solidFill>
          <a:ln/>
        </p:spPr>
      </p:sp>
      <p:sp>
        <p:nvSpPr>
          <p:cNvPr id="16" name="Text 14"/>
          <p:cNvSpPr/>
          <p:nvPr/>
        </p:nvSpPr>
        <p:spPr>
          <a:xfrm>
            <a:off x="7955280" y="4069080"/>
            <a:ext cx="3200400" cy="274320"/>
          </a:xfrm>
          <a:prstGeom prst="rect">
            <a:avLst/>
          </a:prstGeom>
          <a:noFill/>
          <a:ln/>
        </p:spPr>
        <p:txBody>
          <a:bodyPr wrap="square" lIns="0" tIns="0" rIns="0" bIns="0" rtlCol="0" anchor="ctr"/>
          <a:lstStyle/>
          <a:p>
            <a:pPr indent="0" marL="0">
              <a:buNone/>
            </a:pPr>
            <a:r>
              <a:rPr lang="en-US" sz="1250" b="1" spc="250" kern="0" dirty="0">
                <a:solidFill>
                  <a:srgbClr val="0A8F77"/>
                </a:solidFill>
                <a:latin typeface="Arial" pitchFamily="34" charset="0"/>
                <a:ea typeface="Arial" pitchFamily="34" charset="-122"/>
                <a:cs typeface="Arial" pitchFamily="34" charset="-120"/>
              </a:rPr>
              <a:t>DISTINCTION</a:t>
            </a:r>
            <a:endParaRPr lang="en-US" sz="1250" dirty="0"/>
          </a:p>
        </p:txBody>
      </p:sp>
      <p:sp>
        <p:nvSpPr>
          <p:cNvPr id="17" name="Text 15"/>
          <p:cNvSpPr/>
          <p:nvPr/>
        </p:nvSpPr>
        <p:spPr>
          <a:xfrm>
            <a:off x="7955280" y="4434840"/>
            <a:ext cx="3154680" cy="822960"/>
          </a:xfrm>
          <a:prstGeom prst="rect">
            <a:avLst/>
          </a:prstGeom>
          <a:noFill/>
          <a:ln/>
        </p:spPr>
        <p:txBody>
          <a:bodyPr wrap="square" lIns="0" tIns="0" rIns="0" bIns="0" rtlCol="0" anchor="t"/>
          <a:lstStyle/>
          <a:p>
            <a:pPr indent="0" marL="0">
              <a:lnSpc>
                <a:spcPct val="125000"/>
              </a:lnSpc>
              <a:buNone/>
            </a:pPr>
            <a:r>
              <a:rPr lang="en-US" sz="1200" dirty="0">
                <a:solidFill>
                  <a:srgbClr val="5B6B7B"/>
                </a:solidFill>
                <a:latin typeface="Arial" pitchFamily="34" charset="0"/>
                <a:ea typeface="Arial" pitchFamily="34" charset="-122"/>
                <a:cs typeface="Arial" pitchFamily="34" charset="-120"/>
              </a:rPr>
              <a:t>Top performers, externally validated, fast-tracked to startup placement.</a:t>
            </a:r>
            <a:endParaRPr lang="en-US" sz="1200" dirty="0"/>
          </a:p>
        </p:txBody>
      </p:sp>
      <p:sp>
        <p:nvSpPr>
          <p:cNvPr id="18" name="Text 16"/>
          <p:cNvSpPr/>
          <p:nvPr/>
        </p:nvSpPr>
        <p:spPr>
          <a:xfrm>
            <a:off x="640080" y="5623560"/>
            <a:ext cx="10058400" cy="320040"/>
          </a:xfrm>
          <a:prstGeom prst="rect">
            <a:avLst/>
          </a:prstGeom>
          <a:noFill/>
          <a:ln/>
        </p:spPr>
        <p:txBody>
          <a:bodyPr wrap="square" lIns="0" tIns="0" rIns="0" bIns="0" rtlCol="0" anchor="ctr"/>
          <a:lstStyle/>
          <a:p>
            <a:pPr indent="0" marL="0">
              <a:buNone/>
            </a:pPr>
            <a:r>
              <a:rPr lang="en-US" sz="1250" b="1" dirty="0">
                <a:solidFill>
                  <a:srgbClr val="10202E"/>
                </a:solidFill>
                <a:latin typeface="Arial" pitchFamily="34" charset="0"/>
                <a:ea typeface="Arial" pitchFamily="34" charset="-122"/>
                <a:cs typeface="Arial" pitchFamily="34" charset="-120"/>
              </a:rPr>
              <a:t>No job guarantee — by design. The certificate keeps its value because it cannot be bought.</a:t>
            </a:r>
            <a:endParaRPr lang="en-US" sz="1250" dirty="0"/>
          </a:p>
        </p:txBody>
      </p:sp>
      <p:sp>
        <p:nvSpPr>
          <p:cNvPr id="19" name="Shape 17"/>
          <p:cNvSpPr/>
          <p:nvPr/>
        </p:nvSpPr>
        <p:spPr>
          <a:xfrm>
            <a:off x="640080" y="6327648"/>
            <a:ext cx="10911535" cy="0"/>
          </a:xfrm>
          <a:prstGeom prst="line">
            <a:avLst/>
          </a:prstGeom>
          <a:noFill/>
          <a:ln w="12700">
            <a:solidFill>
              <a:srgbClr val="CDD7DF"/>
            </a:solidFill>
            <a:prstDash val="solid"/>
          </a:ln>
        </p:spPr>
      </p:sp>
      <p:sp>
        <p:nvSpPr>
          <p:cNvPr id="20" name="Text 18"/>
          <p:cNvSpPr/>
          <p:nvPr/>
        </p:nvSpPr>
        <p:spPr>
          <a:xfrm>
            <a:off x="640080" y="6400800"/>
            <a:ext cx="6400800" cy="274320"/>
          </a:xfrm>
          <a:prstGeom prst="rect">
            <a:avLst/>
          </a:prstGeom>
          <a:noFill/>
          <a:ln/>
        </p:spPr>
        <p:txBody>
          <a:bodyPr wrap="square" lIns="0" tIns="0" rIns="0" bIns="0" rtlCol="0" anchor="ctr"/>
          <a:lstStyle/>
          <a:p>
            <a:pPr indent="0" marL="0">
              <a:buNone/>
            </a:pPr>
            <a:r>
              <a:rPr lang="en-US" sz="1000" b="1" spc="200" kern="0" dirty="0">
                <a:solidFill>
                  <a:srgbClr val="5B6B7B"/>
                </a:solidFill>
                <a:latin typeface="Arial" pitchFamily="34" charset="0"/>
                <a:ea typeface="Arial" pitchFamily="34" charset="-122"/>
                <a:cs typeface="Arial" pitchFamily="34" charset="-120"/>
              </a:rPr>
              <a:t>BuildAI  /  Certification</a:t>
            </a:r>
            <a:endParaRPr lang="en-US" sz="1000" dirty="0"/>
          </a:p>
        </p:txBody>
      </p:sp>
      <p:sp>
        <p:nvSpPr>
          <p:cNvPr id="21" name="Shape 19"/>
          <p:cNvSpPr/>
          <p:nvPr/>
        </p:nvSpPr>
        <p:spPr>
          <a:xfrm>
            <a:off x="10725912" y="6391656"/>
            <a:ext cx="822960" cy="310896"/>
          </a:xfrm>
          <a:prstGeom prst="rect">
            <a:avLst/>
          </a:prstGeom>
          <a:solidFill>
            <a:srgbClr val="0A2540"/>
          </a:solidFill>
          <a:ln/>
        </p:spPr>
      </p:sp>
      <p:sp>
        <p:nvSpPr>
          <p:cNvPr id="22" name="Text 20"/>
          <p:cNvSpPr/>
          <p:nvPr/>
        </p:nvSpPr>
        <p:spPr>
          <a:xfrm>
            <a:off x="10725912" y="6391656"/>
            <a:ext cx="8229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12 / 21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515600" y="0"/>
            <a:ext cx="1673352" cy="1325880"/>
          </a:xfrm>
          <a:prstGeom prst="rect">
            <a:avLst/>
          </a:prstGeom>
          <a:solidFill>
            <a:srgbClr val="0A2540"/>
          </a:solidFill>
          <a:ln/>
        </p:spPr>
      </p:sp>
      <p:sp>
        <p:nvSpPr>
          <p:cNvPr id="3" name="Text 1"/>
          <p:cNvSpPr/>
          <p:nvPr/>
        </p:nvSpPr>
        <p:spPr>
          <a:xfrm>
            <a:off x="640080" y="347472"/>
            <a:ext cx="8229600" cy="292608"/>
          </a:xfrm>
          <a:prstGeom prst="rect">
            <a:avLst/>
          </a:prstGeom>
          <a:noFill/>
          <a:ln/>
        </p:spPr>
        <p:txBody>
          <a:bodyPr wrap="square" lIns="0" tIns="0" rIns="0" bIns="0" rtlCol="0" anchor="ctr"/>
          <a:lstStyle/>
          <a:p>
            <a:pPr indent="0" marL="0">
              <a:buNone/>
            </a:pPr>
            <a:r>
              <a:rPr lang="en-US" sz="1100" b="1" spc="300" kern="0" dirty="0">
                <a:solidFill>
                  <a:srgbClr val="0A8F77"/>
                </a:solidFill>
                <a:latin typeface="Arial" pitchFamily="34" charset="0"/>
                <a:ea typeface="Arial" pitchFamily="34" charset="-122"/>
                <a:cs typeface="Arial" pitchFamily="34" charset="-120"/>
              </a:rPr>
              <a:t>13 / 21</a:t>
            </a:r>
            <a:pPr indent="0" marL="0">
              <a:buNone/>
            </a:pPr>
            <a:r>
              <a:rPr lang="en-US" sz="1100" b="1" spc="300" kern="0" dirty="0">
                <a:solidFill>
                  <a:srgbClr val="5B6B7B"/>
                </a:solidFill>
                <a:latin typeface="Arial" pitchFamily="34" charset="0"/>
                <a:ea typeface="Arial" pitchFamily="34" charset="-122"/>
                <a:cs typeface="Arial" pitchFamily="34" charset="-120"/>
              </a:rPr>
              <a:t>   OUTCOMES</a:t>
            </a:r>
            <a:endParaRPr lang="en-US" sz="1100" dirty="0"/>
          </a:p>
        </p:txBody>
      </p:sp>
      <p:sp>
        <p:nvSpPr>
          <p:cNvPr id="4" name="Text 2"/>
          <p:cNvSpPr/>
          <p:nvPr/>
        </p:nvSpPr>
        <p:spPr>
          <a:xfrm>
            <a:off x="621792" y="841248"/>
            <a:ext cx="10241280" cy="1371600"/>
          </a:xfrm>
          <a:prstGeom prst="rect">
            <a:avLst/>
          </a:prstGeom>
          <a:noFill/>
          <a:ln/>
        </p:spPr>
        <p:txBody>
          <a:bodyPr wrap="square" lIns="0" tIns="0" rIns="0" bIns="0" rtlCol="0" anchor="ctr"/>
          <a:lstStyle/>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What every Apprentice Certified</a:t>
            </a:r>
            <a:endParaRPr lang="en-US" sz="3300" dirty="0"/>
          </a:p>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graduate walks away with.</a:t>
            </a:r>
            <a:endParaRPr lang="en-US" sz="3300" dirty="0"/>
          </a:p>
        </p:txBody>
      </p:sp>
      <p:sp>
        <p:nvSpPr>
          <p:cNvPr id="5" name="Shape 3"/>
          <p:cNvSpPr/>
          <p:nvPr/>
        </p:nvSpPr>
        <p:spPr>
          <a:xfrm>
            <a:off x="640080" y="2395728"/>
            <a:ext cx="3529584" cy="1664208"/>
          </a:xfrm>
          <a:prstGeom prst="rect">
            <a:avLst/>
          </a:prstGeom>
          <a:solidFill>
            <a:srgbClr val="FFFFFF"/>
          </a:solidFill>
          <a:ln w="12700">
            <a:solidFill>
              <a:srgbClr val="CDD7DF"/>
            </a:solidFill>
            <a:prstDash val="solid"/>
          </a:ln>
        </p:spPr>
      </p:sp>
      <p:sp>
        <p:nvSpPr>
          <p:cNvPr id="6" name="Text 4"/>
          <p:cNvSpPr/>
          <p:nvPr/>
        </p:nvSpPr>
        <p:spPr>
          <a:xfrm>
            <a:off x="914400" y="2560320"/>
            <a:ext cx="2743200" cy="777240"/>
          </a:xfrm>
          <a:prstGeom prst="rect">
            <a:avLst/>
          </a:prstGeom>
          <a:noFill/>
          <a:ln/>
        </p:spPr>
        <p:txBody>
          <a:bodyPr wrap="square" lIns="0" tIns="0" rIns="0" bIns="0" rtlCol="0" anchor="ctr"/>
          <a:lstStyle/>
          <a:p>
            <a:pPr indent="0" marL="0">
              <a:buNone/>
            </a:pPr>
            <a:r>
              <a:rPr lang="en-US" sz="4600" b="1" dirty="0">
                <a:solidFill>
                  <a:srgbClr val="10202E"/>
                </a:solidFill>
                <a:latin typeface="Arial" pitchFamily="34" charset="0"/>
                <a:ea typeface="Arial" pitchFamily="34" charset="-122"/>
                <a:cs typeface="Arial" pitchFamily="34" charset="-120"/>
              </a:rPr>
              <a:t>5+</a:t>
            </a:r>
            <a:endParaRPr lang="en-US" sz="4600" dirty="0"/>
          </a:p>
        </p:txBody>
      </p:sp>
      <p:sp>
        <p:nvSpPr>
          <p:cNvPr id="7" name="Shape 5"/>
          <p:cNvSpPr/>
          <p:nvPr/>
        </p:nvSpPr>
        <p:spPr>
          <a:xfrm>
            <a:off x="932688" y="3419856"/>
            <a:ext cx="502920" cy="45720"/>
          </a:xfrm>
          <a:prstGeom prst="rect">
            <a:avLst/>
          </a:prstGeom>
          <a:solidFill>
            <a:srgbClr val="0A8F77"/>
          </a:solidFill>
          <a:ln/>
        </p:spPr>
      </p:sp>
      <p:sp>
        <p:nvSpPr>
          <p:cNvPr id="8" name="Text 6"/>
          <p:cNvSpPr/>
          <p:nvPr/>
        </p:nvSpPr>
        <p:spPr>
          <a:xfrm>
            <a:off x="914400" y="3547872"/>
            <a:ext cx="3063240" cy="457200"/>
          </a:xfrm>
          <a:prstGeom prst="rect">
            <a:avLst/>
          </a:prstGeom>
          <a:noFill/>
          <a:ln/>
        </p:spPr>
        <p:txBody>
          <a:bodyPr wrap="square" lIns="0" tIns="0" rIns="0" bIns="0" rtlCol="0" anchor="ctr"/>
          <a:lstStyle/>
          <a:p>
            <a:pPr indent="0" marL="0">
              <a:lnSpc>
                <a:spcPct val="115000"/>
              </a:lnSpc>
              <a:buNone/>
            </a:pPr>
            <a:r>
              <a:rPr lang="en-US" sz="1150" dirty="0">
                <a:solidFill>
                  <a:srgbClr val="5B6B7B"/>
                </a:solidFill>
                <a:latin typeface="Arial" pitchFamily="34" charset="0"/>
                <a:ea typeface="Arial" pitchFamily="34" charset="-122"/>
                <a:cs typeface="Arial" pitchFamily="34" charset="-120"/>
              </a:rPr>
              <a:t>Deployed products in a public portfolio</a:t>
            </a:r>
            <a:endParaRPr lang="en-US" sz="1150" dirty="0"/>
          </a:p>
        </p:txBody>
      </p:sp>
      <p:sp>
        <p:nvSpPr>
          <p:cNvPr id="9" name="Shape 7"/>
          <p:cNvSpPr/>
          <p:nvPr/>
        </p:nvSpPr>
        <p:spPr>
          <a:xfrm>
            <a:off x="4325112" y="2395728"/>
            <a:ext cx="3529584" cy="1664208"/>
          </a:xfrm>
          <a:prstGeom prst="rect">
            <a:avLst/>
          </a:prstGeom>
          <a:solidFill>
            <a:srgbClr val="FFFFFF"/>
          </a:solidFill>
          <a:ln w="12700">
            <a:solidFill>
              <a:srgbClr val="CDD7DF"/>
            </a:solidFill>
            <a:prstDash val="solid"/>
          </a:ln>
        </p:spPr>
      </p:sp>
      <p:sp>
        <p:nvSpPr>
          <p:cNvPr id="10" name="Text 8"/>
          <p:cNvSpPr/>
          <p:nvPr/>
        </p:nvSpPr>
        <p:spPr>
          <a:xfrm>
            <a:off x="4599432" y="2560320"/>
            <a:ext cx="2743200" cy="777240"/>
          </a:xfrm>
          <a:prstGeom prst="rect">
            <a:avLst/>
          </a:prstGeom>
          <a:noFill/>
          <a:ln/>
        </p:spPr>
        <p:txBody>
          <a:bodyPr wrap="square" lIns="0" tIns="0" rIns="0" bIns="0" rtlCol="0" anchor="ctr"/>
          <a:lstStyle/>
          <a:p>
            <a:pPr indent="0" marL="0">
              <a:buNone/>
            </a:pPr>
            <a:r>
              <a:rPr lang="en-US" sz="4600" b="1" dirty="0">
                <a:solidFill>
                  <a:srgbClr val="10202E"/>
                </a:solidFill>
                <a:latin typeface="Arial" pitchFamily="34" charset="0"/>
                <a:ea typeface="Arial" pitchFamily="34" charset="-122"/>
                <a:cs typeface="Arial" pitchFamily="34" charset="-120"/>
              </a:rPr>
              <a:t>3+</a:t>
            </a:r>
            <a:endParaRPr lang="en-US" sz="4600" dirty="0"/>
          </a:p>
        </p:txBody>
      </p:sp>
      <p:sp>
        <p:nvSpPr>
          <p:cNvPr id="11" name="Shape 9"/>
          <p:cNvSpPr/>
          <p:nvPr/>
        </p:nvSpPr>
        <p:spPr>
          <a:xfrm>
            <a:off x="4617720" y="3419856"/>
            <a:ext cx="502920" cy="45720"/>
          </a:xfrm>
          <a:prstGeom prst="rect">
            <a:avLst/>
          </a:prstGeom>
          <a:solidFill>
            <a:srgbClr val="0A8F77"/>
          </a:solidFill>
          <a:ln/>
        </p:spPr>
      </p:sp>
      <p:sp>
        <p:nvSpPr>
          <p:cNvPr id="12" name="Text 10"/>
          <p:cNvSpPr/>
          <p:nvPr/>
        </p:nvSpPr>
        <p:spPr>
          <a:xfrm>
            <a:off x="4599432" y="3547872"/>
            <a:ext cx="3063240" cy="457200"/>
          </a:xfrm>
          <a:prstGeom prst="rect">
            <a:avLst/>
          </a:prstGeom>
          <a:noFill/>
          <a:ln/>
        </p:spPr>
        <p:txBody>
          <a:bodyPr wrap="square" lIns="0" tIns="0" rIns="0" bIns="0" rtlCol="0" anchor="ctr"/>
          <a:lstStyle/>
          <a:p>
            <a:pPr indent="0" marL="0">
              <a:lnSpc>
                <a:spcPct val="115000"/>
              </a:lnSpc>
              <a:buNone/>
            </a:pPr>
            <a:r>
              <a:rPr lang="en-US" sz="1150" dirty="0">
                <a:solidFill>
                  <a:srgbClr val="5B6B7B"/>
                </a:solidFill>
                <a:latin typeface="Arial" pitchFamily="34" charset="0"/>
                <a:ea typeface="Arial" pitchFamily="34" charset="-122"/>
                <a:cs typeface="Arial" pitchFamily="34" charset="-120"/>
              </a:rPr>
              <a:t>Live URLs with working demos</a:t>
            </a:r>
            <a:endParaRPr lang="en-US" sz="1150" dirty="0"/>
          </a:p>
        </p:txBody>
      </p:sp>
      <p:sp>
        <p:nvSpPr>
          <p:cNvPr id="13" name="Shape 11"/>
          <p:cNvSpPr/>
          <p:nvPr/>
        </p:nvSpPr>
        <p:spPr>
          <a:xfrm>
            <a:off x="8010144" y="2395728"/>
            <a:ext cx="3529584" cy="1664208"/>
          </a:xfrm>
          <a:prstGeom prst="rect">
            <a:avLst/>
          </a:prstGeom>
          <a:solidFill>
            <a:srgbClr val="0A2540"/>
          </a:solidFill>
          <a:ln w="12700">
            <a:solidFill>
              <a:srgbClr val="0A2540"/>
            </a:solidFill>
            <a:prstDash val="solid"/>
          </a:ln>
        </p:spPr>
      </p:sp>
      <p:sp>
        <p:nvSpPr>
          <p:cNvPr id="14" name="Text 12"/>
          <p:cNvSpPr/>
          <p:nvPr/>
        </p:nvSpPr>
        <p:spPr>
          <a:xfrm>
            <a:off x="8284464" y="2560320"/>
            <a:ext cx="2743200" cy="777240"/>
          </a:xfrm>
          <a:prstGeom prst="rect">
            <a:avLst/>
          </a:prstGeom>
          <a:noFill/>
          <a:ln/>
        </p:spPr>
        <p:txBody>
          <a:bodyPr wrap="square" lIns="0" tIns="0" rIns="0" bIns="0" rtlCol="0" anchor="ctr"/>
          <a:lstStyle/>
          <a:p>
            <a:pPr indent="0" marL="0">
              <a:buNone/>
            </a:pPr>
            <a:r>
              <a:rPr lang="en-US" sz="4600" b="1" dirty="0">
                <a:solidFill>
                  <a:srgbClr val="00D4AA"/>
                </a:solidFill>
                <a:latin typeface="Arial" pitchFamily="34" charset="0"/>
                <a:ea typeface="Arial" pitchFamily="34" charset="-122"/>
                <a:cs typeface="Arial" pitchFamily="34" charset="-120"/>
              </a:rPr>
              <a:t>1</a:t>
            </a:r>
            <a:endParaRPr lang="en-US" sz="4600" dirty="0"/>
          </a:p>
        </p:txBody>
      </p:sp>
      <p:sp>
        <p:nvSpPr>
          <p:cNvPr id="15" name="Shape 13"/>
          <p:cNvSpPr/>
          <p:nvPr/>
        </p:nvSpPr>
        <p:spPr>
          <a:xfrm>
            <a:off x="8302752" y="3419856"/>
            <a:ext cx="502920" cy="45720"/>
          </a:xfrm>
          <a:prstGeom prst="rect">
            <a:avLst/>
          </a:prstGeom>
          <a:solidFill>
            <a:srgbClr val="00D4AA"/>
          </a:solidFill>
          <a:ln/>
        </p:spPr>
      </p:sp>
      <p:sp>
        <p:nvSpPr>
          <p:cNvPr id="16" name="Text 14"/>
          <p:cNvSpPr/>
          <p:nvPr/>
        </p:nvSpPr>
        <p:spPr>
          <a:xfrm>
            <a:off x="8284464" y="3547872"/>
            <a:ext cx="3063240" cy="457200"/>
          </a:xfrm>
          <a:prstGeom prst="rect">
            <a:avLst/>
          </a:prstGeom>
          <a:noFill/>
          <a:ln/>
        </p:spPr>
        <p:txBody>
          <a:bodyPr wrap="square" lIns="0" tIns="0" rIns="0" bIns="0" rtlCol="0" anchor="ctr"/>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Capstone reviewed by an AI-startup engineer</a:t>
            </a:r>
            <a:endParaRPr lang="en-US" sz="1150" dirty="0"/>
          </a:p>
        </p:txBody>
      </p:sp>
      <p:sp>
        <p:nvSpPr>
          <p:cNvPr id="17" name="Shape 15"/>
          <p:cNvSpPr/>
          <p:nvPr/>
        </p:nvSpPr>
        <p:spPr>
          <a:xfrm>
            <a:off x="640080" y="4261104"/>
            <a:ext cx="3529584" cy="1664208"/>
          </a:xfrm>
          <a:prstGeom prst="rect">
            <a:avLst/>
          </a:prstGeom>
          <a:solidFill>
            <a:srgbClr val="FFFFFF"/>
          </a:solidFill>
          <a:ln w="12700">
            <a:solidFill>
              <a:srgbClr val="CDD7DF"/>
            </a:solidFill>
            <a:prstDash val="solid"/>
          </a:ln>
        </p:spPr>
      </p:sp>
      <p:sp>
        <p:nvSpPr>
          <p:cNvPr id="18" name="Text 16"/>
          <p:cNvSpPr/>
          <p:nvPr/>
        </p:nvSpPr>
        <p:spPr>
          <a:xfrm>
            <a:off x="914400" y="4425696"/>
            <a:ext cx="2743200" cy="777240"/>
          </a:xfrm>
          <a:prstGeom prst="rect">
            <a:avLst/>
          </a:prstGeom>
          <a:noFill/>
          <a:ln/>
        </p:spPr>
        <p:txBody>
          <a:bodyPr wrap="square" lIns="0" tIns="0" rIns="0" bIns="0" rtlCol="0" anchor="ctr"/>
          <a:lstStyle/>
          <a:p>
            <a:pPr indent="0" marL="0">
              <a:buNone/>
            </a:pPr>
            <a:r>
              <a:rPr lang="en-US" sz="4600" b="1" dirty="0">
                <a:solidFill>
                  <a:srgbClr val="10202E"/>
                </a:solidFill>
                <a:latin typeface="Arial" pitchFamily="34" charset="0"/>
                <a:ea typeface="Arial" pitchFamily="34" charset="-122"/>
                <a:cs typeface="Arial" pitchFamily="34" charset="-120"/>
              </a:rPr>
              <a:t>13</a:t>
            </a:r>
            <a:endParaRPr lang="en-US" sz="4600" dirty="0"/>
          </a:p>
        </p:txBody>
      </p:sp>
      <p:sp>
        <p:nvSpPr>
          <p:cNvPr id="19" name="Shape 17"/>
          <p:cNvSpPr/>
          <p:nvPr/>
        </p:nvSpPr>
        <p:spPr>
          <a:xfrm>
            <a:off x="932688" y="5285232"/>
            <a:ext cx="502920" cy="45720"/>
          </a:xfrm>
          <a:prstGeom prst="rect">
            <a:avLst/>
          </a:prstGeom>
          <a:solidFill>
            <a:srgbClr val="0A8F77"/>
          </a:solidFill>
          <a:ln/>
        </p:spPr>
      </p:sp>
      <p:sp>
        <p:nvSpPr>
          <p:cNvPr id="20" name="Text 18"/>
          <p:cNvSpPr/>
          <p:nvPr/>
        </p:nvSpPr>
        <p:spPr>
          <a:xfrm>
            <a:off x="914400" y="5413248"/>
            <a:ext cx="3063240" cy="457200"/>
          </a:xfrm>
          <a:prstGeom prst="rect">
            <a:avLst/>
          </a:prstGeom>
          <a:noFill/>
          <a:ln/>
        </p:spPr>
        <p:txBody>
          <a:bodyPr wrap="square" lIns="0" tIns="0" rIns="0" bIns="0" rtlCol="0" anchor="ctr"/>
          <a:lstStyle/>
          <a:p>
            <a:pPr indent="0" marL="0">
              <a:lnSpc>
                <a:spcPct val="115000"/>
              </a:lnSpc>
              <a:buNone/>
            </a:pPr>
            <a:r>
              <a:rPr lang="en-US" sz="1150" dirty="0">
                <a:solidFill>
                  <a:srgbClr val="5B6B7B"/>
                </a:solidFill>
                <a:latin typeface="Arial" pitchFamily="34" charset="0"/>
                <a:ea typeface="Arial" pitchFamily="34" charset="-122"/>
                <a:cs typeface="Arial" pitchFamily="34" charset="-120"/>
              </a:rPr>
              <a:t>Weeks of PR-reviewed, production-grade code</a:t>
            </a:r>
            <a:endParaRPr lang="en-US" sz="1150" dirty="0"/>
          </a:p>
        </p:txBody>
      </p:sp>
      <p:sp>
        <p:nvSpPr>
          <p:cNvPr id="21" name="Shape 19"/>
          <p:cNvSpPr/>
          <p:nvPr/>
        </p:nvSpPr>
        <p:spPr>
          <a:xfrm>
            <a:off x="4325112" y="4261104"/>
            <a:ext cx="3529584" cy="1664208"/>
          </a:xfrm>
          <a:prstGeom prst="rect">
            <a:avLst/>
          </a:prstGeom>
          <a:solidFill>
            <a:srgbClr val="FFFFFF"/>
          </a:solidFill>
          <a:ln w="12700">
            <a:solidFill>
              <a:srgbClr val="CDD7DF"/>
            </a:solidFill>
            <a:prstDash val="solid"/>
          </a:ln>
        </p:spPr>
      </p:sp>
      <p:sp>
        <p:nvSpPr>
          <p:cNvPr id="22" name="Text 20"/>
          <p:cNvSpPr/>
          <p:nvPr/>
        </p:nvSpPr>
        <p:spPr>
          <a:xfrm>
            <a:off x="4599432" y="4425696"/>
            <a:ext cx="2743200" cy="777240"/>
          </a:xfrm>
          <a:prstGeom prst="rect">
            <a:avLst/>
          </a:prstGeom>
          <a:noFill/>
          <a:ln/>
        </p:spPr>
        <p:txBody>
          <a:bodyPr wrap="square" lIns="0" tIns="0" rIns="0" bIns="0" rtlCol="0" anchor="ctr"/>
          <a:lstStyle/>
          <a:p>
            <a:pPr indent="0" marL="0">
              <a:buNone/>
            </a:pPr>
            <a:r>
              <a:rPr lang="en-US" sz="4600" b="1" dirty="0">
                <a:solidFill>
                  <a:srgbClr val="10202E"/>
                </a:solidFill>
                <a:latin typeface="Arial" pitchFamily="34" charset="0"/>
                <a:ea typeface="Arial" pitchFamily="34" charset="-122"/>
                <a:cs typeface="Arial" pitchFamily="34" charset="-120"/>
              </a:rPr>
              <a:t>8+</a:t>
            </a:r>
            <a:endParaRPr lang="en-US" sz="4600" dirty="0"/>
          </a:p>
        </p:txBody>
      </p:sp>
      <p:sp>
        <p:nvSpPr>
          <p:cNvPr id="23" name="Shape 21"/>
          <p:cNvSpPr/>
          <p:nvPr/>
        </p:nvSpPr>
        <p:spPr>
          <a:xfrm>
            <a:off x="4617720" y="5285232"/>
            <a:ext cx="502920" cy="45720"/>
          </a:xfrm>
          <a:prstGeom prst="rect">
            <a:avLst/>
          </a:prstGeom>
          <a:solidFill>
            <a:srgbClr val="0A8F77"/>
          </a:solidFill>
          <a:ln/>
        </p:spPr>
      </p:sp>
      <p:sp>
        <p:nvSpPr>
          <p:cNvPr id="24" name="Text 22"/>
          <p:cNvSpPr/>
          <p:nvPr/>
        </p:nvSpPr>
        <p:spPr>
          <a:xfrm>
            <a:off x="4599432" y="5413248"/>
            <a:ext cx="3063240" cy="457200"/>
          </a:xfrm>
          <a:prstGeom prst="rect">
            <a:avLst/>
          </a:prstGeom>
          <a:noFill/>
          <a:ln/>
        </p:spPr>
        <p:txBody>
          <a:bodyPr wrap="square" lIns="0" tIns="0" rIns="0" bIns="0" rtlCol="0" anchor="ctr"/>
          <a:lstStyle/>
          <a:p>
            <a:pPr indent="0" marL="0">
              <a:lnSpc>
                <a:spcPct val="115000"/>
              </a:lnSpc>
              <a:buNone/>
            </a:pPr>
            <a:r>
              <a:rPr lang="en-US" sz="1150" dirty="0">
                <a:solidFill>
                  <a:srgbClr val="5B6B7B"/>
                </a:solidFill>
                <a:latin typeface="Arial" pitchFamily="34" charset="0"/>
                <a:ea typeface="Arial" pitchFamily="34" charset="-122"/>
                <a:cs typeface="Arial" pitchFamily="34" charset="-120"/>
              </a:rPr>
              <a:t>Recorded architecture walkthroughs</a:t>
            </a:r>
            <a:endParaRPr lang="en-US" sz="1150" dirty="0"/>
          </a:p>
        </p:txBody>
      </p:sp>
      <p:sp>
        <p:nvSpPr>
          <p:cNvPr id="25" name="Shape 23"/>
          <p:cNvSpPr/>
          <p:nvPr/>
        </p:nvSpPr>
        <p:spPr>
          <a:xfrm>
            <a:off x="8010144" y="4261104"/>
            <a:ext cx="3529584" cy="1664208"/>
          </a:xfrm>
          <a:prstGeom prst="rect">
            <a:avLst/>
          </a:prstGeom>
          <a:solidFill>
            <a:srgbClr val="0A2540"/>
          </a:solidFill>
          <a:ln w="12700">
            <a:solidFill>
              <a:srgbClr val="0A2540"/>
            </a:solidFill>
            <a:prstDash val="solid"/>
          </a:ln>
        </p:spPr>
      </p:sp>
      <p:sp>
        <p:nvSpPr>
          <p:cNvPr id="26" name="Text 24"/>
          <p:cNvSpPr/>
          <p:nvPr/>
        </p:nvSpPr>
        <p:spPr>
          <a:xfrm>
            <a:off x="8284464" y="4425696"/>
            <a:ext cx="2743200" cy="777240"/>
          </a:xfrm>
          <a:prstGeom prst="rect">
            <a:avLst/>
          </a:prstGeom>
          <a:noFill/>
          <a:ln/>
        </p:spPr>
        <p:txBody>
          <a:bodyPr wrap="square" lIns="0" tIns="0" rIns="0" bIns="0" rtlCol="0" anchor="ctr"/>
          <a:lstStyle/>
          <a:p>
            <a:pPr indent="0" marL="0">
              <a:buNone/>
            </a:pPr>
            <a:r>
              <a:rPr lang="en-US" sz="4600" b="1" dirty="0">
                <a:solidFill>
                  <a:srgbClr val="00D4AA"/>
                </a:solidFill>
                <a:latin typeface="Arial" pitchFamily="34" charset="0"/>
                <a:ea typeface="Arial" pitchFamily="34" charset="-122"/>
                <a:cs typeface="Arial" pitchFamily="34" charset="-120"/>
              </a:rPr>
              <a:t>1</a:t>
            </a:r>
            <a:endParaRPr lang="en-US" sz="4600" dirty="0"/>
          </a:p>
        </p:txBody>
      </p:sp>
      <p:sp>
        <p:nvSpPr>
          <p:cNvPr id="27" name="Shape 25"/>
          <p:cNvSpPr/>
          <p:nvPr/>
        </p:nvSpPr>
        <p:spPr>
          <a:xfrm>
            <a:off x="8302752" y="5285232"/>
            <a:ext cx="502920" cy="45720"/>
          </a:xfrm>
          <a:prstGeom prst="rect">
            <a:avLst/>
          </a:prstGeom>
          <a:solidFill>
            <a:srgbClr val="00D4AA"/>
          </a:solidFill>
          <a:ln/>
        </p:spPr>
      </p:sp>
      <p:sp>
        <p:nvSpPr>
          <p:cNvPr id="28" name="Text 26"/>
          <p:cNvSpPr/>
          <p:nvPr/>
        </p:nvSpPr>
        <p:spPr>
          <a:xfrm>
            <a:off x="8284464" y="5413248"/>
            <a:ext cx="3063240" cy="457200"/>
          </a:xfrm>
          <a:prstGeom prst="rect">
            <a:avLst/>
          </a:prstGeom>
          <a:noFill/>
          <a:ln/>
        </p:spPr>
        <p:txBody>
          <a:bodyPr wrap="square" lIns="0" tIns="0" rIns="0" bIns="0" rtlCol="0" anchor="ctr"/>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Eval suite demonstrating reliability practice</a:t>
            </a:r>
            <a:endParaRPr lang="en-US" sz="1150" dirty="0"/>
          </a:p>
        </p:txBody>
      </p:sp>
      <p:sp>
        <p:nvSpPr>
          <p:cNvPr id="29" name="Shape 27"/>
          <p:cNvSpPr/>
          <p:nvPr/>
        </p:nvSpPr>
        <p:spPr>
          <a:xfrm>
            <a:off x="640080" y="6327648"/>
            <a:ext cx="10911535" cy="0"/>
          </a:xfrm>
          <a:prstGeom prst="line">
            <a:avLst/>
          </a:prstGeom>
          <a:noFill/>
          <a:ln w="12700">
            <a:solidFill>
              <a:srgbClr val="CDD7DF"/>
            </a:solidFill>
            <a:prstDash val="solid"/>
          </a:ln>
        </p:spPr>
      </p:sp>
      <p:sp>
        <p:nvSpPr>
          <p:cNvPr id="30" name="Text 28"/>
          <p:cNvSpPr/>
          <p:nvPr/>
        </p:nvSpPr>
        <p:spPr>
          <a:xfrm>
            <a:off x="640080" y="6400800"/>
            <a:ext cx="6400800" cy="274320"/>
          </a:xfrm>
          <a:prstGeom prst="rect">
            <a:avLst/>
          </a:prstGeom>
          <a:noFill/>
          <a:ln/>
        </p:spPr>
        <p:txBody>
          <a:bodyPr wrap="square" lIns="0" tIns="0" rIns="0" bIns="0" rtlCol="0" anchor="ctr"/>
          <a:lstStyle/>
          <a:p>
            <a:pPr indent="0" marL="0">
              <a:buNone/>
            </a:pPr>
            <a:r>
              <a:rPr lang="en-US" sz="1000" b="1" spc="200" kern="0" dirty="0">
                <a:solidFill>
                  <a:srgbClr val="5B6B7B"/>
                </a:solidFill>
                <a:latin typeface="Arial" pitchFamily="34" charset="0"/>
                <a:ea typeface="Arial" pitchFamily="34" charset="-122"/>
                <a:cs typeface="Arial" pitchFamily="34" charset="-120"/>
              </a:rPr>
              <a:t>BuildAI  /  Outcomes</a:t>
            </a:r>
            <a:endParaRPr lang="en-US" sz="1000" dirty="0"/>
          </a:p>
        </p:txBody>
      </p:sp>
      <p:sp>
        <p:nvSpPr>
          <p:cNvPr id="31" name="Shape 29"/>
          <p:cNvSpPr/>
          <p:nvPr/>
        </p:nvSpPr>
        <p:spPr>
          <a:xfrm>
            <a:off x="10725912" y="6391656"/>
            <a:ext cx="822960" cy="310896"/>
          </a:xfrm>
          <a:prstGeom prst="rect">
            <a:avLst/>
          </a:prstGeom>
          <a:solidFill>
            <a:srgbClr val="0A2540"/>
          </a:solidFill>
          <a:ln/>
        </p:spPr>
      </p:sp>
      <p:sp>
        <p:nvSpPr>
          <p:cNvPr id="32" name="Text 30"/>
          <p:cNvSpPr/>
          <p:nvPr/>
        </p:nvSpPr>
        <p:spPr>
          <a:xfrm>
            <a:off x="10725912" y="6391656"/>
            <a:ext cx="8229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13 / 21</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966960" y="0"/>
            <a:ext cx="2221992" cy="1325880"/>
          </a:xfrm>
          <a:prstGeom prst="rect">
            <a:avLst/>
          </a:prstGeom>
          <a:solidFill>
            <a:srgbClr val="00D4AA"/>
          </a:solidFill>
          <a:ln/>
        </p:spPr>
      </p:sp>
      <p:sp>
        <p:nvSpPr>
          <p:cNvPr id="3" name="Text 1"/>
          <p:cNvSpPr/>
          <p:nvPr/>
        </p:nvSpPr>
        <p:spPr>
          <a:xfrm>
            <a:off x="640080" y="347472"/>
            <a:ext cx="8229600" cy="292608"/>
          </a:xfrm>
          <a:prstGeom prst="rect">
            <a:avLst/>
          </a:prstGeom>
          <a:noFill/>
          <a:ln/>
        </p:spPr>
        <p:txBody>
          <a:bodyPr wrap="square" lIns="0" tIns="0" rIns="0" bIns="0" rtlCol="0" anchor="ctr"/>
          <a:lstStyle/>
          <a:p>
            <a:pPr indent="0" marL="0">
              <a:buNone/>
            </a:pPr>
            <a:r>
              <a:rPr lang="en-US" sz="1100" b="1" spc="300" kern="0" dirty="0">
                <a:solidFill>
                  <a:srgbClr val="0A8F77"/>
                </a:solidFill>
                <a:latin typeface="Arial" pitchFamily="34" charset="0"/>
                <a:ea typeface="Arial" pitchFamily="34" charset="-122"/>
                <a:cs typeface="Arial" pitchFamily="34" charset="-120"/>
              </a:rPr>
              <a:t>14 / 21</a:t>
            </a:r>
            <a:pPr indent="0" marL="0">
              <a:buNone/>
            </a:pPr>
            <a:r>
              <a:rPr lang="en-US" sz="1100" b="1" spc="300" kern="0" dirty="0">
                <a:solidFill>
                  <a:srgbClr val="5B6B7B"/>
                </a:solidFill>
                <a:latin typeface="Arial" pitchFamily="34" charset="0"/>
                <a:ea typeface="Arial" pitchFamily="34" charset="-122"/>
                <a:cs typeface="Arial" pitchFamily="34" charset="-120"/>
              </a:rPr>
              <a:t>   FOR COLLEGES</a:t>
            </a:r>
            <a:endParaRPr lang="en-US" sz="1100" dirty="0"/>
          </a:p>
        </p:txBody>
      </p:sp>
      <p:sp>
        <p:nvSpPr>
          <p:cNvPr id="4" name="Text 2"/>
          <p:cNvSpPr/>
          <p:nvPr/>
        </p:nvSpPr>
        <p:spPr>
          <a:xfrm>
            <a:off x="621792" y="841248"/>
            <a:ext cx="10241280" cy="1371600"/>
          </a:xfrm>
          <a:prstGeom prst="rect">
            <a:avLst/>
          </a:prstGeom>
          <a:noFill/>
          <a:ln/>
        </p:spPr>
        <p:txBody>
          <a:bodyPr wrap="square" lIns="0" tIns="0" rIns="0" bIns="0" rtlCol="0" anchor="ctr"/>
          <a:lstStyle/>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What your institution gets when</a:t>
            </a:r>
            <a:endParaRPr lang="en-US" sz="3300" dirty="0"/>
          </a:p>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you partner with BuildAI.</a:t>
            </a:r>
            <a:endParaRPr lang="en-US" sz="3300" dirty="0"/>
          </a:p>
        </p:txBody>
      </p:sp>
      <p:sp>
        <p:nvSpPr>
          <p:cNvPr id="5" name="Shape 3"/>
          <p:cNvSpPr/>
          <p:nvPr/>
        </p:nvSpPr>
        <p:spPr>
          <a:xfrm>
            <a:off x="640080" y="2395728"/>
            <a:ext cx="3529584" cy="1664208"/>
          </a:xfrm>
          <a:prstGeom prst="rect">
            <a:avLst/>
          </a:prstGeom>
          <a:solidFill>
            <a:srgbClr val="F4F8FA"/>
          </a:solidFill>
          <a:ln w="12700">
            <a:solidFill>
              <a:srgbClr val="CDD7DF"/>
            </a:solidFill>
            <a:prstDash val="solid"/>
          </a:ln>
        </p:spPr>
      </p:sp>
      <p:sp>
        <p:nvSpPr>
          <p:cNvPr id="6" name="Shape 4"/>
          <p:cNvSpPr/>
          <p:nvPr/>
        </p:nvSpPr>
        <p:spPr>
          <a:xfrm>
            <a:off x="640080" y="2395728"/>
            <a:ext cx="3529584" cy="82296"/>
          </a:xfrm>
          <a:prstGeom prst="rect">
            <a:avLst/>
          </a:prstGeom>
          <a:solidFill>
            <a:srgbClr val="0A2540"/>
          </a:solidFill>
          <a:ln/>
        </p:spPr>
      </p:sp>
      <p:sp>
        <p:nvSpPr>
          <p:cNvPr id="7" name="Text 5"/>
          <p:cNvSpPr/>
          <p:nvPr/>
        </p:nvSpPr>
        <p:spPr>
          <a:xfrm>
            <a:off x="886968" y="2624328"/>
            <a:ext cx="914400" cy="274320"/>
          </a:xfrm>
          <a:prstGeom prst="rect">
            <a:avLst/>
          </a:prstGeom>
          <a:noFill/>
          <a:ln/>
        </p:spPr>
        <p:txBody>
          <a:bodyPr wrap="square" lIns="0" tIns="0" rIns="0" bIns="0" rtlCol="0" anchor="ctr"/>
          <a:lstStyle/>
          <a:p>
            <a:pPr indent="0" marL="0">
              <a:buNone/>
            </a:pPr>
            <a:r>
              <a:rPr lang="en-US" sz="1150" b="1" spc="200" kern="0" dirty="0">
                <a:solidFill>
                  <a:srgbClr val="0A8F77"/>
                </a:solidFill>
                <a:latin typeface="Arial" pitchFamily="34" charset="0"/>
                <a:ea typeface="Arial" pitchFamily="34" charset="-122"/>
                <a:cs typeface="Arial" pitchFamily="34" charset="-120"/>
              </a:rPr>
              <a:t>01</a:t>
            </a:r>
            <a:endParaRPr lang="en-US" sz="1150" dirty="0"/>
          </a:p>
        </p:txBody>
      </p:sp>
      <p:sp>
        <p:nvSpPr>
          <p:cNvPr id="8" name="Text 6"/>
          <p:cNvSpPr/>
          <p:nvPr/>
        </p:nvSpPr>
        <p:spPr>
          <a:xfrm>
            <a:off x="886968" y="2907792"/>
            <a:ext cx="3108960" cy="292608"/>
          </a:xfrm>
          <a:prstGeom prst="rect">
            <a:avLst/>
          </a:prstGeom>
          <a:noFill/>
          <a:ln/>
        </p:spPr>
        <p:txBody>
          <a:bodyPr wrap="square" lIns="0" tIns="0" rIns="0" bIns="0" rtlCol="0" anchor="ctr"/>
          <a:lstStyle/>
          <a:p>
            <a:pPr indent="0" marL="0">
              <a:buNone/>
            </a:pPr>
            <a:r>
              <a:rPr lang="en-US" sz="1450" b="1" dirty="0">
                <a:solidFill>
                  <a:srgbClr val="10202E"/>
                </a:solidFill>
                <a:latin typeface="Arial" pitchFamily="34" charset="0"/>
                <a:ea typeface="Arial" pitchFamily="34" charset="-122"/>
                <a:cs typeface="Arial" pitchFamily="34" charset="-120"/>
              </a:rPr>
              <a:t>Credible AI programme</a:t>
            </a:r>
            <a:endParaRPr lang="en-US" sz="1450" dirty="0"/>
          </a:p>
        </p:txBody>
      </p:sp>
      <p:sp>
        <p:nvSpPr>
          <p:cNvPr id="9" name="Text 7"/>
          <p:cNvSpPr/>
          <p:nvPr/>
        </p:nvSpPr>
        <p:spPr>
          <a:xfrm>
            <a:off x="886968" y="3264408"/>
            <a:ext cx="3108960" cy="685800"/>
          </a:xfrm>
          <a:prstGeom prst="rect">
            <a:avLst/>
          </a:prstGeom>
          <a:noFill/>
          <a:ln/>
        </p:spPr>
        <p:txBody>
          <a:bodyPr wrap="square" lIns="0" tIns="0" rIns="0" bIns="0" rtlCol="0" anchor="t"/>
          <a:lstStyle/>
          <a:p>
            <a:pPr indent="0" marL="0">
              <a:lnSpc>
                <a:spcPct val="120000"/>
              </a:lnSpc>
              <a:buNone/>
            </a:pPr>
            <a:r>
              <a:rPr lang="en-US" sz="1050" dirty="0">
                <a:solidFill>
                  <a:srgbClr val="5B6B7B"/>
                </a:solidFill>
                <a:latin typeface="Arial" pitchFamily="34" charset="0"/>
                <a:ea typeface="Arial" pitchFamily="34" charset="-122"/>
                <a:cs typeface="Arial" pitchFamily="34" charset="-120"/>
              </a:rPr>
              <a:t>An AI-native offering your admissions team can point to immediately.</a:t>
            </a:r>
            <a:endParaRPr lang="en-US" sz="1050" dirty="0"/>
          </a:p>
        </p:txBody>
      </p:sp>
      <p:sp>
        <p:nvSpPr>
          <p:cNvPr id="10" name="Shape 8"/>
          <p:cNvSpPr/>
          <p:nvPr/>
        </p:nvSpPr>
        <p:spPr>
          <a:xfrm>
            <a:off x="4325112" y="2395728"/>
            <a:ext cx="3529584" cy="1664208"/>
          </a:xfrm>
          <a:prstGeom prst="rect">
            <a:avLst/>
          </a:prstGeom>
          <a:solidFill>
            <a:srgbClr val="F4F8FA"/>
          </a:solidFill>
          <a:ln w="12700">
            <a:solidFill>
              <a:srgbClr val="CDD7DF"/>
            </a:solidFill>
            <a:prstDash val="solid"/>
          </a:ln>
        </p:spPr>
      </p:sp>
      <p:sp>
        <p:nvSpPr>
          <p:cNvPr id="11" name="Shape 9"/>
          <p:cNvSpPr/>
          <p:nvPr/>
        </p:nvSpPr>
        <p:spPr>
          <a:xfrm>
            <a:off x="4325112" y="2395728"/>
            <a:ext cx="3529584" cy="82296"/>
          </a:xfrm>
          <a:prstGeom prst="rect">
            <a:avLst/>
          </a:prstGeom>
          <a:solidFill>
            <a:srgbClr val="00D4AA"/>
          </a:solidFill>
          <a:ln/>
        </p:spPr>
      </p:sp>
      <p:sp>
        <p:nvSpPr>
          <p:cNvPr id="12" name="Text 10"/>
          <p:cNvSpPr/>
          <p:nvPr/>
        </p:nvSpPr>
        <p:spPr>
          <a:xfrm>
            <a:off x="4572000" y="2624328"/>
            <a:ext cx="914400" cy="274320"/>
          </a:xfrm>
          <a:prstGeom prst="rect">
            <a:avLst/>
          </a:prstGeom>
          <a:noFill/>
          <a:ln/>
        </p:spPr>
        <p:txBody>
          <a:bodyPr wrap="square" lIns="0" tIns="0" rIns="0" bIns="0" rtlCol="0" anchor="ctr"/>
          <a:lstStyle/>
          <a:p>
            <a:pPr indent="0" marL="0">
              <a:buNone/>
            </a:pPr>
            <a:r>
              <a:rPr lang="en-US" sz="1150" b="1" spc="200" kern="0" dirty="0">
                <a:solidFill>
                  <a:srgbClr val="0A8F77"/>
                </a:solidFill>
                <a:latin typeface="Arial" pitchFamily="34" charset="0"/>
                <a:ea typeface="Arial" pitchFamily="34" charset="-122"/>
                <a:cs typeface="Arial" pitchFamily="34" charset="-120"/>
              </a:rPr>
              <a:t>02</a:t>
            </a:r>
            <a:endParaRPr lang="en-US" sz="1150" dirty="0"/>
          </a:p>
        </p:txBody>
      </p:sp>
      <p:sp>
        <p:nvSpPr>
          <p:cNvPr id="13" name="Text 11"/>
          <p:cNvSpPr/>
          <p:nvPr/>
        </p:nvSpPr>
        <p:spPr>
          <a:xfrm>
            <a:off x="4572000" y="2907792"/>
            <a:ext cx="3108960" cy="292608"/>
          </a:xfrm>
          <a:prstGeom prst="rect">
            <a:avLst/>
          </a:prstGeom>
          <a:noFill/>
          <a:ln/>
        </p:spPr>
        <p:txBody>
          <a:bodyPr wrap="square" lIns="0" tIns="0" rIns="0" bIns="0" rtlCol="0" anchor="ctr"/>
          <a:lstStyle/>
          <a:p>
            <a:pPr indent="0" marL="0">
              <a:buNone/>
            </a:pPr>
            <a:r>
              <a:rPr lang="en-US" sz="1450" b="1" dirty="0">
                <a:solidFill>
                  <a:srgbClr val="10202E"/>
                </a:solidFill>
                <a:latin typeface="Arial" pitchFamily="34" charset="0"/>
                <a:ea typeface="Arial" pitchFamily="34" charset="-122"/>
                <a:cs typeface="Arial" pitchFamily="34" charset="-120"/>
              </a:rPr>
              <a:t>Industry partnership</a:t>
            </a:r>
            <a:endParaRPr lang="en-US" sz="1450" dirty="0"/>
          </a:p>
        </p:txBody>
      </p:sp>
      <p:sp>
        <p:nvSpPr>
          <p:cNvPr id="14" name="Text 12"/>
          <p:cNvSpPr/>
          <p:nvPr/>
        </p:nvSpPr>
        <p:spPr>
          <a:xfrm>
            <a:off x="4572000" y="3264408"/>
            <a:ext cx="3108960" cy="685800"/>
          </a:xfrm>
          <a:prstGeom prst="rect">
            <a:avLst/>
          </a:prstGeom>
          <a:noFill/>
          <a:ln/>
        </p:spPr>
        <p:txBody>
          <a:bodyPr wrap="square" lIns="0" tIns="0" rIns="0" bIns="0" rtlCol="0" anchor="t"/>
          <a:lstStyle/>
          <a:p>
            <a:pPr indent="0" marL="0">
              <a:lnSpc>
                <a:spcPct val="120000"/>
              </a:lnSpc>
              <a:buNone/>
            </a:pPr>
            <a:r>
              <a:rPr lang="en-US" sz="1050" dirty="0">
                <a:solidFill>
                  <a:srgbClr val="5B6B7B"/>
                </a:solidFill>
                <a:latin typeface="Arial" pitchFamily="34" charset="0"/>
                <a:ea typeface="Arial" pitchFamily="34" charset="-122"/>
                <a:cs typeface="Arial" pitchFamily="34" charset="-120"/>
              </a:rPr>
              <a:t>Documented industry tie-up for NAAC, AICTE, and placement reports.</a:t>
            </a:r>
            <a:endParaRPr lang="en-US" sz="1050" dirty="0"/>
          </a:p>
        </p:txBody>
      </p:sp>
      <p:sp>
        <p:nvSpPr>
          <p:cNvPr id="15" name="Shape 13"/>
          <p:cNvSpPr/>
          <p:nvPr/>
        </p:nvSpPr>
        <p:spPr>
          <a:xfrm>
            <a:off x="8010144" y="2395728"/>
            <a:ext cx="3529584" cy="1664208"/>
          </a:xfrm>
          <a:prstGeom prst="rect">
            <a:avLst/>
          </a:prstGeom>
          <a:solidFill>
            <a:srgbClr val="F4F8FA"/>
          </a:solidFill>
          <a:ln w="12700">
            <a:solidFill>
              <a:srgbClr val="CDD7DF"/>
            </a:solidFill>
            <a:prstDash val="solid"/>
          </a:ln>
        </p:spPr>
      </p:sp>
      <p:sp>
        <p:nvSpPr>
          <p:cNvPr id="16" name="Shape 14"/>
          <p:cNvSpPr/>
          <p:nvPr/>
        </p:nvSpPr>
        <p:spPr>
          <a:xfrm>
            <a:off x="8010144" y="2395728"/>
            <a:ext cx="3529584" cy="82296"/>
          </a:xfrm>
          <a:prstGeom prst="rect">
            <a:avLst/>
          </a:prstGeom>
          <a:solidFill>
            <a:srgbClr val="0A2540"/>
          </a:solidFill>
          <a:ln/>
        </p:spPr>
      </p:sp>
      <p:sp>
        <p:nvSpPr>
          <p:cNvPr id="17" name="Text 15"/>
          <p:cNvSpPr/>
          <p:nvPr/>
        </p:nvSpPr>
        <p:spPr>
          <a:xfrm>
            <a:off x="8257032" y="2624328"/>
            <a:ext cx="914400" cy="274320"/>
          </a:xfrm>
          <a:prstGeom prst="rect">
            <a:avLst/>
          </a:prstGeom>
          <a:noFill/>
          <a:ln/>
        </p:spPr>
        <p:txBody>
          <a:bodyPr wrap="square" lIns="0" tIns="0" rIns="0" bIns="0" rtlCol="0" anchor="ctr"/>
          <a:lstStyle/>
          <a:p>
            <a:pPr indent="0" marL="0">
              <a:buNone/>
            </a:pPr>
            <a:r>
              <a:rPr lang="en-US" sz="1150" b="1" spc="200" kern="0" dirty="0">
                <a:solidFill>
                  <a:srgbClr val="0A8F77"/>
                </a:solidFill>
                <a:latin typeface="Arial" pitchFamily="34" charset="0"/>
                <a:ea typeface="Arial" pitchFamily="34" charset="-122"/>
                <a:cs typeface="Arial" pitchFamily="34" charset="-120"/>
              </a:rPr>
              <a:t>03</a:t>
            </a:r>
            <a:endParaRPr lang="en-US" sz="1150" dirty="0"/>
          </a:p>
        </p:txBody>
      </p:sp>
      <p:sp>
        <p:nvSpPr>
          <p:cNvPr id="18" name="Text 16"/>
          <p:cNvSpPr/>
          <p:nvPr/>
        </p:nvSpPr>
        <p:spPr>
          <a:xfrm>
            <a:off x="8257032" y="2907792"/>
            <a:ext cx="3108960" cy="292608"/>
          </a:xfrm>
          <a:prstGeom prst="rect">
            <a:avLst/>
          </a:prstGeom>
          <a:noFill/>
          <a:ln/>
        </p:spPr>
        <p:txBody>
          <a:bodyPr wrap="square" lIns="0" tIns="0" rIns="0" bIns="0" rtlCol="0" anchor="ctr"/>
          <a:lstStyle/>
          <a:p>
            <a:pPr indent="0" marL="0">
              <a:buNone/>
            </a:pPr>
            <a:r>
              <a:rPr lang="en-US" sz="1450" b="1" dirty="0">
                <a:solidFill>
                  <a:srgbClr val="10202E"/>
                </a:solidFill>
                <a:latin typeface="Arial" pitchFamily="34" charset="0"/>
                <a:ea typeface="Arial" pitchFamily="34" charset="-122"/>
                <a:cs typeface="Arial" pitchFamily="34" charset="-120"/>
              </a:rPr>
              <a:t>Student outcomes</a:t>
            </a:r>
            <a:endParaRPr lang="en-US" sz="1450" dirty="0"/>
          </a:p>
        </p:txBody>
      </p:sp>
      <p:sp>
        <p:nvSpPr>
          <p:cNvPr id="19" name="Text 17"/>
          <p:cNvSpPr/>
          <p:nvPr/>
        </p:nvSpPr>
        <p:spPr>
          <a:xfrm>
            <a:off x="8257032" y="3264408"/>
            <a:ext cx="3108960" cy="685800"/>
          </a:xfrm>
          <a:prstGeom prst="rect">
            <a:avLst/>
          </a:prstGeom>
          <a:noFill/>
          <a:ln/>
        </p:spPr>
        <p:txBody>
          <a:bodyPr wrap="square" lIns="0" tIns="0" rIns="0" bIns="0" rtlCol="0" anchor="t"/>
          <a:lstStyle/>
          <a:p>
            <a:pPr indent="0" marL="0">
              <a:lnSpc>
                <a:spcPct val="120000"/>
              </a:lnSpc>
              <a:buNone/>
            </a:pPr>
            <a:r>
              <a:rPr lang="en-US" sz="1050" dirty="0">
                <a:solidFill>
                  <a:srgbClr val="5B6B7B"/>
                </a:solidFill>
                <a:latin typeface="Arial" pitchFamily="34" charset="0"/>
                <a:ea typeface="Arial" pitchFamily="34" charset="-122"/>
                <a:cs typeface="Arial" pitchFamily="34" charset="-120"/>
              </a:rPr>
              <a:t>Measurable GitHub portfolios. Real deployed products. Marketing assets you own.</a:t>
            </a:r>
            <a:endParaRPr lang="en-US" sz="1050" dirty="0"/>
          </a:p>
        </p:txBody>
      </p:sp>
      <p:sp>
        <p:nvSpPr>
          <p:cNvPr id="20" name="Shape 18"/>
          <p:cNvSpPr/>
          <p:nvPr/>
        </p:nvSpPr>
        <p:spPr>
          <a:xfrm>
            <a:off x="640080" y="4261104"/>
            <a:ext cx="3529584" cy="1664208"/>
          </a:xfrm>
          <a:prstGeom prst="rect">
            <a:avLst/>
          </a:prstGeom>
          <a:solidFill>
            <a:srgbClr val="F4F8FA"/>
          </a:solidFill>
          <a:ln w="12700">
            <a:solidFill>
              <a:srgbClr val="CDD7DF"/>
            </a:solidFill>
            <a:prstDash val="solid"/>
          </a:ln>
        </p:spPr>
      </p:sp>
      <p:sp>
        <p:nvSpPr>
          <p:cNvPr id="21" name="Shape 19"/>
          <p:cNvSpPr/>
          <p:nvPr/>
        </p:nvSpPr>
        <p:spPr>
          <a:xfrm>
            <a:off x="640080" y="4261104"/>
            <a:ext cx="3529584" cy="82296"/>
          </a:xfrm>
          <a:prstGeom prst="rect">
            <a:avLst/>
          </a:prstGeom>
          <a:solidFill>
            <a:srgbClr val="00D4AA"/>
          </a:solidFill>
          <a:ln/>
        </p:spPr>
      </p:sp>
      <p:sp>
        <p:nvSpPr>
          <p:cNvPr id="22" name="Text 20"/>
          <p:cNvSpPr/>
          <p:nvPr/>
        </p:nvSpPr>
        <p:spPr>
          <a:xfrm>
            <a:off x="886968" y="4489704"/>
            <a:ext cx="914400" cy="274320"/>
          </a:xfrm>
          <a:prstGeom prst="rect">
            <a:avLst/>
          </a:prstGeom>
          <a:noFill/>
          <a:ln/>
        </p:spPr>
        <p:txBody>
          <a:bodyPr wrap="square" lIns="0" tIns="0" rIns="0" bIns="0" rtlCol="0" anchor="ctr"/>
          <a:lstStyle/>
          <a:p>
            <a:pPr indent="0" marL="0">
              <a:buNone/>
            </a:pPr>
            <a:r>
              <a:rPr lang="en-US" sz="1150" b="1" spc="200" kern="0" dirty="0">
                <a:solidFill>
                  <a:srgbClr val="0A8F77"/>
                </a:solidFill>
                <a:latin typeface="Arial" pitchFamily="34" charset="0"/>
                <a:ea typeface="Arial" pitchFamily="34" charset="-122"/>
                <a:cs typeface="Arial" pitchFamily="34" charset="-120"/>
              </a:rPr>
              <a:t>04</a:t>
            </a:r>
            <a:endParaRPr lang="en-US" sz="1150" dirty="0"/>
          </a:p>
        </p:txBody>
      </p:sp>
      <p:sp>
        <p:nvSpPr>
          <p:cNvPr id="23" name="Text 21"/>
          <p:cNvSpPr/>
          <p:nvPr/>
        </p:nvSpPr>
        <p:spPr>
          <a:xfrm>
            <a:off x="886968" y="4773168"/>
            <a:ext cx="3108960" cy="292608"/>
          </a:xfrm>
          <a:prstGeom prst="rect">
            <a:avLst/>
          </a:prstGeom>
          <a:noFill/>
          <a:ln/>
        </p:spPr>
        <p:txBody>
          <a:bodyPr wrap="square" lIns="0" tIns="0" rIns="0" bIns="0" rtlCol="0" anchor="ctr"/>
          <a:lstStyle/>
          <a:p>
            <a:pPr indent="0" marL="0">
              <a:buNone/>
            </a:pPr>
            <a:r>
              <a:rPr lang="en-US" sz="1450" b="1" dirty="0">
                <a:solidFill>
                  <a:srgbClr val="10202E"/>
                </a:solidFill>
                <a:latin typeface="Arial" pitchFamily="34" charset="0"/>
                <a:ea typeface="Arial" pitchFamily="34" charset="-122"/>
                <a:cs typeface="Arial" pitchFamily="34" charset="-120"/>
              </a:rPr>
              <a:t>Administrative margin</a:t>
            </a:r>
            <a:endParaRPr lang="en-US" sz="1450" dirty="0"/>
          </a:p>
        </p:txBody>
      </p:sp>
      <p:sp>
        <p:nvSpPr>
          <p:cNvPr id="24" name="Text 22"/>
          <p:cNvSpPr/>
          <p:nvPr/>
        </p:nvSpPr>
        <p:spPr>
          <a:xfrm>
            <a:off x="886968" y="5129784"/>
            <a:ext cx="3108960" cy="685800"/>
          </a:xfrm>
          <a:prstGeom prst="rect">
            <a:avLst/>
          </a:prstGeom>
          <a:noFill/>
          <a:ln/>
        </p:spPr>
        <p:txBody>
          <a:bodyPr wrap="square" lIns="0" tIns="0" rIns="0" bIns="0" rtlCol="0" anchor="t"/>
          <a:lstStyle/>
          <a:p>
            <a:pPr indent="0" marL="0">
              <a:lnSpc>
                <a:spcPct val="120000"/>
              </a:lnSpc>
              <a:buNone/>
            </a:pPr>
            <a:r>
              <a:rPr lang="en-US" sz="1050" dirty="0">
                <a:solidFill>
                  <a:srgbClr val="5B6B7B"/>
                </a:solidFill>
                <a:latin typeface="Arial" pitchFamily="34" charset="0"/>
                <a:ea typeface="Arial" pitchFamily="34" charset="-122"/>
                <a:cs typeface="Arial" pitchFamily="34" charset="-120"/>
              </a:rPr>
              <a:t>₹5,000–₹7,000 per enrolled student. Yours to keep.</a:t>
            </a:r>
            <a:endParaRPr lang="en-US" sz="1050" dirty="0"/>
          </a:p>
        </p:txBody>
      </p:sp>
      <p:sp>
        <p:nvSpPr>
          <p:cNvPr id="25" name="Shape 23"/>
          <p:cNvSpPr/>
          <p:nvPr/>
        </p:nvSpPr>
        <p:spPr>
          <a:xfrm>
            <a:off x="4325112" y="4261104"/>
            <a:ext cx="3529584" cy="1664208"/>
          </a:xfrm>
          <a:prstGeom prst="rect">
            <a:avLst/>
          </a:prstGeom>
          <a:solidFill>
            <a:srgbClr val="F4F8FA"/>
          </a:solidFill>
          <a:ln w="12700">
            <a:solidFill>
              <a:srgbClr val="CDD7DF"/>
            </a:solidFill>
            <a:prstDash val="solid"/>
          </a:ln>
        </p:spPr>
      </p:sp>
      <p:sp>
        <p:nvSpPr>
          <p:cNvPr id="26" name="Shape 24"/>
          <p:cNvSpPr/>
          <p:nvPr/>
        </p:nvSpPr>
        <p:spPr>
          <a:xfrm>
            <a:off x="4325112" y="4261104"/>
            <a:ext cx="3529584" cy="82296"/>
          </a:xfrm>
          <a:prstGeom prst="rect">
            <a:avLst/>
          </a:prstGeom>
          <a:solidFill>
            <a:srgbClr val="0A2540"/>
          </a:solidFill>
          <a:ln/>
        </p:spPr>
      </p:sp>
      <p:sp>
        <p:nvSpPr>
          <p:cNvPr id="27" name="Text 25"/>
          <p:cNvSpPr/>
          <p:nvPr/>
        </p:nvSpPr>
        <p:spPr>
          <a:xfrm>
            <a:off x="4572000" y="4489704"/>
            <a:ext cx="914400" cy="274320"/>
          </a:xfrm>
          <a:prstGeom prst="rect">
            <a:avLst/>
          </a:prstGeom>
          <a:noFill/>
          <a:ln/>
        </p:spPr>
        <p:txBody>
          <a:bodyPr wrap="square" lIns="0" tIns="0" rIns="0" bIns="0" rtlCol="0" anchor="ctr"/>
          <a:lstStyle/>
          <a:p>
            <a:pPr indent="0" marL="0">
              <a:buNone/>
            </a:pPr>
            <a:r>
              <a:rPr lang="en-US" sz="1150" b="1" spc="200" kern="0" dirty="0">
                <a:solidFill>
                  <a:srgbClr val="0A8F77"/>
                </a:solidFill>
                <a:latin typeface="Arial" pitchFamily="34" charset="0"/>
                <a:ea typeface="Arial" pitchFamily="34" charset="-122"/>
                <a:cs typeface="Arial" pitchFamily="34" charset="-120"/>
              </a:rPr>
              <a:t>05</a:t>
            </a:r>
            <a:endParaRPr lang="en-US" sz="1150" dirty="0"/>
          </a:p>
        </p:txBody>
      </p:sp>
      <p:sp>
        <p:nvSpPr>
          <p:cNvPr id="28" name="Text 26"/>
          <p:cNvSpPr/>
          <p:nvPr/>
        </p:nvSpPr>
        <p:spPr>
          <a:xfrm>
            <a:off x="4572000" y="4773168"/>
            <a:ext cx="3108960" cy="292608"/>
          </a:xfrm>
          <a:prstGeom prst="rect">
            <a:avLst/>
          </a:prstGeom>
          <a:noFill/>
          <a:ln/>
        </p:spPr>
        <p:txBody>
          <a:bodyPr wrap="square" lIns="0" tIns="0" rIns="0" bIns="0" rtlCol="0" anchor="ctr"/>
          <a:lstStyle/>
          <a:p>
            <a:pPr indent="0" marL="0">
              <a:buNone/>
            </a:pPr>
            <a:r>
              <a:rPr lang="en-US" sz="1450" b="1" dirty="0">
                <a:solidFill>
                  <a:srgbClr val="10202E"/>
                </a:solidFill>
                <a:latin typeface="Arial" pitchFamily="34" charset="0"/>
                <a:ea typeface="Arial" pitchFamily="34" charset="-122"/>
                <a:cs typeface="Arial" pitchFamily="34" charset="-120"/>
              </a:rPr>
              <a:t>Zero faculty burden</a:t>
            </a:r>
            <a:endParaRPr lang="en-US" sz="1450" dirty="0"/>
          </a:p>
        </p:txBody>
      </p:sp>
      <p:sp>
        <p:nvSpPr>
          <p:cNvPr id="29" name="Text 27"/>
          <p:cNvSpPr/>
          <p:nvPr/>
        </p:nvSpPr>
        <p:spPr>
          <a:xfrm>
            <a:off x="4572000" y="5129784"/>
            <a:ext cx="3108960" cy="685800"/>
          </a:xfrm>
          <a:prstGeom prst="rect">
            <a:avLst/>
          </a:prstGeom>
          <a:noFill/>
          <a:ln/>
        </p:spPr>
        <p:txBody>
          <a:bodyPr wrap="square" lIns="0" tIns="0" rIns="0" bIns="0" rtlCol="0" anchor="t"/>
          <a:lstStyle/>
          <a:p>
            <a:pPr indent="0" marL="0">
              <a:lnSpc>
                <a:spcPct val="120000"/>
              </a:lnSpc>
              <a:buNone/>
            </a:pPr>
            <a:r>
              <a:rPr lang="en-US" sz="1050" dirty="0">
                <a:solidFill>
                  <a:srgbClr val="5B6B7B"/>
                </a:solidFill>
                <a:latin typeface="Arial" pitchFamily="34" charset="0"/>
                <a:ea typeface="Arial" pitchFamily="34" charset="-122"/>
                <a:cs typeface="Arial" pitchFamily="34" charset="-120"/>
              </a:rPr>
              <a:t>BuildAI runs the entire programme. Your faculty focuses on core curriculum.</a:t>
            </a:r>
            <a:endParaRPr lang="en-US" sz="1050" dirty="0"/>
          </a:p>
        </p:txBody>
      </p:sp>
      <p:sp>
        <p:nvSpPr>
          <p:cNvPr id="30" name="Shape 28"/>
          <p:cNvSpPr/>
          <p:nvPr/>
        </p:nvSpPr>
        <p:spPr>
          <a:xfrm>
            <a:off x="8010144" y="4261104"/>
            <a:ext cx="3529584" cy="1664208"/>
          </a:xfrm>
          <a:prstGeom prst="rect">
            <a:avLst/>
          </a:prstGeom>
          <a:solidFill>
            <a:srgbClr val="F4F8FA"/>
          </a:solidFill>
          <a:ln w="12700">
            <a:solidFill>
              <a:srgbClr val="CDD7DF"/>
            </a:solidFill>
            <a:prstDash val="solid"/>
          </a:ln>
        </p:spPr>
      </p:sp>
      <p:sp>
        <p:nvSpPr>
          <p:cNvPr id="31" name="Shape 29"/>
          <p:cNvSpPr/>
          <p:nvPr/>
        </p:nvSpPr>
        <p:spPr>
          <a:xfrm>
            <a:off x="8010144" y="4261104"/>
            <a:ext cx="3529584" cy="82296"/>
          </a:xfrm>
          <a:prstGeom prst="rect">
            <a:avLst/>
          </a:prstGeom>
          <a:solidFill>
            <a:srgbClr val="00D4AA"/>
          </a:solidFill>
          <a:ln/>
        </p:spPr>
      </p:sp>
      <p:sp>
        <p:nvSpPr>
          <p:cNvPr id="32" name="Text 30"/>
          <p:cNvSpPr/>
          <p:nvPr/>
        </p:nvSpPr>
        <p:spPr>
          <a:xfrm>
            <a:off x="8257032" y="4489704"/>
            <a:ext cx="914400" cy="274320"/>
          </a:xfrm>
          <a:prstGeom prst="rect">
            <a:avLst/>
          </a:prstGeom>
          <a:noFill/>
          <a:ln/>
        </p:spPr>
        <p:txBody>
          <a:bodyPr wrap="square" lIns="0" tIns="0" rIns="0" bIns="0" rtlCol="0" anchor="ctr"/>
          <a:lstStyle/>
          <a:p>
            <a:pPr indent="0" marL="0">
              <a:buNone/>
            </a:pPr>
            <a:r>
              <a:rPr lang="en-US" sz="1150" b="1" spc="200" kern="0" dirty="0">
                <a:solidFill>
                  <a:srgbClr val="0A8F77"/>
                </a:solidFill>
                <a:latin typeface="Arial" pitchFamily="34" charset="0"/>
                <a:ea typeface="Arial" pitchFamily="34" charset="-122"/>
                <a:cs typeface="Arial" pitchFamily="34" charset="-120"/>
              </a:rPr>
              <a:t>06</a:t>
            </a:r>
            <a:endParaRPr lang="en-US" sz="1150" dirty="0"/>
          </a:p>
        </p:txBody>
      </p:sp>
      <p:sp>
        <p:nvSpPr>
          <p:cNvPr id="33" name="Text 31"/>
          <p:cNvSpPr/>
          <p:nvPr/>
        </p:nvSpPr>
        <p:spPr>
          <a:xfrm>
            <a:off x="8257032" y="4773168"/>
            <a:ext cx="3108960" cy="292608"/>
          </a:xfrm>
          <a:prstGeom prst="rect">
            <a:avLst/>
          </a:prstGeom>
          <a:noFill/>
          <a:ln/>
        </p:spPr>
        <p:txBody>
          <a:bodyPr wrap="square" lIns="0" tIns="0" rIns="0" bIns="0" rtlCol="0" anchor="ctr"/>
          <a:lstStyle/>
          <a:p>
            <a:pPr indent="0" marL="0">
              <a:buNone/>
            </a:pPr>
            <a:r>
              <a:rPr lang="en-US" sz="1450" b="1" dirty="0">
                <a:solidFill>
                  <a:srgbClr val="10202E"/>
                </a:solidFill>
                <a:latin typeface="Arial" pitchFamily="34" charset="0"/>
                <a:ea typeface="Arial" pitchFamily="34" charset="-122"/>
                <a:cs typeface="Arial" pitchFamily="34" charset="-120"/>
              </a:rPr>
              <a:t>Hiring network access</a:t>
            </a:r>
            <a:endParaRPr lang="en-US" sz="1450" dirty="0"/>
          </a:p>
        </p:txBody>
      </p:sp>
      <p:sp>
        <p:nvSpPr>
          <p:cNvPr id="34" name="Text 32"/>
          <p:cNvSpPr/>
          <p:nvPr/>
        </p:nvSpPr>
        <p:spPr>
          <a:xfrm>
            <a:off x="8257032" y="5129784"/>
            <a:ext cx="3108960" cy="685800"/>
          </a:xfrm>
          <a:prstGeom prst="rect">
            <a:avLst/>
          </a:prstGeom>
          <a:noFill/>
          <a:ln/>
        </p:spPr>
        <p:txBody>
          <a:bodyPr wrap="square" lIns="0" tIns="0" rIns="0" bIns="0" rtlCol="0" anchor="t"/>
          <a:lstStyle/>
          <a:p>
            <a:pPr indent="0" marL="0">
              <a:lnSpc>
                <a:spcPct val="120000"/>
              </a:lnSpc>
              <a:buNone/>
            </a:pPr>
            <a:r>
              <a:rPr lang="en-US" sz="1050" dirty="0">
                <a:solidFill>
                  <a:srgbClr val="5B6B7B"/>
                </a:solidFill>
                <a:latin typeface="Arial" pitchFamily="34" charset="0"/>
                <a:ea typeface="Arial" pitchFamily="34" charset="-122"/>
                <a:cs typeface="Arial" pitchFamily="34" charset="-120"/>
              </a:rPr>
              <a:t>Top graduates introduced to BuildAI's startup review network — a long-term pipeline.</a:t>
            </a:r>
            <a:endParaRPr lang="en-US" sz="1050" dirty="0"/>
          </a:p>
        </p:txBody>
      </p:sp>
      <p:sp>
        <p:nvSpPr>
          <p:cNvPr id="35" name="Shape 33"/>
          <p:cNvSpPr/>
          <p:nvPr/>
        </p:nvSpPr>
        <p:spPr>
          <a:xfrm>
            <a:off x="640080" y="6327648"/>
            <a:ext cx="10911535" cy="0"/>
          </a:xfrm>
          <a:prstGeom prst="line">
            <a:avLst/>
          </a:prstGeom>
          <a:noFill/>
          <a:ln w="12700">
            <a:solidFill>
              <a:srgbClr val="CDD7DF"/>
            </a:solidFill>
            <a:prstDash val="solid"/>
          </a:ln>
        </p:spPr>
      </p:sp>
      <p:sp>
        <p:nvSpPr>
          <p:cNvPr id="36" name="Text 34"/>
          <p:cNvSpPr/>
          <p:nvPr/>
        </p:nvSpPr>
        <p:spPr>
          <a:xfrm>
            <a:off x="640080" y="6400800"/>
            <a:ext cx="6400800" cy="274320"/>
          </a:xfrm>
          <a:prstGeom prst="rect">
            <a:avLst/>
          </a:prstGeom>
          <a:noFill/>
          <a:ln/>
        </p:spPr>
        <p:txBody>
          <a:bodyPr wrap="square" lIns="0" tIns="0" rIns="0" bIns="0" rtlCol="0" anchor="ctr"/>
          <a:lstStyle/>
          <a:p>
            <a:pPr indent="0" marL="0">
              <a:buNone/>
            </a:pPr>
            <a:r>
              <a:rPr lang="en-US" sz="1000" b="1" spc="200" kern="0" dirty="0">
                <a:solidFill>
                  <a:srgbClr val="5B6B7B"/>
                </a:solidFill>
                <a:latin typeface="Arial" pitchFamily="34" charset="0"/>
                <a:ea typeface="Arial" pitchFamily="34" charset="-122"/>
                <a:cs typeface="Arial" pitchFamily="34" charset="-120"/>
              </a:rPr>
              <a:t>BuildAI  /  For Colleges</a:t>
            </a:r>
            <a:endParaRPr lang="en-US" sz="1000" dirty="0"/>
          </a:p>
        </p:txBody>
      </p:sp>
      <p:sp>
        <p:nvSpPr>
          <p:cNvPr id="37" name="Shape 35"/>
          <p:cNvSpPr/>
          <p:nvPr/>
        </p:nvSpPr>
        <p:spPr>
          <a:xfrm>
            <a:off x="10725912" y="6391656"/>
            <a:ext cx="822960" cy="310896"/>
          </a:xfrm>
          <a:prstGeom prst="rect">
            <a:avLst/>
          </a:prstGeom>
          <a:solidFill>
            <a:srgbClr val="0A2540"/>
          </a:solidFill>
          <a:ln/>
        </p:spPr>
      </p:sp>
      <p:sp>
        <p:nvSpPr>
          <p:cNvPr id="38" name="Text 36"/>
          <p:cNvSpPr/>
          <p:nvPr/>
        </p:nvSpPr>
        <p:spPr>
          <a:xfrm>
            <a:off x="10725912" y="6391656"/>
            <a:ext cx="8229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14 / 21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8229600" cy="292608"/>
          </a:xfrm>
          <a:prstGeom prst="rect">
            <a:avLst/>
          </a:prstGeom>
          <a:noFill/>
          <a:ln/>
        </p:spPr>
        <p:txBody>
          <a:bodyPr wrap="square" lIns="0" tIns="0" rIns="0" bIns="0" rtlCol="0" anchor="ctr"/>
          <a:lstStyle/>
          <a:p>
            <a:pPr indent="0" marL="0">
              <a:buNone/>
            </a:pPr>
            <a:r>
              <a:rPr lang="en-US" sz="1100" b="1" spc="300" kern="0" dirty="0">
                <a:solidFill>
                  <a:srgbClr val="0A8F77"/>
                </a:solidFill>
                <a:latin typeface="Arial" pitchFamily="34" charset="0"/>
                <a:ea typeface="Arial" pitchFamily="34" charset="-122"/>
                <a:cs typeface="Arial" pitchFamily="34" charset="-120"/>
              </a:rPr>
              <a:t>15 / 21</a:t>
            </a:r>
            <a:pPr indent="0" marL="0">
              <a:buNone/>
            </a:pPr>
            <a:r>
              <a:rPr lang="en-US" sz="1100" b="1" spc="300" kern="0" dirty="0">
                <a:solidFill>
                  <a:srgbClr val="5B6B7B"/>
                </a:solidFill>
                <a:latin typeface="Arial" pitchFamily="34" charset="0"/>
                <a:ea typeface="Arial" pitchFamily="34" charset="-122"/>
                <a:cs typeface="Arial" pitchFamily="34" charset="-120"/>
              </a:rPr>
              <a:t>   COMMERCIAL MODEL</a:t>
            </a:r>
            <a:endParaRPr lang="en-US" sz="1100" dirty="0"/>
          </a:p>
        </p:txBody>
      </p:sp>
      <p:sp>
        <p:nvSpPr>
          <p:cNvPr id="3" name="Text 1"/>
          <p:cNvSpPr/>
          <p:nvPr/>
        </p:nvSpPr>
        <p:spPr>
          <a:xfrm>
            <a:off x="621792" y="841248"/>
            <a:ext cx="10241280" cy="1371600"/>
          </a:xfrm>
          <a:prstGeom prst="rect">
            <a:avLst/>
          </a:prstGeom>
          <a:noFill/>
          <a:ln/>
        </p:spPr>
        <p:txBody>
          <a:bodyPr wrap="square" lIns="0" tIns="0" rIns="0" bIns="0" rtlCol="0" anchor="ctr"/>
          <a:lstStyle/>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Simple economics.</a:t>
            </a:r>
            <a:endParaRPr lang="en-US" sz="3300" dirty="0"/>
          </a:p>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The college keeps an administrative margin.</a:t>
            </a:r>
            <a:endParaRPr lang="en-US" sz="3300" dirty="0"/>
          </a:p>
        </p:txBody>
      </p:sp>
      <p:sp>
        <p:nvSpPr>
          <p:cNvPr id="4" name="Shape 2"/>
          <p:cNvSpPr/>
          <p:nvPr/>
        </p:nvSpPr>
        <p:spPr>
          <a:xfrm>
            <a:off x="640080" y="2377440"/>
            <a:ext cx="3529584" cy="2331720"/>
          </a:xfrm>
          <a:prstGeom prst="rect">
            <a:avLst/>
          </a:prstGeom>
          <a:solidFill>
            <a:srgbClr val="0A2540"/>
          </a:solidFill>
          <a:ln/>
        </p:spPr>
      </p:sp>
      <p:sp>
        <p:nvSpPr>
          <p:cNvPr id="5" name="Text 3"/>
          <p:cNvSpPr/>
          <p:nvPr/>
        </p:nvSpPr>
        <p:spPr>
          <a:xfrm>
            <a:off x="932688" y="2697480"/>
            <a:ext cx="2926080" cy="274320"/>
          </a:xfrm>
          <a:prstGeom prst="rect">
            <a:avLst/>
          </a:prstGeom>
          <a:noFill/>
          <a:ln/>
        </p:spPr>
        <p:txBody>
          <a:bodyPr wrap="square" lIns="0" tIns="0" rIns="0" bIns="0" rtlCol="0" anchor="ctr"/>
          <a:lstStyle/>
          <a:p>
            <a:pPr indent="0" marL="0">
              <a:buNone/>
            </a:pPr>
            <a:r>
              <a:rPr lang="en-US" sz="1150" b="1" spc="300" kern="0" dirty="0">
                <a:solidFill>
                  <a:srgbClr val="00D4AA"/>
                </a:solidFill>
                <a:latin typeface="Arial" pitchFamily="34" charset="0"/>
                <a:ea typeface="Arial" pitchFamily="34" charset="-122"/>
                <a:cs typeface="Arial" pitchFamily="34" charset="-120"/>
              </a:rPr>
              <a:t>STUDENT FEE</a:t>
            </a:r>
            <a:endParaRPr lang="en-US" sz="1150" dirty="0"/>
          </a:p>
        </p:txBody>
      </p:sp>
      <p:sp>
        <p:nvSpPr>
          <p:cNvPr id="6" name="Text 4"/>
          <p:cNvSpPr/>
          <p:nvPr/>
        </p:nvSpPr>
        <p:spPr>
          <a:xfrm>
            <a:off x="932688" y="3108960"/>
            <a:ext cx="3017520" cy="6858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₹20K – ₹25K</a:t>
            </a:r>
            <a:endParaRPr lang="en-US" sz="3200" dirty="0"/>
          </a:p>
        </p:txBody>
      </p:sp>
      <p:sp>
        <p:nvSpPr>
          <p:cNvPr id="7" name="Text 5"/>
          <p:cNvSpPr/>
          <p:nvPr/>
        </p:nvSpPr>
        <p:spPr>
          <a:xfrm>
            <a:off x="932688" y="3977640"/>
            <a:ext cx="2971800" cy="594360"/>
          </a:xfrm>
          <a:prstGeom prst="rect">
            <a:avLst/>
          </a:prstGeom>
          <a:noFill/>
          <a:ln/>
        </p:spPr>
        <p:txBody>
          <a:bodyPr wrap="square" lIns="0" tIns="0" rIns="0" bIns="0" rtlCol="0" anchor="ctr"/>
          <a:lstStyle/>
          <a:p>
            <a:pPr indent="0" marL="0">
              <a:lnSpc>
                <a:spcPct val="120000"/>
              </a:lnSpc>
              <a:buNone/>
            </a:pPr>
            <a:r>
              <a:rPr lang="en-US" sz="1150" dirty="0">
                <a:solidFill>
                  <a:srgbClr val="BFD3E0"/>
                </a:solidFill>
                <a:latin typeface="Arial" pitchFamily="34" charset="0"/>
                <a:ea typeface="Arial" pitchFamily="34" charset="-122"/>
                <a:cs typeface="Arial" pitchFamily="34" charset="-120"/>
              </a:rPr>
              <a:t>What students pay for the 13-week apprenticeship.</a:t>
            </a:r>
            <a:endParaRPr lang="en-US" sz="1150" dirty="0"/>
          </a:p>
        </p:txBody>
      </p:sp>
      <p:sp>
        <p:nvSpPr>
          <p:cNvPr id="8" name="Shape 6"/>
          <p:cNvSpPr/>
          <p:nvPr/>
        </p:nvSpPr>
        <p:spPr>
          <a:xfrm>
            <a:off x="4325112" y="2377440"/>
            <a:ext cx="3529584" cy="2331720"/>
          </a:xfrm>
          <a:prstGeom prst="rect">
            <a:avLst/>
          </a:prstGeom>
          <a:solidFill>
            <a:srgbClr val="00D4AA"/>
          </a:solidFill>
          <a:ln/>
        </p:spPr>
      </p:sp>
      <p:sp>
        <p:nvSpPr>
          <p:cNvPr id="9" name="Text 7"/>
          <p:cNvSpPr/>
          <p:nvPr/>
        </p:nvSpPr>
        <p:spPr>
          <a:xfrm>
            <a:off x="4617720" y="2697480"/>
            <a:ext cx="2926080" cy="274320"/>
          </a:xfrm>
          <a:prstGeom prst="rect">
            <a:avLst/>
          </a:prstGeom>
          <a:noFill/>
          <a:ln/>
        </p:spPr>
        <p:txBody>
          <a:bodyPr wrap="square" lIns="0" tIns="0" rIns="0" bIns="0" rtlCol="0" anchor="ctr"/>
          <a:lstStyle/>
          <a:p>
            <a:pPr indent="0" marL="0">
              <a:buNone/>
            </a:pPr>
            <a:r>
              <a:rPr lang="en-US" sz="1150" b="1" spc="300" kern="0" dirty="0">
                <a:solidFill>
                  <a:srgbClr val="0A2540"/>
                </a:solidFill>
                <a:latin typeface="Arial" pitchFamily="34" charset="0"/>
                <a:ea typeface="Arial" pitchFamily="34" charset="-122"/>
                <a:cs typeface="Arial" pitchFamily="34" charset="-120"/>
              </a:rPr>
              <a:t>COLLEGE MARGIN</a:t>
            </a:r>
            <a:endParaRPr lang="en-US" sz="1150" dirty="0"/>
          </a:p>
        </p:txBody>
      </p:sp>
      <p:sp>
        <p:nvSpPr>
          <p:cNvPr id="10" name="Text 8"/>
          <p:cNvSpPr/>
          <p:nvPr/>
        </p:nvSpPr>
        <p:spPr>
          <a:xfrm>
            <a:off x="4617720" y="3108960"/>
            <a:ext cx="3017520" cy="685800"/>
          </a:xfrm>
          <a:prstGeom prst="rect">
            <a:avLst/>
          </a:prstGeom>
          <a:noFill/>
          <a:ln/>
        </p:spPr>
        <p:txBody>
          <a:bodyPr wrap="square" lIns="0" tIns="0" rIns="0" bIns="0" rtlCol="0" anchor="ctr"/>
          <a:lstStyle/>
          <a:p>
            <a:pPr indent="0" marL="0">
              <a:buNone/>
            </a:pPr>
            <a:r>
              <a:rPr lang="en-US" sz="3200" b="1" dirty="0">
                <a:solidFill>
                  <a:srgbClr val="0A2540"/>
                </a:solidFill>
                <a:latin typeface="Arial" pitchFamily="34" charset="0"/>
                <a:ea typeface="Arial" pitchFamily="34" charset="-122"/>
                <a:cs typeface="Arial" pitchFamily="34" charset="-120"/>
              </a:rPr>
              <a:t>₹5K – ₹7K</a:t>
            </a:r>
            <a:endParaRPr lang="en-US" sz="3200" dirty="0"/>
          </a:p>
        </p:txBody>
      </p:sp>
      <p:sp>
        <p:nvSpPr>
          <p:cNvPr id="11" name="Text 9"/>
          <p:cNvSpPr/>
          <p:nvPr/>
        </p:nvSpPr>
        <p:spPr>
          <a:xfrm>
            <a:off x="4617720" y="3977640"/>
            <a:ext cx="2971800" cy="594360"/>
          </a:xfrm>
          <a:prstGeom prst="rect">
            <a:avLst/>
          </a:prstGeom>
          <a:noFill/>
          <a:ln/>
        </p:spPr>
        <p:txBody>
          <a:bodyPr wrap="square" lIns="0" tIns="0" rIns="0" bIns="0" rtlCol="0" anchor="ctr"/>
          <a:lstStyle/>
          <a:p>
            <a:pPr indent="0" marL="0">
              <a:lnSpc>
                <a:spcPct val="120000"/>
              </a:lnSpc>
              <a:buNone/>
            </a:pPr>
            <a:r>
              <a:rPr lang="en-US" sz="1150" dirty="0">
                <a:solidFill>
                  <a:srgbClr val="0A2540"/>
                </a:solidFill>
                <a:latin typeface="Arial" pitchFamily="34" charset="0"/>
                <a:ea typeface="Arial" pitchFamily="34" charset="-122"/>
                <a:cs typeface="Arial" pitchFamily="34" charset="-120"/>
              </a:rPr>
              <a:t>Per enrolled student. Administrative + facilitation margin.</a:t>
            </a:r>
            <a:endParaRPr lang="en-US" sz="1150" dirty="0"/>
          </a:p>
        </p:txBody>
      </p:sp>
      <p:sp>
        <p:nvSpPr>
          <p:cNvPr id="12" name="Shape 10"/>
          <p:cNvSpPr/>
          <p:nvPr/>
        </p:nvSpPr>
        <p:spPr>
          <a:xfrm>
            <a:off x="8010144" y="2377440"/>
            <a:ext cx="3529584" cy="2331720"/>
          </a:xfrm>
          <a:prstGeom prst="rect">
            <a:avLst/>
          </a:prstGeom>
          <a:solidFill>
            <a:srgbClr val="F4F8FA"/>
          </a:solidFill>
          <a:ln w="12700">
            <a:solidFill>
              <a:srgbClr val="CDD7DF"/>
            </a:solidFill>
            <a:prstDash val="solid"/>
          </a:ln>
        </p:spPr>
      </p:sp>
      <p:sp>
        <p:nvSpPr>
          <p:cNvPr id="13" name="Text 11"/>
          <p:cNvSpPr/>
          <p:nvPr/>
        </p:nvSpPr>
        <p:spPr>
          <a:xfrm>
            <a:off x="8302752" y="2697480"/>
            <a:ext cx="2926080" cy="274320"/>
          </a:xfrm>
          <a:prstGeom prst="rect">
            <a:avLst/>
          </a:prstGeom>
          <a:noFill/>
          <a:ln/>
        </p:spPr>
        <p:txBody>
          <a:bodyPr wrap="square" lIns="0" tIns="0" rIns="0" bIns="0" rtlCol="0" anchor="ctr"/>
          <a:lstStyle/>
          <a:p>
            <a:pPr indent="0" marL="0">
              <a:buNone/>
            </a:pPr>
            <a:r>
              <a:rPr lang="en-US" sz="1150" b="1" spc="300" kern="0" dirty="0">
                <a:solidFill>
                  <a:srgbClr val="0A8F77"/>
                </a:solidFill>
                <a:latin typeface="Arial" pitchFamily="34" charset="0"/>
                <a:ea typeface="Arial" pitchFamily="34" charset="-122"/>
                <a:cs typeface="Arial" pitchFamily="34" charset="-120"/>
              </a:rPr>
              <a:t>BUILDAI FEE</a:t>
            </a:r>
            <a:endParaRPr lang="en-US" sz="1150" dirty="0"/>
          </a:p>
        </p:txBody>
      </p:sp>
      <p:sp>
        <p:nvSpPr>
          <p:cNvPr id="14" name="Text 12"/>
          <p:cNvSpPr/>
          <p:nvPr/>
        </p:nvSpPr>
        <p:spPr>
          <a:xfrm>
            <a:off x="8302752" y="3108960"/>
            <a:ext cx="3017520" cy="685800"/>
          </a:xfrm>
          <a:prstGeom prst="rect">
            <a:avLst/>
          </a:prstGeom>
          <a:noFill/>
          <a:ln/>
        </p:spPr>
        <p:txBody>
          <a:bodyPr wrap="square" lIns="0" tIns="0" rIns="0" bIns="0" rtlCol="0" anchor="ctr"/>
          <a:lstStyle/>
          <a:p>
            <a:pPr indent="0" marL="0">
              <a:buNone/>
            </a:pPr>
            <a:r>
              <a:rPr lang="en-US" sz="3200" b="1" dirty="0">
                <a:solidFill>
                  <a:srgbClr val="10202E"/>
                </a:solidFill>
                <a:latin typeface="Arial" pitchFamily="34" charset="0"/>
                <a:ea typeface="Arial" pitchFamily="34" charset="-122"/>
                <a:cs typeface="Arial" pitchFamily="34" charset="-120"/>
              </a:rPr>
              <a:t>₹15K – ₹18K</a:t>
            </a:r>
            <a:endParaRPr lang="en-US" sz="3200" dirty="0"/>
          </a:p>
        </p:txBody>
      </p:sp>
      <p:sp>
        <p:nvSpPr>
          <p:cNvPr id="15" name="Text 13"/>
          <p:cNvSpPr/>
          <p:nvPr/>
        </p:nvSpPr>
        <p:spPr>
          <a:xfrm>
            <a:off x="8302752" y="3977640"/>
            <a:ext cx="2971800" cy="594360"/>
          </a:xfrm>
          <a:prstGeom prst="rect">
            <a:avLst/>
          </a:prstGeom>
          <a:noFill/>
          <a:ln/>
        </p:spPr>
        <p:txBody>
          <a:bodyPr wrap="square" lIns="0" tIns="0" rIns="0" bIns="0" rtlCol="0" anchor="ctr"/>
          <a:lstStyle/>
          <a:p>
            <a:pPr indent="0" marL="0">
              <a:lnSpc>
                <a:spcPct val="120000"/>
              </a:lnSpc>
              <a:buNone/>
            </a:pPr>
            <a:r>
              <a:rPr lang="en-US" sz="1150" dirty="0">
                <a:solidFill>
                  <a:srgbClr val="5B6B7B"/>
                </a:solidFill>
                <a:latin typeface="Arial" pitchFamily="34" charset="0"/>
                <a:ea typeface="Arial" pitchFamily="34" charset="-122"/>
                <a:cs typeface="Arial" pitchFamily="34" charset="-120"/>
              </a:rPr>
              <a:t>Per enrolled student. Covers mentors, tools, ops, evaluation.</a:t>
            </a:r>
            <a:endParaRPr lang="en-US" sz="1150" dirty="0"/>
          </a:p>
        </p:txBody>
      </p:sp>
      <p:sp>
        <p:nvSpPr>
          <p:cNvPr id="16" name="Shape 14"/>
          <p:cNvSpPr/>
          <p:nvPr/>
        </p:nvSpPr>
        <p:spPr>
          <a:xfrm>
            <a:off x="640080" y="5029200"/>
            <a:ext cx="10911535" cy="0"/>
          </a:xfrm>
          <a:prstGeom prst="line">
            <a:avLst/>
          </a:prstGeom>
          <a:noFill/>
          <a:ln w="19050">
            <a:solidFill>
              <a:srgbClr val="10202E"/>
            </a:solidFill>
            <a:prstDash val="solid"/>
          </a:ln>
        </p:spPr>
      </p:sp>
      <p:sp>
        <p:nvSpPr>
          <p:cNvPr id="17" name="Text 15"/>
          <p:cNvSpPr/>
          <p:nvPr/>
        </p:nvSpPr>
        <p:spPr>
          <a:xfrm>
            <a:off x="640080" y="5230368"/>
            <a:ext cx="10881360" cy="365760"/>
          </a:xfrm>
          <a:prstGeom prst="rect">
            <a:avLst/>
          </a:prstGeom>
          <a:noFill/>
          <a:ln/>
        </p:spPr>
        <p:txBody>
          <a:bodyPr wrap="square" lIns="0" tIns="0" rIns="0" bIns="0" rtlCol="0" anchor="ctr"/>
          <a:lstStyle/>
          <a:p>
            <a:pPr indent="0" marL="0">
              <a:buNone/>
            </a:pPr>
            <a:r>
              <a:rPr lang="en-US" sz="1700" b="1" dirty="0">
                <a:solidFill>
                  <a:srgbClr val="10202E"/>
                </a:solidFill>
                <a:latin typeface="Arial" pitchFamily="34" charset="0"/>
                <a:ea typeface="Arial" pitchFamily="34" charset="-122"/>
                <a:cs typeface="Arial" pitchFamily="34" charset="-120"/>
              </a:rPr>
              <a:t>Per-cohort margin to your institution   </a:t>
            </a:r>
            <a:pPr indent="0" marL="0">
              <a:buNone/>
            </a:pPr>
            <a:r>
              <a:rPr lang="en-US" sz="1700" dirty="0">
                <a:solidFill>
                  <a:srgbClr val="5B6B7B"/>
                </a:solidFill>
                <a:latin typeface="Arial" pitchFamily="34" charset="0"/>
                <a:ea typeface="Arial" pitchFamily="34" charset="-122"/>
                <a:cs typeface="Arial" pitchFamily="34" charset="-120"/>
              </a:rPr>
              <a:t>(100 students × ₹6,000)   </a:t>
            </a:r>
            <a:pPr indent="0" marL="0">
              <a:buNone/>
            </a:pPr>
            <a:r>
              <a:rPr lang="en-US" sz="1700" b="1" dirty="0">
                <a:solidFill>
                  <a:srgbClr val="0A8F77"/>
                </a:solidFill>
                <a:latin typeface="Arial" pitchFamily="34" charset="0"/>
                <a:ea typeface="Arial" pitchFamily="34" charset="-122"/>
                <a:cs typeface="Arial" pitchFamily="34" charset="-120"/>
              </a:rPr>
              <a:t>= ₹6 lakh</a:t>
            </a:r>
            <a:endParaRPr lang="en-US" sz="1700" dirty="0"/>
          </a:p>
        </p:txBody>
      </p:sp>
      <p:sp>
        <p:nvSpPr>
          <p:cNvPr id="18" name="Text 16"/>
          <p:cNvSpPr/>
          <p:nvPr/>
        </p:nvSpPr>
        <p:spPr>
          <a:xfrm>
            <a:off x="640080" y="5687568"/>
            <a:ext cx="10881360" cy="365760"/>
          </a:xfrm>
          <a:prstGeom prst="rect">
            <a:avLst/>
          </a:prstGeom>
          <a:noFill/>
          <a:ln/>
        </p:spPr>
        <p:txBody>
          <a:bodyPr wrap="square" lIns="0" tIns="0" rIns="0" bIns="0" rtlCol="0" anchor="ctr"/>
          <a:lstStyle/>
          <a:p>
            <a:pPr indent="0" marL="0">
              <a:buNone/>
            </a:pPr>
            <a:r>
              <a:rPr lang="en-US" sz="1700" b="1" dirty="0">
                <a:solidFill>
                  <a:srgbClr val="10202E"/>
                </a:solidFill>
                <a:latin typeface="Arial" pitchFamily="34" charset="0"/>
                <a:ea typeface="Arial" pitchFamily="34" charset="-122"/>
                <a:cs typeface="Arial" pitchFamily="34" charset="-120"/>
              </a:rPr>
              <a:t>Two cohorts per year   </a:t>
            </a:r>
            <a:pPr indent="0" marL="0">
              <a:buNone/>
            </a:pPr>
            <a:r>
              <a:rPr lang="en-US" sz="1700" dirty="0">
                <a:solidFill>
                  <a:srgbClr val="5B6B7B"/>
                </a:solidFill>
                <a:latin typeface="Arial" pitchFamily="34" charset="0"/>
                <a:ea typeface="Arial" pitchFamily="34" charset="-122"/>
                <a:cs typeface="Arial" pitchFamily="34" charset="-120"/>
              </a:rPr>
              <a:t>(summer + winter)   </a:t>
            </a:r>
            <a:pPr indent="0" marL="0">
              <a:buNone/>
            </a:pPr>
            <a:r>
              <a:rPr lang="en-US" sz="1700" b="1" dirty="0">
                <a:solidFill>
                  <a:srgbClr val="0A8F77"/>
                </a:solidFill>
                <a:latin typeface="Arial" pitchFamily="34" charset="0"/>
                <a:ea typeface="Arial" pitchFamily="34" charset="-122"/>
                <a:cs typeface="Arial" pitchFamily="34" charset="-120"/>
              </a:rPr>
              <a:t>= ₹12 lakh annual margin</a:t>
            </a:r>
            <a:endParaRPr lang="en-US" sz="1700" dirty="0"/>
          </a:p>
        </p:txBody>
      </p:sp>
      <p:sp>
        <p:nvSpPr>
          <p:cNvPr id="19" name="Shape 17"/>
          <p:cNvSpPr/>
          <p:nvPr/>
        </p:nvSpPr>
        <p:spPr>
          <a:xfrm>
            <a:off x="640080" y="6327648"/>
            <a:ext cx="10911535" cy="0"/>
          </a:xfrm>
          <a:prstGeom prst="line">
            <a:avLst/>
          </a:prstGeom>
          <a:noFill/>
          <a:ln w="12700">
            <a:solidFill>
              <a:srgbClr val="CDD7DF"/>
            </a:solidFill>
            <a:prstDash val="solid"/>
          </a:ln>
        </p:spPr>
      </p:sp>
      <p:sp>
        <p:nvSpPr>
          <p:cNvPr id="20" name="Text 18"/>
          <p:cNvSpPr/>
          <p:nvPr/>
        </p:nvSpPr>
        <p:spPr>
          <a:xfrm>
            <a:off x="640080" y="6400800"/>
            <a:ext cx="6400800" cy="274320"/>
          </a:xfrm>
          <a:prstGeom prst="rect">
            <a:avLst/>
          </a:prstGeom>
          <a:noFill/>
          <a:ln/>
        </p:spPr>
        <p:txBody>
          <a:bodyPr wrap="square" lIns="0" tIns="0" rIns="0" bIns="0" rtlCol="0" anchor="ctr"/>
          <a:lstStyle/>
          <a:p>
            <a:pPr indent="0" marL="0">
              <a:buNone/>
            </a:pPr>
            <a:r>
              <a:rPr lang="en-US" sz="1000" b="1" spc="200" kern="0" dirty="0">
                <a:solidFill>
                  <a:srgbClr val="5B6B7B"/>
                </a:solidFill>
                <a:latin typeface="Arial" pitchFamily="34" charset="0"/>
                <a:ea typeface="Arial" pitchFamily="34" charset="-122"/>
                <a:cs typeface="Arial" pitchFamily="34" charset="-120"/>
              </a:rPr>
              <a:t>BuildAI  /  Commercial Model</a:t>
            </a:r>
            <a:endParaRPr lang="en-US" sz="1000" dirty="0"/>
          </a:p>
        </p:txBody>
      </p:sp>
      <p:sp>
        <p:nvSpPr>
          <p:cNvPr id="21" name="Shape 19"/>
          <p:cNvSpPr/>
          <p:nvPr/>
        </p:nvSpPr>
        <p:spPr>
          <a:xfrm>
            <a:off x="10725912" y="6391656"/>
            <a:ext cx="822960" cy="310896"/>
          </a:xfrm>
          <a:prstGeom prst="rect">
            <a:avLst/>
          </a:prstGeom>
          <a:solidFill>
            <a:srgbClr val="0A2540"/>
          </a:solidFill>
          <a:ln/>
        </p:spPr>
      </p:sp>
      <p:sp>
        <p:nvSpPr>
          <p:cNvPr id="22" name="Text 20"/>
          <p:cNvSpPr/>
          <p:nvPr/>
        </p:nvSpPr>
        <p:spPr>
          <a:xfrm>
            <a:off x="10725912" y="6391656"/>
            <a:ext cx="8229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15 / 21</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515600" y="0"/>
            <a:ext cx="1673352" cy="1325880"/>
          </a:xfrm>
          <a:prstGeom prst="rect">
            <a:avLst/>
          </a:prstGeom>
          <a:solidFill>
            <a:srgbClr val="00D4AA"/>
          </a:solidFill>
          <a:ln/>
        </p:spPr>
      </p:sp>
      <p:sp>
        <p:nvSpPr>
          <p:cNvPr id="3" name="Text 1"/>
          <p:cNvSpPr/>
          <p:nvPr/>
        </p:nvSpPr>
        <p:spPr>
          <a:xfrm>
            <a:off x="640080" y="347472"/>
            <a:ext cx="8229600" cy="292608"/>
          </a:xfrm>
          <a:prstGeom prst="rect">
            <a:avLst/>
          </a:prstGeom>
          <a:noFill/>
          <a:ln/>
        </p:spPr>
        <p:txBody>
          <a:bodyPr wrap="square" lIns="0" tIns="0" rIns="0" bIns="0" rtlCol="0" anchor="ctr"/>
          <a:lstStyle/>
          <a:p>
            <a:pPr indent="0" marL="0">
              <a:buNone/>
            </a:pPr>
            <a:r>
              <a:rPr lang="en-US" sz="1100" b="1" spc="300" kern="0" dirty="0">
                <a:solidFill>
                  <a:srgbClr val="0A8F77"/>
                </a:solidFill>
                <a:latin typeface="Arial" pitchFamily="34" charset="0"/>
                <a:ea typeface="Arial" pitchFamily="34" charset="-122"/>
                <a:cs typeface="Arial" pitchFamily="34" charset="-120"/>
              </a:rPr>
              <a:t>16 / 21</a:t>
            </a:r>
            <a:pPr indent="0" marL="0">
              <a:buNone/>
            </a:pPr>
            <a:r>
              <a:rPr lang="en-US" sz="1100" b="1" spc="300" kern="0" dirty="0">
                <a:solidFill>
                  <a:srgbClr val="5B6B7B"/>
                </a:solidFill>
                <a:latin typeface="Arial" pitchFamily="34" charset="0"/>
                <a:ea typeface="Arial" pitchFamily="34" charset="-122"/>
                <a:cs typeface="Arial" pitchFamily="34" charset="-120"/>
              </a:rPr>
              <a:t>   THREE WAYS TO START</a:t>
            </a:r>
            <a:endParaRPr lang="en-US" sz="1100" dirty="0"/>
          </a:p>
        </p:txBody>
      </p:sp>
      <p:sp>
        <p:nvSpPr>
          <p:cNvPr id="4" name="Text 2"/>
          <p:cNvSpPr/>
          <p:nvPr/>
        </p:nvSpPr>
        <p:spPr>
          <a:xfrm>
            <a:off x="621792" y="841248"/>
            <a:ext cx="10241280" cy="1371600"/>
          </a:xfrm>
          <a:prstGeom prst="rect">
            <a:avLst/>
          </a:prstGeom>
          <a:noFill/>
          <a:ln/>
        </p:spPr>
        <p:txBody>
          <a:bodyPr wrap="square" lIns="0" tIns="0" rIns="0" bIns="0" rtlCol="0" anchor="ctr"/>
          <a:lstStyle/>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Start with a weekend.</a:t>
            </a:r>
            <a:endParaRPr lang="en-US" sz="3300" dirty="0"/>
          </a:p>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Graduate to the apprenticeship.</a:t>
            </a:r>
            <a:endParaRPr lang="en-US" sz="3300" dirty="0"/>
          </a:p>
        </p:txBody>
      </p:sp>
      <p:sp>
        <p:nvSpPr>
          <p:cNvPr id="5" name="Shape 3"/>
          <p:cNvSpPr/>
          <p:nvPr/>
        </p:nvSpPr>
        <p:spPr>
          <a:xfrm>
            <a:off x="640080" y="2286000"/>
            <a:ext cx="3529584" cy="3246120"/>
          </a:xfrm>
          <a:prstGeom prst="rect">
            <a:avLst/>
          </a:prstGeom>
          <a:solidFill>
            <a:srgbClr val="F4F8FA"/>
          </a:solidFill>
          <a:ln w="12700">
            <a:solidFill>
              <a:srgbClr val="CDD7DF"/>
            </a:solidFill>
            <a:prstDash val="solid"/>
          </a:ln>
        </p:spPr>
      </p:sp>
      <p:sp>
        <p:nvSpPr>
          <p:cNvPr id="6" name="Shape 4"/>
          <p:cNvSpPr/>
          <p:nvPr/>
        </p:nvSpPr>
        <p:spPr>
          <a:xfrm>
            <a:off x="640080" y="2286000"/>
            <a:ext cx="3529584" cy="82296"/>
          </a:xfrm>
          <a:prstGeom prst="rect">
            <a:avLst/>
          </a:prstGeom>
          <a:solidFill>
            <a:srgbClr val="0A2540"/>
          </a:solidFill>
          <a:ln/>
        </p:spPr>
      </p:sp>
      <p:sp>
        <p:nvSpPr>
          <p:cNvPr id="7" name="Text 5"/>
          <p:cNvSpPr/>
          <p:nvPr/>
        </p:nvSpPr>
        <p:spPr>
          <a:xfrm>
            <a:off x="914400" y="2542032"/>
            <a:ext cx="914400" cy="365760"/>
          </a:xfrm>
          <a:prstGeom prst="rect">
            <a:avLst/>
          </a:prstGeom>
          <a:noFill/>
          <a:ln/>
        </p:spPr>
        <p:txBody>
          <a:bodyPr wrap="square" lIns="0" tIns="0" rIns="0" bIns="0" rtlCol="0" anchor="ctr"/>
          <a:lstStyle/>
          <a:p>
            <a:pPr indent="0" marL="0">
              <a:buNone/>
            </a:pPr>
            <a:r>
              <a:rPr lang="en-US" sz="1800" b="1" dirty="0">
                <a:solidFill>
                  <a:srgbClr val="0A8F77"/>
                </a:solidFill>
                <a:latin typeface="Arial" pitchFamily="34" charset="0"/>
                <a:ea typeface="Arial" pitchFamily="34" charset="-122"/>
                <a:cs typeface="Arial" pitchFamily="34" charset="-120"/>
              </a:rPr>
              <a:t>01</a:t>
            </a:r>
            <a:endParaRPr lang="en-US" sz="1800" dirty="0"/>
          </a:p>
        </p:txBody>
      </p:sp>
      <p:sp>
        <p:nvSpPr>
          <p:cNvPr id="8" name="Text 6"/>
          <p:cNvSpPr/>
          <p:nvPr/>
        </p:nvSpPr>
        <p:spPr>
          <a:xfrm>
            <a:off x="914400" y="2926080"/>
            <a:ext cx="3017520" cy="320040"/>
          </a:xfrm>
          <a:prstGeom prst="rect">
            <a:avLst/>
          </a:prstGeom>
          <a:noFill/>
          <a:ln/>
        </p:spPr>
        <p:txBody>
          <a:bodyPr wrap="square" lIns="0" tIns="0" rIns="0" bIns="0" rtlCol="0" anchor="ctr"/>
          <a:lstStyle/>
          <a:p>
            <a:pPr indent="0" marL="0">
              <a:buNone/>
            </a:pPr>
            <a:r>
              <a:rPr lang="en-US" sz="1650" b="1" dirty="0">
                <a:solidFill>
                  <a:srgbClr val="10202E"/>
                </a:solidFill>
                <a:latin typeface="Arial" pitchFamily="34" charset="0"/>
                <a:ea typeface="Arial" pitchFamily="34" charset="-122"/>
                <a:cs typeface="Arial" pitchFamily="34" charset="-120"/>
              </a:rPr>
              <a:t>Weekend Sprint</a:t>
            </a:r>
            <a:endParaRPr lang="en-US" sz="1650" dirty="0"/>
          </a:p>
        </p:txBody>
      </p:sp>
      <p:sp>
        <p:nvSpPr>
          <p:cNvPr id="9" name="Text 7"/>
          <p:cNvSpPr/>
          <p:nvPr/>
        </p:nvSpPr>
        <p:spPr>
          <a:xfrm>
            <a:off x="914400" y="3273552"/>
            <a:ext cx="3017520" cy="274320"/>
          </a:xfrm>
          <a:prstGeom prst="rect">
            <a:avLst/>
          </a:prstGeom>
          <a:noFill/>
          <a:ln/>
        </p:spPr>
        <p:txBody>
          <a:bodyPr wrap="square" lIns="0" tIns="0" rIns="0" bIns="0" rtlCol="0" anchor="ctr"/>
          <a:lstStyle/>
          <a:p>
            <a:pPr indent="0" marL="0">
              <a:buNone/>
            </a:pPr>
            <a:r>
              <a:rPr lang="en-US" sz="1100" b="1" spc="150" kern="0" dirty="0">
                <a:solidFill>
                  <a:srgbClr val="5B6B7B"/>
                </a:solidFill>
                <a:latin typeface="Arial" pitchFamily="34" charset="0"/>
                <a:ea typeface="Arial" pitchFamily="34" charset="-122"/>
                <a:cs typeface="Arial" pitchFamily="34" charset="-120"/>
              </a:rPr>
              <a:t>1 weekend · ~15 hours</a:t>
            </a:r>
            <a:endParaRPr lang="en-US" sz="1100" dirty="0"/>
          </a:p>
        </p:txBody>
      </p:sp>
      <p:sp>
        <p:nvSpPr>
          <p:cNvPr id="10" name="Text 8"/>
          <p:cNvSpPr/>
          <p:nvPr/>
        </p:nvSpPr>
        <p:spPr>
          <a:xfrm>
            <a:off x="914400" y="3657600"/>
            <a:ext cx="3063240" cy="1234440"/>
          </a:xfrm>
          <a:prstGeom prst="rect">
            <a:avLst/>
          </a:prstGeom>
          <a:noFill/>
          <a:ln/>
        </p:spPr>
        <p:txBody>
          <a:bodyPr wrap="square" lIns="0" tIns="0" rIns="0" bIns="0" rtlCol="0" anchor="ctr"/>
          <a:lstStyle/>
          <a:p>
            <a:pPr indent="0" marL="0">
              <a:lnSpc>
                <a:spcPct val="145000"/>
              </a:lnSpc>
              <a:buNone/>
            </a:pPr>
            <a:r>
              <a:rPr lang="en-US" sz="1100" dirty="0">
                <a:solidFill>
                  <a:srgbClr val="5B6B7B"/>
                </a:solidFill>
                <a:latin typeface="Arial" pitchFamily="34" charset="0"/>
                <a:ea typeface="Arial" pitchFamily="34" charset="-122"/>
                <a:cs typeface="Arial" pitchFamily="34" charset="-120"/>
              </a:rPr>
              <a:t>—   One deployed app per student</a:t>
            </a:r>
            <a:endParaRPr lang="en-US" sz="1100" dirty="0"/>
          </a:p>
          <a:p>
            <a:pPr indent="0" marL="0">
              <a:lnSpc>
                <a:spcPct val="145000"/>
              </a:lnSpc>
              <a:buNone/>
            </a:pPr>
            <a:r>
              <a:rPr lang="en-US" sz="1100" dirty="0">
                <a:solidFill>
                  <a:srgbClr val="5B6B7B"/>
                </a:solidFill>
                <a:latin typeface="Arial" pitchFamily="34" charset="0"/>
                <a:ea typeface="Arial" pitchFamily="34" charset="-122"/>
                <a:cs typeface="Arial" pitchFamily="34" charset="-120"/>
              </a:rPr>
              <a:t>—   1 lead mentor per pod of 8–12</a:t>
            </a:r>
            <a:endParaRPr lang="en-US" sz="1100" dirty="0"/>
          </a:p>
          <a:p>
            <a:pPr indent="0" marL="0">
              <a:lnSpc>
                <a:spcPct val="145000"/>
              </a:lnSpc>
              <a:buNone/>
            </a:pPr>
            <a:r>
              <a:rPr lang="en-US" sz="1100" dirty="0">
                <a:solidFill>
                  <a:srgbClr val="5B6B7B"/>
                </a:solidFill>
                <a:latin typeface="Arial" pitchFamily="34" charset="0"/>
                <a:ea typeface="Arial" pitchFamily="34" charset="-122"/>
                <a:cs typeface="Arial" pitchFamily="34" charset="-120"/>
              </a:rPr>
              <a:t>—   Tier-graded Sprint Certificate</a:t>
            </a:r>
            <a:endParaRPr lang="en-US" sz="1100" dirty="0"/>
          </a:p>
          <a:p>
            <a:pPr indent="0" marL="0">
              <a:lnSpc>
                <a:spcPct val="145000"/>
              </a:lnSpc>
              <a:buNone/>
            </a:pPr>
            <a:r>
              <a:rPr lang="en-US" sz="1100" dirty="0">
                <a:solidFill>
                  <a:srgbClr val="5B6B7B"/>
                </a:solidFill>
                <a:latin typeface="Arial" pitchFamily="34" charset="0"/>
                <a:ea typeface="Arial" pitchFamily="34" charset="-122"/>
                <a:cs typeface="Arial" pitchFamily="34" charset="-120"/>
              </a:rPr>
              <a:t>—   Min 20 students to run</a:t>
            </a:r>
            <a:endParaRPr lang="en-US" sz="1100" dirty="0"/>
          </a:p>
        </p:txBody>
      </p:sp>
      <p:sp>
        <p:nvSpPr>
          <p:cNvPr id="11" name="Text 9"/>
          <p:cNvSpPr/>
          <p:nvPr/>
        </p:nvSpPr>
        <p:spPr>
          <a:xfrm>
            <a:off x="914400" y="5029200"/>
            <a:ext cx="3017520" cy="365760"/>
          </a:xfrm>
          <a:prstGeom prst="rect">
            <a:avLst/>
          </a:prstGeom>
          <a:noFill/>
          <a:ln/>
        </p:spPr>
        <p:txBody>
          <a:bodyPr wrap="square" lIns="0" tIns="0" rIns="0" bIns="0" rtlCol="0" anchor="ctr"/>
          <a:lstStyle/>
          <a:p>
            <a:pPr indent="0" marL="0">
              <a:buNone/>
            </a:pPr>
            <a:r>
              <a:rPr lang="en-US" sz="1600" b="1" dirty="0">
                <a:solidFill>
                  <a:srgbClr val="10202E"/>
                </a:solidFill>
                <a:latin typeface="Arial" pitchFamily="34" charset="0"/>
                <a:ea typeface="Arial" pitchFamily="34" charset="-122"/>
                <a:cs typeface="Arial" pitchFamily="34" charset="-120"/>
              </a:rPr>
              <a:t>₹3K – ₹5K / student</a:t>
            </a:r>
            <a:endParaRPr lang="en-US" sz="1600" dirty="0"/>
          </a:p>
        </p:txBody>
      </p:sp>
      <p:sp>
        <p:nvSpPr>
          <p:cNvPr id="12" name="Shape 10"/>
          <p:cNvSpPr/>
          <p:nvPr/>
        </p:nvSpPr>
        <p:spPr>
          <a:xfrm>
            <a:off x="4325112" y="2286000"/>
            <a:ext cx="3529584" cy="3246120"/>
          </a:xfrm>
          <a:prstGeom prst="rect">
            <a:avLst/>
          </a:prstGeom>
          <a:solidFill>
            <a:srgbClr val="F4F8FA"/>
          </a:solidFill>
          <a:ln w="12700">
            <a:solidFill>
              <a:srgbClr val="CDD7DF"/>
            </a:solidFill>
            <a:prstDash val="solid"/>
          </a:ln>
        </p:spPr>
      </p:sp>
      <p:sp>
        <p:nvSpPr>
          <p:cNvPr id="13" name="Shape 11"/>
          <p:cNvSpPr/>
          <p:nvPr/>
        </p:nvSpPr>
        <p:spPr>
          <a:xfrm>
            <a:off x="4325112" y="2286000"/>
            <a:ext cx="3529584" cy="82296"/>
          </a:xfrm>
          <a:prstGeom prst="rect">
            <a:avLst/>
          </a:prstGeom>
          <a:solidFill>
            <a:srgbClr val="0A2540"/>
          </a:solidFill>
          <a:ln/>
        </p:spPr>
      </p:sp>
      <p:sp>
        <p:nvSpPr>
          <p:cNvPr id="14" name="Text 12"/>
          <p:cNvSpPr/>
          <p:nvPr/>
        </p:nvSpPr>
        <p:spPr>
          <a:xfrm>
            <a:off x="4599432" y="2542032"/>
            <a:ext cx="914400" cy="365760"/>
          </a:xfrm>
          <a:prstGeom prst="rect">
            <a:avLst/>
          </a:prstGeom>
          <a:noFill/>
          <a:ln/>
        </p:spPr>
        <p:txBody>
          <a:bodyPr wrap="square" lIns="0" tIns="0" rIns="0" bIns="0" rtlCol="0" anchor="ctr"/>
          <a:lstStyle/>
          <a:p>
            <a:pPr indent="0" marL="0">
              <a:buNone/>
            </a:pPr>
            <a:r>
              <a:rPr lang="en-US" sz="1800" b="1" dirty="0">
                <a:solidFill>
                  <a:srgbClr val="0A8F77"/>
                </a:solidFill>
                <a:latin typeface="Arial" pitchFamily="34" charset="0"/>
                <a:ea typeface="Arial" pitchFamily="34" charset="-122"/>
                <a:cs typeface="Arial" pitchFamily="34" charset="-120"/>
              </a:rPr>
              <a:t>02</a:t>
            </a:r>
            <a:endParaRPr lang="en-US" sz="1800" dirty="0"/>
          </a:p>
        </p:txBody>
      </p:sp>
      <p:sp>
        <p:nvSpPr>
          <p:cNvPr id="15" name="Text 13"/>
          <p:cNvSpPr/>
          <p:nvPr/>
        </p:nvSpPr>
        <p:spPr>
          <a:xfrm>
            <a:off x="4599432" y="2926080"/>
            <a:ext cx="3017520" cy="320040"/>
          </a:xfrm>
          <a:prstGeom prst="rect">
            <a:avLst/>
          </a:prstGeom>
          <a:noFill/>
          <a:ln/>
        </p:spPr>
        <p:txBody>
          <a:bodyPr wrap="square" lIns="0" tIns="0" rIns="0" bIns="0" rtlCol="0" anchor="ctr"/>
          <a:lstStyle/>
          <a:p>
            <a:pPr indent="0" marL="0">
              <a:buNone/>
            </a:pPr>
            <a:r>
              <a:rPr lang="en-US" sz="1650" b="1" dirty="0">
                <a:solidFill>
                  <a:srgbClr val="10202E"/>
                </a:solidFill>
                <a:latin typeface="Arial" pitchFamily="34" charset="0"/>
                <a:ea typeface="Arial" pitchFamily="34" charset="-122"/>
                <a:cs typeface="Arial" pitchFamily="34" charset="-120"/>
              </a:rPr>
              <a:t>2-Weekend Sprint</a:t>
            </a:r>
            <a:endParaRPr lang="en-US" sz="1650" dirty="0"/>
          </a:p>
        </p:txBody>
      </p:sp>
      <p:sp>
        <p:nvSpPr>
          <p:cNvPr id="16" name="Text 14"/>
          <p:cNvSpPr/>
          <p:nvPr/>
        </p:nvSpPr>
        <p:spPr>
          <a:xfrm>
            <a:off x="4599432" y="3273552"/>
            <a:ext cx="3017520" cy="274320"/>
          </a:xfrm>
          <a:prstGeom prst="rect">
            <a:avLst/>
          </a:prstGeom>
          <a:noFill/>
          <a:ln/>
        </p:spPr>
        <p:txBody>
          <a:bodyPr wrap="square" lIns="0" tIns="0" rIns="0" bIns="0" rtlCol="0" anchor="ctr"/>
          <a:lstStyle/>
          <a:p>
            <a:pPr indent="0" marL="0">
              <a:buNone/>
            </a:pPr>
            <a:r>
              <a:rPr lang="en-US" sz="1100" b="1" spc="150" kern="0" dirty="0">
                <a:solidFill>
                  <a:srgbClr val="5B6B7B"/>
                </a:solidFill>
                <a:latin typeface="Arial" pitchFamily="34" charset="0"/>
                <a:ea typeface="Arial" pitchFamily="34" charset="-122"/>
                <a:cs typeface="Arial" pitchFamily="34" charset="-120"/>
              </a:rPr>
              <a:t>~12 days · ~30 hours</a:t>
            </a:r>
            <a:endParaRPr lang="en-US" sz="1100" dirty="0"/>
          </a:p>
        </p:txBody>
      </p:sp>
      <p:sp>
        <p:nvSpPr>
          <p:cNvPr id="17" name="Text 15"/>
          <p:cNvSpPr/>
          <p:nvPr/>
        </p:nvSpPr>
        <p:spPr>
          <a:xfrm>
            <a:off x="4599432" y="3657600"/>
            <a:ext cx="3063240" cy="1234440"/>
          </a:xfrm>
          <a:prstGeom prst="rect">
            <a:avLst/>
          </a:prstGeom>
          <a:noFill/>
          <a:ln/>
        </p:spPr>
        <p:txBody>
          <a:bodyPr wrap="square" lIns="0" tIns="0" rIns="0" bIns="0" rtlCol="0" anchor="ctr"/>
          <a:lstStyle/>
          <a:p>
            <a:pPr indent="0" marL="0">
              <a:lnSpc>
                <a:spcPct val="145000"/>
              </a:lnSpc>
              <a:buNone/>
            </a:pPr>
            <a:r>
              <a:rPr lang="en-US" sz="1100" dirty="0">
                <a:solidFill>
                  <a:srgbClr val="5B6B7B"/>
                </a:solidFill>
                <a:latin typeface="Arial" pitchFamily="34" charset="0"/>
                <a:ea typeface="Arial" pitchFamily="34" charset="-122"/>
                <a:cs typeface="Arial" pitchFamily="34" charset="-120"/>
              </a:rPr>
              <a:t>—   Two deployed apps per student</a:t>
            </a:r>
            <a:endParaRPr lang="en-US" sz="1100" dirty="0"/>
          </a:p>
          <a:p>
            <a:pPr indent="0" marL="0">
              <a:lnSpc>
                <a:spcPct val="145000"/>
              </a:lnSpc>
              <a:buNone/>
            </a:pPr>
            <a:r>
              <a:rPr lang="en-US" sz="1100" dirty="0">
                <a:solidFill>
                  <a:srgbClr val="5B6B7B"/>
                </a:solidFill>
                <a:latin typeface="Arial" pitchFamily="34" charset="0"/>
                <a:ea typeface="Arial" pitchFamily="34" charset="-122"/>
                <a:cs typeface="Arial" pitchFamily="34" charset="-120"/>
              </a:rPr>
              <a:t>—   One with a live LLM API call</a:t>
            </a:r>
            <a:endParaRPr lang="en-US" sz="1100" dirty="0"/>
          </a:p>
          <a:p>
            <a:pPr indent="0" marL="0">
              <a:lnSpc>
                <a:spcPct val="145000"/>
              </a:lnSpc>
              <a:buNone/>
            </a:pPr>
            <a:r>
              <a:rPr lang="en-US" sz="1100" dirty="0">
                <a:solidFill>
                  <a:srgbClr val="5B6B7B"/>
                </a:solidFill>
                <a:latin typeface="Arial" pitchFamily="34" charset="0"/>
                <a:ea typeface="Arial" pitchFamily="34" charset="-122"/>
                <a:cs typeface="Arial" pitchFamily="34" charset="-120"/>
              </a:rPr>
              <a:t>—   Prompt iteration + API safety</a:t>
            </a:r>
            <a:endParaRPr lang="en-US" sz="1100" dirty="0"/>
          </a:p>
          <a:p>
            <a:pPr indent="0" marL="0">
              <a:lnSpc>
                <a:spcPct val="145000"/>
              </a:lnSpc>
              <a:buNone/>
            </a:pPr>
            <a:r>
              <a:rPr lang="en-US" sz="1100" dirty="0">
                <a:solidFill>
                  <a:srgbClr val="5B6B7B"/>
                </a:solidFill>
                <a:latin typeface="Arial" pitchFamily="34" charset="0"/>
                <a:ea typeface="Arial" pitchFamily="34" charset="-122"/>
                <a:cs typeface="Arial" pitchFamily="34" charset="-120"/>
              </a:rPr>
              <a:t>—   Same certification rubric</a:t>
            </a:r>
            <a:endParaRPr lang="en-US" sz="1100" dirty="0"/>
          </a:p>
        </p:txBody>
      </p:sp>
      <p:sp>
        <p:nvSpPr>
          <p:cNvPr id="18" name="Text 16"/>
          <p:cNvSpPr/>
          <p:nvPr/>
        </p:nvSpPr>
        <p:spPr>
          <a:xfrm>
            <a:off x="4599432" y="5029200"/>
            <a:ext cx="3017520" cy="365760"/>
          </a:xfrm>
          <a:prstGeom prst="rect">
            <a:avLst/>
          </a:prstGeom>
          <a:noFill/>
          <a:ln/>
        </p:spPr>
        <p:txBody>
          <a:bodyPr wrap="square" lIns="0" tIns="0" rIns="0" bIns="0" rtlCol="0" anchor="ctr"/>
          <a:lstStyle/>
          <a:p>
            <a:pPr indent="0" marL="0">
              <a:buNone/>
            </a:pPr>
            <a:r>
              <a:rPr lang="en-US" sz="1600" b="1" dirty="0">
                <a:solidFill>
                  <a:srgbClr val="10202E"/>
                </a:solidFill>
                <a:latin typeface="Arial" pitchFamily="34" charset="0"/>
                <a:ea typeface="Arial" pitchFamily="34" charset="-122"/>
                <a:cs typeface="Arial" pitchFamily="34" charset="-120"/>
              </a:rPr>
              <a:t>₹8K – ₹9K / student</a:t>
            </a:r>
            <a:endParaRPr lang="en-US" sz="1600" dirty="0"/>
          </a:p>
        </p:txBody>
      </p:sp>
      <p:sp>
        <p:nvSpPr>
          <p:cNvPr id="19" name="Shape 17"/>
          <p:cNvSpPr/>
          <p:nvPr/>
        </p:nvSpPr>
        <p:spPr>
          <a:xfrm>
            <a:off x="8010144" y="2286000"/>
            <a:ext cx="3529584" cy="3246120"/>
          </a:xfrm>
          <a:prstGeom prst="rect">
            <a:avLst/>
          </a:prstGeom>
          <a:solidFill>
            <a:srgbClr val="0A2540"/>
          </a:solidFill>
          <a:ln w="12700">
            <a:solidFill>
              <a:srgbClr val="0A2540"/>
            </a:solidFill>
            <a:prstDash val="solid"/>
          </a:ln>
        </p:spPr>
      </p:sp>
      <p:sp>
        <p:nvSpPr>
          <p:cNvPr id="20" name="Shape 18"/>
          <p:cNvSpPr/>
          <p:nvPr/>
        </p:nvSpPr>
        <p:spPr>
          <a:xfrm>
            <a:off x="8010144" y="2286000"/>
            <a:ext cx="3529584" cy="82296"/>
          </a:xfrm>
          <a:prstGeom prst="rect">
            <a:avLst/>
          </a:prstGeom>
          <a:solidFill>
            <a:srgbClr val="00D4AA"/>
          </a:solidFill>
          <a:ln/>
        </p:spPr>
      </p:sp>
      <p:sp>
        <p:nvSpPr>
          <p:cNvPr id="21" name="Text 19"/>
          <p:cNvSpPr/>
          <p:nvPr/>
        </p:nvSpPr>
        <p:spPr>
          <a:xfrm>
            <a:off x="8284464" y="2542032"/>
            <a:ext cx="914400" cy="365760"/>
          </a:xfrm>
          <a:prstGeom prst="rect">
            <a:avLst/>
          </a:prstGeom>
          <a:noFill/>
          <a:ln/>
        </p:spPr>
        <p:txBody>
          <a:bodyPr wrap="square" lIns="0" tIns="0" rIns="0" bIns="0" rtlCol="0" anchor="ctr"/>
          <a:lstStyle/>
          <a:p>
            <a:pPr indent="0" marL="0">
              <a:buNone/>
            </a:pPr>
            <a:r>
              <a:rPr lang="en-US" sz="1800" b="1" dirty="0">
                <a:solidFill>
                  <a:srgbClr val="00D4AA"/>
                </a:solidFill>
                <a:latin typeface="Arial" pitchFamily="34" charset="0"/>
                <a:ea typeface="Arial" pitchFamily="34" charset="-122"/>
                <a:cs typeface="Arial" pitchFamily="34" charset="-120"/>
              </a:rPr>
              <a:t>03</a:t>
            </a:r>
            <a:endParaRPr lang="en-US" sz="1800" dirty="0"/>
          </a:p>
        </p:txBody>
      </p:sp>
      <p:sp>
        <p:nvSpPr>
          <p:cNvPr id="22" name="Text 20"/>
          <p:cNvSpPr/>
          <p:nvPr/>
        </p:nvSpPr>
        <p:spPr>
          <a:xfrm>
            <a:off x="8284464" y="2926080"/>
            <a:ext cx="3017520" cy="320040"/>
          </a:xfrm>
          <a:prstGeom prst="rect">
            <a:avLst/>
          </a:prstGeom>
          <a:noFill/>
          <a:ln/>
        </p:spPr>
        <p:txBody>
          <a:bodyPr wrap="square" lIns="0" tIns="0" rIns="0" bIns="0" rtlCol="0" anchor="ctr"/>
          <a:lstStyle/>
          <a:p>
            <a:pPr indent="0" marL="0">
              <a:buNone/>
            </a:pPr>
            <a:r>
              <a:rPr lang="en-US" sz="1650" b="1" dirty="0">
                <a:solidFill>
                  <a:srgbClr val="FFFFFF"/>
                </a:solidFill>
                <a:latin typeface="Arial" pitchFamily="34" charset="0"/>
                <a:ea typeface="Arial" pitchFamily="34" charset="-122"/>
                <a:cs typeface="Arial" pitchFamily="34" charset="-120"/>
              </a:rPr>
              <a:t>13-Week Apprenticeship</a:t>
            </a:r>
            <a:endParaRPr lang="en-US" sz="1650" dirty="0"/>
          </a:p>
        </p:txBody>
      </p:sp>
      <p:sp>
        <p:nvSpPr>
          <p:cNvPr id="23" name="Text 21"/>
          <p:cNvSpPr/>
          <p:nvPr/>
        </p:nvSpPr>
        <p:spPr>
          <a:xfrm>
            <a:off x="8284464" y="3273552"/>
            <a:ext cx="3017520" cy="274320"/>
          </a:xfrm>
          <a:prstGeom prst="rect">
            <a:avLst/>
          </a:prstGeom>
          <a:noFill/>
          <a:ln/>
        </p:spPr>
        <p:txBody>
          <a:bodyPr wrap="square" lIns="0" tIns="0" rIns="0" bIns="0" rtlCol="0" anchor="ctr"/>
          <a:lstStyle/>
          <a:p>
            <a:pPr indent="0" marL="0">
              <a:buNone/>
            </a:pPr>
            <a:r>
              <a:rPr lang="en-US" sz="1100" b="1" spc="150" kern="0" dirty="0">
                <a:solidFill>
                  <a:srgbClr val="BFD3E0"/>
                </a:solidFill>
                <a:latin typeface="Arial" pitchFamily="34" charset="0"/>
                <a:ea typeface="Arial" pitchFamily="34" charset="-122"/>
                <a:cs typeface="Arial" pitchFamily="34" charset="-120"/>
              </a:rPr>
              <a:t>Full programme · 15–20 hrs/week</a:t>
            </a:r>
            <a:endParaRPr lang="en-US" sz="1100" dirty="0"/>
          </a:p>
        </p:txBody>
      </p:sp>
      <p:sp>
        <p:nvSpPr>
          <p:cNvPr id="24" name="Text 22"/>
          <p:cNvSpPr/>
          <p:nvPr/>
        </p:nvSpPr>
        <p:spPr>
          <a:xfrm>
            <a:off x="8284464" y="3657600"/>
            <a:ext cx="3063240" cy="1234440"/>
          </a:xfrm>
          <a:prstGeom prst="rect">
            <a:avLst/>
          </a:prstGeom>
          <a:noFill/>
          <a:ln/>
        </p:spPr>
        <p:txBody>
          <a:bodyPr wrap="square" lIns="0" tIns="0" rIns="0" bIns="0" rtlCol="0" anchor="ctr"/>
          <a:lstStyle/>
          <a:p>
            <a:pPr indent="0" marL="0">
              <a:lnSpc>
                <a:spcPct val="145000"/>
              </a:lnSpc>
              <a:buNone/>
            </a:pPr>
            <a:r>
              <a:rPr lang="en-US" sz="1100" dirty="0">
                <a:solidFill>
                  <a:srgbClr val="FFFFFF"/>
                </a:solidFill>
                <a:latin typeface="Arial" pitchFamily="34" charset="0"/>
                <a:ea typeface="Arial" pitchFamily="34" charset="-122"/>
                <a:cs typeface="Arial" pitchFamily="34" charset="-120"/>
              </a:rPr>
              <a:t>—   5+ products in a public portfolio</a:t>
            </a:r>
            <a:endParaRPr lang="en-US" sz="1100" dirty="0"/>
          </a:p>
          <a:p>
            <a:pPr indent="0" marL="0">
              <a:lnSpc>
                <a:spcPct val="145000"/>
              </a:lnSpc>
              <a:buNone/>
            </a:pPr>
            <a:r>
              <a:rPr lang="en-US" sz="1100" dirty="0">
                <a:solidFill>
                  <a:srgbClr val="FFFFFF"/>
                </a:solidFill>
                <a:latin typeface="Arial" pitchFamily="34" charset="0"/>
                <a:ea typeface="Arial" pitchFamily="34" charset="-122"/>
                <a:cs typeface="Arial" pitchFamily="34" charset="-120"/>
              </a:rPr>
              <a:t>—   External startup-engineer review</a:t>
            </a:r>
            <a:endParaRPr lang="en-US" sz="1100" dirty="0"/>
          </a:p>
          <a:p>
            <a:pPr indent="0" marL="0">
              <a:lnSpc>
                <a:spcPct val="145000"/>
              </a:lnSpc>
              <a:buNone/>
            </a:pPr>
            <a:r>
              <a:rPr lang="en-US" sz="1100" dirty="0">
                <a:solidFill>
                  <a:srgbClr val="FFFFFF"/>
                </a:solidFill>
                <a:latin typeface="Arial" pitchFamily="34" charset="0"/>
                <a:ea typeface="Arial" pitchFamily="34" charset="-122"/>
                <a:cs typeface="Arial" pitchFamily="34" charset="-120"/>
              </a:rPr>
              <a:t>—   Three-tier certification</a:t>
            </a:r>
            <a:endParaRPr lang="en-US" sz="1100" dirty="0"/>
          </a:p>
          <a:p>
            <a:pPr indent="0" marL="0">
              <a:lnSpc>
                <a:spcPct val="145000"/>
              </a:lnSpc>
              <a:buNone/>
            </a:pPr>
            <a:r>
              <a:rPr lang="en-US" sz="1100" dirty="0">
                <a:solidFill>
                  <a:srgbClr val="FFFFFF"/>
                </a:solidFill>
                <a:latin typeface="Arial" pitchFamily="34" charset="0"/>
                <a:ea typeface="Arial" pitchFamily="34" charset="-122"/>
                <a:cs typeface="Arial" pitchFamily="34" charset="-120"/>
              </a:rPr>
              <a:t>—   Distinction → placement pipeline</a:t>
            </a:r>
            <a:endParaRPr lang="en-US" sz="1100" dirty="0"/>
          </a:p>
        </p:txBody>
      </p:sp>
      <p:sp>
        <p:nvSpPr>
          <p:cNvPr id="25" name="Text 23"/>
          <p:cNvSpPr/>
          <p:nvPr/>
        </p:nvSpPr>
        <p:spPr>
          <a:xfrm>
            <a:off x="8284464" y="5029200"/>
            <a:ext cx="3017520" cy="365760"/>
          </a:xfrm>
          <a:prstGeom prst="rect">
            <a:avLst/>
          </a:prstGeom>
          <a:noFill/>
          <a:ln/>
        </p:spPr>
        <p:txBody>
          <a:bodyPr wrap="square" lIns="0" tIns="0" rIns="0" bIns="0" rtlCol="0" anchor="ctr"/>
          <a:lstStyle/>
          <a:p>
            <a:pPr indent="0" marL="0">
              <a:buNone/>
            </a:pPr>
            <a:r>
              <a:rPr lang="en-US" sz="1600" b="1" dirty="0">
                <a:solidFill>
                  <a:srgbClr val="00D4AA"/>
                </a:solidFill>
                <a:latin typeface="Arial" pitchFamily="34" charset="0"/>
                <a:ea typeface="Arial" pitchFamily="34" charset="-122"/>
                <a:cs typeface="Arial" pitchFamily="34" charset="-120"/>
              </a:rPr>
              <a:t>₹20K – ₹25K / student</a:t>
            </a:r>
            <a:endParaRPr lang="en-US" sz="1600" dirty="0"/>
          </a:p>
        </p:txBody>
      </p:sp>
      <p:sp>
        <p:nvSpPr>
          <p:cNvPr id="26" name="Text 24"/>
          <p:cNvSpPr/>
          <p:nvPr/>
        </p:nvSpPr>
        <p:spPr>
          <a:xfrm>
            <a:off x="640080" y="5760720"/>
            <a:ext cx="10881360" cy="320040"/>
          </a:xfrm>
          <a:prstGeom prst="rect">
            <a:avLst/>
          </a:prstGeom>
          <a:noFill/>
          <a:ln/>
        </p:spPr>
        <p:txBody>
          <a:bodyPr wrap="square" lIns="0" tIns="0" rIns="0" bIns="0" rtlCol="0" anchor="ctr"/>
          <a:lstStyle/>
          <a:p>
            <a:pPr indent="0" marL="0">
              <a:buNone/>
            </a:pPr>
            <a:r>
              <a:rPr lang="en-US" sz="1250" i="1" dirty="0">
                <a:solidFill>
                  <a:srgbClr val="5B6B7B"/>
                </a:solidFill>
                <a:latin typeface="Arial" pitchFamily="34" charset="0"/>
                <a:ea typeface="Arial" pitchFamily="34" charset="-122"/>
                <a:cs typeface="Arial" pitchFamily="34" charset="-120"/>
              </a:rPr>
              <a:t>Most partnerships start with a sprint. Sprint Distinction students seed the first apprenticeship cohort.</a:t>
            </a:r>
            <a:endParaRPr lang="en-US" sz="1250" dirty="0"/>
          </a:p>
        </p:txBody>
      </p:sp>
      <p:sp>
        <p:nvSpPr>
          <p:cNvPr id="27" name="Shape 25"/>
          <p:cNvSpPr/>
          <p:nvPr/>
        </p:nvSpPr>
        <p:spPr>
          <a:xfrm>
            <a:off x="640080" y="6327648"/>
            <a:ext cx="10911535" cy="0"/>
          </a:xfrm>
          <a:prstGeom prst="line">
            <a:avLst/>
          </a:prstGeom>
          <a:noFill/>
          <a:ln w="12700">
            <a:solidFill>
              <a:srgbClr val="CDD7DF"/>
            </a:solidFill>
            <a:prstDash val="solid"/>
          </a:ln>
        </p:spPr>
      </p:sp>
      <p:sp>
        <p:nvSpPr>
          <p:cNvPr id="28" name="Text 26"/>
          <p:cNvSpPr/>
          <p:nvPr/>
        </p:nvSpPr>
        <p:spPr>
          <a:xfrm>
            <a:off x="640080" y="6400800"/>
            <a:ext cx="6400800" cy="274320"/>
          </a:xfrm>
          <a:prstGeom prst="rect">
            <a:avLst/>
          </a:prstGeom>
          <a:noFill/>
          <a:ln/>
        </p:spPr>
        <p:txBody>
          <a:bodyPr wrap="square" lIns="0" tIns="0" rIns="0" bIns="0" rtlCol="0" anchor="ctr"/>
          <a:lstStyle/>
          <a:p>
            <a:pPr indent="0" marL="0">
              <a:buNone/>
            </a:pPr>
            <a:r>
              <a:rPr lang="en-US" sz="1000" b="1" spc="200" kern="0" dirty="0">
                <a:solidFill>
                  <a:srgbClr val="5B6B7B"/>
                </a:solidFill>
                <a:latin typeface="Arial" pitchFamily="34" charset="0"/>
                <a:ea typeface="Arial" pitchFamily="34" charset="-122"/>
                <a:cs typeface="Arial" pitchFamily="34" charset="-120"/>
              </a:rPr>
              <a:t>BuildAI  /  Three Ways to Start</a:t>
            </a:r>
            <a:endParaRPr lang="en-US" sz="1000" dirty="0"/>
          </a:p>
        </p:txBody>
      </p:sp>
      <p:sp>
        <p:nvSpPr>
          <p:cNvPr id="29" name="Shape 27"/>
          <p:cNvSpPr/>
          <p:nvPr/>
        </p:nvSpPr>
        <p:spPr>
          <a:xfrm>
            <a:off x="10725912" y="6391656"/>
            <a:ext cx="822960" cy="310896"/>
          </a:xfrm>
          <a:prstGeom prst="rect">
            <a:avLst/>
          </a:prstGeom>
          <a:solidFill>
            <a:srgbClr val="0A2540"/>
          </a:solidFill>
          <a:ln/>
        </p:spPr>
      </p:sp>
      <p:sp>
        <p:nvSpPr>
          <p:cNvPr id="30" name="Text 28"/>
          <p:cNvSpPr/>
          <p:nvPr/>
        </p:nvSpPr>
        <p:spPr>
          <a:xfrm>
            <a:off x="10725912" y="6391656"/>
            <a:ext cx="8229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16 / 21</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332720" y="0"/>
            <a:ext cx="1856232" cy="1371600"/>
          </a:xfrm>
          <a:prstGeom prst="rect">
            <a:avLst/>
          </a:prstGeom>
          <a:solidFill>
            <a:srgbClr val="0A2540"/>
          </a:solidFill>
          <a:ln/>
        </p:spPr>
      </p:sp>
      <p:sp>
        <p:nvSpPr>
          <p:cNvPr id="3" name="Text 1"/>
          <p:cNvSpPr/>
          <p:nvPr/>
        </p:nvSpPr>
        <p:spPr>
          <a:xfrm>
            <a:off x="640080" y="347472"/>
            <a:ext cx="8229600" cy="292608"/>
          </a:xfrm>
          <a:prstGeom prst="rect">
            <a:avLst/>
          </a:prstGeom>
          <a:noFill/>
          <a:ln/>
        </p:spPr>
        <p:txBody>
          <a:bodyPr wrap="square" lIns="0" tIns="0" rIns="0" bIns="0" rtlCol="0" anchor="ctr"/>
          <a:lstStyle/>
          <a:p>
            <a:pPr indent="0" marL="0">
              <a:buNone/>
            </a:pPr>
            <a:r>
              <a:rPr lang="en-US" sz="1100" b="1" spc="300" kern="0" dirty="0">
                <a:solidFill>
                  <a:srgbClr val="0A8F77"/>
                </a:solidFill>
                <a:latin typeface="Arial" pitchFamily="34" charset="0"/>
                <a:ea typeface="Arial" pitchFamily="34" charset="-122"/>
                <a:cs typeface="Arial" pitchFamily="34" charset="-120"/>
              </a:rPr>
              <a:t>17 / 21</a:t>
            </a:r>
            <a:pPr indent="0" marL="0">
              <a:buNone/>
            </a:pPr>
            <a:r>
              <a:rPr lang="en-US" sz="1100" b="1" spc="300" kern="0" dirty="0">
                <a:solidFill>
                  <a:srgbClr val="5B6B7B"/>
                </a:solidFill>
                <a:latin typeface="Arial" pitchFamily="34" charset="0"/>
                <a:ea typeface="Arial" pitchFamily="34" charset="-122"/>
                <a:cs typeface="Arial" pitchFamily="34" charset="-120"/>
              </a:rPr>
              <a:t>   HOW WE DIFFER</a:t>
            </a:r>
            <a:endParaRPr lang="en-US" sz="1100" dirty="0"/>
          </a:p>
        </p:txBody>
      </p:sp>
      <p:sp>
        <p:nvSpPr>
          <p:cNvPr id="4" name="Text 2"/>
          <p:cNvSpPr/>
          <p:nvPr/>
        </p:nvSpPr>
        <p:spPr>
          <a:xfrm>
            <a:off x="621792" y="841248"/>
            <a:ext cx="10241280" cy="1371600"/>
          </a:xfrm>
          <a:prstGeom prst="rect">
            <a:avLst/>
          </a:prstGeom>
          <a:noFill/>
          <a:ln/>
        </p:spPr>
        <p:txBody>
          <a:bodyPr wrap="square" lIns="0" tIns="0" rIns="0" bIns="0" rtlCol="0" anchor="ctr"/>
          <a:lstStyle/>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Why BuildAI is not Newton School,</a:t>
            </a:r>
            <a:endParaRPr lang="en-US" sz="3300" dirty="0"/>
          </a:p>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upGrad, or Internshala.</a:t>
            </a:r>
            <a:endParaRPr lang="en-US" sz="3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2331720"/>
          <a:ext cx="10911535" cy="914400"/>
        </p:xfrm>
        <a:graphic>
          <a:graphicData uri="http://schemas.openxmlformats.org/drawingml/2006/table">
            <a:tbl>
              <a:tblPr/>
              <a:tblGrid>
                <a:gridCol w="1600200"/>
                <a:gridCol w="2743200"/>
                <a:gridCol w="2286000"/>
                <a:gridCol w="2194560"/>
                <a:gridCol w="2084832"/>
              </a:tblGrid>
              <a:tr h="502920">
                <a:tc>
                  <a:txBody>
                    <a:bodyPr/>
                    <a:lstStyle/>
                    <a:p>
                      <a:pPr indent="0" marL="0">
                        <a:buNone/>
                      </a:pPr>
                      <a:endParaRPr lang="en-US" sz="12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FFFFF"/>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BuildAI</a:t>
                      </a:r>
                      <a:endParaRPr lang="en-US" sz="12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0A2540"/>
                    </a:solidFill>
                  </a:tcPr>
                </a:tc>
                <a:tc>
                  <a:txBody>
                    <a:bodyPr/>
                    <a:lstStyle/>
                    <a:p>
                      <a:pPr indent="0" marL="0">
                        <a:buNone/>
                      </a:pPr>
                      <a:r>
                        <a:rPr lang="en-US" sz="1250" b="1" dirty="0">
                          <a:solidFill>
                            <a:srgbClr val="10202E"/>
                          </a:solidFill>
                          <a:latin typeface="Arial" pitchFamily="34" charset="0"/>
                          <a:ea typeface="Arial" pitchFamily="34" charset="-122"/>
                          <a:cs typeface="Arial" pitchFamily="34" charset="-120"/>
                        </a:rPr>
                        <a:t>Newton School</a:t>
                      </a:r>
                      <a:endParaRPr lang="en-US" sz="12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4F8FA"/>
                    </a:solidFill>
                  </a:tcPr>
                </a:tc>
                <a:tc>
                  <a:txBody>
                    <a:bodyPr/>
                    <a:lstStyle/>
                    <a:p>
                      <a:pPr indent="0" marL="0">
                        <a:buNone/>
                      </a:pPr>
                      <a:r>
                        <a:rPr lang="en-US" sz="1250" b="1" dirty="0">
                          <a:solidFill>
                            <a:srgbClr val="10202E"/>
                          </a:solidFill>
                          <a:latin typeface="Arial" pitchFamily="34" charset="0"/>
                          <a:ea typeface="Arial" pitchFamily="34" charset="-122"/>
                          <a:cs typeface="Arial" pitchFamily="34" charset="-120"/>
                        </a:rPr>
                        <a:t>upGrad</a:t>
                      </a:r>
                      <a:endParaRPr lang="en-US" sz="12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4F8FA"/>
                    </a:solidFill>
                  </a:tcPr>
                </a:tc>
                <a:tc>
                  <a:txBody>
                    <a:bodyPr/>
                    <a:lstStyle/>
                    <a:p>
                      <a:pPr indent="0" marL="0">
                        <a:buNone/>
                      </a:pPr>
                      <a:r>
                        <a:rPr lang="en-US" sz="1250" b="1" dirty="0">
                          <a:solidFill>
                            <a:srgbClr val="10202E"/>
                          </a:solidFill>
                          <a:latin typeface="Arial" pitchFamily="34" charset="0"/>
                          <a:ea typeface="Arial" pitchFamily="34" charset="-122"/>
                          <a:cs typeface="Arial" pitchFamily="34" charset="-120"/>
                        </a:rPr>
                        <a:t>Internshala</a:t>
                      </a:r>
                      <a:endParaRPr lang="en-US" sz="12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4F8FA"/>
                    </a:solidFill>
                  </a:tcPr>
                </a:tc>
              </a:tr>
              <a:tr h="502920">
                <a:tc>
                  <a:txBody>
                    <a:bodyPr/>
                    <a:lstStyle/>
                    <a:p>
                      <a:pPr indent="0" marL="0">
                        <a:buNone/>
                      </a:pPr>
                      <a:r>
                        <a:rPr lang="en-US" sz="1150" b="1" dirty="0">
                          <a:solidFill>
                            <a:srgbClr val="10202E"/>
                          </a:solidFill>
                          <a:latin typeface="Arial" pitchFamily="34" charset="0"/>
                          <a:ea typeface="Arial" pitchFamily="34" charset="-122"/>
                          <a:cs typeface="Arial" pitchFamily="34" charset="-120"/>
                        </a:rPr>
                        <a:t>Format</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FFFFF"/>
                    </a:solidFill>
                  </a:tcPr>
                </a:tc>
                <a:tc>
                  <a:txBody>
                    <a:bodyPr/>
                    <a:lstStyle/>
                    <a:p>
                      <a:pPr indent="0" marL="0">
                        <a:buNone/>
                      </a:pPr>
                      <a:r>
                        <a:rPr lang="en-US" sz="1150" b="1" dirty="0">
                          <a:solidFill>
                            <a:srgbClr val="0A2540"/>
                          </a:solidFill>
                          <a:latin typeface="Arial" pitchFamily="34" charset="0"/>
                          <a:ea typeface="Arial" pitchFamily="34" charset="-122"/>
                          <a:cs typeface="Arial" pitchFamily="34" charset="-120"/>
                        </a:rPr>
                        <a:t>Apprenticeship</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00D4AA"/>
                    </a:solidFill>
                  </a:tcPr>
                </a:tc>
                <a:tc>
                  <a:txBody>
                    <a:bodyPr/>
                    <a:lstStyle/>
                    <a:p>
                      <a:pPr indent="0" marL="0">
                        <a:buNone/>
                      </a:pPr>
                      <a:r>
                        <a:rPr lang="en-US" sz="1150" dirty="0">
                          <a:solidFill>
                            <a:srgbClr val="5B6B7B"/>
                          </a:solidFill>
                          <a:latin typeface="Arial" pitchFamily="34" charset="0"/>
                          <a:ea typeface="Arial" pitchFamily="34" charset="-122"/>
                          <a:cs typeface="Arial" pitchFamily="34" charset="-120"/>
                        </a:rPr>
                        <a:t>Embedded school</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FFFFF"/>
                    </a:solidFill>
                  </a:tcPr>
                </a:tc>
                <a:tc>
                  <a:txBody>
                    <a:bodyPr/>
                    <a:lstStyle/>
                    <a:p>
                      <a:pPr indent="0" marL="0">
                        <a:buNone/>
                      </a:pPr>
                      <a:r>
                        <a:rPr lang="en-US" sz="1150" dirty="0">
                          <a:solidFill>
                            <a:srgbClr val="5B6B7B"/>
                          </a:solidFill>
                          <a:latin typeface="Arial" pitchFamily="34" charset="0"/>
                          <a:ea typeface="Arial" pitchFamily="34" charset="-122"/>
                          <a:cs typeface="Arial" pitchFamily="34" charset="-120"/>
                        </a:rPr>
                        <a:t>Video courses</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FFFFF"/>
                    </a:solidFill>
                  </a:tcPr>
                </a:tc>
                <a:tc>
                  <a:txBody>
                    <a:bodyPr/>
                    <a:lstStyle/>
                    <a:p>
                      <a:pPr indent="0" marL="0">
                        <a:buNone/>
                      </a:pPr>
                      <a:r>
                        <a:rPr lang="en-US" sz="1150" dirty="0">
                          <a:solidFill>
                            <a:srgbClr val="5B6B7B"/>
                          </a:solidFill>
                          <a:latin typeface="Arial" pitchFamily="34" charset="0"/>
                          <a:ea typeface="Arial" pitchFamily="34" charset="-122"/>
                          <a:cs typeface="Arial" pitchFamily="34" charset="-120"/>
                        </a:rPr>
                        <a:t>Self-paced</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10202E"/>
                          </a:solidFill>
                          <a:latin typeface="Arial" pitchFamily="34" charset="0"/>
                          <a:ea typeface="Arial" pitchFamily="34" charset="-122"/>
                          <a:cs typeface="Arial" pitchFamily="34" charset="-120"/>
                        </a:rPr>
                        <a:t>AI-native?</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FFFFF"/>
                    </a:solidFill>
                  </a:tcPr>
                </a:tc>
                <a:tc>
                  <a:txBody>
                    <a:bodyPr/>
                    <a:lstStyle/>
                    <a:p>
                      <a:pPr indent="0" marL="0">
                        <a:buNone/>
                      </a:pPr>
                      <a:r>
                        <a:rPr lang="en-US" sz="1150" b="1" dirty="0">
                          <a:solidFill>
                            <a:srgbClr val="0A2540"/>
                          </a:solidFill>
                          <a:latin typeface="Arial" pitchFamily="34" charset="0"/>
                          <a:ea typeface="Arial" pitchFamily="34" charset="-122"/>
                          <a:cs typeface="Arial" pitchFamily="34" charset="-120"/>
                        </a:rPr>
                        <a:t>Built-in</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00D4AA"/>
                    </a:solidFill>
                  </a:tcPr>
                </a:tc>
                <a:tc>
                  <a:txBody>
                    <a:bodyPr/>
                    <a:lstStyle/>
                    <a:p>
                      <a:pPr indent="0" marL="0">
                        <a:buNone/>
                      </a:pPr>
                      <a:r>
                        <a:rPr lang="en-US" sz="1150" dirty="0">
                          <a:solidFill>
                            <a:srgbClr val="5B6B7B"/>
                          </a:solidFill>
                          <a:latin typeface="Arial" pitchFamily="34" charset="0"/>
                          <a:ea typeface="Arial" pitchFamily="34" charset="-122"/>
                          <a:cs typeface="Arial" pitchFamily="34" charset="-120"/>
                        </a:rPr>
                        <a:t>Bolted on</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FFFFF"/>
                    </a:solidFill>
                  </a:tcPr>
                </a:tc>
                <a:tc>
                  <a:txBody>
                    <a:bodyPr/>
                    <a:lstStyle/>
                    <a:p>
                      <a:pPr indent="0" marL="0">
                        <a:buNone/>
                      </a:pPr>
                      <a:r>
                        <a:rPr lang="en-US" sz="1150" dirty="0">
                          <a:solidFill>
                            <a:srgbClr val="5B6B7B"/>
                          </a:solidFill>
                          <a:latin typeface="Arial" pitchFamily="34" charset="0"/>
                          <a:ea typeface="Arial" pitchFamily="34" charset="-122"/>
                          <a:cs typeface="Arial" pitchFamily="34" charset="-120"/>
                        </a:rPr>
                        <a:t>Generic literacy</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FFFFF"/>
                    </a:solidFill>
                  </a:tcPr>
                </a:tc>
                <a:tc>
                  <a:txBody>
                    <a:bodyPr/>
                    <a:lstStyle/>
                    <a:p>
                      <a:pPr indent="0" marL="0">
                        <a:buNone/>
                      </a:pPr>
                      <a:r>
                        <a:rPr lang="en-US" sz="1150" dirty="0">
                          <a:solidFill>
                            <a:srgbClr val="5B6B7B"/>
                          </a:solidFill>
                          <a:latin typeface="Arial" pitchFamily="34" charset="0"/>
                          <a:ea typeface="Arial" pitchFamily="34" charset="-122"/>
                          <a:cs typeface="Arial" pitchFamily="34" charset="-120"/>
                        </a:rPr>
                        <a:t>Basic prompts</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10202E"/>
                          </a:solidFill>
                          <a:latin typeface="Arial" pitchFamily="34" charset="0"/>
                          <a:ea typeface="Arial" pitchFamily="34" charset="-122"/>
                          <a:cs typeface="Arial" pitchFamily="34" charset="-120"/>
                        </a:rPr>
                        <a:t>Evaluation</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FFFFF"/>
                    </a:solidFill>
                  </a:tcPr>
                </a:tc>
                <a:tc>
                  <a:txBody>
                    <a:bodyPr/>
                    <a:lstStyle/>
                    <a:p>
                      <a:pPr indent="0" marL="0">
                        <a:buNone/>
                      </a:pPr>
                      <a:r>
                        <a:rPr lang="en-US" sz="1150" b="1" dirty="0">
                          <a:solidFill>
                            <a:srgbClr val="0A2540"/>
                          </a:solidFill>
                          <a:latin typeface="Arial" pitchFamily="34" charset="0"/>
                          <a:ea typeface="Arial" pitchFamily="34" charset="-122"/>
                          <a:cs typeface="Arial" pitchFamily="34" charset="-120"/>
                        </a:rPr>
                        <a:t>7-dim + external review</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00D4AA"/>
                    </a:solidFill>
                  </a:tcPr>
                </a:tc>
                <a:tc>
                  <a:txBody>
                    <a:bodyPr/>
                    <a:lstStyle/>
                    <a:p>
                      <a:pPr indent="0" marL="0">
                        <a:buNone/>
                      </a:pPr>
                      <a:r>
                        <a:rPr lang="en-US" sz="1150" dirty="0">
                          <a:solidFill>
                            <a:srgbClr val="5B6B7B"/>
                          </a:solidFill>
                          <a:latin typeface="Arial" pitchFamily="34" charset="0"/>
                          <a:ea typeface="Arial" pitchFamily="34" charset="-122"/>
                          <a:cs typeface="Arial" pitchFamily="34" charset="-120"/>
                        </a:rPr>
                        <a:t>Internal grading</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FFFFF"/>
                    </a:solidFill>
                  </a:tcPr>
                </a:tc>
                <a:tc>
                  <a:txBody>
                    <a:bodyPr/>
                    <a:lstStyle/>
                    <a:p>
                      <a:pPr indent="0" marL="0">
                        <a:buNone/>
                      </a:pPr>
                      <a:r>
                        <a:rPr lang="en-US" sz="1150" dirty="0">
                          <a:solidFill>
                            <a:srgbClr val="5B6B7B"/>
                          </a:solidFill>
                          <a:latin typeface="Arial" pitchFamily="34" charset="0"/>
                          <a:ea typeface="Arial" pitchFamily="34" charset="-122"/>
                          <a:cs typeface="Arial" pitchFamily="34" charset="-120"/>
                        </a:rPr>
                        <a:t>Course completion</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FFFFF"/>
                    </a:solidFill>
                  </a:tcPr>
                </a:tc>
                <a:tc>
                  <a:txBody>
                    <a:bodyPr/>
                    <a:lstStyle/>
                    <a:p>
                      <a:pPr indent="0" marL="0">
                        <a:buNone/>
                      </a:pPr>
                      <a:r>
                        <a:rPr lang="en-US" sz="1150" dirty="0">
                          <a:solidFill>
                            <a:srgbClr val="5B6B7B"/>
                          </a:solidFill>
                          <a:latin typeface="Arial" pitchFamily="34" charset="0"/>
                          <a:ea typeface="Arial" pitchFamily="34" charset="-122"/>
                          <a:cs typeface="Arial" pitchFamily="34" charset="-120"/>
                        </a:rPr>
                        <a:t>Auto certificate</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10202E"/>
                          </a:solidFill>
                          <a:latin typeface="Arial" pitchFamily="34" charset="0"/>
                          <a:ea typeface="Arial" pitchFamily="34" charset="-122"/>
                          <a:cs typeface="Arial" pitchFamily="34" charset="-120"/>
                        </a:rPr>
                        <a:t>Output</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FFFFF"/>
                    </a:solidFill>
                  </a:tcPr>
                </a:tc>
                <a:tc>
                  <a:txBody>
                    <a:bodyPr/>
                    <a:lstStyle/>
                    <a:p>
                      <a:pPr indent="0" marL="0">
                        <a:buNone/>
                      </a:pPr>
                      <a:r>
                        <a:rPr lang="en-US" sz="1150" b="1" dirty="0">
                          <a:solidFill>
                            <a:srgbClr val="0A2540"/>
                          </a:solidFill>
                          <a:latin typeface="Arial" pitchFamily="34" charset="0"/>
                          <a:ea typeface="Arial" pitchFamily="34" charset="-122"/>
                          <a:cs typeface="Arial" pitchFamily="34" charset="-120"/>
                        </a:rPr>
                        <a:t>Public portfolio</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00D4AA"/>
                    </a:solidFill>
                  </a:tcPr>
                </a:tc>
                <a:tc>
                  <a:txBody>
                    <a:bodyPr/>
                    <a:lstStyle/>
                    <a:p>
                      <a:pPr indent="0" marL="0">
                        <a:buNone/>
                      </a:pPr>
                      <a:r>
                        <a:rPr lang="en-US" sz="1150" dirty="0">
                          <a:solidFill>
                            <a:srgbClr val="5B6B7B"/>
                          </a:solidFill>
                          <a:latin typeface="Arial" pitchFamily="34" charset="0"/>
                          <a:ea typeface="Arial" pitchFamily="34" charset="-122"/>
                          <a:cs typeface="Arial" pitchFamily="34" charset="-120"/>
                        </a:rPr>
                        <a:t>Class projects</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FFFFF"/>
                    </a:solidFill>
                  </a:tcPr>
                </a:tc>
                <a:tc>
                  <a:txBody>
                    <a:bodyPr/>
                    <a:lstStyle/>
                    <a:p>
                      <a:pPr indent="0" marL="0">
                        <a:buNone/>
                      </a:pPr>
                      <a:r>
                        <a:rPr lang="en-US" sz="1150" dirty="0">
                          <a:solidFill>
                            <a:srgbClr val="5B6B7B"/>
                          </a:solidFill>
                          <a:latin typeface="Arial" pitchFamily="34" charset="0"/>
                          <a:ea typeface="Arial" pitchFamily="34" charset="-122"/>
                          <a:cs typeface="Arial" pitchFamily="34" charset="-120"/>
                        </a:rPr>
                        <a:t>Certificate</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FFFFF"/>
                    </a:solidFill>
                  </a:tcPr>
                </a:tc>
                <a:tc>
                  <a:txBody>
                    <a:bodyPr/>
                    <a:lstStyle/>
                    <a:p>
                      <a:pPr indent="0" marL="0">
                        <a:buNone/>
                      </a:pPr>
                      <a:r>
                        <a:rPr lang="en-US" sz="1150" dirty="0">
                          <a:solidFill>
                            <a:srgbClr val="5B6B7B"/>
                          </a:solidFill>
                          <a:latin typeface="Arial" pitchFamily="34" charset="0"/>
                          <a:ea typeface="Arial" pitchFamily="34" charset="-122"/>
                          <a:cs typeface="Arial" pitchFamily="34" charset="-120"/>
                        </a:rPr>
                        <a:t>Certificate</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10202E"/>
                          </a:solidFill>
                          <a:latin typeface="Arial" pitchFamily="34" charset="0"/>
                          <a:ea typeface="Arial" pitchFamily="34" charset="-122"/>
                          <a:cs typeface="Arial" pitchFamily="34" charset="-120"/>
                        </a:rPr>
                        <a:t>Pass rate</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FFFFF"/>
                    </a:solidFill>
                  </a:tcPr>
                </a:tc>
                <a:tc>
                  <a:txBody>
                    <a:bodyPr/>
                    <a:lstStyle/>
                    <a:p>
                      <a:pPr indent="0" marL="0">
                        <a:buNone/>
                      </a:pPr>
                      <a:r>
                        <a:rPr lang="en-US" sz="1150" b="1" dirty="0">
                          <a:solidFill>
                            <a:srgbClr val="0A2540"/>
                          </a:solidFill>
                          <a:latin typeface="Arial" pitchFamily="34" charset="0"/>
                          <a:ea typeface="Arial" pitchFamily="34" charset="-122"/>
                          <a:cs typeface="Arial" pitchFamily="34" charset="-120"/>
                        </a:rPr>
                        <a:t>~70% (gated)</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00D4AA"/>
                    </a:solidFill>
                  </a:tcPr>
                </a:tc>
                <a:tc>
                  <a:txBody>
                    <a:bodyPr/>
                    <a:lstStyle/>
                    <a:p>
                      <a:pPr indent="0" marL="0">
                        <a:buNone/>
                      </a:pPr>
                      <a:r>
                        <a:rPr lang="en-US" sz="1150" dirty="0">
                          <a:solidFill>
                            <a:srgbClr val="5B6B7B"/>
                          </a:solidFill>
                          <a:latin typeface="Arial" pitchFamily="34" charset="0"/>
                          <a:ea typeface="Arial" pitchFamily="34" charset="-122"/>
                          <a:cs typeface="Arial" pitchFamily="34" charset="-120"/>
                        </a:rPr>
                        <a:t>90%+</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FFFFF"/>
                    </a:solidFill>
                  </a:tcPr>
                </a:tc>
                <a:tc>
                  <a:txBody>
                    <a:bodyPr/>
                    <a:lstStyle/>
                    <a:p>
                      <a:pPr indent="0" marL="0">
                        <a:buNone/>
                      </a:pPr>
                      <a:r>
                        <a:rPr lang="en-US" sz="1150" dirty="0">
                          <a:solidFill>
                            <a:srgbClr val="5B6B7B"/>
                          </a:solidFill>
                          <a:latin typeface="Arial" pitchFamily="34" charset="0"/>
                          <a:ea typeface="Arial" pitchFamily="34" charset="-122"/>
                          <a:cs typeface="Arial" pitchFamily="34" charset="-120"/>
                        </a:rPr>
                        <a:t>95%+</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FFFFF"/>
                    </a:solidFill>
                  </a:tcPr>
                </a:tc>
                <a:tc>
                  <a:txBody>
                    <a:bodyPr/>
                    <a:lstStyle/>
                    <a:p>
                      <a:pPr indent="0" marL="0">
                        <a:buNone/>
                      </a:pPr>
                      <a:r>
                        <a:rPr lang="en-US" sz="1150" dirty="0">
                          <a:solidFill>
                            <a:srgbClr val="5B6B7B"/>
                          </a:solidFill>
                          <a:latin typeface="Arial" pitchFamily="34" charset="0"/>
                          <a:ea typeface="Arial" pitchFamily="34" charset="-122"/>
                          <a:cs typeface="Arial" pitchFamily="34" charset="-120"/>
                        </a:rPr>
                        <a:t>95%+</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10202E"/>
                          </a:solidFill>
                          <a:latin typeface="Arial" pitchFamily="34" charset="0"/>
                          <a:ea typeface="Arial" pitchFamily="34" charset="-122"/>
                          <a:cs typeface="Arial" pitchFamily="34" charset="-120"/>
                        </a:rPr>
                        <a:t>Price</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FFFFF"/>
                    </a:solidFill>
                  </a:tcPr>
                </a:tc>
                <a:tc>
                  <a:txBody>
                    <a:bodyPr/>
                    <a:lstStyle/>
                    <a:p>
                      <a:pPr indent="0" marL="0">
                        <a:buNone/>
                      </a:pPr>
                      <a:r>
                        <a:rPr lang="en-US" sz="1150" b="1" dirty="0">
                          <a:solidFill>
                            <a:srgbClr val="0A2540"/>
                          </a:solidFill>
                          <a:latin typeface="Arial" pitchFamily="34" charset="0"/>
                          <a:ea typeface="Arial" pitchFamily="34" charset="-122"/>
                          <a:cs typeface="Arial" pitchFamily="34" charset="-120"/>
                        </a:rPr>
                        <a:t>₹20–25K</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00D4AA"/>
                    </a:solidFill>
                  </a:tcPr>
                </a:tc>
                <a:tc>
                  <a:txBody>
                    <a:bodyPr/>
                    <a:lstStyle/>
                    <a:p>
                      <a:pPr indent="0" marL="0">
                        <a:buNone/>
                      </a:pPr>
                      <a:r>
                        <a:rPr lang="en-US" sz="1150" dirty="0">
                          <a:solidFill>
                            <a:srgbClr val="5B6B7B"/>
                          </a:solidFill>
                          <a:latin typeface="Arial" pitchFamily="34" charset="0"/>
                          <a:ea typeface="Arial" pitchFamily="34" charset="-122"/>
                          <a:cs typeface="Arial" pitchFamily="34" charset="-120"/>
                        </a:rPr>
                        <a:t>₹3–5L</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FFFFF"/>
                    </a:solidFill>
                  </a:tcPr>
                </a:tc>
                <a:tc>
                  <a:txBody>
                    <a:bodyPr/>
                    <a:lstStyle/>
                    <a:p>
                      <a:pPr indent="0" marL="0">
                        <a:buNone/>
                      </a:pPr>
                      <a:r>
                        <a:rPr lang="en-US" sz="1150" dirty="0">
                          <a:solidFill>
                            <a:srgbClr val="5B6B7B"/>
                          </a:solidFill>
                          <a:latin typeface="Arial" pitchFamily="34" charset="0"/>
                          <a:ea typeface="Arial" pitchFamily="34" charset="-122"/>
                          <a:cs typeface="Arial" pitchFamily="34" charset="-120"/>
                        </a:rPr>
                        <a:t>₹15–40K</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FFFFF"/>
                    </a:solidFill>
                  </a:tcPr>
                </a:tc>
                <a:tc>
                  <a:txBody>
                    <a:bodyPr/>
                    <a:lstStyle/>
                    <a:p>
                      <a:pPr indent="0" marL="0">
                        <a:buNone/>
                      </a:pPr>
                      <a:r>
                        <a:rPr lang="en-US" sz="1150" dirty="0">
                          <a:solidFill>
                            <a:srgbClr val="5B6B7B"/>
                          </a:solidFill>
                          <a:latin typeface="Arial" pitchFamily="34" charset="0"/>
                          <a:ea typeface="Arial" pitchFamily="34" charset="-122"/>
                          <a:cs typeface="Arial" pitchFamily="34" charset="-120"/>
                        </a:rPr>
                        <a:t>₹2–5K</a:t>
                      </a:r>
                      <a:endParaRPr lang="en-US" sz="1150" dirty="0">
                        <a:latin typeface="Arial" charset="0"/>
                        <a:ea typeface="Arial" charset="0"/>
                        <a:cs typeface="Arial" charset="0"/>
                      </a:endParaRPr>
                    </a:p>
                  </a:txBody>
                  <a:tcPr marL="82296" marR="82296" marT="82296" marB="82296" anchor="ctr">
                    <a:lnL w="9525" cap="flat" cmpd="sng" algn="ctr">
                      <a:solidFill>
                        <a:srgbClr val="CDD7DF"/>
                      </a:solidFill>
                      <a:prstDash val="solid"/>
                      <a:round/>
                      <a:headEnd type="none" w="med" len="med"/>
                      <a:tailEnd type="none" w="med" len="med"/>
                    </a:lnL>
                    <a:lnR w="9525" cap="flat" cmpd="sng" algn="ctr">
                      <a:solidFill>
                        <a:srgbClr val="CDD7DF"/>
                      </a:solidFill>
                      <a:prstDash val="solid"/>
                      <a:round/>
                      <a:headEnd type="none" w="med" len="med"/>
                      <a:tailEnd type="none" w="med" len="med"/>
                    </a:lnR>
                    <a:lnT w="9525" cap="flat" cmpd="sng" algn="ctr">
                      <a:solidFill>
                        <a:srgbClr val="CDD7DF"/>
                      </a:solidFill>
                      <a:prstDash val="solid"/>
                      <a:round/>
                      <a:headEnd type="none" w="med" len="med"/>
                      <a:tailEnd type="none" w="med" len="med"/>
                    </a:lnT>
                    <a:lnB w="9525" cap="flat" cmpd="sng" algn="ctr">
                      <a:solidFill>
                        <a:srgbClr val="CDD7DF"/>
                      </a:solidFill>
                      <a:prstDash val="solid"/>
                      <a:round/>
                      <a:headEnd type="none" w="med" len="med"/>
                      <a:tailEnd type="none" w="med" len="med"/>
                    </a:lnB>
                    <a:solidFill>
                      <a:srgbClr val="FFFFFF"/>
                    </a:solidFill>
                  </a:tcPr>
                </a:tc>
              </a:tr>
            </a:tbl>
          </a:graphicData>
        </a:graphic>
      </p:graphicFrame>
      <p:sp>
        <p:nvSpPr>
          <p:cNvPr id="6" name="Shape 3"/>
          <p:cNvSpPr/>
          <p:nvPr/>
        </p:nvSpPr>
        <p:spPr>
          <a:xfrm>
            <a:off x="640080" y="6327648"/>
            <a:ext cx="10911535" cy="0"/>
          </a:xfrm>
          <a:prstGeom prst="line">
            <a:avLst/>
          </a:prstGeom>
          <a:noFill/>
          <a:ln w="12700">
            <a:solidFill>
              <a:srgbClr val="CDD7DF"/>
            </a:solidFill>
            <a:prstDash val="solid"/>
          </a:ln>
        </p:spPr>
      </p:sp>
      <p:sp>
        <p:nvSpPr>
          <p:cNvPr id="7" name="Text 4"/>
          <p:cNvSpPr/>
          <p:nvPr/>
        </p:nvSpPr>
        <p:spPr>
          <a:xfrm>
            <a:off x="640080" y="6400800"/>
            <a:ext cx="6400800" cy="274320"/>
          </a:xfrm>
          <a:prstGeom prst="rect">
            <a:avLst/>
          </a:prstGeom>
          <a:noFill/>
          <a:ln/>
        </p:spPr>
        <p:txBody>
          <a:bodyPr wrap="square" lIns="0" tIns="0" rIns="0" bIns="0" rtlCol="0" anchor="ctr"/>
          <a:lstStyle/>
          <a:p>
            <a:pPr indent="0" marL="0">
              <a:buNone/>
            </a:pPr>
            <a:r>
              <a:rPr lang="en-US" sz="1000" b="1" spc="200" kern="0" dirty="0">
                <a:solidFill>
                  <a:srgbClr val="5B6B7B"/>
                </a:solidFill>
                <a:latin typeface="Arial" pitchFamily="34" charset="0"/>
                <a:ea typeface="Arial" pitchFamily="34" charset="-122"/>
                <a:cs typeface="Arial" pitchFamily="34" charset="-120"/>
              </a:rPr>
              <a:t>BuildAI  /  How We Differ</a:t>
            </a:r>
            <a:endParaRPr lang="en-US" sz="1000" dirty="0"/>
          </a:p>
        </p:txBody>
      </p:sp>
      <p:sp>
        <p:nvSpPr>
          <p:cNvPr id="8" name="Shape 5"/>
          <p:cNvSpPr/>
          <p:nvPr/>
        </p:nvSpPr>
        <p:spPr>
          <a:xfrm>
            <a:off x="10725912" y="6391656"/>
            <a:ext cx="822960" cy="310896"/>
          </a:xfrm>
          <a:prstGeom prst="rect">
            <a:avLst/>
          </a:prstGeom>
          <a:solidFill>
            <a:srgbClr val="0A2540"/>
          </a:solidFill>
          <a:ln/>
        </p:spPr>
      </p:sp>
      <p:sp>
        <p:nvSpPr>
          <p:cNvPr id="9" name="Text 6"/>
          <p:cNvSpPr/>
          <p:nvPr/>
        </p:nvSpPr>
        <p:spPr>
          <a:xfrm>
            <a:off x="10725912" y="6391656"/>
            <a:ext cx="8229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17 / 21</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0A2540"/>
          </a:solidFill>
          <a:ln/>
        </p:spPr>
      </p:sp>
      <p:sp>
        <p:nvSpPr>
          <p:cNvPr id="3" name="Text 1"/>
          <p:cNvSpPr/>
          <p:nvPr/>
        </p:nvSpPr>
        <p:spPr>
          <a:xfrm>
            <a:off x="640080" y="347472"/>
            <a:ext cx="8229600" cy="292608"/>
          </a:xfrm>
          <a:prstGeom prst="rect">
            <a:avLst/>
          </a:prstGeom>
          <a:noFill/>
          <a:ln/>
        </p:spPr>
        <p:txBody>
          <a:bodyPr wrap="square" lIns="0" tIns="0" rIns="0" bIns="0" rtlCol="0" anchor="ctr"/>
          <a:lstStyle/>
          <a:p>
            <a:pPr indent="0" marL="0">
              <a:buNone/>
            </a:pPr>
            <a:r>
              <a:rPr lang="en-US" sz="1100" b="1" spc="300" kern="0" dirty="0">
                <a:solidFill>
                  <a:srgbClr val="0A8F77"/>
                </a:solidFill>
                <a:latin typeface="Arial" pitchFamily="34" charset="0"/>
                <a:ea typeface="Arial" pitchFamily="34" charset="-122"/>
                <a:cs typeface="Arial" pitchFamily="34" charset="-120"/>
              </a:rPr>
              <a:t>18 / 21</a:t>
            </a:r>
            <a:pPr indent="0" marL="0">
              <a:buNone/>
            </a:pPr>
            <a:r>
              <a:rPr lang="en-US" sz="1100" b="1" spc="300" kern="0" dirty="0">
                <a:solidFill>
                  <a:srgbClr val="5B6B7B"/>
                </a:solidFill>
                <a:latin typeface="Arial" pitchFamily="34" charset="0"/>
                <a:ea typeface="Arial" pitchFamily="34" charset="-122"/>
                <a:cs typeface="Arial" pitchFamily="34" charset="-120"/>
              </a:rPr>
              <a:t>   WHY I'M BUILDING THIS</a:t>
            </a:r>
            <a:endParaRPr lang="en-US" sz="1100" dirty="0"/>
          </a:p>
        </p:txBody>
      </p:sp>
      <p:sp>
        <p:nvSpPr>
          <p:cNvPr id="4" name="Text 2"/>
          <p:cNvSpPr/>
          <p:nvPr/>
        </p:nvSpPr>
        <p:spPr>
          <a:xfrm>
            <a:off x="731520" y="914400"/>
            <a:ext cx="10515600" cy="1737360"/>
          </a:xfrm>
          <a:prstGeom prst="rect">
            <a:avLst/>
          </a:prstGeom>
          <a:noFill/>
          <a:ln/>
        </p:spPr>
        <p:txBody>
          <a:bodyPr wrap="square" lIns="0" tIns="0" rIns="0" bIns="0" rtlCol="0" anchor="ctr"/>
          <a:lstStyle/>
          <a:p>
            <a:pPr indent="0" marL="0">
              <a:lnSpc>
                <a:spcPct val="112000"/>
              </a:lnSpc>
              <a:buNone/>
            </a:pPr>
            <a:r>
              <a:rPr lang="en-US" sz="3000" b="1" dirty="0">
                <a:solidFill>
                  <a:srgbClr val="10202E"/>
                </a:solidFill>
                <a:latin typeface="Arial" pitchFamily="34" charset="0"/>
                <a:ea typeface="Arial" pitchFamily="34" charset="-122"/>
                <a:cs typeface="Arial" pitchFamily="34" charset="-120"/>
              </a:rPr>
              <a:t>AI is reshaping how software is built.
India can either supply this workforce —
</a:t>
            </a:r>
            <a:pPr indent="0" marL="0">
              <a:lnSpc>
                <a:spcPct val="112000"/>
              </a:lnSpc>
              <a:buNone/>
            </a:pPr>
            <a:r>
              <a:rPr lang="en-US" sz="3000" b="1" dirty="0">
                <a:solidFill>
                  <a:srgbClr val="0A8F77"/>
                </a:solidFill>
                <a:latin typeface="Arial" pitchFamily="34" charset="0"/>
                <a:ea typeface="Arial" pitchFamily="34" charset="-122"/>
                <a:cs typeface="Arial" pitchFamily="34" charset="-120"/>
              </a:rPr>
              <a:t>or be supplied by it.</a:t>
            </a:r>
            <a:endParaRPr lang="en-US" sz="3000" dirty="0"/>
          </a:p>
        </p:txBody>
      </p:sp>
      <p:sp>
        <p:nvSpPr>
          <p:cNvPr id="5" name="Text 3"/>
          <p:cNvSpPr/>
          <p:nvPr/>
        </p:nvSpPr>
        <p:spPr>
          <a:xfrm>
            <a:off x="731520" y="3154680"/>
            <a:ext cx="3108960" cy="274320"/>
          </a:xfrm>
          <a:prstGeom prst="rect">
            <a:avLst/>
          </a:prstGeom>
          <a:noFill/>
          <a:ln/>
        </p:spPr>
        <p:txBody>
          <a:bodyPr wrap="square" lIns="0" tIns="0" rIns="0" bIns="0" rtlCol="0" anchor="ctr"/>
          <a:lstStyle/>
          <a:p>
            <a:pPr indent="0" marL="0">
              <a:buNone/>
            </a:pPr>
            <a:r>
              <a:rPr lang="en-US" sz="1200" b="1" spc="300" kern="0" dirty="0">
                <a:solidFill>
                  <a:srgbClr val="0A8F77"/>
                </a:solidFill>
                <a:latin typeface="Arial" pitchFamily="34" charset="0"/>
                <a:ea typeface="Arial" pitchFamily="34" charset="-122"/>
                <a:cs typeface="Arial" pitchFamily="34" charset="-120"/>
              </a:rPr>
              <a:t>WHAT I'VE SEEN</a:t>
            </a:r>
            <a:endParaRPr lang="en-US" sz="1200" dirty="0"/>
          </a:p>
        </p:txBody>
      </p:sp>
      <p:sp>
        <p:nvSpPr>
          <p:cNvPr id="6" name="Shape 4"/>
          <p:cNvSpPr/>
          <p:nvPr/>
        </p:nvSpPr>
        <p:spPr>
          <a:xfrm>
            <a:off x="731520" y="3520440"/>
            <a:ext cx="3246120" cy="0"/>
          </a:xfrm>
          <a:prstGeom prst="line">
            <a:avLst/>
          </a:prstGeom>
          <a:noFill/>
          <a:ln w="15875">
            <a:solidFill>
              <a:srgbClr val="10202E"/>
            </a:solidFill>
            <a:prstDash val="solid"/>
          </a:ln>
        </p:spPr>
      </p:sp>
      <p:sp>
        <p:nvSpPr>
          <p:cNvPr id="7" name="Text 5"/>
          <p:cNvSpPr/>
          <p:nvPr/>
        </p:nvSpPr>
        <p:spPr>
          <a:xfrm>
            <a:off x="731520" y="3703320"/>
            <a:ext cx="3246120" cy="2286000"/>
          </a:xfrm>
          <a:prstGeom prst="rect">
            <a:avLst/>
          </a:prstGeom>
          <a:noFill/>
          <a:ln/>
        </p:spPr>
        <p:txBody>
          <a:bodyPr wrap="square" lIns="0" tIns="0" rIns="0" bIns="0" rtlCol="0" anchor="t"/>
          <a:lstStyle/>
          <a:p>
            <a:pPr indent="0" marL="0">
              <a:lnSpc>
                <a:spcPct val="130000"/>
              </a:lnSpc>
              <a:buNone/>
            </a:pPr>
            <a:r>
              <a:rPr lang="en-US" sz="1150" dirty="0">
                <a:solidFill>
                  <a:srgbClr val="5B6B7B"/>
                </a:solidFill>
                <a:latin typeface="Arial" pitchFamily="34" charset="0"/>
                <a:ea typeface="Arial" pitchFamily="34" charset="-122"/>
                <a:cs typeface="Arial" pitchFamily="34" charset="-120"/>
              </a:rPr>
              <a:t>Working at an AI-native company in the US, I see what AI-first startups actually hire for. The gap between that profile and what Indian colleges produce is structural, not cosmetic — and closeable in 13 weeks if the apprenticeship is rigorous.</a:t>
            </a:r>
            <a:endParaRPr lang="en-US" sz="1150" dirty="0"/>
          </a:p>
        </p:txBody>
      </p:sp>
      <p:sp>
        <p:nvSpPr>
          <p:cNvPr id="8" name="Text 6"/>
          <p:cNvSpPr/>
          <p:nvPr/>
        </p:nvSpPr>
        <p:spPr>
          <a:xfrm>
            <a:off x="4389120" y="3154680"/>
            <a:ext cx="3108960" cy="274320"/>
          </a:xfrm>
          <a:prstGeom prst="rect">
            <a:avLst/>
          </a:prstGeom>
          <a:noFill/>
          <a:ln/>
        </p:spPr>
        <p:txBody>
          <a:bodyPr wrap="square" lIns="0" tIns="0" rIns="0" bIns="0" rtlCol="0" anchor="ctr"/>
          <a:lstStyle/>
          <a:p>
            <a:pPr indent="0" marL="0">
              <a:buNone/>
            </a:pPr>
            <a:r>
              <a:rPr lang="en-US" sz="1200" b="1" spc="300" kern="0" dirty="0">
                <a:solidFill>
                  <a:srgbClr val="0A8F77"/>
                </a:solidFill>
                <a:latin typeface="Arial" pitchFamily="34" charset="0"/>
                <a:ea typeface="Arial" pitchFamily="34" charset="-122"/>
                <a:cs typeface="Arial" pitchFamily="34" charset="-120"/>
              </a:rPr>
              <a:t>WHY ME</a:t>
            </a:r>
            <a:endParaRPr lang="en-US" sz="1200" dirty="0"/>
          </a:p>
        </p:txBody>
      </p:sp>
      <p:sp>
        <p:nvSpPr>
          <p:cNvPr id="9" name="Shape 7"/>
          <p:cNvSpPr/>
          <p:nvPr/>
        </p:nvSpPr>
        <p:spPr>
          <a:xfrm>
            <a:off x="4389120" y="3520440"/>
            <a:ext cx="3246120" cy="0"/>
          </a:xfrm>
          <a:prstGeom prst="line">
            <a:avLst/>
          </a:prstGeom>
          <a:noFill/>
          <a:ln w="15875">
            <a:solidFill>
              <a:srgbClr val="10202E"/>
            </a:solidFill>
            <a:prstDash val="solid"/>
          </a:ln>
        </p:spPr>
      </p:sp>
      <p:sp>
        <p:nvSpPr>
          <p:cNvPr id="10" name="Text 8"/>
          <p:cNvSpPr/>
          <p:nvPr/>
        </p:nvSpPr>
        <p:spPr>
          <a:xfrm>
            <a:off x="4389120" y="3703320"/>
            <a:ext cx="3246120" cy="2286000"/>
          </a:xfrm>
          <a:prstGeom prst="rect">
            <a:avLst/>
          </a:prstGeom>
          <a:noFill/>
          <a:ln/>
        </p:spPr>
        <p:txBody>
          <a:bodyPr wrap="square" lIns="0" tIns="0" rIns="0" bIns="0" rtlCol="0" anchor="t"/>
          <a:lstStyle/>
          <a:p>
            <a:pPr indent="0" marL="0">
              <a:lnSpc>
                <a:spcPct val="130000"/>
              </a:lnSpc>
              <a:buNone/>
            </a:pPr>
            <a:r>
              <a:rPr lang="en-US" sz="1150" dirty="0">
                <a:solidFill>
                  <a:srgbClr val="5B6B7B"/>
                </a:solidFill>
                <a:latin typeface="Arial" pitchFamily="34" charset="0"/>
                <a:ea typeface="Arial" pitchFamily="34" charset="-122"/>
                <a:cs typeface="Arial" pitchFamily="34" charset="-120"/>
              </a:rPr>
              <a:t>IIT Bombay gave me the engineering foundation. Cornell Johnson sharpened the operating lens. Founding an AI-native company taught me what shipping actually feels like. The combination is what's needed to build a credible apprenticeship.</a:t>
            </a:r>
            <a:endParaRPr lang="en-US" sz="1150" dirty="0"/>
          </a:p>
        </p:txBody>
      </p:sp>
      <p:sp>
        <p:nvSpPr>
          <p:cNvPr id="11" name="Text 9"/>
          <p:cNvSpPr/>
          <p:nvPr/>
        </p:nvSpPr>
        <p:spPr>
          <a:xfrm>
            <a:off x="8046720" y="3154680"/>
            <a:ext cx="3108960" cy="274320"/>
          </a:xfrm>
          <a:prstGeom prst="rect">
            <a:avLst/>
          </a:prstGeom>
          <a:noFill/>
          <a:ln/>
        </p:spPr>
        <p:txBody>
          <a:bodyPr wrap="square" lIns="0" tIns="0" rIns="0" bIns="0" rtlCol="0" anchor="ctr"/>
          <a:lstStyle/>
          <a:p>
            <a:pPr indent="0" marL="0">
              <a:buNone/>
            </a:pPr>
            <a:r>
              <a:rPr lang="en-US" sz="1200" b="1" spc="300" kern="0" dirty="0">
                <a:solidFill>
                  <a:srgbClr val="0A8F77"/>
                </a:solidFill>
                <a:latin typeface="Arial" pitchFamily="34" charset="0"/>
                <a:ea typeface="Arial" pitchFamily="34" charset="-122"/>
                <a:cs typeface="Arial" pitchFamily="34" charset="-120"/>
              </a:rPr>
              <a:t>WHY NOW</a:t>
            </a:r>
            <a:endParaRPr lang="en-US" sz="1200" dirty="0"/>
          </a:p>
        </p:txBody>
      </p:sp>
      <p:sp>
        <p:nvSpPr>
          <p:cNvPr id="12" name="Shape 10"/>
          <p:cNvSpPr/>
          <p:nvPr/>
        </p:nvSpPr>
        <p:spPr>
          <a:xfrm>
            <a:off x="8046720" y="3520440"/>
            <a:ext cx="3246120" cy="0"/>
          </a:xfrm>
          <a:prstGeom prst="line">
            <a:avLst/>
          </a:prstGeom>
          <a:noFill/>
          <a:ln w="15875">
            <a:solidFill>
              <a:srgbClr val="10202E"/>
            </a:solidFill>
            <a:prstDash val="solid"/>
          </a:ln>
        </p:spPr>
      </p:sp>
      <p:sp>
        <p:nvSpPr>
          <p:cNvPr id="13" name="Text 11"/>
          <p:cNvSpPr/>
          <p:nvPr/>
        </p:nvSpPr>
        <p:spPr>
          <a:xfrm>
            <a:off x="8046720" y="3703320"/>
            <a:ext cx="3246120" cy="2286000"/>
          </a:xfrm>
          <a:prstGeom prst="rect">
            <a:avLst/>
          </a:prstGeom>
          <a:noFill/>
          <a:ln/>
        </p:spPr>
        <p:txBody>
          <a:bodyPr wrap="square" lIns="0" tIns="0" rIns="0" bIns="0" rtlCol="0" anchor="t"/>
          <a:lstStyle/>
          <a:p>
            <a:pPr indent="0" marL="0">
              <a:lnSpc>
                <a:spcPct val="130000"/>
              </a:lnSpc>
              <a:buNone/>
            </a:pPr>
            <a:r>
              <a:rPr lang="en-US" sz="1150" dirty="0">
                <a:solidFill>
                  <a:srgbClr val="5B6B7B"/>
                </a:solidFill>
                <a:latin typeface="Arial" pitchFamily="34" charset="0"/>
                <a:ea typeface="Arial" pitchFamily="34" charset="-122"/>
                <a:cs typeface="Arial" pitchFamily="34" charset="-120"/>
              </a:rPr>
              <a:t>AI-assisted engineering is no longer a 5-year horizon. It is the workflow. The colleges that integrate it over the next 18 months will define their placement decade. The ones that wait will spend five years catching up.</a:t>
            </a:r>
            <a:endParaRPr lang="en-US" sz="1150" dirty="0"/>
          </a:p>
        </p:txBody>
      </p:sp>
      <p:sp>
        <p:nvSpPr>
          <p:cNvPr id="14" name="Shape 12"/>
          <p:cNvSpPr/>
          <p:nvPr/>
        </p:nvSpPr>
        <p:spPr>
          <a:xfrm>
            <a:off x="640080" y="6327648"/>
            <a:ext cx="10911535" cy="0"/>
          </a:xfrm>
          <a:prstGeom prst="line">
            <a:avLst/>
          </a:prstGeom>
          <a:noFill/>
          <a:ln w="12700">
            <a:solidFill>
              <a:srgbClr val="CDD7DF"/>
            </a:solidFill>
            <a:prstDash val="solid"/>
          </a:ln>
        </p:spPr>
      </p:sp>
      <p:sp>
        <p:nvSpPr>
          <p:cNvPr id="15" name="Text 13"/>
          <p:cNvSpPr/>
          <p:nvPr/>
        </p:nvSpPr>
        <p:spPr>
          <a:xfrm>
            <a:off x="640080" y="6400800"/>
            <a:ext cx="6400800" cy="274320"/>
          </a:xfrm>
          <a:prstGeom prst="rect">
            <a:avLst/>
          </a:prstGeom>
          <a:noFill/>
          <a:ln/>
        </p:spPr>
        <p:txBody>
          <a:bodyPr wrap="square" lIns="0" tIns="0" rIns="0" bIns="0" rtlCol="0" anchor="ctr"/>
          <a:lstStyle/>
          <a:p>
            <a:pPr indent="0" marL="0">
              <a:buNone/>
            </a:pPr>
            <a:r>
              <a:rPr lang="en-US" sz="1000" b="1" spc="200" kern="0" dirty="0">
                <a:solidFill>
                  <a:srgbClr val="5B6B7B"/>
                </a:solidFill>
                <a:latin typeface="Arial" pitchFamily="34" charset="0"/>
                <a:ea typeface="Arial" pitchFamily="34" charset="-122"/>
                <a:cs typeface="Arial" pitchFamily="34" charset="-120"/>
              </a:rPr>
              <a:t>BuildAI  /  Why I'm Building This</a:t>
            </a:r>
            <a:endParaRPr lang="en-US" sz="1000" dirty="0"/>
          </a:p>
        </p:txBody>
      </p:sp>
      <p:sp>
        <p:nvSpPr>
          <p:cNvPr id="16" name="Shape 14"/>
          <p:cNvSpPr/>
          <p:nvPr/>
        </p:nvSpPr>
        <p:spPr>
          <a:xfrm>
            <a:off x="10725912" y="6391656"/>
            <a:ext cx="822960" cy="310896"/>
          </a:xfrm>
          <a:prstGeom prst="rect">
            <a:avLst/>
          </a:prstGeom>
          <a:solidFill>
            <a:srgbClr val="0A2540"/>
          </a:solidFill>
          <a:ln/>
        </p:spPr>
      </p:sp>
      <p:sp>
        <p:nvSpPr>
          <p:cNvPr id="17" name="Text 15"/>
          <p:cNvSpPr/>
          <p:nvPr/>
        </p:nvSpPr>
        <p:spPr>
          <a:xfrm>
            <a:off x="10725912" y="6391656"/>
            <a:ext cx="8229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18 / 21</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8229600" cy="292608"/>
          </a:xfrm>
          <a:prstGeom prst="rect">
            <a:avLst/>
          </a:prstGeom>
          <a:noFill/>
          <a:ln/>
        </p:spPr>
        <p:txBody>
          <a:bodyPr wrap="square" lIns="0" tIns="0" rIns="0" bIns="0" rtlCol="0" anchor="ctr"/>
          <a:lstStyle/>
          <a:p>
            <a:pPr indent="0" marL="0">
              <a:buNone/>
            </a:pPr>
            <a:r>
              <a:rPr lang="en-US" sz="1100" b="1" spc="300" kern="0" dirty="0">
                <a:solidFill>
                  <a:srgbClr val="0A8F77"/>
                </a:solidFill>
                <a:latin typeface="Arial" pitchFamily="34" charset="0"/>
                <a:ea typeface="Arial" pitchFamily="34" charset="-122"/>
                <a:cs typeface="Arial" pitchFamily="34" charset="-120"/>
              </a:rPr>
              <a:t>19 / 21</a:t>
            </a:r>
            <a:pPr indent="0" marL="0">
              <a:buNone/>
            </a:pPr>
            <a:r>
              <a:rPr lang="en-US" sz="1100" b="1" spc="300" kern="0" dirty="0">
                <a:solidFill>
                  <a:srgbClr val="5B6B7B"/>
                </a:solidFill>
                <a:latin typeface="Arial" pitchFamily="34" charset="0"/>
                <a:ea typeface="Arial" pitchFamily="34" charset="-122"/>
                <a:cs typeface="Arial" pitchFamily="34" charset="-120"/>
              </a:rPr>
              <a:t>   FOUNDING TEAM</a:t>
            </a:r>
            <a:endParaRPr lang="en-US" sz="1100" dirty="0"/>
          </a:p>
        </p:txBody>
      </p:sp>
      <p:sp>
        <p:nvSpPr>
          <p:cNvPr id="3" name="Text 1"/>
          <p:cNvSpPr/>
          <p:nvPr/>
        </p:nvSpPr>
        <p:spPr>
          <a:xfrm>
            <a:off x="621792" y="841248"/>
            <a:ext cx="6858000" cy="1371600"/>
          </a:xfrm>
          <a:prstGeom prst="rect">
            <a:avLst/>
          </a:prstGeom>
          <a:noFill/>
          <a:ln/>
        </p:spPr>
        <p:txBody>
          <a:bodyPr wrap="square" lIns="0" tIns="0" rIns="0" bIns="0" rtlCol="0" anchor="ctr"/>
          <a:lstStyle/>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Built by a founder who has</a:t>
            </a:r>
            <a:endParaRPr lang="en-US" sz="3300" dirty="0"/>
          </a:p>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lived this gap.</a:t>
            </a:r>
            <a:endParaRPr lang="en-US" sz="3300" dirty="0"/>
          </a:p>
        </p:txBody>
      </p:sp>
      <p:sp>
        <p:nvSpPr>
          <p:cNvPr id="4" name="Shape 2"/>
          <p:cNvSpPr/>
          <p:nvPr/>
        </p:nvSpPr>
        <p:spPr>
          <a:xfrm>
            <a:off x="640080" y="2651760"/>
            <a:ext cx="1463040" cy="1463040"/>
          </a:xfrm>
          <a:prstGeom prst="ellipse">
            <a:avLst/>
          </a:prstGeom>
          <a:solidFill>
            <a:srgbClr val="0A2540"/>
          </a:solidFill>
          <a:ln/>
        </p:spPr>
      </p:sp>
      <p:sp>
        <p:nvSpPr>
          <p:cNvPr id="5" name="Text 3"/>
          <p:cNvSpPr/>
          <p:nvPr/>
        </p:nvSpPr>
        <p:spPr>
          <a:xfrm>
            <a:off x="640080" y="2651760"/>
            <a:ext cx="1463040" cy="1463040"/>
          </a:xfrm>
          <a:prstGeom prst="rect">
            <a:avLst/>
          </a:prstGeom>
          <a:noFill/>
          <a:ln/>
        </p:spPr>
        <p:txBody>
          <a:bodyPr wrap="square" lIns="0" tIns="0" rIns="0" bIns="0" rtlCol="0" anchor="ctr"/>
          <a:lstStyle/>
          <a:p>
            <a:pPr algn="ctr" indent="0" marL="0">
              <a:buNone/>
            </a:pPr>
            <a:r>
              <a:rPr lang="en-US" sz="3000" b="1" dirty="0">
                <a:solidFill>
                  <a:srgbClr val="00D4AA"/>
                </a:solidFill>
                <a:latin typeface="Arial" pitchFamily="34" charset="0"/>
                <a:ea typeface="Arial" pitchFamily="34" charset="-122"/>
                <a:cs typeface="Arial" pitchFamily="34" charset="-120"/>
              </a:rPr>
              <a:t>SA</a:t>
            </a:r>
            <a:endParaRPr lang="en-US" sz="3000" dirty="0"/>
          </a:p>
        </p:txBody>
      </p:sp>
      <p:sp>
        <p:nvSpPr>
          <p:cNvPr id="6" name="Text 4"/>
          <p:cNvSpPr/>
          <p:nvPr/>
        </p:nvSpPr>
        <p:spPr>
          <a:xfrm>
            <a:off x="2468880" y="2697480"/>
            <a:ext cx="4572000" cy="457200"/>
          </a:xfrm>
          <a:prstGeom prst="rect">
            <a:avLst/>
          </a:prstGeom>
          <a:noFill/>
          <a:ln/>
        </p:spPr>
        <p:txBody>
          <a:bodyPr wrap="square" lIns="0" tIns="0" rIns="0" bIns="0" rtlCol="0" anchor="ctr"/>
          <a:lstStyle/>
          <a:p>
            <a:pPr indent="0" marL="0">
              <a:buNone/>
            </a:pPr>
            <a:r>
              <a:rPr lang="en-US" sz="2600" b="1" dirty="0">
                <a:solidFill>
                  <a:srgbClr val="10202E"/>
                </a:solidFill>
                <a:latin typeface="Arial" pitchFamily="34" charset="0"/>
                <a:ea typeface="Arial" pitchFamily="34" charset="-122"/>
                <a:cs typeface="Arial" pitchFamily="34" charset="-120"/>
              </a:rPr>
              <a:t>Sharad Agrawal</a:t>
            </a:r>
            <a:endParaRPr lang="en-US" sz="2600" dirty="0"/>
          </a:p>
        </p:txBody>
      </p:sp>
      <p:sp>
        <p:nvSpPr>
          <p:cNvPr id="7" name="Text 5"/>
          <p:cNvSpPr/>
          <p:nvPr/>
        </p:nvSpPr>
        <p:spPr>
          <a:xfrm>
            <a:off x="2468880" y="3218688"/>
            <a:ext cx="4572000" cy="274320"/>
          </a:xfrm>
          <a:prstGeom prst="rect">
            <a:avLst/>
          </a:prstGeom>
          <a:noFill/>
          <a:ln/>
        </p:spPr>
        <p:txBody>
          <a:bodyPr wrap="square" lIns="0" tIns="0" rIns="0" bIns="0" rtlCol="0" anchor="ctr"/>
          <a:lstStyle/>
          <a:p>
            <a:pPr indent="0" marL="0">
              <a:buNone/>
            </a:pPr>
            <a:r>
              <a:rPr lang="en-US" sz="1200" b="1" spc="300" kern="0" dirty="0">
                <a:solidFill>
                  <a:srgbClr val="0A8F77"/>
                </a:solidFill>
                <a:latin typeface="Arial" pitchFamily="34" charset="0"/>
                <a:ea typeface="Arial" pitchFamily="34" charset="-122"/>
                <a:cs typeface="Arial" pitchFamily="34" charset="-120"/>
              </a:rPr>
              <a:t>FOUNDER, BUILDAI</a:t>
            </a:r>
            <a:endParaRPr lang="en-US" sz="1200" dirty="0"/>
          </a:p>
        </p:txBody>
      </p:sp>
      <p:sp>
        <p:nvSpPr>
          <p:cNvPr id="8" name="Text 6"/>
          <p:cNvSpPr/>
          <p:nvPr/>
        </p:nvSpPr>
        <p:spPr>
          <a:xfrm>
            <a:off x="2468880" y="3886200"/>
            <a:ext cx="5212080" cy="320040"/>
          </a:xfrm>
          <a:prstGeom prst="rect">
            <a:avLst/>
          </a:prstGeom>
          <a:noFill/>
          <a:ln/>
        </p:spPr>
        <p:txBody>
          <a:bodyPr wrap="square" lIns="0" tIns="0" rIns="0" bIns="0" rtlCol="0" anchor="ctr"/>
          <a:lstStyle/>
          <a:p>
            <a:pPr indent="0" marL="0">
              <a:buNone/>
            </a:pPr>
            <a:r>
              <a:rPr lang="en-US" sz="1300" b="1" dirty="0">
                <a:solidFill>
                  <a:srgbClr val="10202E"/>
                </a:solidFill>
                <a:latin typeface="Arial" pitchFamily="34" charset="0"/>
                <a:ea typeface="Arial" pitchFamily="34" charset="-122"/>
                <a:cs typeface="Arial" pitchFamily="34" charset="-120"/>
              </a:rPr>
              <a:t>IIT Bombay   </a:t>
            </a:r>
            <a:pPr indent="0" marL="0">
              <a:buNone/>
            </a:pPr>
            <a:r>
              <a:rPr lang="en-US" sz="1300" dirty="0">
                <a:solidFill>
                  <a:srgbClr val="5B6B7B"/>
                </a:solidFill>
                <a:latin typeface="Arial" pitchFamily="34" charset="0"/>
                <a:ea typeface="Arial" pitchFamily="34" charset="-122"/>
                <a:cs typeface="Arial" pitchFamily="34" charset="-120"/>
              </a:rPr>
              <a:t>Masters, 2018</a:t>
            </a:r>
            <a:endParaRPr lang="en-US" sz="1300" dirty="0"/>
          </a:p>
        </p:txBody>
      </p:sp>
      <p:sp>
        <p:nvSpPr>
          <p:cNvPr id="9" name="Text 7"/>
          <p:cNvSpPr/>
          <p:nvPr/>
        </p:nvSpPr>
        <p:spPr>
          <a:xfrm>
            <a:off x="2468880" y="4306824"/>
            <a:ext cx="5212080" cy="320040"/>
          </a:xfrm>
          <a:prstGeom prst="rect">
            <a:avLst/>
          </a:prstGeom>
          <a:noFill/>
          <a:ln/>
        </p:spPr>
        <p:txBody>
          <a:bodyPr wrap="square" lIns="0" tIns="0" rIns="0" bIns="0" rtlCol="0" anchor="ctr"/>
          <a:lstStyle/>
          <a:p>
            <a:pPr indent="0" marL="0">
              <a:buNone/>
            </a:pPr>
            <a:r>
              <a:rPr lang="en-US" sz="1300" b="1" dirty="0">
                <a:solidFill>
                  <a:srgbClr val="10202E"/>
                </a:solidFill>
                <a:latin typeface="Arial" pitchFamily="34" charset="0"/>
                <a:ea typeface="Arial" pitchFamily="34" charset="-122"/>
                <a:cs typeface="Arial" pitchFamily="34" charset="-120"/>
              </a:rPr>
              <a:t>Cornell Johnson   </a:t>
            </a:r>
            <a:pPr indent="0" marL="0">
              <a:buNone/>
            </a:pPr>
            <a:r>
              <a:rPr lang="en-US" sz="1300" dirty="0">
                <a:solidFill>
                  <a:srgbClr val="5B6B7B"/>
                </a:solidFill>
                <a:latin typeface="Arial" pitchFamily="34" charset="0"/>
                <a:ea typeface="Arial" pitchFamily="34" charset="-122"/>
                <a:cs typeface="Arial" pitchFamily="34" charset="-120"/>
              </a:rPr>
              <a:t>MBA, 2024</a:t>
            </a:r>
            <a:endParaRPr lang="en-US" sz="1300" dirty="0"/>
          </a:p>
        </p:txBody>
      </p:sp>
      <p:sp>
        <p:nvSpPr>
          <p:cNvPr id="10" name="Text 8"/>
          <p:cNvSpPr/>
          <p:nvPr/>
        </p:nvSpPr>
        <p:spPr>
          <a:xfrm>
            <a:off x="2468880" y="4727448"/>
            <a:ext cx="5212080" cy="320040"/>
          </a:xfrm>
          <a:prstGeom prst="rect">
            <a:avLst/>
          </a:prstGeom>
          <a:noFill/>
          <a:ln/>
        </p:spPr>
        <p:txBody>
          <a:bodyPr wrap="square" lIns="0" tIns="0" rIns="0" bIns="0" rtlCol="0" anchor="ctr"/>
          <a:lstStyle/>
          <a:p>
            <a:pPr indent="0" marL="0">
              <a:buNone/>
            </a:pPr>
            <a:r>
              <a:rPr lang="en-US" sz="1300" b="1" dirty="0">
                <a:solidFill>
                  <a:srgbClr val="10202E"/>
                </a:solidFill>
                <a:latin typeface="Arial" pitchFamily="34" charset="0"/>
                <a:ea typeface="Arial" pitchFamily="34" charset="-122"/>
                <a:cs typeface="Arial" pitchFamily="34" charset="-120"/>
              </a:rPr>
              <a:t>Currently   </a:t>
            </a:r>
            <a:pPr indent="0" marL="0">
              <a:buNone/>
            </a:pPr>
            <a:r>
              <a:rPr lang="en-US" sz="1300" dirty="0">
                <a:solidFill>
                  <a:srgbClr val="5B6B7B"/>
                </a:solidFill>
                <a:latin typeface="Arial" pitchFamily="34" charset="0"/>
                <a:ea typeface="Arial" pitchFamily="34" charset="-122"/>
                <a:cs typeface="Arial" pitchFamily="34" charset="-120"/>
              </a:rPr>
              <a:t>Founder of an AI-native company in the US</a:t>
            </a:r>
            <a:endParaRPr lang="en-US" sz="1300" dirty="0"/>
          </a:p>
        </p:txBody>
      </p:sp>
      <p:sp>
        <p:nvSpPr>
          <p:cNvPr id="11" name="Text 9"/>
          <p:cNvSpPr/>
          <p:nvPr/>
        </p:nvSpPr>
        <p:spPr>
          <a:xfrm>
            <a:off x="2468880" y="5148072"/>
            <a:ext cx="5212080" cy="320040"/>
          </a:xfrm>
          <a:prstGeom prst="rect">
            <a:avLst/>
          </a:prstGeom>
          <a:noFill/>
          <a:ln/>
        </p:spPr>
        <p:txBody>
          <a:bodyPr wrap="square" lIns="0" tIns="0" rIns="0" bIns="0" rtlCol="0" anchor="ctr"/>
          <a:lstStyle/>
          <a:p>
            <a:pPr indent="0" marL="0">
              <a:buNone/>
            </a:pPr>
            <a:r>
              <a:rPr lang="en-US" sz="1300" b="1" dirty="0">
                <a:solidFill>
                  <a:srgbClr val="10202E"/>
                </a:solidFill>
                <a:latin typeface="Arial" pitchFamily="34" charset="0"/>
                <a:ea typeface="Arial" pitchFamily="34" charset="-122"/>
                <a:cs typeface="Arial" pitchFamily="34" charset="-120"/>
              </a:rPr>
              <a:t>Based in   </a:t>
            </a:r>
            <a:pPr indent="0" marL="0">
              <a:buNone/>
            </a:pPr>
            <a:r>
              <a:rPr lang="en-US" sz="1300" dirty="0">
                <a:solidFill>
                  <a:srgbClr val="5B6B7B"/>
                </a:solidFill>
                <a:latin typeface="Arial" pitchFamily="34" charset="0"/>
                <a:ea typeface="Arial" pitchFamily="34" charset="-122"/>
                <a:cs typeface="Arial" pitchFamily="34" charset="-120"/>
              </a:rPr>
              <a:t>US · India ops led by co-founder (recruitment in progress)</a:t>
            </a:r>
            <a:endParaRPr lang="en-US" sz="1300" dirty="0"/>
          </a:p>
        </p:txBody>
      </p:sp>
      <p:sp>
        <p:nvSpPr>
          <p:cNvPr id="12" name="Shape 10"/>
          <p:cNvSpPr/>
          <p:nvPr/>
        </p:nvSpPr>
        <p:spPr>
          <a:xfrm>
            <a:off x="7818120" y="0"/>
            <a:ext cx="4370832" cy="6858000"/>
          </a:xfrm>
          <a:prstGeom prst="rect">
            <a:avLst/>
          </a:prstGeom>
          <a:solidFill>
            <a:srgbClr val="0A2540"/>
          </a:solidFill>
          <a:ln/>
        </p:spPr>
      </p:sp>
      <p:sp>
        <p:nvSpPr>
          <p:cNvPr id="13" name="Text 11"/>
          <p:cNvSpPr/>
          <p:nvPr/>
        </p:nvSpPr>
        <p:spPr>
          <a:xfrm>
            <a:off x="8275320" y="2194560"/>
            <a:ext cx="3474720" cy="1645920"/>
          </a:xfrm>
          <a:prstGeom prst="rect">
            <a:avLst/>
          </a:prstGeom>
          <a:noFill/>
          <a:ln/>
        </p:spPr>
        <p:txBody>
          <a:bodyPr wrap="square" lIns="0" tIns="0" rIns="0" bIns="0" rtlCol="0" anchor="ctr"/>
          <a:lstStyle/>
          <a:p>
            <a:pPr indent="0" marL="0">
              <a:lnSpc>
                <a:spcPct val="130000"/>
              </a:lnSpc>
              <a:buNone/>
            </a:pPr>
            <a:r>
              <a:rPr lang="en-US" sz="1900" i="1" dirty="0">
                <a:solidFill>
                  <a:srgbClr val="FFFFFF"/>
                </a:solidFill>
                <a:latin typeface="Arial" pitchFamily="34" charset="0"/>
                <a:ea typeface="Arial" pitchFamily="34" charset="-122"/>
                <a:cs typeface="Arial" pitchFamily="34" charset="-120"/>
              </a:rPr>
              <a:t>“The single most important hire of the next 18 months is the India co-founder.”</a:t>
            </a:r>
            <a:endParaRPr lang="en-US" sz="1900" dirty="0"/>
          </a:p>
        </p:txBody>
      </p:sp>
      <p:sp>
        <p:nvSpPr>
          <p:cNvPr id="14" name="Shape 12"/>
          <p:cNvSpPr/>
          <p:nvPr/>
        </p:nvSpPr>
        <p:spPr>
          <a:xfrm>
            <a:off x="8275320" y="4206240"/>
            <a:ext cx="502920" cy="45720"/>
          </a:xfrm>
          <a:prstGeom prst="rect">
            <a:avLst/>
          </a:prstGeom>
          <a:solidFill>
            <a:srgbClr val="00D4AA"/>
          </a:solidFill>
          <a:ln/>
        </p:spPr>
      </p:sp>
      <p:sp>
        <p:nvSpPr>
          <p:cNvPr id="15" name="Text 13"/>
          <p:cNvSpPr/>
          <p:nvPr/>
        </p:nvSpPr>
        <p:spPr>
          <a:xfrm>
            <a:off x="8275320" y="4370832"/>
            <a:ext cx="3291840" cy="274320"/>
          </a:xfrm>
          <a:prstGeom prst="rect">
            <a:avLst/>
          </a:prstGeom>
          <a:noFill/>
          <a:ln/>
        </p:spPr>
        <p:txBody>
          <a:bodyPr wrap="square" lIns="0" tIns="0" rIns="0" bIns="0" rtlCol="0" anchor="ctr"/>
          <a:lstStyle/>
          <a:p>
            <a:pPr indent="0" marL="0">
              <a:buNone/>
            </a:pPr>
            <a:r>
              <a:rPr lang="en-US" sz="1050" b="1" spc="250" kern="0" dirty="0">
                <a:solidFill>
                  <a:srgbClr val="00D4AA"/>
                </a:solidFill>
                <a:latin typeface="Arial" pitchFamily="34" charset="0"/>
                <a:ea typeface="Arial" pitchFamily="34" charset="-122"/>
                <a:cs typeface="Arial" pitchFamily="34" charset="-120"/>
              </a:rPr>
              <a:t>—  SHARAD AGRAWAL, FOUNDER</a:t>
            </a:r>
            <a:endParaRPr lang="en-US" sz="1050" dirty="0"/>
          </a:p>
        </p:txBody>
      </p:sp>
      <p:sp>
        <p:nvSpPr>
          <p:cNvPr id="16" name="Shape 14"/>
          <p:cNvSpPr/>
          <p:nvPr/>
        </p:nvSpPr>
        <p:spPr>
          <a:xfrm>
            <a:off x="640080" y="6327648"/>
            <a:ext cx="6949440" cy="0"/>
          </a:xfrm>
          <a:prstGeom prst="line">
            <a:avLst/>
          </a:prstGeom>
          <a:noFill/>
          <a:ln w="12700">
            <a:solidFill>
              <a:srgbClr val="CDD7DF"/>
            </a:solidFill>
            <a:prstDash val="solid"/>
          </a:ln>
        </p:spPr>
      </p:sp>
      <p:sp>
        <p:nvSpPr>
          <p:cNvPr id="17" name="Text 15"/>
          <p:cNvSpPr/>
          <p:nvPr/>
        </p:nvSpPr>
        <p:spPr>
          <a:xfrm>
            <a:off x="640080" y="6400800"/>
            <a:ext cx="6400800" cy="274320"/>
          </a:xfrm>
          <a:prstGeom prst="rect">
            <a:avLst/>
          </a:prstGeom>
          <a:noFill/>
          <a:ln/>
        </p:spPr>
        <p:txBody>
          <a:bodyPr wrap="square" lIns="0" tIns="0" rIns="0" bIns="0" rtlCol="0" anchor="ctr"/>
          <a:lstStyle/>
          <a:p>
            <a:pPr indent="0" marL="0">
              <a:buNone/>
            </a:pPr>
            <a:r>
              <a:rPr lang="en-US" sz="1000" b="1" spc="200" kern="0" dirty="0">
                <a:solidFill>
                  <a:srgbClr val="5B6B7B"/>
                </a:solidFill>
                <a:latin typeface="Arial" pitchFamily="34" charset="0"/>
                <a:ea typeface="Arial" pitchFamily="34" charset="-122"/>
                <a:cs typeface="Arial" pitchFamily="34" charset="-120"/>
              </a:rPr>
              <a:t>BuildAI  /  Founding Team</a:t>
            </a:r>
            <a:endParaRPr lang="en-US" sz="1000" dirty="0"/>
          </a:p>
        </p:txBody>
      </p:sp>
      <p:sp>
        <p:nvSpPr>
          <p:cNvPr id="18" name="Shape 16"/>
          <p:cNvSpPr/>
          <p:nvPr/>
        </p:nvSpPr>
        <p:spPr>
          <a:xfrm>
            <a:off x="10725912" y="6391656"/>
            <a:ext cx="822960" cy="310896"/>
          </a:xfrm>
          <a:prstGeom prst="rect">
            <a:avLst/>
          </a:prstGeom>
          <a:solidFill>
            <a:srgbClr val="00D4AA"/>
          </a:solidFill>
          <a:ln/>
        </p:spPr>
      </p:sp>
      <p:sp>
        <p:nvSpPr>
          <p:cNvPr id="19" name="Text 17"/>
          <p:cNvSpPr/>
          <p:nvPr/>
        </p:nvSpPr>
        <p:spPr>
          <a:xfrm>
            <a:off x="10725912" y="6391656"/>
            <a:ext cx="822960" cy="310896"/>
          </a:xfrm>
          <a:prstGeom prst="rect">
            <a:avLst/>
          </a:prstGeom>
          <a:noFill/>
          <a:ln/>
        </p:spPr>
        <p:txBody>
          <a:bodyPr wrap="square" lIns="0" tIns="0" rIns="0" bIns="0" rtlCol="0" anchor="ctr"/>
          <a:lstStyle/>
          <a:p>
            <a:pPr algn="ctr" indent="0" marL="0">
              <a:buNone/>
            </a:pPr>
            <a:r>
              <a:rPr lang="en-US" sz="1000" b="1" dirty="0">
                <a:solidFill>
                  <a:srgbClr val="0A2540"/>
                </a:solidFill>
                <a:latin typeface="Arial" pitchFamily="34" charset="0"/>
                <a:ea typeface="Arial" pitchFamily="34" charset="-122"/>
                <a:cs typeface="Arial" pitchFamily="34" charset="-120"/>
              </a:rPr>
              <a:t>19 / 21</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966960" y="0"/>
            <a:ext cx="2221992" cy="502920"/>
          </a:xfrm>
          <a:prstGeom prst="rect">
            <a:avLst/>
          </a:prstGeom>
          <a:solidFill>
            <a:srgbClr val="00D4AA"/>
          </a:solidFill>
          <a:ln/>
        </p:spPr>
      </p:sp>
      <p:sp>
        <p:nvSpPr>
          <p:cNvPr id="3" name="Text 1"/>
          <p:cNvSpPr/>
          <p:nvPr/>
        </p:nvSpPr>
        <p:spPr>
          <a:xfrm>
            <a:off x="640080" y="347472"/>
            <a:ext cx="8229600" cy="292608"/>
          </a:xfrm>
          <a:prstGeom prst="rect">
            <a:avLst/>
          </a:prstGeom>
          <a:noFill/>
          <a:ln/>
        </p:spPr>
        <p:txBody>
          <a:bodyPr wrap="square" lIns="0" tIns="0" rIns="0" bIns="0" rtlCol="0" anchor="ctr"/>
          <a:lstStyle/>
          <a:p>
            <a:pPr indent="0" marL="0">
              <a:buNone/>
            </a:pPr>
            <a:r>
              <a:rPr lang="en-US" sz="1100" b="1" spc="300" kern="0" dirty="0">
                <a:solidFill>
                  <a:srgbClr val="0A8F77"/>
                </a:solidFill>
                <a:latin typeface="Arial" pitchFamily="34" charset="0"/>
                <a:ea typeface="Arial" pitchFamily="34" charset="-122"/>
                <a:cs typeface="Arial" pitchFamily="34" charset="-120"/>
              </a:rPr>
              <a:t>20 / 21</a:t>
            </a:r>
            <a:pPr indent="0" marL="0">
              <a:buNone/>
            </a:pPr>
            <a:r>
              <a:rPr lang="en-US" sz="1100" b="1" spc="300" kern="0" dirty="0">
                <a:solidFill>
                  <a:srgbClr val="5B6B7B"/>
                </a:solidFill>
                <a:latin typeface="Arial" pitchFamily="34" charset="0"/>
                <a:ea typeface="Arial" pitchFamily="34" charset="-122"/>
                <a:cs typeface="Arial" pitchFamily="34" charset="-120"/>
              </a:rPr>
              <a:t>   NEXT STEPS</a:t>
            </a:r>
            <a:endParaRPr lang="en-US" sz="1100" dirty="0"/>
          </a:p>
        </p:txBody>
      </p:sp>
      <p:sp>
        <p:nvSpPr>
          <p:cNvPr id="4" name="Text 2"/>
          <p:cNvSpPr/>
          <p:nvPr/>
        </p:nvSpPr>
        <p:spPr>
          <a:xfrm>
            <a:off x="621792" y="841248"/>
            <a:ext cx="10241280" cy="640080"/>
          </a:xfrm>
          <a:prstGeom prst="rect">
            <a:avLst/>
          </a:prstGeom>
          <a:noFill/>
          <a:ln/>
        </p:spPr>
        <p:txBody>
          <a:bodyPr wrap="square" lIns="0" tIns="0" rIns="0" bIns="0" rtlCol="0" anchor="ctr"/>
          <a:lstStyle/>
          <a:p>
            <a:pPr indent="0" marL="0">
              <a:lnSpc>
                <a:spcPct val="108000"/>
              </a:lnSpc>
              <a:buNone/>
            </a:pPr>
            <a:r>
              <a:rPr lang="en-US" sz="3300" b="1" dirty="0">
                <a:solidFill>
                  <a:srgbClr val="10202E"/>
                </a:solidFill>
                <a:latin typeface="Arial" pitchFamily="34" charset="0"/>
                <a:ea typeface="Arial" pitchFamily="34" charset="-122"/>
                <a:cs typeface="Arial" pitchFamily="34" charset="-120"/>
              </a:rPr>
              <a:t>The pilot partnership process.</a:t>
            </a:r>
            <a:endParaRPr lang="en-US" sz="3300" dirty="0"/>
          </a:p>
        </p:txBody>
      </p:sp>
      <p:sp>
        <p:nvSpPr>
          <p:cNvPr id="5" name="Shape 3"/>
          <p:cNvSpPr/>
          <p:nvPr/>
        </p:nvSpPr>
        <p:spPr>
          <a:xfrm>
            <a:off x="640080" y="2194560"/>
            <a:ext cx="2606040" cy="566928"/>
          </a:xfrm>
          <a:prstGeom prst="rect">
            <a:avLst/>
          </a:prstGeom>
          <a:solidFill>
            <a:srgbClr val="0A2540"/>
          </a:solidFill>
          <a:ln/>
        </p:spPr>
      </p:sp>
      <p:sp>
        <p:nvSpPr>
          <p:cNvPr id="6" name="Text 4"/>
          <p:cNvSpPr/>
          <p:nvPr/>
        </p:nvSpPr>
        <p:spPr>
          <a:xfrm>
            <a:off x="640080" y="2194560"/>
            <a:ext cx="2606040" cy="566928"/>
          </a:xfrm>
          <a:prstGeom prst="rect">
            <a:avLst/>
          </a:prstGeom>
          <a:noFill/>
          <a:ln/>
        </p:spPr>
        <p:txBody>
          <a:bodyPr wrap="square" lIns="0" tIns="0" rIns="0" bIns="0" rtlCol="0" anchor="ctr"/>
          <a:lstStyle/>
          <a:p>
            <a:pPr algn="ctr" indent="0" marL="0">
              <a:buNone/>
            </a:pPr>
            <a:r>
              <a:rPr lang="en-US" sz="1600" b="1" dirty="0">
                <a:solidFill>
                  <a:srgbClr val="00D4AA"/>
                </a:solidFill>
                <a:latin typeface="Arial" pitchFamily="34" charset="0"/>
                <a:ea typeface="Arial" pitchFamily="34" charset="-122"/>
                <a:cs typeface="Arial" pitchFamily="34" charset="-120"/>
              </a:rPr>
              <a:t>01</a:t>
            </a:r>
            <a:endParaRPr lang="en-US" sz="1600" dirty="0"/>
          </a:p>
        </p:txBody>
      </p:sp>
      <p:sp>
        <p:nvSpPr>
          <p:cNvPr id="7" name="Shape 5"/>
          <p:cNvSpPr/>
          <p:nvPr/>
        </p:nvSpPr>
        <p:spPr>
          <a:xfrm>
            <a:off x="640080" y="2761488"/>
            <a:ext cx="2606040" cy="2176272"/>
          </a:xfrm>
          <a:prstGeom prst="rect">
            <a:avLst/>
          </a:prstGeom>
          <a:solidFill>
            <a:srgbClr val="F4F8FA"/>
          </a:solidFill>
          <a:ln w="12700">
            <a:solidFill>
              <a:srgbClr val="CDD7DF"/>
            </a:solidFill>
            <a:prstDash val="solid"/>
          </a:ln>
        </p:spPr>
      </p:sp>
      <p:sp>
        <p:nvSpPr>
          <p:cNvPr id="8" name="Text 6"/>
          <p:cNvSpPr/>
          <p:nvPr/>
        </p:nvSpPr>
        <p:spPr>
          <a:xfrm>
            <a:off x="868680" y="3063240"/>
            <a:ext cx="2148840" cy="548640"/>
          </a:xfrm>
          <a:prstGeom prst="rect">
            <a:avLst/>
          </a:prstGeom>
          <a:noFill/>
          <a:ln/>
        </p:spPr>
        <p:txBody>
          <a:bodyPr wrap="square" lIns="0" tIns="0" rIns="0" bIns="0" rtlCol="0" anchor="t"/>
          <a:lstStyle/>
          <a:p>
            <a:pPr indent="0" marL="0">
              <a:lnSpc>
                <a:spcPct val="110000"/>
              </a:lnSpc>
              <a:buNone/>
            </a:pPr>
            <a:r>
              <a:rPr lang="en-US" sz="1550" b="1" dirty="0">
                <a:solidFill>
                  <a:srgbClr val="10202E"/>
                </a:solidFill>
                <a:latin typeface="Arial" pitchFamily="34" charset="0"/>
                <a:ea typeface="Arial" pitchFamily="34" charset="-122"/>
                <a:cs typeface="Arial" pitchFamily="34" charset="-120"/>
              </a:rPr>
              <a:t>Internal alignment</a:t>
            </a:r>
            <a:endParaRPr lang="en-US" sz="1550" dirty="0"/>
          </a:p>
        </p:txBody>
      </p:sp>
      <p:sp>
        <p:nvSpPr>
          <p:cNvPr id="9" name="Text 7"/>
          <p:cNvSpPr/>
          <p:nvPr/>
        </p:nvSpPr>
        <p:spPr>
          <a:xfrm>
            <a:off x="868680" y="3794760"/>
            <a:ext cx="2148840" cy="914400"/>
          </a:xfrm>
          <a:prstGeom prst="rect">
            <a:avLst/>
          </a:prstGeom>
          <a:noFill/>
          <a:ln/>
        </p:spPr>
        <p:txBody>
          <a:bodyPr wrap="square" lIns="0" tIns="0" rIns="0" bIns="0" rtlCol="0" anchor="t"/>
          <a:lstStyle/>
          <a:p>
            <a:pPr indent="0" marL="0">
              <a:lnSpc>
                <a:spcPct val="125000"/>
              </a:lnSpc>
              <a:buNone/>
            </a:pPr>
            <a:r>
              <a:rPr lang="en-US" sz="1150" dirty="0">
                <a:solidFill>
                  <a:srgbClr val="5B6B7B"/>
                </a:solidFill>
                <a:latin typeface="Arial" pitchFamily="34" charset="0"/>
                <a:ea typeface="Arial" pitchFamily="34" charset="-122"/>
                <a:cs typeface="Arial" pitchFamily="34" charset="-120"/>
              </a:rPr>
              <a:t>Loop in TPO / HOD / Dean on the partnership structure.</a:t>
            </a:r>
            <a:endParaRPr lang="en-US" sz="1150" dirty="0"/>
          </a:p>
        </p:txBody>
      </p:sp>
      <p:sp>
        <p:nvSpPr>
          <p:cNvPr id="10" name="Shape 8"/>
          <p:cNvSpPr/>
          <p:nvPr/>
        </p:nvSpPr>
        <p:spPr>
          <a:xfrm>
            <a:off x="3410712" y="2194560"/>
            <a:ext cx="2606040" cy="566928"/>
          </a:xfrm>
          <a:prstGeom prst="rect">
            <a:avLst/>
          </a:prstGeom>
          <a:solidFill>
            <a:srgbClr val="0A2540"/>
          </a:solidFill>
          <a:ln/>
        </p:spPr>
      </p:sp>
      <p:sp>
        <p:nvSpPr>
          <p:cNvPr id="11" name="Text 9"/>
          <p:cNvSpPr/>
          <p:nvPr/>
        </p:nvSpPr>
        <p:spPr>
          <a:xfrm>
            <a:off x="3410712" y="2194560"/>
            <a:ext cx="2606040" cy="566928"/>
          </a:xfrm>
          <a:prstGeom prst="rect">
            <a:avLst/>
          </a:prstGeom>
          <a:noFill/>
          <a:ln/>
        </p:spPr>
        <p:txBody>
          <a:bodyPr wrap="square" lIns="0" tIns="0" rIns="0" bIns="0" rtlCol="0" anchor="ctr"/>
          <a:lstStyle/>
          <a:p>
            <a:pPr algn="ctr" indent="0" marL="0">
              <a:buNone/>
            </a:pPr>
            <a:r>
              <a:rPr lang="en-US" sz="1600" b="1" dirty="0">
                <a:solidFill>
                  <a:srgbClr val="00D4AA"/>
                </a:solidFill>
                <a:latin typeface="Arial" pitchFamily="34" charset="0"/>
                <a:ea typeface="Arial" pitchFamily="34" charset="-122"/>
                <a:cs typeface="Arial" pitchFamily="34" charset="-120"/>
              </a:rPr>
              <a:t>02</a:t>
            </a:r>
            <a:endParaRPr lang="en-US" sz="1600" dirty="0"/>
          </a:p>
        </p:txBody>
      </p:sp>
      <p:sp>
        <p:nvSpPr>
          <p:cNvPr id="12" name="Shape 10"/>
          <p:cNvSpPr/>
          <p:nvPr/>
        </p:nvSpPr>
        <p:spPr>
          <a:xfrm>
            <a:off x="3410712" y="2761488"/>
            <a:ext cx="2606040" cy="2176272"/>
          </a:xfrm>
          <a:prstGeom prst="rect">
            <a:avLst/>
          </a:prstGeom>
          <a:solidFill>
            <a:srgbClr val="F4F8FA"/>
          </a:solidFill>
          <a:ln w="12700">
            <a:solidFill>
              <a:srgbClr val="CDD7DF"/>
            </a:solidFill>
            <a:prstDash val="solid"/>
          </a:ln>
        </p:spPr>
      </p:sp>
      <p:sp>
        <p:nvSpPr>
          <p:cNvPr id="13" name="Text 11"/>
          <p:cNvSpPr/>
          <p:nvPr/>
        </p:nvSpPr>
        <p:spPr>
          <a:xfrm>
            <a:off x="3639312" y="3063240"/>
            <a:ext cx="2148840" cy="548640"/>
          </a:xfrm>
          <a:prstGeom prst="rect">
            <a:avLst/>
          </a:prstGeom>
          <a:noFill/>
          <a:ln/>
        </p:spPr>
        <p:txBody>
          <a:bodyPr wrap="square" lIns="0" tIns="0" rIns="0" bIns="0" rtlCol="0" anchor="t"/>
          <a:lstStyle/>
          <a:p>
            <a:pPr indent="0" marL="0">
              <a:lnSpc>
                <a:spcPct val="110000"/>
              </a:lnSpc>
              <a:buNone/>
            </a:pPr>
            <a:r>
              <a:rPr lang="en-US" sz="1550" b="1" dirty="0">
                <a:solidFill>
                  <a:srgbClr val="10202E"/>
                </a:solidFill>
                <a:latin typeface="Arial" pitchFamily="34" charset="0"/>
                <a:ea typeface="Arial" pitchFamily="34" charset="-122"/>
                <a:cs typeface="Arial" pitchFamily="34" charset="-120"/>
              </a:rPr>
              <a:t>Cohort window</a:t>
            </a:r>
            <a:endParaRPr lang="en-US" sz="1550" dirty="0"/>
          </a:p>
        </p:txBody>
      </p:sp>
      <p:sp>
        <p:nvSpPr>
          <p:cNvPr id="14" name="Text 12"/>
          <p:cNvSpPr/>
          <p:nvPr/>
        </p:nvSpPr>
        <p:spPr>
          <a:xfrm>
            <a:off x="3639312" y="3794760"/>
            <a:ext cx="2148840" cy="914400"/>
          </a:xfrm>
          <a:prstGeom prst="rect">
            <a:avLst/>
          </a:prstGeom>
          <a:noFill/>
          <a:ln/>
        </p:spPr>
        <p:txBody>
          <a:bodyPr wrap="square" lIns="0" tIns="0" rIns="0" bIns="0" rtlCol="0" anchor="t"/>
          <a:lstStyle/>
          <a:p>
            <a:pPr indent="0" marL="0">
              <a:lnSpc>
                <a:spcPct val="125000"/>
              </a:lnSpc>
              <a:buNone/>
            </a:pPr>
            <a:r>
              <a:rPr lang="en-US" sz="1150" dirty="0">
                <a:solidFill>
                  <a:srgbClr val="5B6B7B"/>
                </a:solidFill>
                <a:latin typeface="Arial" pitchFamily="34" charset="0"/>
                <a:ea typeface="Arial" pitchFamily="34" charset="-122"/>
                <a:cs typeface="Arial" pitchFamily="34" charset="-120"/>
              </a:rPr>
              <a:t>Pick the summer or winter slot that fits your academic calendar.</a:t>
            </a:r>
            <a:endParaRPr lang="en-US" sz="1150" dirty="0"/>
          </a:p>
        </p:txBody>
      </p:sp>
      <p:sp>
        <p:nvSpPr>
          <p:cNvPr id="15" name="Shape 13"/>
          <p:cNvSpPr/>
          <p:nvPr/>
        </p:nvSpPr>
        <p:spPr>
          <a:xfrm>
            <a:off x="6181344" y="2194560"/>
            <a:ext cx="2606040" cy="566928"/>
          </a:xfrm>
          <a:prstGeom prst="rect">
            <a:avLst/>
          </a:prstGeom>
          <a:solidFill>
            <a:srgbClr val="0A2540"/>
          </a:solidFill>
          <a:ln/>
        </p:spPr>
      </p:sp>
      <p:sp>
        <p:nvSpPr>
          <p:cNvPr id="16" name="Text 14"/>
          <p:cNvSpPr/>
          <p:nvPr/>
        </p:nvSpPr>
        <p:spPr>
          <a:xfrm>
            <a:off x="6181344" y="2194560"/>
            <a:ext cx="2606040" cy="566928"/>
          </a:xfrm>
          <a:prstGeom prst="rect">
            <a:avLst/>
          </a:prstGeom>
          <a:noFill/>
          <a:ln/>
        </p:spPr>
        <p:txBody>
          <a:bodyPr wrap="square" lIns="0" tIns="0" rIns="0" bIns="0" rtlCol="0" anchor="ctr"/>
          <a:lstStyle/>
          <a:p>
            <a:pPr algn="ctr" indent="0" marL="0">
              <a:buNone/>
            </a:pPr>
            <a:r>
              <a:rPr lang="en-US" sz="1600" b="1" dirty="0">
                <a:solidFill>
                  <a:srgbClr val="00D4AA"/>
                </a:solidFill>
                <a:latin typeface="Arial" pitchFamily="34" charset="0"/>
                <a:ea typeface="Arial" pitchFamily="34" charset="-122"/>
                <a:cs typeface="Arial" pitchFamily="34" charset="-120"/>
              </a:rPr>
              <a:t>03</a:t>
            </a:r>
            <a:endParaRPr lang="en-US" sz="1600" dirty="0"/>
          </a:p>
        </p:txBody>
      </p:sp>
      <p:sp>
        <p:nvSpPr>
          <p:cNvPr id="17" name="Shape 15"/>
          <p:cNvSpPr/>
          <p:nvPr/>
        </p:nvSpPr>
        <p:spPr>
          <a:xfrm>
            <a:off x="6181344" y="2761488"/>
            <a:ext cx="2606040" cy="2176272"/>
          </a:xfrm>
          <a:prstGeom prst="rect">
            <a:avLst/>
          </a:prstGeom>
          <a:solidFill>
            <a:srgbClr val="F4F8FA"/>
          </a:solidFill>
          <a:ln w="12700">
            <a:solidFill>
              <a:srgbClr val="CDD7DF"/>
            </a:solidFill>
            <a:prstDash val="solid"/>
          </a:ln>
        </p:spPr>
      </p:sp>
      <p:sp>
        <p:nvSpPr>
          <p:cNvPr id="18" name="Text 16"/>
          <p:cNvSpPr/>
          <p:nvPr/>
        </p:nvSpPr>
        <p:spPr>
          <a:xfrm>
            <a:off x="6409944" y="3063240"/>
            <a:ext cx="2148840" cy="548640"/>
          </a:xfrm>
          <a:prstGeom prst="rect">
            <a:avLst/>
          </a:prstGeom>
          <a:noFill/>
          <a:ln/>
        </p:spPr>
        <p:txBody>
          <a:bodyPr wrap="square" lIns="0" tIns="0" rIns="0" bIns="0" rtlCol="0" anchor="t"/>
          <a:lstStyle/>
          <a:p>
            <a:pPr indent="0" marL="0">
              <a:lnSpc>
                <a:spcPct val="110000"/>
              </a:lnSpc>
              <a:buNone/>
            </a:pPr>
            <a:r>
              <a:rPr lang="en-US" sz="1550" b="1" dirty="0">
                <a:solidFill>
                  <a:srgbClr val="10202E"/>
                </a:solidFill>
                <a:latin typeface="Arial" pitchFamily="34" charset="0"/>
                <a:ea typeface="Arial" pitchFamily="34" charset="-122"/>
                <a:cs typeface="Arial" pitchFamily="34" charset="-120"/>
              </a:rPr>
              <a:t>Pilot MOU</a:t>
            </a:r>
            <a:endParaRPr lang="en-US" sz="1550" dirty="0"/>
          </a:p>
        </p:txBody>
      </p:sp>
      <p:sp>
        <p:nvSpPr>
          <p:cNvPr id="19" name="Text 17"/>
          <p:cNvSpPr/>
          <p:nvPr/>
        </p:nvSpPr>
        <p:spPr>
          <a:xfrm>
            <a:off x="6409944" y="3794760"/>
            <a:ext cx="2148840" cy="914400"/>
          </a:xfrm>
          <a:prstGeom prst="rect">
            <a:avLst/>
          </a:prstGeom>
          <a:noFill/>
          <a:ln/>
        </p:spPr>
        <p:txBody>
          <a:bodyPr wrap="square" lIns="0" tIns="0" rIns="0" bIns="0" rtlCol="0" anchor="t"/>
          <a:lstStyle/>
          <a:p>
            <a:pPr indent="0" marL="0">
              <a:lnSpc>
                <a:spcPct val="125000"/>
              </a:lnSpc>
              <a:buNone/>
            </a:pPr>
            <a:r>
              <a:rPr lang="en-US" sz="1150" dirty="0">
                <a:solidFill>
                  <a:srgbClr val="5B6B7B"/>
                </a:solidFill>
                <a:latin typeface="Arial" pitchFamily="34" charset="0"/>
                <a:ea typeface="Arial" pitchFamily="34" charset="-122"/>
                <a:cs typeface="Arial" pitchFamily="34" charset="-120"/>
              </a:rPr>
              <a:t>Sign a 1-page MOU outlining responsibilities and commercial terms.</a:t>
            </a:r>
            <a:endParaRPr lang="en-US" sz="1150" dirty="0"/>
          </a:p>
        </p:txBody>
      </p:sp>
      <p:sp>
        <p:nvSpPr>
          <p:cNvPr id="20" name="Shape 18"/>
          <p:cNvSpPr/>
          <p:nvPr/>
        </p:nvSpPr>
        <p:spPr>
          <a:xfrm>
            <a:off x="8951976" y="2194560"/>
            <a:ext cx="2606040" cy="566928"/>
          </a:xfrm>
          <a:prstGeom prst="rect">
            <a:avLst/>
          </a:prstGeom>
          <a:solidFill>
            <a:srgbClr val="00D4AA"/>
          </a:solidFill>
          <a:ln/>
        </p:spPr>
      </p:sp>
      <p:sp>
        <p:nvSpPr>
          <p:cNvPr id="21" name="Text 19"/>
          <p:cNvSpPr/>
          <p:nvPr/>
        </p:nvSpPr>
        <p:spPr>
          <a:xfrm>
            <a:off x="8951976" y="2194560"/>
            <a:ext cx="2606040" cy="566928"/>
          </a:xfrm>
          <a:prstGeom prst="rect">
            <a:avLst/>
          </a:prstGeom>
          <a:noFill/>
          <a:ln/>
        </p:spPr>
        <p:txBody>
          <a:bodyPr wrap="square" lIns="0" tIns="0" rIns="0" bIns="0" rtlCol="0" anchor="ctr"/>
          <a:lstStyle/>
          <a:p>
            <a:pPr algn="ctr" indent="0" marL="0">
              <a:buNone/>
            </a:pPr>
            <a:r>
              <a:rPr lang="en-US" sz="1600" b="1" dirty="0">
                <a:solidFill>
                  <a:srgbClr val="0A2540"/>
                </a:solidFill>
                <a:latin typeface="Arial" pitchFamily="34" charset="0"/>
                <a:ea typeface="Arial" pitchFamily="34" charset="-122"/>
                <a:cs typeface="Arial" pitchFamily="34" charset="-120"/>
              </a:rPr>
              <a:t>04</a:t>
            </a:r>
            <a:endParaRPr lang="en-US" sz="1600" dirty="0"/>
          </a:p>
        </p:txBody>
      </p:sp>
      <p:sp>
        <p:nvSpPr>
          <p:cNvPr id="22" name="Shape 20"/>
          <p:cNvSpPr/>
          <p:nvPr/>
        </p:nvSpPr>
        <p:spPr>
          <a:xfrm>
            <a:off x="8951976" y="2761488"/>
            <a:ext cx="2606040" cy="2176272"/>
          </a:xfrm>
          <a:prstGeom prst="rect">
            <a:avLst/>
          </a:prstGeom>
          <a:solidFill>
            <a:srgbClr val="F4F8FA"/>
          </a:solidFill>
          <a:ln w="12700">
            <a:solidFill>
              <a:srgbClr val="CDD7DF"/>
            </a:solidFill>
            <a:prstDash val="solid"/>
          </a:ln>
        </p:spPr>
      </p:sp>
      <p:sp>
        <p:nvSpPr>
          <p:cNvPr id="23" name="Text 21"/>
          <p:cNvSpPr/>
          <p:nvPr/>
        </p:nvSpPr>
        <p:spPr>
          <a:xfrm>
            <a:off x="9180576" y="3063240"/>
            <a:ext cx="2148840" cy="548640"/>
          </a:xfrm>
          <a:prstGeom prst="rect">
            <a:avLst/>
          </a:prstGeom>
          <a:noFill/>
          <a:ln/>
        </p:spPr>
        <p:txBody>
          <a:bodyPr wrap="square" lIns="0" tIns="0" rIns="0" bIns="0" rtlCol="0" anchor="t"/>
          <a:lstStyle/>
          <a:p>
            <a:pPr indent="0" marL="0">
              <a:lnSpc>
                <a:spcPct val="110000"/>
              </a:lnSpc>
              <a:buNone/>
            </a:pPr>
            <a:r>
              <a:rPr lang="en-US" sz="1550" b="1" dirty="0">
                <a:solidFill>
                  <a:srgbClr val="10202E"/>
                </a:solidFill>
                <a:latin typeface="Arial" pitchFamily="34" charset="0"/>
                <a:ea typeface="Arial" pitchFamily="34" charset="-122"/>
                <a:cs typeface="Arial" pitchFamily="34" charset="-120"/>
              </a:rPr>
              <a:t>Cohort launch</a:t>
            </a:r>
            <a:endParaRPr lang="en-US" sz="1550" dirty="0"/>
          </a:p>
        </p:txBody>
      </p:sp>
      <p:sp>
        <p:nvSpPr>
          <p:cNvPr id="24" name="Text 22"/>
          <p:cNvSpPr/>
          <p:nvPr/>
        </p:nvSpPr>
        <p:spPr>
          <a:xfrm>
            <a:off x="9180576" y="3794760"/>
            <a:ext cx="2148840" cy="914400"/>
          </a:xfrm>
          <a:prstGeom prst="rect">
            <a:avLst/>
          </a:prstGeom>
          <a:noFill/>
          <a:ln/>
        </p:spPr>
        <p:txBody>
          <a:bodyPr wrap="square" lIns="0" tIns="0" rIns="0" bIns="0" rtlCol="0" anchor="t"/>
          <a:lstStyle/>
          <a:p>
            <a:pPr indent="0" marL="0">
              <a:lnSpc>
                <a:spcPct val="125000"/>
              </a:lnSpc>
              <a:buNone/>
            </a:pPr>
            <a:r>
              <a:rPr lang="en-US" sz="1150" dirty="0">
                <a:solidFill>
                  <a:srgbClr val="5B6B7B"/>
                </a:solidFill>
                <a:latin typeface="Arial" pitchFamily="34" charset="0"/>
                <a:ea typeface="Arial" pitchFamily="34" charset="-122"/>
                <a:cs typeface="Arial" pitchFamily="34" charset="-120"/>
              </a:rPr>
              <a:t>Student enrolment opens. BuildAI handles delivery end-to-end.</a:t>
            </a:r>
            <a:endParaRPr lang="en-US" sz="1150" dirty="0"/>
          </a:p>
        </p:txBody>
      </p:sp>
      <p:sp>
        <p:nvSpPr>
          <p:cNvPr id="25" name="Text 23"/>
          <p:cNvSpPr/>
          <p:nvPr/>
        </p:nvSpPr>
        <p:spPr>
          <a:xfrm>
            <a:off x="640080" y="5349240"/>
            <a:ext cx="10881360" cy="320040"/>
          </a:xfrm>
          <a:prstGeom prst="rect">
            <a:avLst/>
          </a:prstGeom>
          <a:noFill/>
          <a:ln/>
        </p:spPr>
        <p:txBody>
          <a:bodyPr wrap="square" lIns="0" tIns="0" rIns="0" bIns="0" rtlCol="0" anchor="ctr"/>
          <a:lstStyle/>
          <a:p>
            <a:pPr indent="0" marL="0">
              <a:buNone/>
            </a:pPr>
            <a:r>
              <a:rPr lang="en-US" sz="1250" i="1" dirty="0">
                <a:solidFill>
                  <a:srgbClr val="5B6B7B"/>
                </a:solidFill>
                <a:latin typeface="Arial" pitchFamily="34" charset="0"/>
                <a:ea typeface="Arial" pitchFamily="34" charset="-122"/>
                <a:cs typeface="Arial" pitchFamily="34" charset="-120"/>
              </a:rPr>
              <a:t>A 30-student pilot is enough to produce public proof. No long-term commitment required to start.</a:t>
            </a:r>
            <a:endParaRPr lang="en-US" sz="1250" dirty="0"/>
          </a:p>
        </p:txBody>
      </p:sp>
      <p:sp>
        <p:nvSpPr>
          <p:cNvPr id="26" name="Shape 24"/>
          <p:cNvSpPr/>
          <p:nvPr/>
        </p:nvSpPr>
        <p:spPr>
          <a:xfrm>
            <a:off x="640080" y="6327648"/>
            <a:ext cx="10911535" cy="0"/>
          </a:xfrm>
          <a:prstGeom prst="line">
            <a:avLst/>
          </a:prstGeom>
          <a:noFill/>
          <a:ln w="12700">
            <a:solidFill>
              <a:srgbClr val="CDD7DF"/>
            </a:solidFill>
            <a:prstDash val="solid"/>
          </a:ln>
        </p:spPr>
      </p:sp>
      <p:sp>
        <p:nvSpPr>
          <p:cNvPr id="27" name="Text 25"/>
          <p:cNvSpPr/>
          <p:nvPr/>
        </p:nvSpPr>
        <p:spPr>
          <a:xfrm>
            <a:off x="640080" y="6400800"/>
            <a:ext cx="6400800" cy="274320"/>
          </a:xfrm>
          <a:prstGeom prst="rect">
            <a:avLst/>
          </a:prstGeom>
          <a:noFill/>
          <a:ln/>
        </p:spPr>
        <p:txBody>
          <a:bodyPr wrap="square" lIns="0" tIns="0" rIns="0" bIns="0" rtlCol="0" anchor="ctr"/>
          <a:lstStyle/>
          <a:p>
            <a:pPr indent="0" marL="0">
              <a:buNone/>
            </a:pPr>
            <a:r>
              <a:rPr lang="en-US" sz="1000" b="1" spc="200" kern="0" dirty="0">
                <a:solidFill>
                  <a:srgbClr val="5B6B7B"/>
                </a:solidFill>
                <a:latin typeface="Arial" pitchFamily="34" charset="0"/>
                <a:ea typeface="Arial" pitchFamily="34" charset="-122"/>
                <a:cs typeface="Arial" pitchFamily="34" charset="-120"/>
              </a:rPr>
              <a:t>BuildAI  /  Next Steps</a:t>
            </a:r>
            <a:endParaRPr lang="en-US" sz="1000" dirty="0"/>
          </a:p>
        </p:txBody>
      </p:sp>
      <p:sp>
        <p:nvSpPr>
          <p:cNvPr id="28" name="Shape 26"/>
          <p:cNvSpPr/>
          <p:nvPr/>
        </p:nvSpPr>
        <p:spPr>
          <a:xfrm>
            <a:off x="10725912" y="6391656"/>
            <a:ext cx="822960" cy="310896"/>
          </a:xfrm>
          <a:prstGeom prst="rect">
            <a:avLst/>
          </a:prstGeom>
          <a:solidFill>
            <a:srgbClr val="0A2540"/>
          </a:solidFill>
          <a:ln/>
        </p:spPr>
      </p:sp>
      <p:sp>
        <p:nvSpPr>
          <p:cNvPr id="29" name="Text 27"/>
          <p:cNvSpPr/>
          <p:nvPr/>
        </p:nvSpPr>
        <p:spPr>
          <a:xfrm>
            <a:off x="10725912" y="6391656"/>
            <a:ext cx="8229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20 / 21</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00D4AA"/>
          </a:solidFill>
          <a:ln/>
        </p:spPr>
      </p:sp>
      <p:sp>
        <p:nvSpPr>
          <p:cNvPr id="3" name="Text 1"/>
          <p:cNvSpPr/>
          <p:nvPr/>
        </p:nvSpPr>
        <p:spPr>
          <a:xfrm>
            <a:off x="640080" y="347472"/>
            <a:ext cx="8229600" cy="292608"/>
          </a:xfrm>
          <a:prstGeom prst="rect">
            <a:avLst/>
          </a:prstGeom>
          <a:noFill/>
          <a:ln/>
        </p:spPr>
        <p:txBody>
          <a:bodyPr wrap="square" lIns="0" tIns="0" rIns="0" bIns="0" rtlCol="0" anchor="ctr"/>
          <a:lstStyle/>
          <a:p>
            <a:pPr indent="0" marL="0">
              <a:buNone/>
            </a:pPr>
            <a:r>
              <a:rPr lang="en-US" sz="1100" b="1" spc="300" kern="0" dirty="0">
                <a:solidFill>
                  <a:srgbClr val="00D4AA"/>
                </a:solidFill>
                <a:latin typeface="Arial" pitchFamily="34" charset="0"/>
                <a:ea typeface="Arial" pitchFamily="34" charset="-122"/>
                <a:cs typeface="Arial" pitchFamily="34" charset="-120"/>
              </a:rPr>
              <a:t>21 / 21</a:t>
            </a:r>
            <a:pPr indent="0" marL="0">
              <a:buNone/>
            </a:pPr>
            <a:r>
              <a:rPr lang="en-US" sz="1100" b="1" spc="300" kern="0" dirty="0">
                <a:solidFill>
                  <a:srgbClr val="BFD3E0"/>
                </a:solidFill>
                <a:latin typeface="Arial" pitchFamily="34" charset="0"/>
                <a:ea typeface="Arial" pitchFamily="34" charset="-122"/>
                <a:cs typeface="Arial" pitchFamily="34" charset="-120"/>
              </a:rPr>
              <a:t>   LET'S BEGIN</a:t>
            </a:r>
            <a:endParaRPr lang="en-US" sz="1100" dirty="0"/>
          </a:p>
        </p:txBody>
      </p:sp>
      <p:sp>
        <p:nvSpPr>
          <p:cNvPr id="4" name="Text 2"/>
          <p:cNvSpPr/>
          <p:nvPr/>
        </p:nvSpPr>
        <p:spPr>
          <a:xfrm>
            <a:off x="868680" y="1554480"/>
            <a:ext cx="9601200" cy="2194560"/>
          </a:xfrm>
          <a:prstGeom prst="rect">
            <a:avLst/>
          </a:prstGeom>
          <a:noFill/>
          <a:ln/>
        </p:spPr>
        <p:txBody>
          <a:bodyPr wrap="square" lIns="0" tIns="0" rIns="0" bIns="0" rtlCol="0" anchor="ctr"/>
          <a:lstStyle/>
          <a:p>
            <a:pPr indent="0" marL="0">
              <a:lnSpc>
                <a:spcPct val="102000"/>
              </a:lnSpc>
              <a:buNone/>
            </a:pPr>
            <a:r>
              <a:rPr lang="en-US" sz="6000" b="1" dirty="0">
                <a:solidFill>
                  <a:srgbClr val="FFFFFF"/>
                </a:solidFill>
                <a:latin typeface="Arial" pitchFamily="34" charset="0"/>
                <a:ea typeface="Arial" pitchFamily="34" charset="-122"/>
                <a:cs typeface="Arial" pitchFamily="34" charset="-120"/>
              </a:rPr>
              <a:t>Let's run a pilot
</a:t>
            </a:r>
            <a:pPr indent="0" marL="0">
              <a:lnSpc>
                <a:spcPct val="102000"/>
              </a:lnSpc>
              <a:buNone/>
            </a:pPr>
            <a:r>
              <a:rPr lang="en-US" sz="6000" b="1" dirty="0">
                <a:solidFill>
                  <a:srgbClr val="00D4AA"/>
                </a:solidFill>
                <a:latin typeface="Arial" pitchFamily="34" charset="0"/>
                <a:ea typeface="Arial" pitchFamily="34" charset="-122"/>
                <a:cs typeface="Arial" pitchFamily="34" charset="-120"/>
              </a:rPr>
              <a:t>together.</a:t>
            </a:r>
            <a:endParaRPr lang="en-US" sz="6000" dirty="0"/>
          </a:p>
        </p:txBody>
      </p:sp>
      <p:sp>
        <p:nvSpPr>
          <p:cNvPr id="5" name="Text 3"/>
          <p:cNvSpPr/>
          <p:nvPr/>
        </p:nvSpPr>
        <p:spPr>
          <a:xfrm>
            <a:off x="868680" y="3977640"/>
            <a:ext cx="8686800" cy="457200"/>
          </a:xfrm>
          <a:prstGeom prst="rect">
            <a:avLst/>
          </a:prstGeom>
          <a:noFill/>
          <a:ln/>
        </p:spPr>
        <p:txBody>
          <a:bodyPr wrap="square" lIns="0" tIns="0" rIns="0" bIns="0" rtlCol="0" anchor="ctr"/>
          <a:lstStyle/>
          <a:p>
            <a:pPr indent="0" marL="0">
              <a:buNone/>
            </a:pPr>
            <a:r>
              <a:rPr lang="en-US" sz="1700" i="1" dirty="0">
                <a:solidFill>
                  <a:srgbClr val="BFD3E0"/>
                </a:solidFill>
                <a:latin typeface="Arial" pitchFamily="34" charset="0"/>
                <a:ea typeface="Arial" pitchFamily="34" charset="-122"/>
                <a:cs typeface="Arial" pitchFamily="34" charset="-120"/>
              </a:rPr>
              <a:t>Even a 30-student first cohort produces public proof your institution can show.</a:t>
            </a:r>
            <a:endParaRPr lang="en-US" sz="1700" dirty="0"/>
          </a:p>
        </p:txBody>
      </p:sp>
      <p:sp>
        <p:nvSpPr>
          <p:cNvPr id="6" name="Shape 4"/>
          <p:cNvSpPr/>
          <p:nvPr/>
        </p:nvSpPr>
        <p:spPr>
          <a:xfrm>
            <a:off x="7863840" y="4663440"/>
            <a:ext cx="4325112" cy="2194560"/>
          </a:xfrm>
          <a:prstGeom prst="rect">
            <a:avLst/>
          </a:prstGeom>
          <a:solidFill>
            <a:srgbClr val="00D4AA"/>
          </a:solidFill>
          <a:ln/>
        </p:spPr>
      </p:sp>
      <p:sp>
        <p:nvSpPr>
          <p:cNvPr id="7" name="Text 5"/>
          <p:cNvSpPr/>
          <p:nvPr/>
        </p:nvSpPr>
        <p:spPr>
          <a:xfrm>
            <a:off x="8229600" y="4937760"/>
            <a:ext cx="3566160" cy="274320"/>
          </a:xfrm>
          <a:prstGeom prst="rect">
            <a:avLst/>
          </a:prstGeom>
          <a:noFill/>
          <a:ln/>
        </p:spPr>
        <p:txBody>
          <a:bodyPr wrap="square" lIns="0" tIns="0" rIns="0" bIns="0" rtlCol="0" anchor="ctr"/>
          <a:lstStyle/>
          <a:p>
            <a:pPr indent="0" marL="0">
              <a:buNone/>
            </a:pPr>
            <a:r>
              <a:rPr lang="en-US" sz="1250" b="1" spc="300" kern="0" dirty="0">
                <a:solidFill>
                  <a:srgbClr val="0A2540"/>
                </a:solidFill>
                <a:latin typeface="Arial" pitchFamily="34" charset="0"/>
                <a:ea typeface="Arial" pitchFamily="34" charset="-122"/>
                <a:cs typeface="Arial" pitchFamily="34" charset="-120"/>
              </a:rPr>
              <a:t>SHARAD AGRAWAL</a:t>
            </a:r>
            <a:endParaRPr lang="en-US" sz="1250" dirty="0"/>
          </a:p>
        </p:txBody>
      </p:sp>
      <p:sp>
        <p:nvSpPr>
          <p:cNvPr id="8" name="Text 6"/>
          <p:cNvSpPr/>
          <p:nvPr/>
        </p:nvSpPr>
        <p:spPr>
          <a:xfrm>
            <a:off x="8229600" y="5230368"/>
            <a:ext cx="3566160" cy="274320"/>
          </a:xfrm>
          <a:prstGeom prst="rect">
            <a:avLst/>
          </a:prstGeom>
          <a:noFill/>
          <a:ln/>
        </p:spPr>
        <p:txBody>
          <a:bodyPr wrap="square" lIns="0" tIns="0" rIns="0" bIns="0" rtlCol="0" anchor="ctr"/>
          <a:lstStyle/>
          <a:p>
            <a:pPr indent="0" marL="0">
              <a:buNone/>
            </a:pPr>
            <a:r>
              <a:rPr lang="en-US" sz="1300" i="1" dirty="0">
                <a:solidFill>
                  <a:srgbClr val="0A2540"/>
                </a:solidFill>
                <a:latin typeface="Arial" pitchFamily="34" charset="0"/>
                <a:ea typeface="Arial" pitchFamily="34" charset="-122"/>
                <a:cs typeface="Arial" pitchFamily="34" charset="-120"/>
              </a:rPr>
              <a:t>Founder, BuildAI</a:t>
            </a:r>
            <a:endParaRPr lang="en-US" sz="1300" dirty="0"/>
          </a:p>
        </p:txBody>
      </p:sp>
      <p:sp>
        <p:nvSpPr>
          <p:cNvPr id="9" name="Shape 7"/>
          <p:cNvSpPr/>
          <p:nvPr/>
        </p:nvSpPr>
        <p:spPr>
          <a:xfrm>
            <a:off x="8229600" y="5596128"/>
            <a:ext cx="502920" cy="45720"/>
          </a:xfrm>
          <a:prstGeom prst="rect">
            <a:avLst/>
          </a:prstGeom>
          <a:solidFill>
            <a:srgbClr val="0A2540"/>
          </a:solidFill>
          <a:ln/>
        </p:spPr>
      </p:sp>
      <p:sp>
        <p:nvSpPr>
          <p:cNvPr id="10" name="Text 8"/>
          <p:cNvSpPr/>
          <p:nvPr/>
        </p:nvSpPr>
        <p:spPr>
          <a:xfrm>
            <a:off x="8229600" y="5742432"/>
            <a:ext cx="3566160" cy="320040"/>
          </a:xfrm>
          <a:prstGeom prst="rect">
            <a:avLst/>
          </a:prstGeom>
          <a:noFill/>
          <a:ln/>
        </p:spPr>
        <p:txBody>
          <a:bodyPr wrap="square" lIns="0" tIns="0" rIns="0" bIns="0" rtlCol="0" anchor="ctr"/>
          <a:lstStyle/>
          <a:p>
            <a:pPr indent="0" marL="0">
              <a:buNone/>
            </a:pPr>
            <a:r>
              <a:rPr lang="en-US" sz="1450" b="1" dirty="0">
                <a:solidFill>
                  <a:srgbClr val="0A2540"/>
                </a:solidFill>
                <a:latin typeface="Arial" pitchFamily="34" charset="0"/>
                <a:ea typeface="Arial" pitchFamily="34" charset="-122"/>
                <a:cs typeface="Arial" pitchFamily="34" charset="-120"/>
              </a:rPr>
              <a:t>[ contact email — TBD ]</a:t>
            </a:r>
            <a:endParaRPr lang="en-US" sz="1450" dirty="0"/>
          </a:p>
        </p:txBody>
      </p:sp>
      <p:sp>
        <p:nvSpPr>
          <p:cNvPr id="11" name="Text 9"/>
          <p:cNvSpPr/>
          <p:nvPr/>
        </p:nvSpPr>
        <p:spPr>
          <a:xfrm>
            <a:off x="8229600" y="6108192"/>
            <a:ext cx="3566160" cy="274320"/>
          </a:xfrm>
          <a:prstGeom prst="rect">
            <a:avLst/>
          </a:prstGeom>
          <a:noFill/>
          <a:ln/>
        </p:spPr>
        <p:txBody>
          <a:bodyPr wrap="square" lIns="0" tIns="0" rIns="0" bIns="0" rtlCol="0" anchor="ctr"/>
          <a:lstStyle/>
          <a:p>
            <a:pPr indent="0" marL="0">
              <a:buNone/>
            </a:pPr>
            <a:r>
              <a:rPr lang="en-US" sz="1100" dirty="0">
                <a:solidFill>
                  <a:srgbClr val="0E2F4F"/>
                </a:solidFill>
                <a:latin typeface="Arial" pitchFamily="34" charset="0"/>
                <a:ea typeface="Arial" pitchFamily="34" charset="-122"/>
                <a:cs typeface="Arial" pitchFamily="34" charset="-120"/>
              </a:rPr>
              <a:t>IIT Bombay '18  ·  Cornell MBA '24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BuildAI — College Partnership Deck</dc:title>
  <dc:subject>PptxGenJS Presentation</dc:subject>
  <dc:creator>Sharad Agrawal</dc:creator>
  <cp:lastModifiedBy>Sharad Agrawal</cp:lastModifiedBy>
  <cp:revision>1</cp:revision>
  <dcterms:created xsi:type="dcterms:W3CDTF">2026-06-10T05:45:45Z</dcterms:created>
  <dcterms:modified xsi:type="dcterms:W3CDTF">2026-06-10T05:45:45Z</dcterms:modified>
</cp:coreProperties>
</file>